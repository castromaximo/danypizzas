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exos" id="{56d196aa-6e3a-567a-38fc-3302a5b1164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expone. Saltar aquí solo si una pregunta lo requiere.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2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Dany Pizzas Web · Ingeniería de Software · Comisión 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Sección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E8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respaldo para responder preguntas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 · Estrategias cruzadas del FODA</a:t>
            </a:r>
            <a:endParaRPr lang="en-US" sz="3200" dirty="0"/>
          </a:p>
        </p:txBody>
      </p:sp>
      <p:sp>
        <p:nvSpPr>
          <p:cNvPr id="4" name="card-1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5" name="etiqueta-2"/>
          <p:cNvSpPr/>
          <p:nvPr/>
        </p:nvSpPr>
        <p:spPr>
          <a:xfrm>
            <a:off x="822960" y="1719072"/>
            <a:ext cx="23774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· OFENSIVAS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web que termina en WhatsApp, el canal que ya usan (RF‑12)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con fotos reales difundida por Instagram y QR (RF‑01)</a:t>
            </a:r>
            <a:endParaRPr lang="en-US" sz="1500" dirty="0"/>
          </a:p>
        </p:txBody>
      </p:sp>
      <p:sp>
        <p:nvSpPr>
          <p:cNvPr id="8" name="card-3"/>
          <p:cNvSpPr/>
          <p:nvPr/>
        </p:nvSpPr>
        <p:spPr>
          <a:xfrm>
            <a:off x="6172200" y="146304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9" name="etiqueta-4"/>
          <p:cNvSpPr/>
          <p:nvPr/>
        </p:nvSpPr>
        <p:spPr>
          <a:xfrm>
            <a:off x="6446520" y="1719072"/>
            <a:ext cx="2377440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7190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· DEFENSIVAS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editables en la planilla para ajustar ante la inflación (RF‑15)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claro y sin comisiones de apps de delivery (RNF‑14)</a:t>
            </a:r>
            <a:endParaRPr lang="en-US" sz="1500" dirty="0"/>
          </a:p>
        </p:txBody>
      </p:sp>
      <p:sp>
        <p:nvSpPr>
          <p:cNvPr id="12" name="card-5"/>
          <p:cNvSpPr/>
          <p:nvPr/>
        </p:nvSpPr>
        <p:spPr>
          <a:xfrm>
            <a:off x="548640" y="39319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13" name="etiqueta-6"/>
          <p:cNvSpPr/>
          <p:nvPr/>
        </p:nvSpPr>
        <p:spPr>
          <a:xfrm>
            <a:off x="822960" y="4187952"/>
            <a:ext cx="23774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879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· REORIENTACIÓN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de pedidos en Google Sheets, gratis (RF‑14)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arma su pedido solo; nadie dicta la carta ni suma a mano (RF‑03 a RF‑05)</a:t>
            </a:r>
            <a:endParaRPr lang="en-US" sz="1500" dirty="0"/>
          </a:p>
        </p:txBody>
      </p:sp>
      <p:sp>
        <p:nvSpPr>
          <p:cNvPr id="16" name="card-7"/>
          <p:cNvSpPr/>
          <p:nvPr/>
        </p:nvSpPr>
        <p:spPr>
          <a:xfrm>
            <a:off x="6172200" y="39319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17" name="etiqueta-8"/>
          <p:cNvSpPr/>
          <p:nvPr/>
        </p:nvSpPr>
        <p:spPr>
          <a:xfrm>
            <a:off x="6446520" y="4187952"/>
            <a:ext cx="23774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41879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· SUPERVIVENCIA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7091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y plan de contingencia con vuelta al chat (RNF‑08, RNF‑12)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por chat sigue disponible: la web se suma, no reemplaza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· Supuestos de la evaluación económica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1645920"/>
                <a:gridCol w="146304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probable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por noche (mar a vie / sáb y dom)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Pizzas por pedido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sobre el precio ($9.500 promedio)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de chat por pedido (hoy → con la web)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→ 0,5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→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 / 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con error (hoy → con la web)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 → 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 → 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 → 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 / 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perdidos por semana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pedidos por la web (adopción)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perdidos que la web recupera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hora atención (SMVM $1.956)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 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SMVM oct‑2026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hora desarrollo (× SMVM) · horas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·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× · 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· 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Supuesto / estudiante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12 meses · tasa TNA 17,5 % (plazo fijo BNA) = 1,458 % mensual · distribuciones triangulares · script reproducible en docs/analisis/economia/.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· Recupero de la inversión por escenario</a:t>
            </a:r>
            <a:endParaRPr lang="en-US" sz="3200" dirty="0"/>
          </a:p>
        </p:txBody>
      </p:sp>
      <p:pic>
        <p:nvPicPr>
          <p:cNvPr id="4" name="grafico-recupero" descr="/home/claude/danypizzas/docs/analisis/economia/flujo_acumul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595360" cy="4471416"/>
          </a:xfrm>
          <a:prstGeom prst="rect">
            <a:avLst/>
          </a:prstGeom>
        </p:spPr>
      </p:pic>
      <p:sp>
        <p:nvSpPr>
          <p:cNvPr id="5" name="card-9"/>
          <p:cNvSpPr/>
          <p:nvPr/>
        </p:nvSpPr>
        <p:spPr>
          <a:xfrm>
            <a:off x="9418320" y="1463040"/>
            <a:ext cx="2194560" cy="4480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55480" y="1600200"/>
            <a:ext cx="1920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se recupera a los 3,9 meses. Optimista: 1,3 meses. Pesimista (todo mal a la vez): no se recupera en 12 meses.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 · Sensibilidad del VAN (tornado)</a:t>
            </a:r>
            <a:endParaRPr lang="en-US" sz="3200" dirty="0"/>
          </a:p>
        </p:txBody>
      </p:sp>
      <p:pic>
        <p:nvPicPr>
          <p:cNvPr id="4" name="grafico-tornado" descr="/home/claude/danypizzas/docs/analisis/economia/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863840" cy="4087368"/>
          </a:xfrm>
          <a:prstGeom prst="rect">
            <a:avLst/>
          </a:prstGeom>
        </p:spPr>
      </p:pic>
      <p:sp>
        <p:nvSpPr>
          <p:cNvPr id="5" name="card-10"/>
          <p:cNvSpPr/>
          <p:nvPr/>
        </p:nvSpPr>
        <p:spPr>
          <a:xfrm>
            <a:off x="8686800" y="1463040"/>
            <a:ext cx="2926080" cy="4087368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69680" y="1645920"/>
            <a:ext cx="2606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recupero mínimo (10 %) el VAN sigue en ≈ $180.000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recuperar ningún pedido: VAN ≈ −$21.000 (casi cero)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desarrollo a 5 × SMVM: VAN ≈ $242.000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 · Requisitos funcionales (1 de 2)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0"/>
                <a:gridCol w="118872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funcional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la carta: nombre, foto, ingredientes, precio entera y mitad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abierto/cerrado según el horario y mostrar la tabla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enteras o mitades, cambiar cantidades y quitar ítems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Armar pizza mitad y mitad cobrando cada mitad por separado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total y porciones (mitad redondeada a múltiplo de $500)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Conservar pedido y datos del cliente en su dispositivo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Pedir nombre, teléfono y dirección; referencia y observaciones opcionales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 entrega “lo antes posible” o un horario del mismo día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 pago: Mercado Pago, transferencia o efectivo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datos e indicar qué campo corregir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MoSCoW: M debe · S debería · C podría. Caso de uso y prueba de cada requisito: docs/analisis/requisitos.md.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A6 · Requisitos funcionales (2 de 2)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0"/>
                <a:gridCol w="118872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funcional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Asignar N.º DP-AAMMDD-NNN secuencial por día (o local si falla)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 el recibo, abrir WhatsApp del negocio y permitir copiarlo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alias, titular, monto y 5 min para el comprobante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cada pedido en la hoja mensual con total recalculado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precios y disponibilidad desde la hoja Catalogo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Marcar estado: Nuevo, Pagado, En preparación, Entregado…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validar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los pedidos de cada mes en la planilla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validar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 pedidos falsos o abusivos (trampa, límites, duplicados)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Pausar el registro web sin dejar de recibir por WhatsApp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Avisar fuera de horario y permitir o bloquear el envío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MoSCoW: M debe · S debería · C podría. Caso de uso y prueba de cada requisito: docs/analisis/requisitos.md.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A7 · Requisitos no funcionales (ISO/IEC 25010)</a:t>
            </a:r>
            <a:endParaRPr lang="en-US" sz="3200" dirty="0"/>
          </a:p>
        </p:txBody>
      </p:sp>
      <p:sp>
        <p:nvSpPr>
          <p:cNvPr id="4" name="card-11"/>
          <p:cNvSpPr/>
          <p:nvPr/>
        </p:nvSpPr>
        <p:spPr>
          <a:xfrm>
            <a:off x="548640" y="1463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5" name="icono-fondo-1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-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RNF‑01 a 03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sin ayuda en ≤ 2 min; mobile-first desde 360 px; voseo y precios locales</a:t>
            </a:r>
            <a:endParaRPr lang="en-US" sz="1300" dirty="0"/>
          </a:p>
        </p:txBody>
      </p:sp>
      <p:sp>
        <p:nvSpPr>
          <p:cNvPr id="10" name="card-14"/>
          <p:cNvSpPr/>
          <p:nvPr/>
        </p:nvSpPr>
        <p:spPr>
          <a:xfrm>
            <a:off x="3360420" y="1463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11" name="icono-fondo-15"/>
          <p:cNvSpPr/>
          <p:nvPr/>
        </p:nvSpPr>
        <p:spPr>
          <a:xfrm>
            <a:off x="358902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o-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8013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8338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RNF‑04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58902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8902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Safari, Firefox y Edge en Android, iOS, Windows y Linux</a:t>
            </a:r>
            <a:endParaRPr lang="en-US" sz="1300" dirty="0"/>
          </a:p>
        </p:txBody>
      </p:sp>
      <p:sp>
        <p:nvSpPr>
          <p:cNvPr id="16" name="card-17"/>
          <p:cNvSpPr/>
          <p:nvPr/>
        </p:nvSpPr>
        <p:spPr>
          <a:xfrm>
            <a:off x="6172200" y="1463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17" name="icono-fondo-18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o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013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9516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RNF‑05 a 07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HTTPS; total imposible de manipular; datos mínimos y Ley 25.326</a:t>
            </a:r>
            <a:endParaRPr lang="en-US" sz="1300" dirty="0"/>
          </a:p>
        </p:txBody>
      </p:sp>
      <p:sp>
        <p:nvSpPr>
          <p:cNvPr id="22" name="card-20"/>
          <p:cNvSpPr/>
          <p:nvPr/>
        </p:nvSpPr>
        <p:spPr>
          <a:xfrm>
            <a:off x="8983980" y="1463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23" name="icono-fondo-21"/>
          <p:cNvSpPr/>
          <p:nvPr/>
        </p:nvSpPr>
        <p:spPr>
          <a:xfrm>
            <a:off x="921258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o-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308" y="180136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069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RNF‑08, 09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21258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21258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servidor falla, el pedido sale igual; sin números duplicados</a:t>
            </a:r>
            <a:endParaRPr lang="en-US" sz="1300" dirty="0"/>
          </a:p>
        </p:txBody>
      </p:sp>
      <p:sp>
        <p:nvSpPr>
          <p:cNvPr id="28" name="card-23"/>
          <p:cNvSpPr/>
          <p:nvPr/>
        </p:nvSpPr>
        <p:spPr>
          <a:xfrm>
            <a:off x="54864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29" name="icono-fondo-24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o-2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17880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37160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RNF‑10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4983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frameworks; fotos ≤ 140 KB con carga diferida</a:t>
            </a:r>
            <a:endParaRPr lang="en-US" sz="1300" dirty="0"/>
          </a:p>
        </p:txBody>
      </p:sp>
      <p:sp>
        <p:nvSpPr>
          <p:cNvPr id="34" name="card-26"/>
          <p:cNvSpPr/>
          <p:nvPr/>
        </p:nvSpPr>
        <p:spPr>
          <a:xfrm>
            <a:off x="336042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35" name="icono-fondo-27"/>
          <p:cNvSpPr/>
          <p:nvPr/>
        </p:nvSpPr>
        <p:spPr>
          <a:xfrm>
            <a:off x="3589020" y="4069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cono-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8748" y="4178808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18338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RNF‑11, 12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358902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3589020" y="4983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negocio sin programar; 44 pruebas antes de publicar</a:t>
            </a:r>
            <a:endParaRPr lang="en-US" sz="1300" dirty="0"/>
          </a:p>
        </p:txBody>
      </p:sp>
      <p:sp>
        <p:nvSpPr>
          <p:cNvPr id="40" name="card-29"/>
          <p:cNvSpPr/>
          <p:nvPr/>
        </p:nvSpPr>
        <p:spPr>
          <a:xfrm>
            <a:off x="617220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41" name="icono-fondo-30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2" name="icono-3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4178808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99516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RNF‑13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640080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6400800" y="4983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Etiquetas, foco visible, contraste ≥ 4,5:1, teclado</a:t>
            </a:r>
            <a:endParaRPr lang="en-US" sz="1300" dirty="0"/>
          </a:p>
        </p:txBody>
      </p:sp>
      <p:sp>
        <p:nvSpPr>
          <p:cNvPr id="46" name="card-32"/>
          <p:cNvSpPr/>
          <p:nvPr/>
        </p:nvSpPr>
        <p:spPr>
          <a:xfrm>
            <a:off x="898398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47" name="icono-fondo-33"/>
          <p:cNvSpPr/>
          <p:nvPr/>
        </p:nvSpPr>
        <p:spPr>
          <a:xfrm>
            <a:off x="9212580" y="4069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8" name="icono-3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2308" y="4178808"/>
            <a:ext cx="237744" cy="23774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80694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RNF‑14, 15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921258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y disponibilidad</a:t>
            </a:r>
            <a:endParaRPr lang="en-US" sz="1500" dirty="0"/>
          </a:p>
        </p:txBody>
      </p:sp>
      <p:sp>
        <p:nvSpPr>
          <p:cNvPr id="51" name="Text 41"/>
          <p:cNvSpPr txBox="1"/>
          <p:nvPr/>
        </p:nvSpPr>
        <p:spPr>
          <a:xfrm>
            <a:off x="9212580" y="4983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por mes; disponible en el horario, con plan de contingencia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A8 · Diagrama de casos de uso</a:t>
            </a:r>
            <a:endParaRPr lang="en-US" sz="3200" dirty="0"/>
          </a:p>
        </p:txBody>
      </p:sp>
      <p:pic>
        <p:nvPicPr>
          <p:cNvPr id="4" name="casos-de-uso" descr="/home/claude/danypizzas/diagramas/casos-de-u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1417320"/>
            <a:ext cx="8019288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A9 · Diagrama de secuencia del pedido</a:t>
            </a:r>
            <a:endParaRPr lang="en-US" sz="3200" dirty="0"/>
          </a:p>
        </p:txBody>
      </p:sp>
      <p:pic>
        <p:nvPicPr>
          <p:cNvPr id="4" name="secuencia" descr="/home/claude/danypizzas/diagramas/secuencia-ped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371600"/>
            <a:ext cx="5760720" cy="4873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A10 · Tecnología antes y después</a:t>
            </a:r>
            <a:endParaRPr lang="en-US" sz="3200" dirty="0"/>
          </a:p>
        </p:txBody>
      </p:sp>
      <p:sp>
        <p:nvSpPr>
          <p:cNvPr id="4" name="card-35"/>
          <p:cNvSpPr/>
          <p:nvPr/>
        </p:nvSpPr>
        <p:spPr>
          <a:xfrm>
            <a:off x="54864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con WhatsApp común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Mercado Pago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enviada como imagen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de pedidos</a:t>
            </a:r>
            <a:endParaRPr lang="en-US" sz="1700" dirty="0"/>
          </a:p>
        </p:txBody>
      </p:sp>
      <p:sp>
        <p:nvSpPr>
          <p:cNvPr id="7" name="card-36"/>
          <p:cNvSpPr/>
          <p:nvPr/>
        </p:nvSpPr>
        <p:spPr>
          <a:xfrm>
            <a:off x="630936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(nada se reemplaza)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en GitHub Pages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Google Apps Script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mensual en Google Sheets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 del enlace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de hardware y servidores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ny Pizzas">
  <a:themeElements>
    <a:clrScheme name="Dany Pizzas">
      <a:dk1>
        <a:srgbClr val="2B2420"/>
      </a:dk1>
      <a:lt1>
        <a:srgbClr val="FFFFFF"/>
      </a:lt1>
      <a:dk2>
        <a:srgbClr val="1F6E5C"/>
      </a:dk2>
      <a:lt2>
        <a:srgbClr val="F7EBDB"/>
      </a:lt2>
      <a:accent1>
        <a:srgbClr val="E83030"/>
      </a:accent1>
      <a:accent2>
        <a:srgbClr val="309880"/>
      </a:accent2>
      <a:accent3>
        <a:srgbClr val="B42323"/>
      </a:accent3>
      <a:accent4>
        <a:srgbClr val="8A7F76"/>
      </a:accent4>
      <a:accent5>
        <a:srgbClr val="F2B63D"/>
      </a:accent5>
      <a:accent6>
        <a:srgbClr val="FBF6F0"/>
      </a:accent6>
      <a:hlink>
        <a:srgbClr val="1F6E5C"/>
      </a:hlink>
      <a:folHlink>
        <a:srgbClr val="8A7F76"/>
      </a:folHlink>
    </a:clrScheme>
    <a:fontScheme name="Dany Pizz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Nacional de Moquegua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Dany Pizzas Web — Ingeniería de Software</dc:title>
  <dc:subject>PptxGenJS Presentation</dc:subject>
  <dc:creator>Máximo Daniel Castro</dc:creator>
  <cp:lastModifiedBy>Máximo Daniel Castro</cp:lastModifiedBy>
  <cp:revision>1</cp:revision>
  <dcterms:created xsi:type="dcterms:W3CDTF">2026-10-07T16:33:58Z</dcterms:created>
  <dcterms:modified xsi:type="dcterms:W3CDTF">2026-10-07T16:33:58Z</dcterms:modified>
</cp:coreProperties>
</file>