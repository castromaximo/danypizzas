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317671ae-d16a-740c-3e05-f399366cf62a}">
          <p14:sldIdLst>
            <p14:sldId id="256"/>
            <p14:sldId id="257"/>
          </p14:sldIdLst>
        </p14:section>
        <p14:section name="I. Curriculum vitae" id="{1b55d632-9d95-47fe-09e2-607b29e441f5}">
          <p14:sldIdLst>
            <p14:sldId id="258"/>
          </p14:sldIdLst>
        </p14:section>
        <p14:section name="II. Memoria descriptiva" id="{8f216b5a-9520-82d2-6c2b-442bb8cc3df2}">
          <p14:sldIdLst>
            <p14:sldId id="259"/>
            <p14:sldId id="260"/>
            <p14:sldId id="261"/>
          </p14:sldIdLst>
        </p14:section>
        <p14:section name="III. Trabajo principal" id="{f0309800-b62e-cfbd-06ca-216d5787ad17}">
          <p14:sldIdLst>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Soy Máximo Castro, estudiante de tercer año de Ingeniería en Sistemas en la Universidad Nacional de Chilecito, en Argentina, y este semestre estoy de intercambio acá en Moquegua. Antes me recibí de técnico agrónomo. Lo que más me formó en programación es la competencia ICPC: mención honorable en la final sudamericana de 2024 y primer puesto provincial dos años seguidos. También fui asistente tecnológico en las jornadas de investigación del NOA. Y este proyecto no es un ejercicio: es un sistema real, publicado y en uso para un emprendimiento de mi ciudad.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las redacté con ellos y el dueño las aprobó el 7 de octubre, junto con cuatro valores: calidad casera, precio justo, trato cercano y cumplir con el horario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El proyecto llevó dos semanas y 48 horas de trabajo. La primera semana fue de planificación: el Beat Chart con el enfoque y el método, el cuestionario al negocio, el diseño y un prototipo de la carta. La segunda fue de construcción, en incrementos cortos con un tablero Kanban y mostrando cada avance a la familia: el sitio se publicó el martes 6, el 7 validé el análisis con el negocio, y hasta el domingo 11 quedan el pedido real con la medición de uso y el ensayo. Todo termina antes de la exposición del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tienen la evidencia de un pedido real: [mostrar capturas].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difundir la misión y los valores,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abrir DanyPizzas_Anexos.pptx: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tmp/claude-0/-home-claude/c096e975-9e6a-561f-aa0a-08cce324a4b6/scratchpad/repo/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Text 2"/>
          <p:cNvSpPr txBox="1"/>
          <p:nvPr/>
        </p:nvSpPr>
        <p:spPr>
          <a:xfrm>
            <a:off x="548640" y="1463040"/>
            <a:ext cx="11064240" cy="86868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Estudiante de Ingeniería en Sistemas · 3.er año</a:t>
            </a:r>
            <a:endParaRPr lang="en-US" sz="14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Chilecito (UNdeC), Argentina  ·  De intercambio en la Universidad Nacional de Moquegua, Perú</a:t>
            </a:r>
            <a:endParaRPr lang="en-US" sz="1400" dirty="0"/>
          </a:p>
        </p:txBody>
      </p:sp>
      <p:sp>
        <p:nvSpPr>
          <p:cNvPr id="5" name="card-10"/>
          <p:cNvSpPr/>
          <p:nvPr/>
        </p:nvSpPr>
        <p:spPr>
          <a:xfrm>
            <a:off x="548640" y="2560320"/>
            <a:ext cx="4480560" cy="2697480"/>
          </a:xfrm>
          <a:prstGeom prst="roundRect">
            <a:avLst>
              <a:gd name="adj" fmla="val 4068"/>
            </a:avLst>
          </a:prstGeom>
          <a:solidFill>
            <a:schemeClr val="accent6"/>
          </a:solidFill>
          <a:ln/>
        </p:spPr>
      </p:sp>
      <p:sp>
        <p:nvSpPr>
          <p:cNvPr id="6" name="icono-fondo-11"/>
          <p:cNvSpPr/>
          <p:nvPr/>
        </p:nvSpPr>
        <p:spPr>
          <a:xfrm>
            <a:off x="777240" y="2788920"/>
            <a:ext cx="502920" cy="502920"/>
          </a:xfrm>
          <a:prstGeom prst="ellipse">
            <a:avLst/>
          </a:prstGeom>
          <a:solidFill>
            <a:schemeClr val="accent1"/>
          </a:solidFill>
          <a:ln/>
        </p:spPr>
      </p:sp>
      <p:pic>
        <p:nvPicPr>
          <p:cNvPr id="7" name="icono-12" descr="preencoded.png">    </p:cNvPr>
          <p:cNvPicPr>
            <a:picLocks noChangeAspect="1"/>
          </p:cNvPicPr>
          <p:nvPr/>
        </p:nvPicPr>
        <p:blipFill>
          <a:blip r:embed="rId1"/>
          <a:stretch>
            <a:fillRect/>
          </a:stretch>
        </p:blipFill>
        <p:spPr>
          <a:xfrm>
            <a:off x="897941" y="2909621"/>
            <a:ext cx="261518" cy="261518"/>
          </a:xfrm>
          <a:prstGeom prst="rect">
            <a:avLst/>
          </a:prstGeom>
        </p:spPr>
      </p:pic>
      <p:sp>
        <p:nvSpPr>
          <p:cNvPr id="8" name="Text 5"/>
          <p:cNvSpPr txBox="1"/>
          <p:nvPr/>
        </p:nvSpPr>
        <p:spPr>
          <a:xfrm>
            <a:off x="1417320" y="2862072"/>
            <a:ext cx="34747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Programación competitiva (ICPC)</a:t>
            </a:r>
            <a:endParaRPr lang="en-US" sz="1500" dirty="0"/>
          </a:p>
        </p:txBody>
      </p:sp>
      <p:sp>
        <p:nvSpPr>
          <p:cNvPr id="9" name="Text 6"/>
          <p:cNvSpPr txBox="1"/>
          <p:nvPr/>
        </p:nvSpPr>
        <p:spPr>
          <a:xfrm>
            <a:off x="777240" y="3474720"/>
            <a:ext cx="40690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Mención Honorable · Final Sudamérica Sur 2024 (Buenos Aires)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1.er puesto provincial · Torneo Argentino de Programación 2024 y 2025</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Final Sudamérica Sur 2025 (Santa Fe), representando a la UNdeC</a:t>
            </a:r>
            <a:endParaRPr lang="en-US" sz="1400" dirty="0"/>
          </a:p>
        </p:txBody>
      </p:sp>
      <p:sp>
        <p:nvSpPr>
          <p:cNvPr id="10" name="card-13"/>
          <p:cNvSpPr/>
          <p:nvPr/>
        </p:nvSpPr>
        <p:spPr>
          <a:xfrm>
            <a:off x="5212080" y="2560320"/>
            <a:ext cx="3108960" cy="2697480"/>
          </a:xfrm>
          <a:prstGeom prst="roundRect">
            <a:avLst>
              <a:gd name="adj" fmla="val 4068"/>
            </a:avLst>
          </a:prstGeom>
          <a:solidFill>
            <a:schemeClr val="accent6"/>
          </a:solidFill>
          <a:ln/>
        </p:spPr>
      </p:sp>
      <p:sp>
        <p:nvSpPr>
          <p:cNvPr id="11" name="icono-fondo-14"/>
          <p:cNvSpPr/>
          <p:nvPr/>
        </p:nvSpPr>
        <p:spPr>
          <a:xfrm>
            <a:off x="5440680" y="2788920"/>
            <a:ext cx="502920" cy="502920"/>
          </a:xfrm>
          <a:prstGeom prst="ellipse">
            <a:avLst/>
          </a:prstGeom>
          <a:solidFill>
            <a:schemeClr val="accent2"/>
          </a:solidFill>
          <a:ln/>
        </p:spPr>
      </p:sp>
      <p:pic>
        <p:nvPicPr>
          <p:cNvPr id="12" name="icono-15" descr="preencoded.png">    </p:cNvPr>
          <p:cNvPicPr>
            <a:picLocks noChangeAspect="1"/>
          </p:cNvPicPr>
          <p:nvPr/>
        </p:nvPicPr>
        <p:blipFill>
          <a:blip r:embed="rId2"/>
          <a:stretch>
            <a:fillRect/>
          </a:stretch>
        </p:blipFill>
        <p:spPr>
          <a:xfrm>
            <a:off x="5561381" y="2909621"/>
            <a:ext cx="261518" cy="261518"/>
          </a:xfrm>
          <a:prstGeom prst="rect">
            <a:avLst/>
          </a:prstGeom>
        </p:spPr>
      </p:pic>
      <p:sp>
        <p:nvSpPr>
          <p:cNvPr id="13" name="Text 9"/>
          <p:cNvSpPr txBox="1"/>
          <p:nvPr/>
        </p:nvSpPr>
        <p:spPr>
          <a:xfrm>
            <a:off x="608076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Proyecto destacado</a:t>
            </a:r>
            <a:endParaRPr lang="en-US" sz="1500" dirty="0"/>
          </a:p>
        </p:txBody>
      </p:sp>
      <p:sp>
        <p:nvSpPr>
          <p:cNvPr id="14" name="Text 10"/>
          <p:cNvSpPr txBox="1"/>
          <p:nvPr/>
        </p:nvSpPr>
        <p:spPr>
          <a:xfrm>
            <a:off x="5440680" y="3474720"/>
            <a:ext cx="26974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Dany Pizzas Web (2026): sistema de pedidos publicado y en uso para un emprendimiento real de Chilecito.</a:t>
            </a:r>
            <a:endParaRPr lang="en-US" sz="1400" dirty="0"/>
          </a:p>
        </p:txBody>
      </p:sp>
      <p:sp>
        <p:nvSpPr>
          <p:cNvPr id="15" name="card-16"/>
          <p:cNvSpPr/>
          <p:nvPr/>
        </p:nvSpPr>
        <p:spPr>
          <a:xfrm>
            <a:off x="8503920" y="2560320"/>
            <a:ext cx="3108960" cy="2697480"/>
          </a:xfrm>
          <a:prstGeom prst="roundRect">
            <a:avLst>
              <a:gd name="adj" fmla="val 4068"/>
            </a:avLst>
          </a:prstGeom>
          <a:solidFill>
            <a:schemeClr val="accent6"/>
          </a:solidFill>
          <a:ln/>
        </p:spPr>
      </p:sp>
      <p:sp>
        <p:nvSpPr>
          <p:cNvPr id="16" name="icono-fondo-17"/>
          <p:cNvSpPr/>
          <p:nvPr/>
        </p:nvSpPr>
        <p:spPr>
          <a:xfrm>
            <a:off x="8732520" y="2788920"/>
            <a:ext cx="502920" cy="502920"/>
          </a:xfrm>
          <a:prstGeom prst="ellipse">
            <a:avLst/>
          </a:prstGeom>
          <a:solidFill>
            <a:schemeClr val="accent2"/>
          </a:solidFill>
          <a:ln/>
        </p:spPr>
      </p:sp>
      <p:pic>
        <p:nvPicPr>
          <p:cNvPr id="17" name="icono-18" descr="preencoded.png">    </p:cNvPr>
          <p:cNvPicPr>
            <a:picLocks noChangeAspect="1"/>
          </p:cNvPicPr>
          <p:nvPr/>
        </p:nvPicPr>
        <p:blipFill>
          <a:blip r:embed="rId3"/>
          <a:stretch>
            <a:fillRect/>
          </a:stretch>
        </p:blipFill>
        <p:spPr>
          <a:xfrm>
            <a:off x="8853221" y="2909621"/>
            <a:ext cx="261518" cy="261518"/>
          </a:xfrm>
          <a:prstGeom prst="rect">
            <a:avLst/>
          </a:prstGeom>
        </p:spPr>
      </p:pic>
      <p:sp>
        <p:nvSpPr>
          <p:cNvPr id="18" name="Text 13"/>
          <p:cNvSpPr txBox="1"/>
          <p:nvPr/>
        </p:nvSpPr>
        <p:spPr>
          <a:xfrm>
            <a:off x="937260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Herramientas</a:t>
            </a:r>
            <a:endParaRPr lang="en-US" sz="1500" dirty="0"/>
          </a:p>
        </p:txBody>
      </p:sp>
      <p:sp>
        <p:nvSpPr>
          <p:cNvPr id="19" name="Text 14"/>
          <p:cNvSpPr txBox="1"/>
          <p:nvPr/>
        </p:nvSpPr>
        <p:spPr>
          <a:xfrm>
            <a:off x="8732520" y="3474720"/>
            <a:ext cx="274320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20" name="icono-fondo-19"/>
          <p:cNvSpPr/>
          <p:nvPr/>
        </p:nvSpPr>
        <p:spPr>
          <a:xfrm>
            <a:off x="548640" y="5596128"/>
            <a:ext cx="384048" cy="384048"/>
          </a:xfrm>
          <a:prstGeom prst="ellipse">
            <a:avLst/>
          </a:prstGeom>
          <a:solidFill>
            <a:schemeClr val="accent4"/>
          </a:solidFill>
          <a:ln/>
        </p:spPr>
      </p:sp>
      <p:pic>
        <p:nvPicPr>
          <p:cNvPr id="21" name="icono-20" descr="preencoded.png">    </p:cNvPr>
          <p:cNvPicPr>
            <a:picLocks noChangeAspect="1"/>
          </p:cNvPicPr>
          <p:nvPr/>
        </p:nvPicPr>
        <p:blipFill>
          <a:blip r:embed="rId4"/>
          <a:stretch>
            <a:fillRect/>
          </a:stretch>
        </p:blipFill>
        <p:spPr>
          <a:xfrm>
            <a:off x="640812" y="5688300"/>
            <a:ext cx="199705" cy="199705"/>
          </a:xfrm>
          <a:prstGeom prst="rect">
            <a:avLst/>
          </a:prstGeom>
        </p:spPr>
      </p:pic>
      <p:sp>
        <p:nvSpPr>
          <p:cNvPr id="22" name="Text 16"/>
          <p:cNvSpPr txBox="1"/>
          <p:nvPr/>
        </p:nvSpPr>
        <p:spPr>
          <a:xfrm>
            <a:off x="1051560" y="5596128"/>
            <a:ext cx="4754880" cy="384048"/>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Formación previa: </a:t>
            </a:r>
            <a:pPr indent="0" marL="0">
              <a:buNone/>
            </a:pPr>
            <a:r>
              <a:rPr lang="en-US" sz="1400" dirty="0">
                <a:solidFill>
                  <a:schemeClr val="tx1"/>
                </a:solidFill>
                <a:latin typeface="Calibri" pitchFamily="34" charset="0"/>
                <a:ea typeface="Calibri" pitchFamily="34" charset="-122"/>
                <a:cs typeface="Calibri" pitchFamily="34" charset="-120"/>
              </a:rPr>
              <a:t>Técnico Agrónomo (2023)</a:t>
            </a:r>
            <a:endParaRPr lang="en-US" sz="1400" dirty="0"/>
          </a:p>
        </p:txBody>
      </p:sp>
      <p:sp>
        <p:nvSpPr>
          <p:cNvPr id="23" name="icono-fondo-21"/>
          <p:cNvSpPr/>
          <p:nvPr/>
        </p:nvSpPr>
        <p:spPr>
          <a:xfrm>
            <a:off x="6035040" y="5596128"/>
            <a:ext cx="384048" cy="384048"/>
          </a:xfrm>
          <a:prstGeom prst="ellipse">
            <a:avLst/>
          </a:prstGeom>
          <a:solidFill>
            <a:schemeClr val="accent4"/>
          </a:solidFill>
          <a:ln/>
        </p:spPr>
      </p:sp>
      <p:pic>
        <p:nvPicPr>
          <p:cNvPr id="24" name="icono-22" descr="preencoded.png">    </p:cNvPr>
          <p:cNvPicPr>
            <a:picLocks noChangeAspect="1"/>
          </p:cNvPicPr>
          <p:nvPr/>
        </p:nvPicPr>
        <p:blipFill>
          <a:blip r:embed="rId5"/>
          <a:stretch>
            <a:fillRect/>
          </a:stretch>
        </p:blipFill>
        <p:spPr>
          <a:xfrm>
            <a:off x="6127212" y="5688300"/>
            <a:ext cx="199705" cy="199705"/>
          </a:xfrm>
          <a:prstGeom prst="rect">
            <a:avLst/>
          </a:prstGeom>
        </p:spPr>
      </p:pic>
      <p:sp>
        <p:nvSpPr>
          <p:cNvPr id="25" name="Text 18"/>
          <p:cNvSpPr txBox="1"/>
          <p:nvPr/>
        </p:nvSpPr>
        <p:spPr>
          <a:xfrm>
            <a:off x="6537960" y="5596128"/>
            <a:ext cx="5029200" cy="384048"/>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maximodanielcastro2004@gmail.com</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tmp/claude-0/-home-claude/c096e975-9e6a-561f-aa0a-08cce324a4b6/scratchpad/repo/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2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2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2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26"/>
          <p:cNvSpPr/>
          <p:nvPr/>
        </p:nvSpPr>
        <p:spPr>
          <a:xfrm>
            <a:off x="5303520" y="1508760"/>
            <a:ext cx="502920" cy="502920"/>
          </a:xfrm>
          <a:prstGeom prst="ellipse">
            <a:avLst/>
          </a:prstGeom>
          <a:solidFill>
            <a:schemeClr val="accent1"/>
          </a:solidFill>
          <a:ln/>
        </p:spPr>
      </p:sp>
      <p:pic>
        <p:nvPicPr>
          <p:cNvPr id="15" name="icono-2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28"/>
          <p:cNvSpPr/>
          <p:nvPr/>
        </p:nvSpPr>
        <p:spPr>
          <a:xfrm>
            <a:off x="8503920" y="1508760"/>
            <a:ext cx="502920" cy="502920"/>
          </a:xfrm>
          <a:prstGeom prst="ellipse">
            <a:avLst/>
          </a:prstGeom>
          <a:solidFill>
            <a:schemeClr val="accent2"/>
          </a:solidFill>
          <a:ln/>
        </p:spPr>
      </p:sp>
      <p:pic>
        <p:nvPicPr>
          <p:cNvPr id="19" name="icono-2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30"/>
          <p:cNvSpPr/>
          <p:nvPr/>
        </p:nvSpPr>
        <p:spPr>
          <a:xfrm>
            <a:off x="5303520" y="2560320"/>
            <a:ext cx="502920" cy="502920"/>
          </a:xfrm>
          <a:prstGeom prst="ellipse">
            <a:avLst/>
          </a:prstGeom>
          <a:solidFill>
            <a:schemeClr val="accent1"/>
          </a:solidFill>
          <a:ln/>
        </p:spPr>
      </p:sp>
      <p:pic>
        <p:nvPicPr>
          <p:cNvPr id="23" name="icono-3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32"/>
          <p:cNvSpPr/>
          <p:nvPr/>
        </p:nvSpPr>
        <p:spPr>
          <a:xfrm>
            <a:off x="8503920" y="2560320"/>
            <a:ext cx="502920" cy="502920"/>
          </a:xfrm>
          <a:prstGeom prst="ellipse">
            <a:avLst/>
          </a:prstGeom>
          <a:solidFill>
            <a:schemeClr val="accent2"/>
          </a:solidFill>
          <a:ln/>
        </p:spPr>
      </p:sp>
      <p:pic>
        <p:nvPicPr>
          <p:cNvPr id="27" name="icono-3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34"/>
          <p:cNvSpPr/>
          <p:nvPr/>
        </p:nvSpPr>
        <p:spPr>
          <a:xfrm>
            <a:off x="5303520" y="3703320"/>
            <a:ext cx="6309360" cy="2468880"/>
          </a:xfrm>
          <a:prstGeom prst="roundRect">
            <a:avLst>
              <a:gd name="adj" fmla="val 4444"/>
            </a:avLst>
          </a:prstGeom>
          <a:solidFill>
            <a:schemeClr val="bg2"/>
          </a:solidFill>
          <a:ln/>
        </p:spPr>
      </p:sp>
      <p:sp>
        <p:nvSpPr>
          <p:cNvPr id="31" name="etiqueta-35"/>
          <p:cNvSpPr/>
          <p:nvPr/>
        </p:nvSpPr>
        <p:spPr>
          <a:xfrm>
            <a:off x="8686800" y="3840480"/>
            <a:ext cx="2788920" cy="310896"/>
          </a:xfrm>
          <a:prstGeom prst="roundRect">
            <a:avLst>
              <a:gd name="adj" fmla="val 50000"/>
            </a:avLst>
          </a:prstGeom>
          <a:solidFill>
            <a:schemeClr val="tx2"/>
          </a:solidFill>
          <a:ln/>
        </p:spPr>
      </p:sp>
      <p:sp>
        <p:nvSpPr>
          <p:cNvPr id="32" name="Text 25"/>
          <p:cNvSpPr txBox="1"/>
          <p:nvPr/>
        </p:nvSpPr>
        <p:spPr>
          <a:xfrm>
            <a:off x="8686800" y="3840480"/>
            <a:ext cx="278892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APROBADAS POR EL DUEÑO · 07/10</a:t>
            </a:r>
            <a:endParaRPr lang="en-US" sz="1100" dirty="0"/>
          </a:p>
        </p:txBody>
      </p:sp>
      <p:sp>
        <p:nvSpPr>
          <p:cNvPr id="33" name="Text 26"/>
          <p:cNvSpPr txBox="1"/>
          <p:nvPr/>
        </p:nvSpPr>
        <p:spPr>
          <a:xfrm>
            <a:off x="5577840" y="4206240"/>
            <a:ext cx="5806440" cy="1920240"/>
          </a:xfrm>
          <a:prstGeom prst="rect">
            <a:avLst/>
          </a:prstGeom>
          <a:noFill/>
          <a:ln/>
        </p:spPr>
        <p:txBody>
          <a:bodyPr wrap="square" lIns="0" tIns="0" rIns="0" bIns="0" rtlCol="0" anchor="t"/>
          <a:lstStyle/>
          <a:p>
            <a:pPr indent="0" marL="0">
              <a:buNone/>
            </a:pPr>
            <a:r>
              <a:rPr lang="en-US" sz="1500" b="1" dirty="0">
                <a:solidFill>
                  <a:schemeClr val="accent3"/>
                </a:solidFill>
                <a:latin typeface="Calibri" pitchFamily="34" charset="0"/>
                <a:ea typeface="Calibri" pitchFamily="34" charset="-122"/>
                <a:cs typeface="Calibri" pitchFamily="34" charset="-120"/>
              </a:rPr>
              <a:t>Misión. </a:t>
            </a:r>
            <a:pPr indent="0" marL="0">
              <a:buNone/>
            </a:pPr>
            <a:r>
              <a:rPr lang="en-US" sz="15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2"/>
                </a:solidFill>
                <a:latin typeface="Calibri" pitchFamily="34" charset="0"/>
                <a:ea typeface="Calibri" pitchFamily="34" charset="-122"/>
                <a:cs typeface="Calibri" pitchFamily="34" charset="-120"/>
              </a:rPr>
              <a:t>Visión. </a:t>
            </a:r>
            <a:pPr indent="0" marL="0">
              <a:buNone/>
            </a:pPr>
            <a:r>
              <a:rPr lang="en-US" sz="15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Valores. </a:t>
            </a:r>
            <a:pPr indent="0" marL="0">
              <a:buNone/>
            </a:pPr>
            <a:r>
              <a:rPr lang="en-US" sz="1500" dirty="0">
                <a:solidFill>
                  <a:schemeClr val="tx1"/>
                </a:solidFill>
                <a:latin typeface="Calibri" pitchFamily="34" charset="0"/>
                <a:ea typeface="Calibri" pitchFamily="34" charset="-122"/>
                <a:cs typeface="Calibri" pitchFamily="34" charset="-120"/>
              </a:rPr>
              <a:t>Calidad casera · Precio justo · Trato cercano · Cumplimiento del horario.</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36"/>
          <p:cNvSpPr/>
          <p:nvPr/>
        </p:nvSpPr>
        <p:spPr>
          <a:xfrm>
            <a:off x="3657600" y="2606040"/>
            <a:ext cx="0" cy="365760"/>
          </a:xfrm>
          <a:prstGeom prst="line">
            <a:avLst/>
          </a:prstGeom>
          <a:noFill/>
          <a:ln w="19050">
            <a:solidFill>
              <a:srgbClr val="8A7F76"/>
            </a:solidFill>
            <a:prstDash val="solid"/>
          </a:ln>
        </p:spPr>
      </p:sp>
      <p:sp>
        <p:nvSpPr>
          <p:cNvPr id="5" name="linea-37"/>
          <p:cNvSpPr/>
          <p:nvPr/>
        </p:nvSpPr>
        <p:spPr>
          <a:xfrm>
            <a:off x="1783080" y="2971800"/>
            <a:ext cx="3749040" cy="0"/>
          </a:xfrm>
          <a:prstGeom prst="line">
            <a:avLst/>
          </a:prstGeom>
          <a:noFill/>
          <a:ln w="19050">
            <a:solidFill>
              <a:srgbClr val="8A7F76"/>
            </a:solidFill>
            <a:prstDash val="solid"/>
          </a:ln>
        </p:spPr>
      </p:sp>
      <p:sp>
        <p:nvSpPr>
          <p:cNvPr id="6" name="linea-38"/>
          <p:cNvSpPr/>
          <p:nvPr/>
        </p:nvSpPr>
        <p:spPr>
          <a:xfrm>
            <a:off x="1783080" y="2971800"/>
            <a:ext cx="0" cy="320040"/>
          </a:xfrm>
          <a:prstGeom prst="line">
            <a:avLst/>
          </a:prstGeom>
          <a:noFill/>
          <a:ln w="19050">
            <a:solidFill>
              <a:srgbClr val="8A7F76"/>
            </a:solidFill>
            <a:prstDash val="solid"/>
          </a:ln>
        </p:spPr>
      </p:sp>
      <p:sp>
        <p:nvSpPr>
          <p:cNvPr id="7" name="linea-39"/>
          <p:cNvSpPr/>
          <p:nvPr/>
        </p:nvSpPr>
        <p:spPr>
          <a:xfrm>
            <a:off x="5532120" y="2971800"/>
            <a:ext cx="0" cy="320040"/>
          </a:xfrm>
          <a:prstGeom prst="line">
            <a:avLst/>
          </a:prstGeom>
          <a:noFill/>
          <a:ln w="19050">
            <a:solidFill>
              <a:srgbClr val="8A7F76"/>
            </a:solidFill>
            <a:prstDash val="solid"/>
          </a:ln>
        </p:spPr>
      </p:sp>
      <p:sp>
        <p:nvSpPr>
          <p:cNvPr id="8" name="linea-40"/>
          <p:cNvSpPr/>
          <p:nvPr/>
        </p:nvSpPr>
        <p:spPr>
          <a:xfrm>
            <a:off x="5532120" y="4572000"/>
            <a:ext cx="0" cy="411480"/>
          </a:xfrm>
          <a:prstGeom prst="line">
            <a:avLst/>
          </a:prstGeom>
          <a:noFill/>
          <a:ln w="19050">
            <a:solidFill>
              <a:srgbClr val="8A7F76"/>
            </a:solidFill>
            <a:prstDash val="solid"/>
          </a:ln>
        </p:spPr>
      </p:sp>
      <p:sp>
        <p:nvSpPr>
          <p:cNvPr id="9" name="org-4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4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4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4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4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46"/>
          <p:cNvSpPr/>
          <p:nvPr/>
        </p:nvSpPr>
        <p:spPr>
          <a:xfrm>
            <a:off x="7680960" y="2286000"/>
            <a:ext cx="502920" cy="502920"/>
          </a:xfrm>
          <a:prstGeom prst="ellipse">
            <a:avLst/>
          </a:prstGeom>
          <a:solidFill>
            <a:schemeClr val="accent2"/>
          </a:solidFill>
          <a:ln/>
        </p:spPr>
      </p:sp>
      <p:pic>
        <p:nvPicPr>
          <p:cNvPr id="24" name="icono-4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48"/>
          <p:cNvSpPr/>
          <p:nvPr/>
        </p:nvSpPr>
        <p:spPr>
          <a:xfrm>
            <a:off x="7680960" y="3227832"/>
            <a:ext cx="502920" cy="502920"/>
          </a:xfrm>
          <a:prstGeom prst="ellipse">
            <a:avLst/>
          </a:prstGeom>
          <a:solidFill>
            <a:schemeClr val="accent2"/>
          </a:solidFill>
          <a:ln/>
        </p:spPr>
      </p:sp>
      <p:pic>
        <p:nvPicPr>
          <p:cNvPr id="27" name="icono-4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50"/>
          <p:cNvSpPr/>
          <p:nvPr/>
        </p:nvSpPr>
        <p:spPr>
          <a:xfrm>
            <a:off x="7680960" y="4169664"/>
            <a:ext cx="502920" cy="502920"/>
          </a:xfrm>
          <a:prstGeom prst="ellipse">
            <a:avLst/>
          </a:prstGeom>
          <a:solidFill>
            <a:schemeClr val="accent1"/>
          </a:solidFill>
          <a:ln/>
        </p:spPr>
      </p:sp>
      <p:pic>
        <p:nvPicPr>
          <p:cNvPr id="30" name="icono-5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52"/>
          <p:cNvSpPr/>
          <p:nvPr/>
        </p:nvSpPr>
        <p:spPr>
          <a:xfrm>
            <a:off x="7680960" y="5111496"/>
            <a:ext cx="502920" cy="502920"/>
          </a:xfrm>
          <a:prstGeom prst="ellipse">
            <a:avLst/>
          </a:prstGeom>
          <a:solidFill>
            <a:schemeClr val="accent2"/>
          </a:solidFill>
          <a:ln/>
        </p:spPr>
      </p:sp>
      <p:pic>
        <p:nvPicPr>
          <p:cNvPr id="33" name="icono-5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54"/>
          <p:cNvSpPr/>
          <p:nvPr/>
        </p:nvSpPr>
        <p:spPr>
          <a:xfrm>
            <a:off x="548640" y="1463040"/>
            <a:ext cx="3520440" cy="2240280"/>
          </a:xfrm>
          <a:prstGeom prst="roundRect">
            <a:avLst>
              <a:gd name="adj" fmla="val 4898"/>
            </a:avLst>
          </a:prstGeom>
          <a:solidFill>
            <a:schemeClr val="accent6"/>
          </a:solidFill>
          <a:ln/>
        </p:spPr>
      </p:sp>
      <p:sp>
        <p:nvSpPr>
          <p:cNvPr id="5" name="letra-5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56"/>
          <p:cNvSpPr/>
          <p:nvPr/>
        </p:nvSpPr>
        <p:spPr>
          <a:xfrm>
            <a:off x="4251960" y="1463040"/>
            <a:ext cx="3520440" cy="2240280"/>
          </a:xfrm>
          <a:prstGeom prst="roundRect">
            <a:avLst>
              <a:gd name="adj" fmla="val 4898"/>
            </a:avLst>
          </a:prstGeom>
          <a:solidFill>
            <a:schemeClr val="accent6"/>
          </a:solidFill>
          <a:ln/>
        </p:spPr>
      </p:sp>
      <p:sp>
        <p:nvSpPr>
          <p:cNvPr id="10" name="letra-5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58"/>
          <p:cNvSpPr/>
          <p:nvPr/>
        </p:nvSpPr>
        <p:spPr>
          <a:xfrm>
            <a:off x="548640" y="3858768"/>
            <a:ext cx="3520440" cy="2240280"/>
          </a:xfrm>
          <a:prstGeom prst="roundRect">
            <a:avLst>
              <a:gd name="adj" fmla="val 4898"/>
            </a:avLst>
          </a:prstGeom>
          <a:solidFill>
            <a:schemeClr val="accent6"/>
          </a:solidFill>
          <a:ln/>
        </p:spPr>
      </p:sp>
      <p:sp>
        <p:nvSpPr>
          <p:cNvPr id="15" name="letra-5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60"/>
          <p:cNvSpPr/>
          <p:nvPr/>
        </p:nvSpPr>
        <p:spPr>
          <a:xfrm>
            <a:off x="4251960" y="3858768"/>
            <a:ext cx="3520440" cy="2240280"/>
          </a:xfrm>
          <a:prstGeom prst="roundRect">
            <a:avLst>
              <a:gd name="adj" fmla="val 4898"/>
            </a:avLst>
          </a:prstGeom>
          <a:solidFill>
            <a:schemeClr val="accent6"/>
          </a:solidFill>
          <a:ln/>
        </p:spPr>
      </p:sp>
      <p:sp>
        <p:nvSpPr>
          <p:cNvPr id="20" name="letra-6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6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6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6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6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6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6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6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6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7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7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7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73"/>
          <p:cNvSpPr/>
          <p:nvPr/>
        </p:nvSpPr>
        <p:spPr>
          <a:xfrm>
            <a:off x="2743200" y="1828800"/>
            <a:ext cx="1097280" cy="2011680"/>
          </a:xfrm>
          <a:prstGeom prst="line">
            <a:avLst/>
          </a:prstGeom>
          <a:noFill/>
          <a:ln w="25400">
            <a:solidFill>
              <a:srgbClr val="1F6E5C"/>
            </a:solidFill>
            <a:prstDash val="solid"/>
          </a:ln>
        </p:spPr>
      </p:sp>
      <p:sp>
        <p:nvSpPr>
          <p:cNvPr id="8" name="categoria-7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75"/>
          <p:cNvSpPr/>
          <p:nvPr/>
        </p:nvSpPr>
        <p:spPr>
          <a:xfrm>
            <a:off x="5394960" y="1828800"/>
            <a:ext cx="1097280" cy="2011680"/>
          </a:xfrm>
          <a:prstGeom prst="line">
            <a:avLst/>
          </a:prstGeom>
          <a:noFill/>
          <a:ln w="25400">
            <a:solidFill>
              <a:srgbClr val="1F6E5C"/>
            </a:solidFill>
            <a:prstDash val="solid"/>
          </a:ln>
        </p:spPr>
      </p:sp>
      <p:sp>
        <p:nvSpPr>
          <p:cNvPr id="14" name="categoria-7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77"/>
          <p:cNvSpPr/>
          <p:nvPr/>
        </p:nvSpPr>
        <p:spPr>
          <a:xfrm>
            <a:off x="8046720" y="1828800"/>
            <a:ext cx="1097280" cy="2011680"/>
          </a:xfrm>
          <a:prstGeom prst="line">
            <a:avLst/>
          </a:prstGeom>
          <a:noFill/>
          <a:ln w="25400">
            <a:solidFill>
              <a:srgbClr val="1F6E5C"/>
            </a:solidFill>
            <a:prstDash val="solid"/>
          </a:ln>
        </p:spPr>
      </p:sp>
      <p:sp>
        <p:nvSpPr>
          <p:cNvPr id="20" name="categoria-7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79"/>
          <p:cNvSpPr/>
          <p:nvPr/>
        </p:nvSpPr>
        <p:spPr>
          <a:xfrm flipV="1">
            <a:off x="2743200" y="3840480"/>
            <a:ext cx="1097280" cy="2011680"/>
          </a:xfrm>
          <a:prstGeom prst="line">
            <a:avLst/>
          </a:prstGeom>
          <a:noFill/>
          <a:ln w="25400">
            <a:solidFill>
              <a:srgbClr val="1F6E5C"/>
            </a:solidFill>
            <a:prstDash val="solid"/>
          </a:ln>
        </p:spPr>
      </p:sp>
      <p:sp>
        <p:nvSpPr>
          <p:cNvPr id="26" name="categoria-8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81"/>
          <p:cNvSpPr/>
          <p:nvPr/>
        </p:nvSpPr>
        <p:spPr>
          <a:xfrm flipV="1">
            <a:off x="5394960" y="3840480"/>
            <a:ext cx="1097280" cy="2011680"/>
          </a:xfrm>
          <a:prstGeom prst="line">
            <a:avLst/>
          </a:prstGeom>
          <a:noFill/>
          <a:ln w="25400">
            <a:solidFill>
              <a:srgbClr val="1F6E5C"/>
            </a:solidFill>
            <a:prstDash val="solid"/>
          </a:ln>
        </p:spPr>
      </p:sp>
      <p:sp>
        <p:nvSpPr>
          <p:cNvPr id="32" name="categoria-8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83"/>
          <p:cNvSpPr/>
          <p:nvPr/>
        </p:nvSpPr>
        <p:spPr>
          <a:xfrm flipV="1">
            <a:off x="8046720" y="3840480"/>
            <a:ext cx="1097280" cy="2011680"/>
          </a:xfrm>
          <a:prstGeom prst="line">
            <a:avLst/>
          </a:prstGeom>
          <a:noFill/>
          <a:ln w="25400">
            <a:solidFill>
              <a:srgbClr val="1F6E5C"/>
            </a:solidFill>
            <a:prstDash val="solid"/>
          </a:ln>
        </p:spPr>
      </p:sp>
      <p:sp>
        <p:nvSpPr>
          <p:cNvPr id="38" name="categoria-8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8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86"/>
          <p:cNvSpPr/>
          <p:nvPr/>
        </p:nvSpPr>
        <p:spPr>
          <a:xfrm>
            <a:off x="548640" y="3154680"/>
            <a:ext cx="3474720" cy="3017520"/>
          </a:xfrm>
          <a:prstGeom prst="roundRect">
            <a:avLst>
              <a:gd name="adj" fmla="val 3636"/>
            </a:avLst>
          </a:prstGeom>
          <a:solidFill>
            <a:schemeClr val="accent6"/>
          </a:solidFill>
          <a:ln/>
        </p:spPr>
      </p:sp>
      <p:sp>
        <p:nvSpPr>
          <p:cNvPr id="7" name="icono-fondo-87"/>
          <p:cNvSpPr/>
          <p:nvPr/>
        </p:nvSpPr>
        <p:spPr>
          <a:xfrm>
            <a:off x="822960" y="3429000"/>
            <a:ext cx="594360" cy="594360"/>
          </a:xfrm>
          <a:prstGeom prst="ellipse">
            <a:avLst/>
          </a:prstGeom>
          <a:solidFill>
            <a:schemeClr val="accent1"/>
          </a:solidFill>
          <a:ln/>
        </p:spPr>
      </p:sp>
      <p:pic>
        <p:nvPicPr>
          <p:cNvPr id="8" name="icono-8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89"/>
          <p:cNvSpPr/>
          <p:nvPr/>
        </p:nvSpPr>
        <p:spPr>
          <a:xfrm>
            <a:off x="4297680" y="3154680"/>
            <a:ext cx="3474720" cy="3017520"/>
          </a:xfrm>
          <a:prstGeom prst="roundRect">
            <a:avLst>
              <a:gd name="adj" fmla="val 3636"/>
            </a:avLst>
          </a:prstGeom>
          <a:solidFill>
            <a:schemeClr val="accent6"/>
          </a:solidFill>
          <a:ln/>
        </p:spPr>
      </p:sp>
      <p:sp>
        <p:nvSpPr>
          <p:cNvPr id="13" name="icono-fondo-90"/>
          <p:cNvSpPr/>
          <p:nvPr/>
        </p:nvSpPr>
        <p:spPr>
          <a:xfrm>
            <a:off x="4572000" y="3429000"/>
            <a:ext cx="594360" cy="594360"/>
          </a:xfrm>
          <a:prstGeom prst="ellipse">
            <a:avLst/>
          </a:prstGeom>
          <a:solidFill>
            <a:schemeClr val="accent2"/>
          </a:solidFill>
          <a:ln/>
        </p:spPr>
      </p:sp>
      <p:pic>
        <p:nvPicPr>
          <p:cNvPr id="14" name="icono-9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92"/>
          <p:cNvSpPr/>
          <p:nvPr/>
        </p:nvSpPr>
        <p:spPr>
          <a:xfrm>
            <a:off x="8046720" y="3154680"/>
            <a:ext cx="3474720" cy="3017520"/>
          </a:xfrm>
          <a:prstGeom prst="roundRect">
            <a:avLst>
              <a:gd name="adj" fmla="val 3636"/>
            </a:avLst>
          </a:prstGeom>
          <a:solidFill>
            <a:schemeClr val="accent6"/>
          </a:solidFill>
          <a:ln/>
        </p:spPr>
      </p:sp>
      <p:sp>
        <p:nvSpPr>
          <p:cNvPr id="19" name="icono-fondo-93"/>
          <p:cNvSpPr/>
          <p:nvPr/>
        </p:nvSpPr>
        <p:spPr>
          <a:xfrm>
            <a:off x="8321040" y="3429000"/>
            <a:ext cx="594360" cy="594360"/>
          </a:xfrm>
          <a:prstGeom prst="ellipse">
            <a:avLst/>
          </a:prstGeom>
          <a:solidFill>
            <a:schemeClr val="tx2"/>
          </a:solidFill>
          <a:ln/>
        </p:spPr>
      </p:sp>
      <p:pic>
        <p:nvPicPr>
          <p:cNvPr id="20" name="icono-9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9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9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830568"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1 · 28/09–04/10</a:t>
            </a:r>
            <a:endParaRPr lang="en-US" sz="1000" dirty="0"/>
          </a:p>
        </p:txBody>
      </p:sp>
      <p:sp>
        <p:nvSpPr>
          <p:cNvPr id="11" name="Text 9"/>
          <p:cNvSpPr txBox="1"/>
          <p:nvPr/>
        </p:nvSpPr>
        <p:spPr>
          <a:xfrm>
            <a:off x="9006840"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2 · 05/10–11/10</a:t>
            </a:r>
            <a:endParaRPr lang="en-US" sz="1000" dirty="0"/>
          </a:p>
        </p:txBody>
      </p:sp>
      <p:sp>
        <p:nvSpPr>
          <p:cNvPr id="12" name="Text 10"/>
          <p:cNvSpPr txBox="1"/>
          <p:nvPr/>
        </p:nvSpPr>
        <p:spPr>
          <a:xfrm>
            <a:off x="11183112" y="1417320"/>
            <a:ext cx="310896" cy="228600"/>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Expo</a:t>
            </a:r>
            <a:endParaRPr lang="en-US" sz="1000" dirty="0"/>
          </a:p>
        </p:txBody>
      </p:sp>
      <p:sp>
        <p:nvSpPr>
          <p:cNvPr id="13" name="Text 11"/>
          <p:cNvSpPr txBox="1"/>
          <p:nvPr/>
        </p:nvSpPr>
        <p:spPr>
          <a:xfrm>
            <a:off x="683056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14" name="Text 12"/>
          <p:cNvSpPr txBox="1"/>
          <p:nvPr/>
        </p:nvSpPr>
        <p:spPr>
          <a:xfrm>
            <a:off x="683056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28</a:t>
            </a:r>
            <a:endParaRPr lang="en-US" sz="1000" dirty="0"/>
          </a:p>
        </p:txBody>
      </p:sp>
      <p:sp>
        <p:nvSpPr>
          <p:cNvPr id="15" name="Text 13"/>
          <p:cNvSpPr txBox="1"/>
          <p:nvPr/>
        </p:nvSpPr>
        <p:spPr>
          <a:xfrm>
            <a:off x="714146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6" name="Text 14"/>
          <p:cNvSpPr txBox="1"/>
          <p:nvPr/>
        </p:nvSpPr>
        <p:spPr>
          <a:xfrm>
            <a:off x="714146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29</a:t>
            </a:r>
            <a:endParaRPr lang="en-US" sz="1000" dirty="0"/>
          </a:p>
        </p:txBody>
      </p:sp>
      <p:sp>
        <p:nvSpPr>
          <p:cNvPr id="17" name="Text 15"/>
          <p:cNvSpPr txBox="1"/>
          <p:nvPr/>
        </p:nvSpPr>
        <p:spPr>
          <a:xfrm>
            <a:off x="745236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8" name="Text 16"/>
          <p:cNvSpPr txBox="1"/>
          <p:nvPr/>
        </p:nvSpPr>
        <p:spPr>
          <a:xfrm>
            <a:off x="745236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30</a:t>
            </a:r>
            <a:endParaRPr lang="en-US" sz="1000" dirty="0"/>
          </a:p>
        </p:txBody>
      </p:sp>
      <p:sp>
        <p:nvSpPr>
          <p:cNvPr id="19" name="Text 17"/>
          <p:cNvSpPr txBox="1"/>
          <p:nvPr/>
        </p:nvSpPr>
        <p:spPr>
          <a:xfrm>
            <a:off x="776325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20" name="Text 18"/>
          <p:cNvSpPr txBox="1"/>
          <p:nvPr/>
        </p:nvSpPr>
        <p:spPr>
          <a:xfrm>
            <a:off x="776325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a:t>
            </a:r>
            <a:endParaRPr lang="en-US" sz="1000" dirty="0"/>
          </a:p>
        </p:txBody>
      </p:sp>
      <p:sp>
        <p:nvSpPr>
          <p:cNvPr id="21" name="Text 19"/>
          <p:cNvSpPr txBox="1"/>
          <p:nvPr/>
        </p:nvSpPr>
        <p:spPr>
          <a:xfrm>
            <a:off x="807415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22" name="Text 20"/>
          <p:cNvSpPr txBox="1"/>
          <p:nvPr/>
        </p:nvSpPr>
        <p:spPr>
          <a:xfrm>
            <a:off x="807415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838504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24" name="Text 22"/>
          <p:cNvSpPr txBox="1"/>
          <p:nvPr/>
        </p:nvSpPr>
        <p:spPr>
          <a:xfrm>
            <a:off x="838504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869594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26" name="Text 24"/>
          <p:cNvSpPr txBox="1"/>
          <p:nvPr/>
        </p:nvSpPr>
        <p:spPr>
          <a:xfrm>
            <a:off x="869594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00684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28" name="Text 26"/>
          <p:cNvSpPr txBox="1"/>
          <p:nvPr/>
        </p:nvSpPr>
        <p:spPr>
          <a:xfrm>
            <a:off x="900684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31773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0" name="Text 28"/>
          <p:cNvSpPr txBox="1"/>
          <p:nvPr/>
        </p:nvSpPr>
        <p:spPr>
          <a:xfrm>
            <a:off x="931773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62863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2" name="Text 30"/>
          <p:cNvSpPr txBox="1"/>
          <p:nvPr/>
        </p:nvSpPr>
        <p:spPr>
          <a:xfrm>
            <a:off x="962863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7</a:t>
            </a:r>
            <a:endParaRPr lang="en-US" sz="1000" dirty="0"/>
          </a:p>
        </p:txBody>
      </p:sp>
      <p:sp>
        <p:nvSpPr>
          <p:cNvPr id="33" name="Text 31"/>
          <p:cNvSpPr txBox="1"/>
          <p:nvPr/>
        </p:nvSpPr>
        <p:spPr>
          <a:xfrm>
            <a:off x="993952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34" name="Text 32"/>
          <p:cNvSpPr txBox="1"/>
          <p:nvPr/>
        </p:nvSpPr>
        <p:spPr>
          <a:xfrm>
            <a:off x="993952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8</a:t>
            </a:r>
            <a:endParaRPr lang="en-US" sz="1000" dirty="0"/>
          </a:p>
        </p:txBody>
      </p:sp>
      <p:sp>
        <p:nvSpPr>
          <p:cNvPr id="35" name="Text 33"/>
          <p:cNvSpPr txBox="1"/>
          <p:nvPr/>
        </p:nvSpPr>
        <p:spPr>
          <a:xfrm>
            <a:off x="1025042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36" name="Text 34"/>
          <p:cNvSpPr txBox="1"/>
          <p:nvPr/>
        </p:nvSpPr>
        <p:spPr>
          <a:xfrm>
            <a:off x="1025042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9</a:t>
            </a:r>
            <a:endParaRPr lang="en-US" sz="1000" dirty="0"/>
          </a:p>
        </p:txBody>
      </p:sp>
      <p:sp>
        <p:nvSpPr>
          <p:cNvPr id="37" name="Text 35"/>
          <p:cNvSpPr txBox="1"/>
          <p:nvPr/>
        </p:nvSpPr>
        <p:spPr>
          <a:xfrm>
            <a:off x="1056132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38" name="Text 36"/>
          <p:cNvSpPr txBox="1"/>
          <p:nvPr/>
        </p:nvSpPr>
        <p:spPr>
          <a:xfrm>
            <a:off x="1056132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10</a:t>
            </a:r>
            <a:endParaRPr lang="en-US" sz="1000" dirty="0"/>
          </a:p>
        </p:txBody>
      </p:sp>
      <p:sp>
        <p:nvSpPr>
          <p:cNvPr id="39" name="Text 37"/>
          <p:cNvSpPr txBox="1"/>
          <p:nvPr/>
        </p:nvSpPr>
        <p:spPr>
          <a:xfrm>
            <a:off x="1087221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40" name="Text 38"/>
          <p:cNvSpPr txBox="1"/>
          <p:nvPr/>
        </p:nvSpPr>
        <p:spPr>
          <a:xfrm>
            <a:off x="1087221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11</a:t>
            </a:r>
            <a:endParaRPr lang="en-US" sz="1000" dirty="0"/>
          </a:p>
        </p:txBody>
      </p:sp>
      <p:sp>
        <p:nvSpPr>
          <p:cNvPr id="41" name="Text 39"/>
          <p:cNvSpPr txBox="1"/>
          <p:nvPr/>
        </p:nvSpPr>
        <p:spPr>
          <a:xfrm>
            <a:off x="11183112" y="1645920"/>
            <a:ext cx="310896" cy="182880"/>
          </a:xfrm>
          <a:prstGeom prst="rect">
            <a:avLst/>
          </a:prstGeom>
          <a:noFill/>
          <a:ln/>
        </p:spPr>
        <p:txBody>
          <a:bodyPr wrap="square" lIns="0" tIns="0" rIns="0" bIns="0" rtlCol="0" anchor="ctr"/>
          <a:lstStyle/>
          <a:p>
            <a:pPr algn="ctr" indent="0" marL="0">
              <a:buNone/>
            </a:pPr>
            <a:r>
              <a:rPr lang="en-US" sz="800" dirty="0">
                <a:solidFill>
                  <a:schemeClr val="accent3"/>
                </a:solidFill>
                <a:latin typeface="Calibri" pitchFamily="34" charset="0"/>
                <a:ea typeface="Calibri" pitchFamily="34" charset="-122"/>
                <a:cs typeface="Calibri" pitchFamily="34" charset="-120"/>
              </a:rPr>
              <a:t>M</a:t>
            </a:r>
            <a:endParaRPr lang="en-US" sz="800" dirty="0"/>
          </a:p>
        </p:txBody>
      </p:sp>
      <p:sp>
        <p:nvSpPr>
          <p:cNvPr id="42" name="Text 40"/>
          <p:cNvSpPr txBox="1"/>
          <p:nvPr/>
        </p:nvSpPr>
        <p:spPr>
          <a:xfrm>
            <a:off x="1118311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13</a:t>
            </a:r>
            <a:endParaRPr lang="en-US" sz="1000" dirty="0"/>
          </a:p>
        </p:txBody>
      </p:sp>
      <p:sp>
        <p:nvSpPr>
          <p:cNvPr id="43" name="Text 41"/>
          <p:cNvSpPr txBox="1"/>
          <p:nvPr/>
        </p:nvSpPr>
        <p:spPr>
          <a:xfrm>
            <a:off x="6446520" y="1810512"/>
            <a:ext cx="384048"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h</a:t>
            </a:r>
            <a:endParaRPr lang="en-US" sz="1000" dirty="0"/>
          </a:p>
        </p:txBody>
      </p:sp>
      <p:sp>
        <p:nvSpPr>
          <p:cNvPr id="44" name="fila-97"/>
          <p:cNvSpPr/>
          <p:nvPr/>
        </p:nvSpPr>
        <p:spPr>
          <a:xfrm>
            <a:off x="4343400" y="2057400"/>
            <a:ext cx="7150608" cy="365760"/>
          </a:xfrm>
          <a:prstGeom prst="rect">
            <a:avLst/>
          </a:prstGeom>
          <a:solidFill>
            <a:schemeClr val="accent6"/>
          </a:solidFill>
          <a:ln/>
        </p:spPr>
      </p:sp>
      <p:sp>
        <p:nvSpPr>
          <p:cNvPr id="45" name="Text 43"/>
          <p:cNvSpPr txBox="1"/>
          <p:nvPr/>
        </p:nvSpPr>
        <p:spPr>
          <a:xfrm>
            <a:off x="4398264" y="20574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Beat Chart y plan de trabajo</a:t>
            </a:r>
            <a:endParaRPr lang="en-US" sz="1200" dirty="0"/>
          </a:p>
        </p:txBody>
      </p:sp>
      <p:sp>
        <p:nvSpPr>
          <p:cNvPr id="46" name="Text 44"/>
          <p:cNvSpPr txBox="1"/>
          <p:nvPr/>
        </p:nvSpPr>
        <p:spPr>
          <a:xfrm>
            <a:off x="6446520" y="20574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3</a:t>
            </a:r>
            <a:endParaRPr lang="en-US" sz="1200" dirty="0"/>
          </a:p>
        </p:txBody>
      </p:sp>
      <p:sp>
        <p:nvSpPr>
          <p:cNvPr id="47" name="barra-98"/>
          <p:cNvSpPr/>
          <p:nvPr/>
        </p:nvSpPr>
        <p:spPr>
          <a:xfrm>
            <a:off x="6858000" y="2148840"/>
            <a:ext cx="566928" cy="182880"/>
          </a:xfrm>
          <a:prstGeom prst="roundRect">
            <a:avLst>
              <a:gd name="adj" fmla="val 25000"/>
            </a:avLst>
          </a:prstGeom>
          <a:solidFill>
            <a:schemeClr val="accent4"/>
          </a:solidFill>
          <a:ln/>
        </p:spPr>
      </p:sp>
      <p:sp>
        <p:nvSpPr>
          <p:cNvPr id="48" name="Text 46"/>
          <p:cNvSpPr txBox="1"/>
          <p:nvPr/>
        </p:nvSpPr>
        <p:spPr>
          <a:xfrm>
            <a:off x="4398264" y="24231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Cuestionario y relevamiento</a:t>
            </a:r>
            <a:endParaRPr lang="en-US" sz="1200" dirty="0"/>
          </a:p>
        </p:txBody>
      </p:sp>
      <p:sp>
        <p:nvSpPr>
          <p:cNvPr id="49" name="Text 47"/>
          <p:cNvSpPr txBox="1"/>
          <p:nvPr/>
        </p:nvSpPr>
        <p:spPr>
          <a:xfrm>
            <a:off x="6446520" y="24231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0" name="barra-99"/>
          <p:cNvSpPr/>
          <p:nvPr/>
        </p:nvSpPr>
        <p:spPr>
          <a:xfrm>
            <a:off x="7479792" y="2514600"/>
            <a:ext cx="877824" cy="182880"/>
          </a:xfrm>
          <a:prstGeom prst="roundRect">
            <a:avLst>
              <a:gd name="adj" fmla="val 25000"/>
            </a:avLst>
          </a:prstGeom>
          <a:solidFill>
            <a:schemeClr val="accent4"/>
          </a:solidFill>
          <a:ln/>
        </p:spPr>
      </p:sp>
      <p:sp>
        <p:nvSpPr>
          <p:cNvPr id="51" name="fila-100"/>
          <p:cNvSpPr/>
          <p:nvPr/>
        </p:nvSpPr>
        <p:spPr>
          <a:xfrm>
            <a:off x="4343400" y="2788920"/>
            <a:ext cx="7150608" cy="365760"/>
          </a:xfrm>
          <a:prstGeom prst="rect">
            <a:avLst/>
          </a:prstGeom>
          <a:solidFill>
            <a:schemeClr val="accent6"/>
          </a:solidFill>
          <a:ln/>
        </p:spPr>
      </p:sp>
      <p:sp>
        <p:nvSpPr>
          <p:cNvPr id="52" name="Text 50"/>
          <p:cNvSpPr txBox="1"/>
          <p:nvPr/>
        </p:nvSpPr>
        <p:spPr>
          <a:xfrm>
            <a:off x="4398264" y="27889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Diseño: interfaz y arquitectura</a:t>
            </a:r>
            <a:endParaRPr lang="en-US" sz="1200" dirty="0"/>
          </a:p>
        </p:txBody>
      </p:sp>
      <p:sp>
        <p:nvSpPr>
          <p:cNvPr id="53" name="Text 51"/>
          <p:cNvSpPr txBox="1"/>
          <p:nvPr/>
        </p:nvSpPr>
        <p:spPr>
          <a:xfrm>
            <a:off x="6446520" y="27889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54" name="barra-101"/>
          <p:cNvSpPr/>
          <p:nvPr/>
        </p:nvSpPr>
        <p:spPr>
          <a:xfrm>
            <a:off x="7790688" y="2880360"/>
            <a:ext cx="877824" cy="182880"/>
          </a:xfrm>
          <a:prstGeom prst="roundRect">
            <a:avLst>
              <a:gd name="adj" fmla="val 25000"/>
            </a:avLst>
          </a:prstGeom>
          <a:solidFill>
            <a:schemeClr val="accent4"/>
          </a:solidFill>
          <a:ln/>
        </p:spPr>
      </p:sp>
      <p:sp>
        <p:nvSpPr>
          <p:cNvPr id="55" name="Text 53"/>
          <p:cNvSpPr txBox="1"/>
          <p:nvPr/>
        </p:nvSpPr>
        <p:spPr>
          <a:xfrm>
            <a:off x="4398264" y="31546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1: carta (prototipo)</a:t>
            </a:r>
            <a:endParaRPr lang="en-US" sz="1200" dirty="0"/>
          </a:p>
        </p:txBody>
      </p:sp>
      <p:sp>
        <p:nvSpPr>
          <p:cNvPr id="56" name="Text 54"/>
          <p:cNvSpPr txBox="1"/>
          <p:nvPr/>
        </p:nvSpPr>
        <p:spPr>
          <a:xfrm>
            <a:off x="6446520" y="315468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7" name="barra-102"/>
          <p:cNvSpPr/>
          <p:nvPr/>
        </p:nvSpPr>
        <p:spPr>
          <a:xfrm>
            <a:off x="8412480" y="3246120"/>
            <a:ext cx="566928" cy="182880"/>
          </a:xfrm>
          <a:prstGeom prst="roundRect">
            <a:avLst>
              <a:gd name="adj" fmla="val 25000"/>
            </a:avLst>
          </a:prstGeom>
          <a:solidFill>
            <a:schemeClr val="accent1"/>
          </a:solidFill>
          <a:ln/>
        </p:spPr>
      </p:sp>
      <p:sp>
        <p:nvSpPr>
          <p:cNvPr id="58" name="fila-103"/>
          <p:cNvSpPr/>
          <p:nvPr/>
        </p:nvSpPr>
        <p:spPr>
          <a:xfrm>
            <a:off x="4343400" y="3520440"/>
            <a:ext cx="7150608" cy="365760"/>
          </a:xfrm>
          <a:prstGeom prst="rect">
            <a:avLst/>
          </a:prstGeom>
          <a:solidFill>
            <a:schemeClr val="accent6"/>
          </a:solidFill>
          <a:ln/>
        </p:spPr>
      </p:sp>
      <p:sp>
        <p:nvSpPr>
          <p:cNvPr id="59" name="Text 57"/>
          <p:cNvSpPr txBox="1"/>
          <p:nvPr/>
        </p:nvSpPr>
        <p:spPr>
          <a:xfrm>
            <a:off x="4398264" y="35204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2: carrito y mitades</a:t>
            </a:r>
            <a:endParaRPr lang="en-US" sz="1200" dirty="0"/>
          </a:p>
        </p:txBody>
      </p:sp>
      <p:sp>
        <p:nvSpPr>
          <p:cNvPr id="60" name="Text 58"/>
          <p:cNvSpPr txBox="1"/>
          <p:nvPr/>
        </p:nvSpPr>
        <p:spPr>
          <a:xfrm>
            <a:off x="6446520" y="352044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61" name="barra-104"/>
          <p:cNvSpPr/>
          <p:nvPr/>
        </p:nvSpPr>
        <p:spPr>
          <a:xfrm>
            <a:off x="9034272" y="3611880"/>
            <a:ext cx="256032" cy="182880"/>
          </a:xfrm>
          <a:prstGeom prst="roundRect">
            <a:avLst>
              <a:gd name="adj" fmla="val 25000"/>
            </a:avLst>
          </a:prstGeom>
          <a:solidFill>
            <a:schemeClr val="accent1"/>
          </a:solidFill>
          <a:ln/>
        </p:spPr>
      </p:sp>
      <p:sp>
        <p:nvSpPr>
          <p:cNvPr id="62" name="Text 60"/>
          <p:cNvSpPr txBox="1"/>
          <p:nvPr/>
        </p:nvSpPr>
        <p:spPr>
          <a:xfrm>
            <a:off x="4398264" y="38862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3–4: recibo y backend</a:t>
            </a:r>
            <a:endParaRPr lang="en-US" sz="1200" dirty="0"/>
          </a:p>
        </p:txBody>
      </p:sp>
      <p:sp>
        <p:nvSpPr>
          <p:cNvPr id="63" name="Text 61"/>
          <p:cNvSpPr txBox="1"/>
          <p:nvPr/>
        </p:nvSpPr>
        <p:spPr>
          <a:xfrm>
            <a:off x="6446520" y="38862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4" name="barra-105"/>
          <p:cNvSpPr/>
          <p:nvPr/>
        </p:nvSpPr>
        <p:spPr>
          <a:xfrm>
            <a:off x="9345168" y="3977640"/>
            <a:ext cx="566928" cy="182880"/>
          </a:xfrm>
          <a:prstGeom prst="roundRect">
            <a:avLst>
              <a:gd name="adj" fmla="val 25000"/>
            </a:avLst>
          </a:prstGeom>
          <a:solidFill>
            <a:schemeClr val="accent1"/>
          </a:solidFill>
          <a:ln/>
        </p:spPr>
      </p:sp>
      <p:sp>
        <p:nvSpPr>
          <p:cNvPr id="65" name="fila-106"/>
          <p:cNvSpPr/>
          <p:nvPr/>
        </p:nvSpPr>
        <p:spPr>
          <a:xfrm>
            <a:off x="4343400" y="4251960"/>
            <a:ext cx="7150608" cy="365760"/>
          </a:xfrm>
          <a:prstGeom prst="rect">
            <a:avLst/>
          </a:prstGeom>
          <a:solidFill>
            <a:schemeClr val="accent6"/>
          </a:solidFill>
          <a:ln/>
        </p:spPr>
      </p:sp>
      <p:sp>
        <p:nvSpPr>
          <p:cNvPr id="66" name="Text 64"/>
          <p:cNvSpPr txBox="1"/>
          <p:nvPr/>
        </p:nvSpPr>
        <p:spPr>
          <a:xfrm>
            <a:off x="4398264" y="42519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Pruebas (44 automáticas)</a:t>
            </a:r>
            <a:endParaRPr lang="en-US" sz="1200" dirty="0"/>
          </a:p>
        </p:txBody>
      </p:sp>
      <p:sp>
        <p:nvSpPr>
          <p:cNvPr id="67" name="Text 65"/>
          <p:cNvSpPr txBox="1"/>
          <p:nvPr/>
        </p:nvSpPr>
        <p:spPr>
          <a:xfrm>
            <a:off x="6446520" y="42519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8" name="barra-107"/>
          <p:cNvSpPr/>
          <p:nvPr/>
        </p:nvSpPr>
        <p:spPr>
          <a:xfrm>
            <a:off x="9034272" y="4343400"/>
            <a:ext cx="1188720" cy="182880"/>
          </a:xfrm>
          <a:prstGeom prst="roundRect">
            <a:avLst>
              <a:gd name="adj" fmla="val 25000"/>
            </a:avLst>
          </a:prstGeom>
          <a:solidFill>
            <a:schemeClr val="accent2"/>
          </a:solidFill>
          <a:ln/>
        </p:spPr>
      </p:sp>
      <p:sp>
        <p:nvSpPr>
          <p:cNvPr id="69" name="Text 67"/>
          <p:cNvSpPr txBox="1"/>
          <p:nvPr/>
        </p:nvSpPr>
        <p:spPr>
          <a:xfrm>
            <a:off x="4398264" y="46177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Despliegue y CI</a:t>
            </a:r>
            <a:endParaRPr lang="en-US" sz="1200" dirty="0"/>
          </a:p>
        </p:txBody>
      </p:sp>
      <p:sp>
        <p:nvSpPr>
          <p:cNvPr id="70" name="Text 68"/>
          <p:cNvSpPr txBox="1"/>
          <p:nvPr/>
        </p:nvSpPr>
        <p:spPr>
          <a:xfrm>
            <a:off x="6446520" y="46177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6</a:t>
            </a:r>
            <a:endParaRPr lang="en-US" sz="1200" dirty="0"/>
          </a:p>
        </p:txBody>
      </p:sp>
      <p:sp>
        <p:nvSpPr>
          <p:cNvPr id="71" name="barra-108"/>
          <p:cNvSpPr/>
          <p:nvPr/>
        </p:nvSpPr>
        <p:spPr>
          <a:xfrm>
            <a:off x="9345168" y="4709160"/>
            <a:ext cx="566928" cy="182880"/>
          </a:xfrm>
          <a:prstGeom prst="roundRect">
            <a:avLst>
              <a:gd name="adj" fmla="val 25000"/>
            </a:avLst>
          </a:prstGeom>
          <a:solidFill>
            <a:schemeClr val="accent2"/>
          </a:solidFill>
          <a:ln/>
        </p:spPr>
      </p:sp>
      <p:sp>
        <p:nvSpPr>
          <p:cNvPr id="72" name="fila-109"/>
          <p:cNvSpPr/>
          <p:nvPr/>
        </p:nvSpPr>
        <p:spPr>
          <a:xfrm>
            <a:off x="4343400" y="4983480"/>
            <a:ext cx="7150608" cy="365760"/>
          </a:xfrm>
          <a:prstGeom prst="rect">
            <a:avLst/>
          </a:prstGeom>
          <a:solidFill>
            <a:schemeClr val="accent6"/>
          </a:solidFill>
          <a:ln/>
        </p:spPr>
      </p:sp>
      <p:sp>
        <p:nvSpPr>
          <p:cNvPr id="73" name="Text 71"/>
          <p:cNvSpPr txBox="1"/>
          <p:nvPr/>
        </p:nvSpPr>
        <p:spPr>
          <a:xfrm>
            <a:off x="4398264" y="49834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Validación y evaluación</a:t>
            </a:r>
            <a:endParaRPr lang="en-US" sz="1200" dirty="0"/>
          </a:p>
        </p:txBody>
      </p:sp>
      <p:sp>
        <p:nvSpPr>
          <p:cNvPr id="74" name="Text 72"/>
          <p:cNvSpPr txBox="1"/>
          <p:nvPr/>
        </p:nvSpPr>
        <p:spPr>
          <a:xfrm>
            <a:off x="6446520" y="498348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5" name="barra-110"/>
          <p:cNvSpPr/>
          <p:nvPr/>
        </p:nvSpPr>
        <p:spPr>
          <a:xfrm>
            <a:off x="9656064" y="5074920"/>
            <a:ext cx="566928" cy="182880"/>
          </a:xfrm>
          <a:prstGeom prst="roundRect">
            <a:avLst>
              <a:gd name="adj" fmla="val 25000"/>
            </a:avLst>
          </a:prstGeom>
          <a:solidFill>
            <a:schemeClr val="tx2"/>
          </a:solidFill>
          <a:ln/>
        </p:spPr>
      </p:sp>
      <p:sp>
        <p:nvSpPr>
          <p:cNvPr id="76" name="Text 74"/>
          <p:cNvSpPr txBox="1"/>
          <p:nvPr/>
        </p:nvSpPr>
        <p:spPr>
          <a:xfrm>
            <a:off x="4398264" y="53492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Pedido real y medición</a:t>
            </a:r>
            <a:endParaRPr lang="en-US" sz="1200" dirty="0"/>
          </a:p>
        </p:txBody>
      </p:sp>
      <p:sp>
        <p:nvSpPr>
          <p:cNvPr id="77" name="Text 75"/>
          <p:cNvSpPr txBox="1"/>
          <p:nvPr/>
        </p:nvSpPr>
        <p:spPr>
          <a:xfrm>
            <a:off x="6446520" y="534924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8" name="barra-111"/>
          <p:cNvSpPr/>
          <p:nvPr/>
        </p:nvSpPr>
        <p:spPr>
          <a:xfrm>
            <a:off x="9966960" y="5440680"/>
            <a:ext cx="1188720" cy="182880"/>
          </a:xfrm>
          <a:prstGeom prst="roundRect">
            <a:avLst>
              <a:gd name="adj" fmla="val 25000"/>
            </a:avLst>
          </a:prstGeom>
          <a:solidFill>
            <a:schemeClr val="tx2"/>
          </a:solidFill>
          <a:ln/>
        </p:spPr>
      </p:sp>
      <p:sp>
        <p:nvSpPr>
          <p:cNvPr id="79" name="fila-112"/>
          <p:cNvSpPr/>
          <p:nvPr/>
        </p:nvSpPr>
        <p:spPr>
          <a:xfrm>
            <a:off x="4343400" y="5715000"/>
            <a:ext cx="7150608" cy="365760"/>
          </a:xfrm>
          <a:prstGeom prst="rect">
            <a:avLst/>
          </a:prstGeom>
          <a:solidFill>
            <a:schemeClr val="accent6"/>
          </a:solidFill>
          <a:ln/>
        </p:spPr>
      </p:sp>
      <p:sp>
        <p:nvSpPr>
          <p:cNvPr id="80" name="Text 78"/>
          <p:cNvSpPr txBox="1"/>
          <p:nvPr/>
        </p:nvSpPr>
        <p:spPr>
          <a:xfrm>
            <a:off x="4398264" y="57150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Presentación y ensayo</a:t>
            </a:r>
            <a:endParaRPr lang="en-US" sz="1200" dirty="0"/>
          </a:p>
        </p:txBody>
      </p:sp>
      <p:sp>
        <p:nvSpPr>
          <p:cNvPr id="81" name="Text 79"/>
          <p:cNvSpPr txBox="1"/>
          <p:nvPr/>
        </p:nvSpPr>
        <p:spPr>
          <a:xfrm>
            <a:off x="6446520" y="571500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82" name="barra-113"/>
          <p:cNvSpPr/>
          <p:nvPr/>
        </p:nvSpPr>
        <p:spPr>
          <a:xfrm>
            <a:off x="9656064" y="5806440"/>
            <a:ext cx="1499616" cy="182880"/>
          </a:xfrm>
          <a:prstGeom prst="roundRect">
            <a:avLst>
              <a:gd name="adj" fmla="val 25000"/>
            </a:avLst>
          </a:prstGeom>
          <a:solidFill>
            <a:schemeClr val="tx1"/>
          </a:solidFill>
          <a:ln/>
        </p:spPr>
      </p:sp>
      <p:sp>
        <p:nvSpPr>
          <p:cNvPr id="83" name="semana-114"/>
          <p:cNvSpPr/>
          <p:nvPr/>
        </p:nvSpPr>
        <p:spPr>
          <a:xfrm>
            <a:off x="9006840" y="1645920"/>
            <a:ext cx="0" cy="4434840"/>
          </a:xfrm>
          <a:prstGeom prst="line">
            <a:avLst/>
          </a:prstGeom>
          <a:noFill/>
          <a:ln w="12700">
            <a:solidFill>
              <a:srgbClr val="E4DCD2"/>
            </a:solidFill>
            <a:prstDash val="solid"/>
          </a:ln>
        </p:spPr>
      </p:sp>
      <p:sp>
        <p:nvSpPr>
          <p:cNvPr id="84" name="hito-115"/>
          <p:cNvSpPr/>
          <p:nvPr/>
        </p:nvSpPr>
        <p:spPr>
          <a:xfrm>
            <a:off x="9628632" y="2011680"/>
            <a:ext cx="0" cy="4114800"/>
          </a:xfrm>
          <a:prstGeom prst="line">
            <a:avLst/>
          </a:prstGeom>
          <a:noFill/>
          <a:ln w="15875">
            <a:solidFill>
              <a:srgbClr val="2B2420"/>
            </a:solidFill>
            <a:prstDash val="dash"/>
          </a:ln>
        </p:spPr>
      </p:sp>
      <p:sp>
        <p:nvSpPr>
          <p:cNvPr id="85" name="hito-116"/>
          <p:cNvSpPr/>
          <p:nvPr/>
        </p:nvSpPr>
        <p:spPr>
          <a:xfrm>
            <a:off x="11338560" y="2011680"/>
            <a:ext cx="0" cy="4114800"/>
          </a:xfrm>
          <a:prstGeom prst="line">
            <a:avLst/>
          </a:prstGeom>
          <a:noFill/>
          <a:ln w="19050">
            <a:solidFill>
              <a:schemeClr val="accent3"/>
            </a:solidFill>
            <a:prstDash val="dash"/>
          </a:ln>
        </p:spPr>
      </p:sp>
      <p:sp>
        <p:nvSpPr>
          <p:cNvPr id="86" name="Text 84"/>
          <p:cNvSpPr txBox="1"/>
          <p:nvPr/>
        </p:nvSpPr>
        <p:spPr>
          <a:xfrm>
            <a:off x="4398264" y="6126480"/>
            <a:ext cx="2432304"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Total 48 h</a:t>
            </a:r>
            <a:endParaRPr lang="en-US" sz="1200" dirty="0"/>
          </a:p>
        </p:txBody>
      </p:sp>
      <p:sp>
        <p:nvSpPr>
          <p:cNvPr id="87" name="Text 85"/>
          <p:cNvSpPr txBox="1"/>
          <p:nvPr/>
        </p:nvSpPr>
        <p:spPr>
          <a:xfrm>
            <a:off x="7936992" y="6126480"/>
            <a:ext cx="164592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88" name="Text 86"/>
          <p:cNvSpPr txBox="1"/>
          <p:nvPr/>
        </p:nvSpPr>
        <p:spPr>
          <a:xfrm>
            <a:off x="10012680" y="6126480"/>
            <a:ext cx="1280160" cy="274320"/>
          </a:xfrm>
          <a:prstGeom prst="rect">
            <a:avLst/>
          </a:prstGeom>
          <a:noFill/>
          <a:ln/>
        </p:spPr>
        <p:txBody>
          <a:bodyPr wrap="square" lIns="0" tIns="0" rIns="0" bIns="0" rtlCol="0" anchor="t"/>
          <a:lstStyle/>
          <a:p>
            <a:pPr algn="r" indent="0" marL="0">
              <a:buNone/>
            </a:pPr>
            <a:r>
              <a:rPr lang="en-US" sz="1200" b="1" dirty="0">
                <a:solidFill>
                  <a:schemeClr val="accent3"/>
                </a:solidFill>
                <a:latin typeface="Calibri" pitchFamily="34" charset="0"/>
                <a:ea typeface="Calibri" pitchFamily="34" charset="-122"/>
                <a:cs typeface="Calibri" pitchFamily="34" charset="-120"/>
              </a:rPr>
              <a:t>Expo 13/10 ▲</a:t>
            </a:r>
            <a:endParaRPr lang="en-US" sz="1200" dirty="0"/>
          </a:p>
        </p:txBody>
      </p:sp>
      <p:sp>
        <p:nvSpPr>
          <p:cNvPr id="89" name="Text 87"/>
          <p:cNvSpPr txBox="1"/>
          <p:nvPr/>
        </p:nvSpPr>
        <p:spPr>
          <a:xfrm>
            <a:off x="4343400" y="6428232"/>
            <a:ext cx="7223760" cy="256032"/>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Todas las tareas terminan el domingo 11/10.</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17"/>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18"/>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19"/>
          <p:cNvSpPr/>
          <p:nvPr/>
        </p:nvSpPr>
        <p:spPr>
          <a:xfrm>
            <a:off x="548640" y="1920240"/>
            <a:ext cx="548640" cy="548640"/>
          </a:xfrm>
          <a:prstGeom prst="ellipse">
            <a:avLst/>
          </a:prstGeom>
          <a:solidFill>
            <a:schemeClr val="accent1"/>
          </a:solidFill>
          <a:ln/>
        </p:spPr>
      </p:sp>
      <p:pic>
        <p:nvPicPr>
          <p:cNvPr id="6" name="icono-120"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21"/>
          <p:cNvSpPr/>
          <p:nvPr/>
        </p:nvSpPr>
        <p:spPr>
          <a:xfrm>
            <a:off x="548640" y="2788920"/>
            <a:ext cx="548640" cy="548640"/>
          </a:xfrm>
          <a:prstGeom prst="ellipse">
            <a:avLst/>
          </a:prstGeom>
          <a:solidFill>
            <a:schemeClr val="tx2"/>
          </a:solidFill>
          <a:ln/>
        </p:spPr>
      </p:sp>
      <p:pic>
        <p:nvPicPr>
          <p:cNvPr id="10" name="icono-122"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23"/>
          <p:cNvSpPr/>
          <p:nvPr/>
        </p:nvSpPr>
        <p:spPr>
          <a:xfrm>
            <a:off x="548640" y="3657600"/>
            <a:ext cx="548640" cy="548640"/>
          </a:xfrm>
          <a:prstGeom prst="ellipse">
            <a:avLst/>
          </a:prstGeom>
          <a:solidFill>
            <a:schemeClr val="accent2"/>
          </a:solidFill>
          <a:ln/>
        </p:spPr>
      </p:sp>
      <p:pic>
        <p:nvPicPr>
          <p:cNvPr id="14" name="icono-124"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25"/>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tmp/claude-0/-home-claude/c096e975-9e6a-561f-aa0a-08cce324a4b6/scratchpad/repo/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26"/>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27"/>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28"/>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29"/>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30"/>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31"/>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32"/>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33"/>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34"/>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35"/>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36"/>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37"/>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38"/>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39"/>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40"/>
          <p:cNvSpPr/>
          <p:nvPr/>
        </p:nvSpPr>
        <p:spPr>
          <a:xfrm>
            <a:off x="9784080" y="2926080"/>
            <a:ext cx="0" cy="822960"/>
          </a:xfrm>
          <a:prstGeom prst="line">
            <a:avLst/>
          </a:prstGeom>
          <a:noFill/>
          <a:ln w="22225">
            <a:solidFill>
              <a:srgbClr val="8A7F76"/>
            </a:solidFill>
            <a:prstDash val="solid"/>
            <a:tailEnd type="triangle"/>
          </a:ln>
        </p:spPr>
      </p:sp>
      <p:sp>
        <p:nvSpPr>
          <p:cNvPr id="30" name="flecha-141"/>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42"/>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43"/>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44"/>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45"/>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46"/>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47"/>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48"/>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49"/>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50"/>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51"/>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52"/>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53"/>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54"/>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55"/>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56"/>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57"/>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58"/>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59"/>
          <p:cNvSpPr/>
          <p:nvPr/>
        </p:nvSpPr>
        <p:spPr>
          <a:xfrm>
            <a:off x="1005840" y="1554480"/>
            <a:ext cx="685800" cy="685800"/>
          </a:xfrm>
          <a:prstGeom prst="ellipse">
            <a:avLst/>
          </a:prstGeom>
          <a:solidFill>
            <a:schemeClr val="accent2"/>
          </a:solidFill>
          <a:ln/>
        </p:spPr>
      </p:sp>
      <p:pic>
        <p:nvPicPr>
          <p:cNvPr id="5" name="icono-160"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61"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62"/>
          <p:cNvSpPr/>
          <p:nvPr/>
        </p:nvSpPr>
        <p:spPr>
          <a:xfrm>
            <a:off x="2788920" y="1554480"/>
            <a:ext cx="685800" cy="685800"/>
          </a:xfrm>
          <a:prstGeom prst="ellipse">
            <a:avLst/>
          </a:prstGeom>
          <a:solidFill>
            <a:schemeClr val="accent2"/>
          </a:solidFill>
          <a:ln/>
        </p:spPr>
      </p:sp>
      <p:pic>
        <p:nvPicPr>
          <p:cNvPr id="10" name="icono-163"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64"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65"/>
          <p:cNvSpPr/>
          <p:nvPr/>
        </p:nvSpPr>
        <p:spPr>
          <a:xfrm>
            <a:off x="4572000" y="1554480"/>
            <a:ext cx="685800" cy="685800"/>
          </a:xfrm>
          <a:prstGeom prst="ellipse">
            <a:avLst/>
          </a:prstGeom>
          <a:solidFill>
            <a:schemeClr val="accent1"/>
          </a:solidFill>
          <a:ln/>
        </p:spPr>
      </p:sp>
      <p:pic>
        <p:nvPicPr>
          <p:cNvPr id="15" name="icono-166"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67"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68"/>
          <p:cNvSpPr/>
          <p:nvPr/>
        </p:nvSpPr>
        <p:spPr>
          <a:xfrm>
            <a:off x="6355080" y="1554480"/>
            <a:ext cx="685800" cy="685800"/>
          </a:xfrm>
          <a:prstGeom prst="ellipse">
            <a:avLst/>
          </a:prstGeom>
          <a:solidFill>
            <a:schemeClr val="accent2"/>
          </a:solidFill>
          <a:ln/>
        </p:spPr>
      </p:sp>
      <p:pic>
        <p:nvPicPr>
          <p:cNvPr id="20" name="icono-169"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70"/>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71"/>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72"/>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73"/>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74"/>
          <p:cNvSpPr/>
          <p:nvPr/>
        </p:nvSpPr>
        <p:spPr>
          <a:xfrm>
            <a:off x="7754112" y="1444752"/>
            <a:ext cx="1944898" cy="4059936"/>
          </a:xfrm>
          <a:prstGeom prst="roundRect">
            <a:avLst>
              <a:gd name="adj" fmla="val 6582"/>
            </a:avLst>
          </a:prstGeom>
          <a:solidFill>
            <a:schemeClr val="tx1"/>
          </a:solidFill>
          <a:ln/>
        </p:spPr>
      </p:sp>
      <p:pic>
        <p:nvPicPr>
          <p:cNvPr id="35" name="captura-175" descr="/tmp/claude-0/-home-claude/c096e975-9e6a-561f-aa0a-08cce324a4b6/scratchpad/repo/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76"/>
          <p:cNvSpPr/>
          <p:nvPr/>
        </p:nvSpPr>
        <p:spPr>
          <a:xfrm>
            <a:off x="9738360" y="1444752"/>
            <a:ext cx="1944898" cy="4059936"/>
          </a:xfrm>
          <a:prstGeom prst="roundRect">
            <a:avLst>
              <a:gd name="adj" fmla="val 6582"/>
            </a:avLst>
          </a:prstGeom>
          <a:solidFill>
            <a:schemeClr val="tx1"/>
          </a:solidFill>
          <a:ln/>
        </p:spPr>
      </p:sp>
      <p:pic>
        <p:nvPicPr>
          <p:cNvPr id="37" name="captura-177" descr="/tmp/claude-0/-home-claude/c096e975-9e6a-561f-aa0a-08cce324a4b6/scratchpad/repo/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2468880"/>
                <a:gridCol w="3657600"/>
                <a:gridCol w="4114800"/>
              </a:tblGrid>
              <a:tr h="475488">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Indicador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Antes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Ahora (07/10/2026)</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Imagen reenviada por chat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Sitio publicado con fotos y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Datos del pedido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Incompletos (1 de cada 10 con error)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100 % completos: no se envía sin ellos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Registro de pedidos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No existía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Planilla mensual activa desde 06/10</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Cambio de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Reenviar la 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Editar una celda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Costo y calidad</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$0 por mes · 44 pruebas en verde</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del uso real</a:t>
            </a:r>
            <a:endParaRPr lang="en-US" sz="1700" dirty="0"/>
          </a:p>
        </p:txBody>
      </p:sp>
      <p:sp>
        <p:nvSpPr>
          <p:cNvPr id="6" name="pendiente-178"/>
          <p:cNvSpPr/>
          <p:nvPr/>
        </p:nvSpPr>
        <p:spPr>
          <a:xfrm>
            <a:off x="548640" y="4937760"/>
            <a:ext cx="2606040" cy="1234440"/>
          </a:xfrm>
          <a:prstGeom prst="roundRect">
            <a:avLst>
              <a:gd name="adj" fmla="val 7407"/>
            </a:avLst>
          </a:prstGeom>
          <a:solidFill>
            <a:srgbClr val="FFF4F2"/>
          </a:solidFill>
          <a:ln w="19050">
            <a:solidFill>
              <a:srgbClr val="E83030"/>
            </a:solidFill>
            <a:prstDash val="dash"/>
          </a:ln>
        </p:spPr>
      </p:sp>
      <p:sp>
        <p:nvSpPr>
          <p:cNvPr id="7" name="Text 4"/>
          <p:cNvSpPr txBox="1"/>
          <p:nvPr/>
        </p:nvSpPr>
        <p:spPr>
          <a:xfrm>
            <a:off x="73152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confirmación en el sitio</a:t>
            </a:r>
            <a:endParaRPr lang="en-US" sz="1400" dirty="0"/>
          </a:p>
        </p:txBody>
      </p:sp>
      <p:sp>
        <p:nvSpPr>
          <p:cNvPr id="8" name="pendiente-179"/>
          <p:cNvSpPr/>
          <p:nvPr/>
        </p:nvSpPr>
        <p:spPr>
          <a:xfrm>
            <a:off x="3360420" y="4937760"/>
            <a:ext cx="2606040" cy="1234440"/>
          </a:xfrm>
          <a:prstGeom prst="roundRect">
            <a:avLst>
              <a:gd name="adj" fmla="val 7407"/>
            </a:avLst>
          </a:prstGeom>
          <a:solidFill>
            <a:srgbClr val="FFF4F2"/>
          </a:solidFill>
          <a:ln w="19050">
            <a:solidFill>
              <a:srgbClr val="E83030"/>
            </a:solidFill>
            <a:prstDash val="dash"/>
          </a:ln>
        </p:spPr>
      </p:sp>
      <p:sp>
        <p:nvSpPr>
          <p:cNvPr id="9" name="Text 6"/>
          <p:cNvSpPr txBox="1"/>
          <p:nvPr/>
        </p:nvSpPr>
        <p:spPr>
          <a:xfrm>
            <a:off x="354330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mensaje en WhatsApp</a:t>
            </a:r>
            <a:endParaRPr lang="en-US" sz="1400" dirty="0"/>
          </a:p>
        </p:txBody>
      </p:sp>
      <p:sp>
        <p:nvSpPr>
          <p:cNvPr id="10" name="pendiente-180"/>
          <p:cNvSpPr/>
          <p:nvPr/>
        </p:nvSpPr>
        <p:spPr>
          <a:xfrm>
            <a:off x="6172200" y="4937760"/>
            <a:ext cx="2606040" cy="1234440"/>
          </a:xfrm>
          <a:prstGeom prst="roundRect">
            <a:avLst>
              <a:gd name="adj" fmla="val 7407"/>
            </a:avLst>
          </a:prstGeom>
          <a:solidFill>
            <a:srgbClr val="FFF4F2"/>
          </a:solidFill>
          <a:ln w="19050">
            <a:solidFill>
              <a:srgbClr val="E83030"/>
            </a:solidFill>
            <a:prstDash val="dash"/>
          </a:ln>
        </p:spPr>
      </p:sp>
      <p:sp>
        <p:nvSpPr>
          <p:cNvPr id="11" name="Text 8"/>
          <p:cNvSpPr txBox="1"/>
          <p:nvPr/>
        </p:nvSpPr>
        <p:spPr>
          <a:xfrm>
            <a:off x="635508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fila en la planilla</a:t>
            </a:r>
            <a:endParaRPr lang="en-US" sz="1400" dirty="0"/>
          </a:p>
        </p:txBody>
      </p:sp>
      <p:sp>
        <p:nvSpPr>
          <p:cNvPr id="12" name="pendiente-181"/>
          <p:cNvSpPr/>
          <p:nvPr/>
        </p:nvSpPr>
        <p:spPr>
          <a:xfrm>
            <a:off x="8983980" y="4937760"/>
            <a:ext cx="2606040" cy="1234440"/>
          </a:xfrm>
          <a:prstGeom prst="roundRect">
            <a:avLst>
              <a:gd name="adj" fmla="val 7407"/>
            </a:avLst>
          </a:prstGeom>
          <a:solidFill>
            <a:srgbClr val="FFF4F2"/>
          </a:solidFill>
          <a:ln w="19050">
            <a:solidFill>
              <a:srgbClr val="E83030"/>
            </a:solidFill>
            <a:prstDash val="dash"/>
          </a:ln>
        </p:spPr>
      </p:sp>
      <p:sp>
        <p:nvSpPr>
          <p:cNvPr id="13" name="Text 10"/>
          <p:cNvSpPr txBox="1"/>
          <p:nvPr/>
        </p:nvSpPr>
        <p:spPr>
          <a:xfrm>
            <a:off x="916686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Pedidos web hasta el 13/10</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82"/>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83"/>
          <p:cNvSpPr/>
          <p:nvPr/>
        </p:nvSpPr>
        <p:spPr>
          <a:xfrm>
            <a:off x="548640" y="1463040"/>
            <a:ext cx="3474720" cy="4709160"/>
          </a:xfrm>
          <a:prstGeom prst="roundRect">
            <a:avLst>
              <a:gd name="adj" fmla="val 3158"/>
            </a:avLst>
          </a:prstGeom>
          <a:solidFill>
            <a:schemeClr val="accent6"/>
          </a:solidFill>
          <a:ln/>
        </p:spPr>
      </p:sp>
      <p:sp>
        <p:nvSpPr>
          <p:cNvPr id="5" name="icono-fondo-184"/>
          <p:cNvSpPr/>
          <p:nvPr/>
        </p:nvSpPr>
        <p:spPr>
          <a:xfrm>
            <a:off x="822960" y="1691640"/>
            <a:ext cx="685800" cy="685800"/>
          </a:xfrm>
          <a:prstGeom prst="ellipse">
            <a:avLst/>
          </a:prstGeom>
          <a:solidFill>
            <a:schemeClr val="accent1"/>
          </a:solidFill>
          <a:ln/>
        </p:spPr>
      </p:sp>
      <p:pic>
        <p:nvPicPr>
          <p:cNvPr id="6" name="icono-185"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misión y valores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86"/>
          <p:cNvSpPr/>
          <p:nvPr/>
        </p:nvSpPr>
        <p:spPr>
          <a:xfrm>
            <a:off x="4297680" y="1463040"/>
            <a:ext cx="3474720" cy="4709160"/>
          </a:xfrm>
          <a:prstGeom prst="roundRect">
            <a:avLst>
              <a:gd name="adj" fmla="val 3158"/>
            </a:avLst>
          </a:prstGeom>
          <a:solidFill>
            <a:schemeClr val="accent6"/>
          </a:solidFill>
          <a:ln/>
        </p:spPr>
      </p:sp>
      <p:sp>
        <p:nvSpPr>
          <p:cNvPr id="10" name="icono-fondo-187"/>
          <p:cNvSpPr/>
          <p:nvPr/>
        </p:nvSpPr>
        <p:spPr>
          <a:xfrm>
            <a:off x="4572000" y="1691640"/>
            <a:ext cx="685800" cy="685800"/>
          </a:xfrm>
          <a:prstGeom prst="ellipse">
            <a:avLst/>
          </a:prstGeom>
          <a:solidFill>
            <a:schemeClr val="accent2"/>
          </a:solidFill>
          <a:ln/>
        </p:spPr>
      </p:sp>
      <p:pic>
        <p:nvPicPr>
          <p:cNvPr id="11" name="icono-188"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89"/>
          <p:cNvSpPr/>
          <p:nvPr/>
        </p:nvSpPr>
        <p:spPr>
          <a:xfrm>
            <a:off x="8046720" y="1463040"/>
            <a:ext cx="3474720" cy="4709160"/>
          </a:xfrm>
          <a:prstGeom prst="roundRect">
            <a:avLst>
              <a:gd name="adj" fmla="val 3158"/>
            </a:avLst>
          </a:prstGeom>
          <a:solidFill>
            <a:schemeClr val="accent6"/>
          </a:solidFill>
          <a:ln/>
        </p:spPr>
      </p:sp>
      <p:sp>
        <p:nvSpPr>
          <p:cNvPr id="15" name="icono-fondo-190"/>
          <p:cNvSpPr/>
          <p:nvPr/>
        </p:nvSpPr>
        <p:spPr>
          <a:xfrm>
            <a:off x="8321040" y="1691640"/>
            <a:ext cx="685800" cy="685800"/>
          </a:xfrm>
          <a:prstGeom prst="ellipse">
            <a:avLst/>
          </a:prstGeom>
          <a:solidFill>
            <a:schemeClr val="tx2"/>
          </a:solidFill>
          <a:ln/>
        </p:spPr>
      </p:sp>
      <p:pic>
        <p:nvPicPr>
          <p:cNvPr id="16" name="icono-191"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tmp/claude-0/-home-claude/c096e975-9e6a-561f-aa0a-08cce324a4b6/scratchpad/repo/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2026-10-09T13:50:17Z</dcterms:created>
  <dcterms:modified xsi:type="dcterms:W3CDTF">2026-10-09T13:50:17Z</dcterms:modified>
</cp:coreProperties>
</file>