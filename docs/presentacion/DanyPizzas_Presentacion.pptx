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b16a0a14-f426-061e-adc9-4494eb699921}">
          <p14:sldIdLst>
            <p14:sldId id="256"/>
            <p14:sldId id="257"/>
          </p14:sldIdLst>
        </p14:section>
        <p14:section name="I. Curriculum vitae" id="{13668065-a547-e59f-160e-3e06648c49d9}">
          <p14:sldIdLst>
            <p14:sldId id="258"/>
          </p14:sldIdLst>
        </p14:section>
        <p14:section name="II. Memoria descriptiva" id="{19bf6cc2-72d6-fa15-3648-72dcf853278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II. Trabajo principal" id="{b26ba9ff-5edf-dc21-33ce-ee151fadc0c4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242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2420"/>
                </a:solidFill>
                <a:latin typeface="+mn-lt"/>
              </a:rPr>
              <a:t>Costo por macrofase (horas × $4.890)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rgbClr val="E83030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Análisis</c:v>
                  </c:pt>
                  <c:pt idx="1">
                    <c:v>Diseño</c:v>
                  </c:pt>
                  <c:pt idx="2">
                    <c:v>Desarrollo</c:v>
                  </c:pt>
                  <c:pt idx="3">
                    <c:v>Pruebas</c:v>
                  </c:pt>
                  <c:pt idx="4">
                    <c:v>Despliegue y documentación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39120</c:v>
                </c:pt>
                <c:pt idx="1">
                  <c:v>39120</c:v>
                </c:pt>
                <c:pt idx="2">
                  <c:v>88020</c:v>
                </c:pt>
                <c:pt idx="3">
                  <c:v>39120</c:v>
                </c:pt>
                <c:pt idx="4">
                  <c:v>29340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24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B242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Dany Pizzas Web: un sistema de pedidos para un emprendimiento familiar real de Chilecito, La Rioja, ya publicado y funcionando.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presentación sigue el esquema de la cátedra. La relación de trabajos se omite en esta entrega, por eso el trabajo principal pasa a ser la sección 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Breve presentación personal. Completar con el CV del estudiante.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Dany Pizzas es un emprendimiento familiar de Chilecito que vende solo con envío. Trabaja de martes a domingo a la noche y toma todos los pedidos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tres personas: el cocinero, que es el dueño; un ayudante; y el encargado de atención. El reparto lo hace un repartidor externo. El punto débil es que toda la atención recae en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negocio no tenía misión ni visión escritas. Estas son una propuesta del estudiante, a aprobar por el dueño.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 compró nada: la solución usa el celular que ya tenían y servicios gratuitos de GitHub y Google. El horno de 6 moldes alcanza para la demanda actual y para los pedidos que se recuperen.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FODA validado por el negocio. Las debilidades D1 y D3, pedidos informales y sin carta digital, son las que más pesan y las que ataca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EFI 2,45 y EFE 2,32 el negocio queda en el cuadrante V de la matriz interna-externa: conservar y mantener. Eso justifica un proyecto que mejore cómo se vende lo que ya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estrategia cruzada quedó traducida en requisitos concretos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Ishikawa con 18 causas en 6 categorías, validado por el negocio. Abajo, los tres síntomas medidos por el propio negocio.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tres específicos. Cada específico tiene requisitos asociados, y los resultados y conclusiones se presentan objetivo por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versión 1 resuelve el problema con lo mínimo. Lo excluido queda como hoja de ruta para la versión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incrementos semanales con tablero Kanban y revisión semanal con el negocio. El sitio se publicó el 6 de octubre. Completar las fechas reales de las primeras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inversión es el tiempo de desarrollo valorizado; el negocio no desembolsa dinero. El funcionamiento mensual cuesta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datos de pedidos, pizzas, margen, minutos, errores y pedidos perdidos los dio el negocio. El mayor beneficio no es ahorrar minutos sino no perder ventas.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escenario base el proyecto conviene con holgura. El pesimista da negativo porque supone que todo sale mal al mismo tiempo; la simulación mide qué tan probable es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simularon 10.000 combinaciones de las 17 variables. En casi el 98 % el VAN es positivo; el caso pesimista anterior es una combinación muy poco probable.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ahorro de tiempo y de errores casi paga el proyecto por sí solo; cualquier pedido recuperado es ganancia. El riesgo es que los clientes no usen la web, y eso se mide.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Cliente-servidor mínimo en capas. El sitio es estático; el backend de Google registra los pedidos y sirve los precios. WhatsApp sigue siendo el canal: el sitio solo le entrega el pedido ya escrito.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casos de uso con tres actores humanos y WhatsApp como sistema externo.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secuencia del flujo completo, con los caminos alternativos: datos incompletos y backend caído.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Veinte requisitos funcionales numerados, todos implementados. Dos quedan por validar en el uso real: los estados y la consulta mensual de la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Veinte requisitos funcionales numerados, todos implementados. Dos quedan por validar en el uso real: los estados y la consulta mensual de la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Quince requisitos no funcionales agrupados según ISO/IEC 25010, cada uno con una métrica de aceptación.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cambio pasa por las 44 pruebas antes de publicarse. El backend y la planilla están activos en la cuenta del negocio desde el 6 de octubre.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Demostración: abrir el sitio con el QR. Si la exposición es de día, agregar ?ahora=2026-10-13T22:00 a la dirección (modo demo) para que el local figure abierto.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verificables hoy, objetivo por objetivo. Completar con el pedido real de prueba y con los pedidos que entren por la web antes de la exposición.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conclusiones responden a los tres objetivos específicos.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Recomendaciones concretas para cada responsable, empezando por medir el primer mes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Invitar a escanear el QR y abrir el sitio.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Dany Pizzas Web · Ingeniería de Software · Comisión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Sección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-fondo"/>
          <p:cNvSpPr/>
          <p:nvPr/>
        </p:nvSpPr>
        <p:spPr>
          <a:xfrm>
            <a:off x="731520" y="1143000"/>
            <a:ext cx="4023360" cy="4297680"/>
          </a:xfrm>
          <a:prstGeom prst="roundRect">
            <a:avLst>
              <a:gd name="adj" fmla="val 5682"/>
            </a:avLst>
          </a:prstGeom>
          <a:solidFill>
            <a:schemeClr val="bg2"/>
          </a:solidFill>
          <a:ln/>
        </p:spPr>
      </p:sp>
      <p:pic>
        <p:nvPicPr>
          <p:cNvPr id="3" name="logo" descr="/home/claude/danypizzas/site/assets/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25880"/>
            <a:ext cx="3566160" cy="3803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303520" y="1143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B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· COMISIÓN 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303520" y="15087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Dany Pizzas Web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303520" y="2423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pedidos por WhatsApp para un emprendimiento familiar de pizzas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303520" y="35204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de Moquegua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 Profesional de Ingeniería de Sistemas e Informática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Carrera: Ingeniería de Sistemas · Asignatura: Ingeniería de Software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303520" y="48006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2B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Daniel Castro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2B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Morales Gonzales Alexander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de la presentación</a:t>
            </a:r>
            <a:endParaRPr lang="en-US" sz="3200" dirty="0"/>
          </a:p>
        </p:txBody>
      </p:sp>
      <p:sp>
        <p:nvSpPr>
          <p:cNvPr id="4" name="card-1"/>
          <p:cNvSpPr/>
          <p:nvPr/>
        </p:nvSpPr>
        <p:spPr>
          <a:xfrm>
            <a:off x="548640" y="160020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5" name="icono-fondo-2"/>
          <p:cNvSpPr/>
          <p:nvPr/>
        </p:nvSpPr>
        <p:spPr>
          <a:xfrm>
            <a:off x="868680" y="19659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o-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21415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880360" y="187452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Curriculum vitae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5204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y experiencia del estudiante</a:t>
            </a:r>
            <a:endParaRPr lang="en-US" sz="1500" dirty="0"/>
          </a:p>
        </p:txBody>
      </p:sp>
      <p:sp>
        <p:nvSpPr>
          <p:cNvPr id="10" name="card-4"/>
          <p:cNvSpPr/>
          <p:nvPr/>
        </p:nvSpPr>
        <p:spPr>
          <a:xfrm>
            <a:off x="4297680" y="160020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11" name="icono-fondo-5"/>
          <p:cNvSpPr/>
          <p:nvPr/>
        </p:nvSpPr>
        <p:spPr>
          <a:xfrm>
            <a:off x="4617720" y="19659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o-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85" y="214152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9400" y="187452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descriptiva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35204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empresa, organización, misión y visión, infraestructura, FODA y posición estratégica</a:t>
            </a:r>
            <a:endParaRPr lang="en-US" sz="1500" dirty="0"/>
          </a:p>
        </p:txBody>
      </p:sp>
      <p:sp>
        <p:nvSpPr>
          <p:cNvPr id="16" name="card-7"/>
          <p:cNvSpPr/>
          <p:nvPr/>
        </p:nvSpPr>
        <p:spPr>
          <a:xfrm>
            <a:off x="8046720" y="160020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17" name="icono-fondo-8"/>
          <p:cNvSpPr/>
          <p:nvPr/>
        </p:nvSpPr>
        <p:spPr>
          <a:xfrm>
            <a:off x="836676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325" y="2141525"/>
            <a:ext cx="380390" cy="38039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378440" y="187452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principal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52044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Problema, objetivos, alcance, plan, presupuesto, evaluación económica, diseño, requisitos, desarrollo, resultados, conclusiones y recomendaciones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CURRICULUM VITAE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Máximo Daniel Castro</a:t>
            </a:r>
            <a:endParaRPr lang="en-US" sz="3200" dirty="0"/>
          </a:p>
        </p:txBody>
      </p:sp>
      <p:sp>
        <p:nvSpPr>
          <p:cNvPr id="4" name="foto-cv"/>
          <p:cNvSpPr/>
          <p:nvPr/>
        </p:nvSpPr>
        <p:spPr>
          <a:xfrm>
            <a:off x="731520" y="1645920"/>
            <a:ext cx="2377440" cy="2377440"/>
          </a:xfrm>
          <a:prstGeom prst="ellipse">
            <a:avLst/>
          </a:prstGeom>
          <a:solidFill>
            <a:schemeClr val="bg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(opcional)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6459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 de Ingeniería de Sistemas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de Moquegua · Escuela Profesional de Ingeniería de Sistemas e Informática</a:t>
            </a:r>
            <a:endParaRPr lang="en-US" sz="1500" dirty="0"/>
          </a:p>
        </p:txBody>
      </p:sp>
      <p:sp>
        <p:nvSpPr>
          <p:cNvPr id="7" name="card-10"/>
          <p:cNvSpPr/>
          <p:nvPr/>
        </p:nvSpPr>
        <p:spPr>
          <a:xfrm>
            <a:off x="3566160" y="2606040"/>
            <a:ext cx="3749040" cy="2148840"/>
          </a:xfrm>
          <a:prstGeom prst="roundRect">
            <a:avLst>
              <a:gd name="adj" fmla="val 5106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9476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destacado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3090672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Dany Pizzas Web (2026): sistema de pedidos publicado y en uso para un emprendimiento real, con backend en Google Apps Script y 44 pruebas automáticas.</a:t>
            </a:r>
            <a:endParaRPr lang="en-US" sz="1400" dirty="0"/>
          </a:p>
        </p:txBody>
      </p:sp>
      <p:sp>
        <p:nvSpPr>
          <p:cNvPr id="10" name="card-11"/>
          <p:cNvSpPr/>
          <p:nvPr/>
        </p:nvSpPr>
        <p:spPr>
          <a:xfrm>
            <a:off x="7589520" y="2606040"/>
            <a:ext cx="3840480" cy="2148840"/>
          </a:xfrm>
          <a:prstGeom prst="roundRect">
            <a:avLst>
              <a:gd name="adj" fmla="val 5106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81812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usadas en el proyecto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3090672"/>
            <a:ext cx="3474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GitHub y GitHub Actions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Apps Script y Sheets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Ubuntu y VS Code</a:t>
            </a:r>
            <a:endParaRPr lang="en-US" sz="1400" dirty="0"/>
          </a:p>
        </p:txBody>
      </p:sp>
      <p:sp>
        <p:nvSpPr>
          <p:cNvPr id="13" name="pendiente-12"/>
          <p:cNvSpPr/>
          <p:nvPr/>
        </p:nvSpPr>
        <p:spPr>
          <a:xfrm>
            <a:off x="731520" y="502920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FFF4F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914400" y="5138928"/>
            <a:ext cx="103327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</a:t>
            </a:r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con tu CV: año que cursás, formación previa, experiencia laboral, cursos o certificaciones, idiomas y datos de contacto.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30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descriptiva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empresa, su organización y su posición estratégica antes del proyecto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empresa: Dany Pizzas</a:t>
            </a:r>
            <a:endParaRPr lang="en-US" sz="3200" dirty="0"/>
          </a:p>
        </p:txBody>
      </p:sp>
      <p:pic>
        <p:nvPicPr>
          <p:cNvPr id="4" name="foto-pizza" descr="/home/claude/danypizzas/site/assets/img/napolita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754880" cy="2971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propia del negocio (Napolitana)</a:t>
            </a:r>
            <a:endParaRPr lang="en-US" sz="1100" dirty="0"/>
          </a:p>
        </p:txBody>
      </p:sp>
      <p:sp>
        <p:nvSpPr>
          <p:cNvPr id="6" name="icono-fondo-13"/>
          <p:cNvSpPr/>
          <p:nvPr/>
        </p:nvSpPr>
        <p:spPr>
          <a:xfrm>
            <a:off x="57607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o-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70992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Rubro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3550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y venta de pizzas con envío</a:t>
            </a:r>
            <a:endParaRPr lang="en-US" sz="1400" dirty="0"/>
          </a:p>
        </p:txBody>
      </p:sp>
      <p:sp>
        <p:nvSpPr>
          <p:cNvPr id="10" name="icono-fondo-15"/>
          <p:cNvSpPr/>
          <p:nvPr/>
        </p:nvSpPr>
        <p:spPr>
          <a:xfrm>
            <a:off x="873252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o-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1709928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268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· emprendimiento familiar informal</a:t>
            </a:r>
            <a:endParaRPr lang="en-US" sz="1400" dirty="0"/>
          </a:p>
        </p:txBody>
      </p:sp>
      <p:sp>
        <p:nvSpPr>
          <p:cNvPr id="14" name="icono-fondo-17"/>
          <p:cNvSpPr/>
          <p:nvPr/>
        </p:nvSpPr>
        <p:spPr>
          <a:xfrm>
            <a:off x="5760720" y="2624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o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734056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355080" y="2578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355080" y="28529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Chilecito, La Rioja, Argentina</a:t>
            </a:r>
            <a:endParaRPr lang="en-US" sz="1400" dirty="0"/>
          </a:p>
        </p:txBody>
      </p:sp>
      <p:sp>
        <p:nvSpPr>
          <p:cNvPr id="18" name="icono-fondo-19"/>
          <p:cNvSpPr/>
          <p:nvPr/>
        </p:nvSpPr>
        <p:spPr>
          <a:xfrm>
            <a:off x="8732520" y="26243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o-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2248" y="2734056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326880" y="2578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Modalidad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9326880" y="28529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envío a domicilio (“puertas cerradas”)</a:t>
            </a:r>
            <a:endParaRPr lang="en-US" sz="1400" dirty="0"/>
          </a:p>
        </p:txBody>
      </p:sp>
      <p:sp>
        <p:nvSpPr>
          <p:cNvPr id="22" name="icono-fondo-21"/>
          <p:cNvSpPr/>
          <p:nvPr/>
        </p:nvSpPr>
        <p:spPr>
          <a:xfrm>
            <a:off x="5760720" y="36484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-2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0448" y="3758184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355080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6355080" y="387705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a domingo, 21:00 a 00:30</a:t>
            </a:r>
            <a:endParaRPr lang="en-US" sz="1400" dirty="0"/>
          </a:p>
        </p:txBody>
      </p:sp>
      <p:sp>
        <p:nvSpPr>
          <p:cNvPr id="26" name="icono-fondo-23"/>
          <p:cNvSpPr/>
          <p:nvPr/>
        </p:nvSpPr>
        <p:spPr>
          <a:xfrm>
            <a:off x="8732520" y="364845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icono-2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248" y="3758184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9326880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venta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9326880" y="387705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WhatsApp; difusión por Instagram</a:t>
            </a:r>
            <a:endParaRPr lang="en-US" sz="1400" dirty="0"/>
          </a:p>
        </p:txBody>
      </p:sp>
      <p:sp>
        <p:nvSpPr>
          <p:cNvPr id="30" name="card-25"/>
          <p:cNvSpPr/>
          <p:nvPr/>
        </p:nvSpPr>
        <p:spPr>
          <a:xfrm>
            <a:off x="548640" y="5029200"/>
            <a:ext cx="3474720" cy="1143000"/>
          </a:xfrm>
          <a:prstGeom prst="roundRect">
            <a:avLst>
              <a:gd name="adj" fmla="val 9600"/>
            </a:avLst>
          </a:prstGeom>
          <a:solidFill>
            <a:schemeClr val="accent6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777240" y="510235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32" name="Text 23"/>
          <p:cNvSpPr txBox="1"/>
          <p:nvPr/>
        </p:nvSpPr>
        <p:spPr>
          <a:xfrm>
            <a:off x="777240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variedades en la carta</a:t>
            </a:r>
            <a:endParaRPr lang="en-US" sz="1300" dirty="0"/>
          </a:p>
        </p:txBody>
      </p:sp>
      <p:sp>
        <p:nvSpPr>
          <p:cNvPr id="33" name="card-26"/>
          <p:cNvSpPr/>
          <p:nvPr/>
        </p:nvSpPr>
        <p:spPr>
          <a:xfrm>
            <a:off x="4297680" y="5029200"/>
            <a:ext cx="347472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4526280" y="510235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</a:t>
            </a:r>
            <a:endParaRPr lang="en-US" sz="3200" dirty="0"/>
          </a:p>
        </p:txBody>
      </p:sp>
      <p:sp>
        <p:nvSpPr>
          <p:cNvPr id="35" name="Text 26"/>
          <p:cNvSpPr txBox="1"/>
          <p:nvPr/>
        </p:nvSpPr>
        <p:spPr>
          <a:xfrm>
            <a:off x="4526280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por semana</a:t>
            </a:r>
            <a:endParaRPr lang="en-US" sz="1300" dirty="0"/>
          </a:p>
        </p:txBody>
      </p:sp>
      <p:sp>
        <p:nvSpPr>
          <p:cNvPr id="36" name="card-27"/>
          <p:cNvSpPr/>
          <p:nvPr/>
        </p:nvSpPr>
        <p:spPr>
          <a:xfrm>
            <a:off x="8046720" y="5029200"/>
            <a:ext cx="3474720" cy="1143000"/>
          </a:xfrm>
          <a:prstGeom prst="roundRect">
            <a:avLst>
              <a:gd name="adj" fmla="val 9600"/>
            </a:avLst>
          </a:prstGeom>
          <a:solidFill>
            <a:schemeClr val="accent6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75320" y="510235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$8.500–$10.500</a:t>
            </a:r>
            <a:endParaRPr lang="en-US" sz="2600" dirty="0"/>
          </a:p>
        </p:txBody>
      </p:sp>
      <p:sp>
        <p:nvSpPr>
          <p:cNvPr id="38" name="Text 29"/>
          <p:cNvSpPr txBox="1"/>
          <p:nvPr/>
        </p:nvSpPr>
        <p:spPr>
          <a:xfrm>
            <a:off x="8275320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la pizza entera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Organización: tres personas y un repartidor externo</a:t>
            </a:r>
            <a:endParaRPr lang="en-US" sz="3200" dirty="0"/>
          </a:p>
        </p:txBody>
      </p:sp>
      <p:sp>
        <p:nvSpPr>
          <p:cNvPr id="4" name="linea-28"/>
          <p:cNvSpPr/>
          <p:nvPr/>
        </p:nvSpPr>
        <p:spPr>
          <a:xfrm>
            <a:off x="3977640" y="2697480"/>
            <a:ext cx="0" cy="365760"/>
          </a:xfrm>
          <a:prstGeom prst="line">
            <a:avLst/>
          </a:prstGeom>
          <a:noFill/>
          <a:ln w="19050">
            <a:solidFill>
              <a:srgbClr val="8A7F76"/>
            </a:solidFill>
            <a:prstDash val="solid"/>
          </a:ln>
        </p:spPr>
      </p:sp>
      <p:sp>
        <p:nvSpPr>
          <p:cNvPr id="5" name="linea-29"/>
          <p:cNvSpPr/>
          <p:nvPr/>
        </p:nvSpPr>
        <p:spPr>
          <a:xfrm>
            <a:off x="1783080" y="3063240"/>
            <a:ext cx="4389120" cy="0"/>
          </a:xfrm>
          <a:prstGeom prst="line">
            <a:avLst/>
          </a:prstGeom>
          <a:noFill/>
          <a:ln w="19050">
            <a:solidFill>
              <a:srgbClr val="8A7F76"/>
            </a:solidFill>
            <a:prstDash val="solid"/>
          </a:ln>
        </p:spPr>
      </p:sp>
      <p:sp>
        <p:nvSpPr>
          <p:cNvPr id="6" name="linea-30"/>
          <p:cNvSpPr/>
          <p:nvPr/>
        </p:nvSpPr>
        <p:spPr>
          <a:xfrm>
            <a:off x="1783080" y="3063240"/>
            <a:ext cx="0" cy="320040"/>
          </a:xfrm>
          <a:prstGeom prst="line">
            <a:avLst/>
          </a:prstGeom>
          <a:noFill/>
          <a:ln w="19050">
            <a:solidFill>
              <a:srgbClr val="8A7F76"/>
            </a:solidFill>
            <a:prstDash val="solid"/>
          </a:ln>
        </p:spPr>
      </p:sp>
      <p:sp>
        <p:nvSpPr>
          <p:cNvPr id="7" name="linea-31"/>
          <p:cNvSpPr/>
          <p:nvPr/>
        </p:nvSpPr>
        <p:spPr>
          <a:xfrm>
            <a:off x="6172200" y="3063240"/>
            <a:ext cx="0" cy="320040"/>
          </a:xfrm>
          <a:prstGeom prst="line">
            <a:avLst/>
          </a:prstGeom>
          <a:noFill/>
          <a:ln w="19050">
            <a:solidFill>
              <a:srgbClr val="8A7F76"/>
            </a:solidFill>
            <a:prstDash val="solid"/>
          </a:ln>
        </p:spPr>
      </p:sp>
      <p:sp>
        <p:nvSpPr>
          <p:cNvPr id="8" name="linea-32"/>
          <p:cNvSpPr/>
          <p:nvPr/>
        </p:nvSpPr>
        <p:spPr>
          <a:xfrm>
            <a:off x="6172200" y="4846320"/>
            <a:ext cx="0" cy="274320"/>
          </a:xfrm>
          <a:prstGeom prst="line">
            <a:avLst/>
          </a:prstGeom>
          <a:noFill/>
          <a:ln w="19050">
            <a:solidFill>
              <a:srgbClr val="8A7F76"/>
            </a:solidFill>
            <a:prstDash val="solid"/>
          </a:ln>
        </p:spPr>
      </p:sp>
      <p:sp>
        <p:nvSpPr>
          <p:cNvPr id="9" name="org-33"/>
          <p:cNvSpPr/>
          <p:nvPr/>
        </p:nvSpPr>
        <p:spPr>
          <a:xfrm>
            <a:off x="2377440" y="1554480"/>
            <a:ext cx="320040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60320" y="1664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 (dueño)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116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Dirige el negocio, elabora las pizzas y define carta y precios</a:t>
            </a:r>
            <a:endParaRPr lang="en-US" sz="1200" dirty="0"/>
          </a:p>
        </p:txBody>
      </p:sp>
      <p:sp>
        <p:nvSpPr>
          <p:cNvPr id="12" name="org-34"/>
          <p:cNvSpPr/>
          <p:nvPr/>
        </p:nvSpPr>
        <p:spPr>
          <a:xfrm>
            <a:off x="548640" y="3383280"/>
            <a:ext cx="2468880" cy="146304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4930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Ayudante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840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Masas, ingredientes, horneado y empaque</a:t>
            </a:r>
            <a:endParaRPr lang="en-US" sz="1200" dirty="0"/>
          </a:p>
        </p:txBody>
      </p:sp>
      <p:sp>
        <p:nvSpPr>
          <p:cNvPr id="15" name="org-35"/>
          <p:cNvSpPr/>
          <p:nvPr/>
        </p:nvSpPr>
        <p:spPr>
          <a:xfrm>
            <a:off x="4754880" y="3383280"/>
            <a:ext cx="2834640" cy="146304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0" y="34930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Encargado de atención al cliente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4069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Atiende WhatsApp, toma pedidos, valida pagos y coordina el envío</a:t>
            </a:r>
            <a:endParaRPr lang="en-US" sz="1200" dirty="0"/>
          </a:p>
        </p:txBody>
      </p:sp>
      <p:sp>
        <p:nvSpPr>
          <p:cNvPr id="18" name="org-36"/>
          <p:cNvSpPr/>
          <p:nvPr/>
        </p:nvSpPr>
        <p:spPr>
          <a:xfrm>
            <a:off x="4754880" y="5120640"/>
            <a:ext cx="2834640" cy="1051560"/>
          </a:xfrm>
          <a:prstGeom prst="roundRect">
            <a:avLst>
              <a:gd name="adj" fmla="val 10435"/>
            </a:avLst>
          </a:prstGeom>
          <a:solidFill>
            <a:schemeClr val="accent6"/>
          </a:solidFill>
          <a:ln w="15875">
            <a:solidFill>
              <a:srgbClr val="8A7F7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493776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Repartidor (externo)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5577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el envío directamente al cliente</a:t>
            </a:r>
            <a:endParaRPr lang="en-US" sz="1200" dirty="0"/>
          </a:p>
        </p:txBody>
      </p:sp>
      <p:sp>
        <p:nvSpPr>
          <p:cNvPr id="21" name="card-37"/>
          <p:cNvSpPr/>
          <p:nvPr/>
        </p:nvSpPr>
        <p:spPr>
          <a:xfrm>
            <a:off x="8138160" y="1554480"/>
            <a:ext cx="3474720" cy="4617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22" name="icono-fondo-38"/>
          <p:cNvSpPr/>
          <p:nvPr/>
        </p:nvSpPr>
        <p:spPr>
          <a:xfrm>
            <a:off x="841248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o-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154" y="1914754"/>
            <a:ext cx="285293" cy="285293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41248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Cuello de botella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0" y="29260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toma de pedidos depende de una sola persona. En una noche fuerte (11 pedidos) esa persona responde consultas, pasa la carta, suma totales y valida pagos mientras la cocina espera.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5029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ahí salen las demoras, los errores y los pedidos perdidos que ataca el sistema.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Misión, visión y valores</a:t>
            </a:r>
            <a:endParaRPr lang="en-US" sz="3200" dirty="0"/>
          </a:p>
        </p:txBody>
      </p:sp>
      <p:sp>
        <p:nvSpPr>
          <p:cNvPr id="4" name="etiqueta-40"/>
          <p:cNvSpPr/>
          <p:nvPr/>
        </p:nvSpPr>
        <p:spPr>
          <a:xfrm>
            <a:off x="7452360" y="274320"/>
            <a:ext cx="4160520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52360" y="27432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PENDIENTE DE APROBACIÓN DEL DUEÑO</a:t>
            </a:r>
            <a:endParaRPr lang="en-US" sz="1100" dirty="0"/>
          </a:p>
        </p:txBody>
      </p:sp>
      <p:sp>
        <p:nvSpPr>
          <p:cNvPr id="6" name="card-41"/>
          <p:cNvSpPr/>
          <p:nvPr/>
        </p:nvSpPr>
        <p:spPr>
          <a:xfrm>
            <a:off x="548640" y="1554480"/>
            <a:ext cx="5440680" cy="3017520"/>
          </a:xfrm>
          <a:prstGeom prst="roundRect">
            <a:avLst>
              <a:gd name="adj" fmla="val 3636"/>
            </a:avLst>
          </a:prstGeom>
          <a:solidFill>
            <a:schemeClr val="accent6"/>
          </a:solidFill>
          <a:ln/>
        </p:spPr>
      </p:sp>
      <p:sp>
        <p:nvSpPr>
          <p:cNvPr id="7" name="icono-fondo-42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o-4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19366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874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Misión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517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a las casas de Chilecito pizzas caseras, abundantes y a buen precio, hechas en familia, con un pedido simple y una atención cercana cada noche.</a:t>
            </a:r>
            <a:endParaRPr lang="en-US" sz="1600" dirty="0"/>
          </a:p>
        </p:txBody>
      </p:sp>
      <p:sp>
        <p:nvSpPr>
          <p:cNvPr id="11" name="card-44"/>
          <p:cNvSpPr/>
          <p:nvPr/>
        </p:nvSpPr>
        <p:spPr>
          <a:xfrm>
            <a:off x="6172200" y="1554480"/>
            <a:ext cx="5440680" cy="3017520"/>
          </a:xfrm>
          <a:prstGeom prst="roundRect">
            <a:avLst>
              <a:gd name="adj" fmla="val 3636"/>
            </a:avLst>
          </a:prstGeom>
          <a:solidFill>
            <a:schemeClr val="accent6"/>
          </a:solidFill>
          <a:ln/>
        </p:spPr>
      </p:sp>
      <p:sp>
        <p:nvSpPr>
          <p:cNvPr id="12" name="icono-fondo-45"/>
          <p:cNvSpPr/>
          <p:nvPr/>
        </p:nvSpPr>
        <p:spPr>
          <a:xfrm>
            <a:off x="6492240" y="1783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icono-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59" y="193669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874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Visión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6517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Ser, para 2028, la pizzería de envío a domicilio de referencia en Chilecito por su sabor casero y por lo fácil que es pedir, creciendo de forma ordenada y formalizando el emprendimiento.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</a:t>
            </a:r>
            <a:endParaRPr lang="en-US" sz="2000" dirty="0"/>
          </a:p>
        </p:txBody>
      </p:sp>
      <p:sp>
        <p:nvSpPr>
          <p:cNvPr id="17" name="card-47"/>
          <p:cNvSpPr/>
          <p:nvPr/>
        </p:nvSpPr>
        <p:spPr>
          <a:xfrm>
            <a:off x="548640" y="5303520"/>
            <a:ext cx="26060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pic>
        <p:nvPicPr>
          <p:cNvPr id="18" name="icono-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50408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88720" y="5303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casera</a:t>
            </a:r>
            <a:endParaRPr lang="en-US" sz="1400" dirty="0"/>
          </a:p>
        </p:txBody>
      </p:sp>
      <p:sp>
        <p:nvSpPr>
          <p:cNvPr id="20" name="card-49"/>
          <p:cNvSpPr/>
          <p:nvPr/>
        </p:nvSpPr>
        <p:spPr>
          <a:xfrm>
            <a:off x="3360420" y="5303520"/>
            <a:ext cx="26060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pic>
        <p:nvPicPr>
          <p:cNvPr id="21" name="icono-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20" y="555040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000500" y="5303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justo</a:t>
            </a:r>
            <a:endParaRPr lang="en-US" sz="1400" dirty="0"/>
          </a:p>
        </p:txBody>
      </p:sp>
      <p:sp>
        <p:nvSpPr>
          <p:cNvPr id="23" name="card-51"/>
          <p:cNvSpPr/>
          <p:nvPr/>
        </p:nvSpPr>
        <p:spPr>
          <a:xfrm>
            <a:off x="6172200" y="5303520"/>
            <a:ext cx="26060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pic>
        <p:nvPicPr>
          <p:cNvPr id="24" name="icono-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550408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812280" y="5303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Trato cercano</a:t>
            </a:r>
            <a:endParaRPr lang="en-US" sz="1400" dirty="0"/>
          </a:p>
        </p:txBody>
      </p:sp>
      <p:sp>
        <p:nvSpPr>
          <p:cNvPr id="26" name="card-53"/>
          <p:cNvSpPr/>
          <p:nvPr/>
        </p:nvSpPr>
        <p:spPr>
          <a:xfrm>
            <a:off x="8983980" y="5303520"/>
            <a:ext cx="26060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pic>
        <p:nvPicPr>
          <p:cNvPr id="27" name="icono-5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580" y="5550408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624060" y="53035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el horario de entrega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Infraestructura: cocina casera y tecnología gratuita</a:t>
            </a:r>
            <a:endParaRPr lang="en-US" sz="3200" dirty="0"/>
          </a:p>
        </p:txBody>
      </p:sp>
      <p:sp>
        <p:nvSpPr>
          <p:cNvPr id="4" name="icono-fondo-55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o-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5819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 de elaboración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98424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Cocina de la vivienda familiar</a:t>
            </a:r>
            <a:endParaRPr lang="en-US" sz="1400" dirty="0"/>
          </a:p>
        </p:txBody>
      </p:sp>
      <p:sp>
        <p:nvSpPr>
          <p:cNvPr id="8" name="icono-fondo-57"/>
          <p:cNvSpPr/>
          <p:nvPr/>
        </p:nvSpPr>
        <p:spPr>
          <a:xfrm>
            <a:off x="548640" y="3063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o-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2783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0449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Horno pizzero de 6 moldes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44728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noche fuerte: 11 pedidos × 2 pizzas = 22 pizzas ≈ 4 tandas</a:t>
            </a:r>
            <a:endParaRPr lang="en-US" sz="1400" dirty="0"/>
          </a:p>
        </p:txBody>
      </p:sp>
      <p:sp>
        <p:nvSpPr>
          <p:cNvPr id="12" name="icono-fondo-59"/>
          <p:cNvSpPr/>
          <p:nvPr/>
        </p:nvSpPr>
        <p:spPr>
          <a:xfrm>
            <a:off x="54864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o-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69087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079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91032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Repartidor externo; el envío lo arregla el cliente con él</a:t>
            </a:r>
            <a:endParaRPr lang="en-US" sz="1400" dirty="0"/>
          </a:p>
        </p:txBody>
      </p:sp>
      <p:sp>
        <p:nvSpPr>
          <p:cNvPr id="16" name="card-61"/>
          <p:cNvSpPr/>
          <p:nvPr/>
        </p:nvSpPr>
        <p:spPr>
          <a:xfrm>
            <a:off x="6126480" y="1554480"/>
            <a:ext cx="2606040" cy="461772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355080" y="1737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antes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219456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con WhatsApp común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Mercado Pago</a:t>
            </a:r>
            <a:endParaRPr lang="en-US" sz="1400" dirty="0"/>
          </a:p>
        </p:txBody>
      </p:sp>
      <p:pic>
        <p:nvPicPr>
          <p:cNvPr id="19" name="flech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3611880"/>
            <a:ext cx="365760" cy="457200"/>
          </a:xfrm>
          <a:prstGeom prst="rect">
            <a:avLst/>
          </a:prstGeom>
        </p:spPr>
      </p:pic>
      <p:sp>
        <p:nvSpPr>
          <p:cNvPr id="20" name="card-62"/>
          <p:cNvSpPr/>
          <p:nvPr/>
        </p:nvSpPr>
        <p:spPr>
          <a:xfrm>
            <a:off x="9372600" y="1554480"/>
            <a:ext cx="2240280" cy="461772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9555480" y="1737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después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555480" y="2423160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anterior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web en GitHub Pages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de pedidos en Google Sheets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QR del enlace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9555480" y="5257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de hardware y de servidores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FODA (situación antes del proyecto)</a:t>
            </a:r>
            <a:endParaRPr lang="en-US" sz="3200" dirty="0"/>
          </a:p>
        </p:txBody>
      </p:sp>
      <p:sp>
        <p:nvSpPr>
          <p:cNvPr id="4" name="card-63"/>
          <p:cNvSpPr/>
          <p:nvPr/>
        </p:nvSpPr>
        <p:spPr>
          <a:xfrm>
            <a:off x="54864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letra-64"/>
          <p:cNvSpPr/>
          <p:nvPr/>
        </p:nvSpPr>
        <p:spPr>
          <a:xfrm>
            <a:off x="777240" y="16642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Fortalezas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3172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propio y artesanal, 7 variedades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Clientela que ya pide por WhatsApp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chica y costos fijos bajos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accesibles y estables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digital ya incorporado</a:t>
            </a:r>
            <a:endParaRPr lang="en-US" sz="1300" dirty="0"/>
          </a:p>
        </p:txBody>
      </p:sp>
      <p:sp>
        <p:nvSpPr>
          <p:cNvPr id="9" name="card-65"/>
          <p:cNvSpPr/>
          <p:nvPr/>
        </p:nvSpPr>
        <p:spPr>
          <a:xfrm>
            <a:off x="617220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0" name="letra-66"/>
          <p:cNvSpPr/>
          <p:nvPr/>
        </p:nvSpPr>
        <p:spPr>
          <a:xfrm>
            <a:off x="6400800" y="166420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Oportunidades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3172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masivo de celular y WhatsApp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digitales generalizados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gratuitas (GitHub Pages, Google Sheets)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Difusión por Instagram y QR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nocturna con envío</a:t>
            </a:r>
            <a:endParaRPr lang="en-US" sz="1300" dirty="0"/>
          </a:p>
        </p:txBody>
      </p:sp>
      <p:sp>
        <p:nvSpPr>
          <p:cNvPr id="14" name="card-67"/>
          <p:cNvSpPr/>
          <p:nvPr/>
        </p:nvSpPr>
        <p:spPr>
          <a:xfrm>
            <a:off x="54864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5" name="letra-6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1788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Debilidades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0060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informales, sin registro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3 personas, horario acotado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carta digital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técnico en una persona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datos para decidir</a:t>
            </a:r>
            <a:endParaRPr lang="en-US" sz="1300" dirty="0"/>
          </a:p>
        </p:txBody>
      </p:sp>
      <p:sp>
        <p:nvSpPr>
          <p:cNvPr id="19" name="card-69"/>
          <p:cNvSpPr/>
          <p:nvPr/>
        </p:nvSpPr>
        <p:spPr>
          <a:xfrm>
            <a:off x="617220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20" name="letra-70"/>
          <p:cNvSpPr/>
          <p:nvPr/>
        </p:nvSpPr>
        <p:spPr>
          <a:xfrm>
            <a:off x="6400800" y="4133088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41788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Amenazas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80060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 y apps de delivery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Inflación y suba de insumos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 plataformas de terceros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baja habilidad digital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Posición estratégica: cuadrante V, conservar y mantener</a:t>
            </a:r>
            <a:endParaRPr lang="en-US" sz="3200" dirty="0"/>
          </a:p>
        </p:txBody>
      </p:sp>
      <p:sp>
        <p:nvSpPr>
          <p:cNvPr id="4" name="card-71"/>
          <p:cNvSpPr/>
          <p:nvPr/>
        </p:nvSpPr>
        <p:spPr>
          <a:xfrm>
            <a:off x="548640" y="1554480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 · factores internos</a:t>
            </a:r>
            <a:endParaRPr lang="en-US" sz="1400" dirty="0"/>
          </a:p>
        </p:txBody>
      </p:sp>
      <p:sp>
        <p:nvSpPr>
          <p:cNvPr id="7" name="card-72"/>
          <p:cNvSpPr/>
          <p:nvPr/>
        </p:nvSpPr>
        <p:spPr>
          <a:xfrm>
            <a:off x="548640" y="3154680"/>
            <a:ext cx="3291840" cy="13716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32461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 · factores externos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0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1 a 4 · promedio 2,5. Pesos y calificaciones validados por el dueño.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46304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 →  Fuerte · Medio · Débil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1828800"/>
            <a:ext cx="1097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 ↓ Alto · Medio · Bajo</a:t>
            </a:r>
            <a:endParaRPr lang="en-US" sz="1200" dirty="0"/>
          </a:p>
        </p:txBody>
      </p:sp>
      <p:sp>
        <p:nvSpPr>
          <p:cNvPr id="13" name="celda-ie-73"/>
          <p:cNvSpPr/>
          <p:nvPr/>
        </p:nvSpPr>
        <p:spPr>
          <a:xfrm>
            <a:off x="5120640" y="1828800"/>
            <a:ext cx="1600200" cy="1051560"/>
          </a:xfrm>
          <a:prstGeom prst="rect">
            <a:avLst/>
          </a:prstGeom>
          <a:solidFill>
            <a:srgbClr val="E6F2EF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192024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</a:t>
            </a:r>
            <a:endParaRPr lang="en-US" sz="1400" dirty="0"/>
          </a:p>
        </p:txBody>
      </p:sp>
      <p:sp>
        <p:nvSpPr>
          <p:cNvPr id="15" name="celda-ie-74"/>
          <p:cNvSpPr/>
          <p:nvPr/>
        </p:nvSpPr>
        <p:spPr>
          <a:xfrm>
            <a:off x="6720840" y="1828800"/>
            <a:ext cx="1600200" cy="1051560"/>
          </a:xfrm>
          <a:prstGeom prst="rect">
            <a:avLst/>
          </a:prstGeom>
          <a:solidFill>
            <a:srgbClr val="E6F2EF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192024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</a:t>
            </a:r>
            <a:endParaRPr lang="en-US" sz="1400" dirty="0"/>
          </a:p>
        </p:txBody>
      </p:sp>
      <p:sp>
        <p:nvSpPr>
          <p:cNvPr id="17" name="celda-ie-75"/>
          <p:cNvSpPr/>
          <p:nvPr/>
        </p:nvSpPr>
        <p:spPr>
          <a:xfrm>
            <a:off x="8321040" y="1828800"/>
            <a:ext cx="1600200" cy="1051560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192024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</a:t>
            </a:r>
            <a:endParaRPr lang="en-US" sz="1400" dirty="0"/>
          </a:p>
        </p:txBody>
      </p:sp>
      <p:sp>
        <p:nvSpPr>
          <p:cNvPr id="19" name="celda-ie-76"/>
          <p:cNvSpPr/>
          <p:nvPr/>
        </p:nvSpPr>
        <p:spPr>
          <a:xfrm>
            <a:off x="5120640" y="2880360"/>
            <a:ext cx="1600200" cy="1051560"/>
          </a:xfrm>
          <a:prstGeom prst="rect">
            <a:avLst/>
          </a:prstGeom>
          <a:solidFill>
            <a:srgbClr val="E6F2EF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0" y="297180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</a:t>
            </a:r>
            <a:endParaRPr lang="en-US" sz="1400" dirty="0"/>
          </a:p>
        </p:txBody>
      </p:sp>
      <p:sp>
        <p:nvSpPr>
          <p:cNvPr id="21" name="celda-ie-77"/>
          <p:cNvSpPr/>
          <p:nvPr/>
        </p:nvSpPr>
        <p:spPr>
          <a:xfrm>
            <a:off x="6720840" y="2880360"/>
            <a:ext cx="1600200" cy="105156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12280" y="297180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 y mantener</a:t>
            </a:r>
            <a:endParaRPr lang="en-US" sz="1400" dirty="0"/>
          </a:p>
        </p:txBody>
      </p:sp>
      <p:sp>
        <p:nvSpPr>
          <p:cNvPr id="23" name="celda-ie-78"/>
          <p:cNvSpPr/>
          <p:nvPr/>
        </p:nvSpPr>
        <p:spPr>
          <a:xfrm>
            <a:off x="8321040" y="2880360"/>
            <a:ext cx="1600200" cy="1051560"/>
          </a:xfrm>
          <a:prstGeom prst="rect">
            <a:avLst/>
          </a:prstGeom>
          <a:solidFill>
            <a:srgbClr val="F3EFEA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0" y="297180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Cosechar</a:t>
            </a:r>
            <a:endParaRPr lang="en-US" sz="1400" dirty="0"/>
          </a:p>
        </p:txBody>
      </p:sp>
      <p:sp>
        <p:nvSpPr>
          <p:cNvPr id="25" name="celda-ie-79"/>
          <p:cNvSpPr/>
          <p:nvPr/>
        </p:nvSpPr>
        <p:spPr>
          <a:xfrm>
            <a:off x="5120640" y="3931920"/>
            <a:ext cx="1600200" cy="1051560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40233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</a:t>
            </a:r>
            <a:endParaRPr lang="en-US" sz="1400" dirty="0"/>
          </a:p>
        </p:txBody>
      </p:sp>
      <p:sp>
        <p:nvSpPr>
          <p:cNvPr id="27" name="celda-ie-80"/>
          <p:cNvSpPr/>
          <p:nvPr/>
        </p:nvSpPr>
        <p:spPr>
          <a:xfrm>
            <a:off x="6720840" y="3931920"/>
            <a:ext cx="1600200" cy="1051560"/>
          </a:xfrm>
          <a:prstGeom prst="rect">
            <a:avLst/>
          </a:prstGeom>
          <a:solidFill>
            <a:srgbClr val="F3EFEA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12280" y="40233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Cosechar</a:t>
            </a:r>
            <a:endParaRPr lang="en-US" sz="1400" dirty="0"/>
          </a:p>
        </p:txBody>
      </p:sp>
      <p:sp>
        <p:nvSpPr>
          <p:cNvPr id="29" name="celda-ie-81"/>
          <p:cNvSpPr/>
          <p:nvPr/>
        </p:nvSpPr>
        <p:spPr>
          <a:xfrm>
            <a:off x="8321040" y="3931920"/>
            <a:ext cx="1600200" cy="1051560"/>
          </a:xfrm>
          <a:prstGeom prst="rect">
            <a:avLst/>
          </a:prstGeom>
          <a:solidFill>
            <a:srgbClr val="F3EFEA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0" y="402336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IX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Cosechar</a:t>
            </a:r>
            <a:endParaRPr lang="en-US" sz="1400" dirty="0"/>
          </a:p>
        </p:txBody>
      </p:sp>
      <p:sp>
        <p:nvSpPr>
          <p:cNvPr id="31" name="card-82"/>
          <p:cNvSpPr/>
          <p:nvPr/>
        </p:nvSpPr>
        <p:spPr>
          <a:xfrm>
            <a:off x="10058400" y="1828800"/>
            <a:ext cx="1600200" cy="315468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68128" y="1965960"/>
            <a:ext cx="1371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Dany Pizzas (2,45 ; 2,32) cae en la celda 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120640" y="5166360"/>
            <a:ext cx="6537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recomendadas: penetración de mercado y desarrollo de producto. El sistema web es una de ellas: no cambia el producto ni el canal (WhatsApp); ordena el pedido, muestra la carta y deja registro.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MEMORIA DESCRIPTIVA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Estrategias cruzadas que guían el proyecto</a:t>
            </a:r>
            <a:endParaRPr lang="en-US" sz="3200" dirty="0"/>
          </a:p>
        </p:txBody>
      </p:sp>
      <p:sp>
        <p:nvSpPr>
          <p:cNvPr id="4" name="card-83"/>
          <p:cNvSpPr/>
          <p:nvPr/>
        </p:nvSpPr>
        <p:spPr>
          <a:xfrm>
            <a:off x="54864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etiqueta-84"/>
          <p:cNvSpPr/>
          <p:nvPr/>
        </p:nvSpPr>
        <p:spPr>
          <a:xfrm>
            <a:off x="822960" y="171907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 · OFENSIVAS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web que termina en WhatsApp, el canal que ya usan (RF‑12)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con fotos reales difundida por Instagram y QR (RF‑01)</a:t>
            </a:r>
            <a:endParaRPr lang="en-US" sz="1500" dirty="0"/>
          </a:p>
        </p:txBody>
      </p:sp>
      <p:sp>
        <p:nvSpPr>
          <p:cNvPr id="8" name="card-85"/>
          <p:cNvSpPr/>
          <p:nvPr/>
        </p:nvSpPr>
        <p:spPr>
          <a:xfrm>
            <a:off x="617220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9" name="etiqueta-86"/>
          <p:cNvSpPr/>
          <p:nvPr/>
        </p:nvSpPr>
        <p:spPr>
          <a:xfrm>
            <a:off x="6446520" y="171907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· DEFENSIVAS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editables en la planilla para ajustar ante la inflación (RF‑15)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claro y sin comisiones de apps de delivery (RNF‑14)</a:t>
            </a:r>
            <a:endParaRPr lang="en-US" sz="1500" dirty="0"/>
          </a:p>
        </p:txBody>
      </p:sp>
      <p:sp>
        <p:nvSpPr>
          <p:cNvPr id="12" name="card-87"/>
          <p:cNvSpPr/>
          <p:nvPr/>
        </p:nvSpPr>
        <p:spPr>
          <a:xfrm>
            <a:off x="54864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3" name="etiqueta-88"/>
          <p:cNvSpPr/>
          <p:nvPr/>
        </p:nvSpPr>
        <p:spPr>
          <a:xfrm>
            <a:off x="822960" y="418795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879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· REORIENTACIÓN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091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automático de pedidos en Google Sheets, gratis (RF‑14)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arma su pedido solo; nadie dicta la carta ni suma a mano (RF‑03 a RF‑05)</a:t>
            </a:r>
            <a:endParaRPr lang="en-US" sz="1500" dirty="0"/>
          </a:p>
        </p:txBody>
      </p:sp>
      <p:sp>
        <p:nvSpPr>
          <p:cNvPr id="16" name="card-89"/>
          <p:cNvSpPr/>
          <p:nvPr/>
        </p:nvSpPr>
        <p:spPr>
          <a:xfrm>
            <a:off x="617220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7" name="etiqueta-90"/>
          <p:cNvSpPr/>
          <p:nvPr/>
        </p:nvSpPr>
        <p:spPr>
          <a:xfrm>
            <a:off x="6446520" y="418795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41879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· SUPERVIVENCIA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091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y plan de contingencia con vuelta al chat (RNF‑08, RNF‑12)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 por chat sigue disponible: la web se suma, no reemplaza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30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principal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problema a un sistema publicado, evaluado y en funcionamiento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PROBLEMA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pedidos lentos, incompletos y sin registro</a:t>
            </a:r>
            <a:endParaRPr lang="en-US" sz="3200" dirty="0"/>
          </a:p>
        </p:txBody>
      </p:sp>
      <p:pic>
        <p:nvPicPr>
          <p:cNvPr id="4" name="ishikawa" descr="/home/claude/danypizzas/docs/presentacion/assets/ishikawa_re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3959352"/>
          </a:xfrm>
          <a:prstGeom prst="rect">
            <a:avLst/>
          </a:prstGeom>
        </p:spPr>
      </p:pic>
      <p:sp>
        <p:nvSpPr>
          <p:cNvPr id="5" name="card-91"/>
          <p:cNvSpPr/>
          <p:nvPr/>
        </p:nvSpPr>
        <p:spPr>
          <a:xfrm>
            <a:off x="548640" y="5486400"/>
            <a:ext cx="34747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54864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 10 min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chat por pedido</a:t>
            </a:r>
            <a:endParaRPr lang="en-US" sz="1400" dirty="0"/>
          </a:p>
        </p:txBody>
      </p:sp>
      <p:sp>
        <p:nvSpPr>
          <p:cNvPr id="7" name="card-92"/>
          <p:cNvSpPr/>
          <p:nvPr/>
        </p:nvSpPr>
        <p:spPr>
          <a:xfrm>
            <a:off x="4297680" y="5486400"/>
            <a:ext cx="34747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80560" y="54864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cada 10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con error</a:t>
            </a:r>
            <a:endParaRPr lang="en-US" sz="1400" dirty="0"/>
          </a:p>
        </p:txBody>
      </p:sp>
      <p:sp>
        <p:nvSpPr>
          <p:cNvPr id="9" name="card-93"/>
          <p:cNvSpPr/>
          <p:nvPr/>
        </p:nvSpPr>
        <p:spPr>
          <a:xfrm>
            <a:off x="8046720" y="5486400"/>
            <a:ext cx="34747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0" y="54864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por noche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perdido por no contestar a tiempo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 del proyecto y objetivos</a:t>
            </a:r>
            <a:endParaRPr lang="en-US" sz="3200" dirty="0"/>
          </a:p>
        </p:txBody>
      </p:sp>
      <p:sp>
        <p:nvSpPr>
          <p:cNvPr id="4" name="card-94"/>
          <p:cNvSpPr/>
          <p:nvPr/>
        </p:nvSpPr>
        <p:spPr>
          <a:xfrm>
            <a:off x="548640" y="1463040"/>
            <a:ext cx="11064240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727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2B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PEDIDOS POR WHATSAPP PARA EL EMPRENDIMIENTO FAMILIAR DANY PIZZAS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un sistema web que permita al cliente armar su pedido, genere un recibo con número y lo envíe por WhatsApp, registrando cada pedido, para reducir demoras, errores y pedidos perdidos en Dany Pizzas.</a:t>
            </a:r>
            <a:endParaRPr lang="en-US" sz="1600" dirty="0"/>
          </a:p>
        </p:txBody>
      </p:sp>
      <p:sp>
        <p:nvSpPr>
          <p:cNvPr id="7" name="card-95"/>
          <p:cNvSpPr/>
          <p:nvPr/>
        </p:nvSpPr>
        <p:spPr>
          <a:xfrm>
            <a:off x="548640" y="3291840"/>
            <a:ext cx="3474720" cy="288036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/>
        </p:spPr>
      </p:sp>
      <p:sp>
        <p:nvSpPr>
          <p:cNvPr id="8" name="icono-fondo-96"/>
          <p:cNvSpPr/>
          <p:nvPr/>
        </p:nvSpPr>
        <p:spPr>
          <a:xfrm>
            <a:off x="822960" y="3566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o-9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3697834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611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06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toma de pedidos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800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digital con precios, pedido armado por el cliente, total automático y recibo prellenado en WhatsApp.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806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RF‑01 a RF‑13</a:t>
            </a:r>
            <a:endParaRPr lang="en-US" sz="1100" dirty="0"/>
          </a:p>
        </p:txBody>
      </p:sp>
      <p:sp>
        <p:nvSpPr>
          <p:cNvPr id="14" name="card-98"/>
          <p:cNvSpPr/>
          <p:nvPr/>
        </p:nvSpPr>
        <p:spPr>
          <a:xfrm>
            <a:off x="4297680" y="3291840"/>
            <a:ext cx="3474720" cy="288036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/>
        </p:spPr>
      </p:sp>
      <p:sp>
        <p:nvSpPr>
          <p:cNvPr id="15" name="icono-fondo-99"/>
          <p:cNvSpPr/>
          <p:nvPr/>
        </p:nvSpPr>
        <p:spPr>
          <a:xfrm>
            <a:off x="4572000" y="35661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o-10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369783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57800" y="3611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4206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los pedidos y facilitar la administración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00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mensual con número secuencial, estados del pedido y precios editables sin programar.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5806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RF‑14 a RF‑17, RF‑19</a:t>
            </a:r>
            <a:endParaRPr lang="en-US" sz="1100" dirty="0"/>
          </a:p>
        </p:txBody>
      </p:sp>
      <p:sp>
        <p:nvSpPr>
          <p:cNvPr id="21" name="card-101"/>
          <p:cNvSpPr/>
          <p:nvPr/>
        </p:nvSpPr>
        <p:spPr>
          <a:xfrm>
            <a:off x="8046720" y="3291840"/>
            <a:ext cx="3474720" cy="288036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/>
        </p:spPr>
      </p:sp>
      <p:sp>
        <p:nvSpPr>
          <p:cNvPr id="22" name="icono-fondo-102"/>
          <p:cNvSpPr/>
          <p:nvPr/>
        </p:nvSpPr>
        <p:spPr>
          <a:xfrm>
            <a:off x="8321040" y="3566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cono-10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3697834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006840" y="3611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2062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de forma segura, confiable y sin costo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4800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total recalculado en el servidor, protección contra pedidos falsos, pruebas automáticas y $0 de infraestructura.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5806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RF‑18, RNF‑05 a RNF‑15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ALCANCE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 la versión 1</a:t>
            </a:r>
            <a:endParaRPr lang="en-US" sz="3200" dirty="0"/>
          </a:p>
        </p:txBody>
      </p:sp>
      <p:sp>
        <p:nvSpPr>
          <p:cNvPr id="4" name="card-104"/>
          <p:cNvSpPr/>
          <p:nvPr/>
        </p:nvSpPr>
        <p:spPr>
          <a:xfrm>
            <a:off x="548640" y="1508760"/>
            <a:ext cx="2606040" cy="46634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/>
        </p:spPr>
      </p:sp>
      <p:sp>
        <p:nvSpPr>
          <p:cNvPr id="5" name="icono-fondo-105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-1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Delimitación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Dany Pizzas, Chilecito (La Rioja)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envío a domicilio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del mismo día, en horario de atención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local, un número de WhatsApp</a:t>
            </a:r>
            <a:endParaRPr lang="en-US" sz="1400" dirty="0"/>
          </a:p>
        </p:txBody>
      </p:sp>
      <p:sp>
        <p:nvSpPr>
          <p:cNvPr id="9" name="card-107"/>
          <p:cNvSpPr/>
          <p:nvPr/>
        </p:nvSpPr>
        <p:spPr>
          <a:xfrm>
            <a:off x="3360420" y="1508760"/>
            <a:ext cx="2606040" cy="46634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/>
        </p:spPr>
      </p:sp>
      <p:sp>
        <p:nvSpPr>
          <p:cNvPr id="10" name="icono-fondo-108"/>
          <p:cNvSpPr/>
          <p:nvPr/>
        </p:nvSpPr>
        <p:spPr>
          <a:xfrm>
            <a:off x="3634740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o-1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4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01752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web mobile-first (GitHub Pages)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 Google Apps Script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Google Sheets: catálogo y pedidos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con pruebas</a:t>
            </a:r>
            <a:endParaRPr lang="en-US" sz="1400" dirty="0"/>
          </a:p>
        </p:txBody>
      </p:sp>
      <p:sp>
        <p:nvSpPr>
          <p:cNvPr id="14" name="card-110"/>
          <p:cNvSpPr/>
          <p:nvPr/>
        </p:nvSpPr>
        <p:spPr>
          <a:xfrm>
            <a:off x="6172200" y="1508760"/>
            <a:ext cx="2606040" cy="4663440"/>
          </a:xfrm>
          <a:prstGeom prst="roundRect">
            <a:avLst>
              <a:gd name="adj" fmla="val 4211"/>
            </a:avLst>
          </a:prstGeom>
          <a:solidFill>
            <a:schemeClr val="accent6"/>
          </a:solidFill>
          <a:ln/>
        </p:spPr>
      </p:sp>
      <p:sp>
        <p:nvSpPr>
          <p:cNvPr id="15" name="icono-fondo-111"/>
          <p:cNvSpPr/>
          <p:nvPr/>
        </p:nvSpPr>
        <p:spPr>
          <a:xfrm>
            <a:off x="6446520" y="17830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o-1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19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4652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46520" y="301752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pruebas automáticas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aceptación (UAT) con el negocio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Métricas: pedidos web, errores y pedidos perdidos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económica a 12 meses</a:t>
            </a:r>
            <a:endParaRPr lang="en-US" sz="1400" dirty="0"/>
          </a:p>
        </p:txBody>
      </p:sp>
      <p:sp>
        <p:nvSpPr>
          <p:cNvPr id="19" name="card-113"/>
          <p:cNvSpPr/>
          <p:nvPr/>
        </p:nvSpPr>
        <p:spPr>
          <a:xfrm>
            <a:off x="8983980" y="1508760"/>
            <a:ext cx="2606040" cy="46634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0" name="icono-fondo-114"/>
          <p:cNvSpPr/>
          <p:nvPr/>
        </p:nvSpPr>
        <p:spPr>
          <a:xfrm>
            <a:off x="9258300" y="17830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cono-1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974" y="19147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58300" y="2468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Exclusiones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258300" y="301752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en línea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 nativa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de cliente y seguimiento en tiempo real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un local o canal de venta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PLAN DE EJECUCIÓN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ejecución: incremental en Scrumban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931920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3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06–13/10</a:t>
            </a:r>
            <a:endParaRPr lang="en-US" sz="1300" dirty="0"/>
          </a:p>
        </p:txBody>
      </p:sp>
      <p:sp>
        <p:nvSpPr>
          <p:cNvPr id="10" name="fila-116"/>
          <p:cNvSpPr/>
          <p:nvPr/>
        </p:nvSpPr>
        <p:spPr>
          <a:xfrm>
            <a:off x="548640" y="1920240"/>
            <a:ext cx="10698480" cy="40233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920240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Análisis y requisitos (cuestionario)</a:t>
            </a:r>
            <a:endParaRPr lang="en-US" sz="1300" dirty="0"/>
          </a:p>
        </p:txBody>
      </p:sp>
      <p:sp>
        <p:nvSpPr>
          <p:cNvPr id="12" name="barra-117"/>
          <p:cNvSpPr/>
          <p:nvPr/>
        </p:nvSpPr>
        <p:spPr>
          <a:xfrm>
            <a:off x="3968496" y="2020824"/>
            <a:ext cx="1389888" cy="201168"/>
          </a:xfrm>
          <a:prstGeom prst="roundRect">
            <a:avLst>
              <a:gd name="adj" fmla="val 36364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22576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Diseño: arquitectura, UML y C4</a:t>
            </a:r>
            <a:endParaRPr lang="en-US" sz="1300" dirty="0"/>
          </a:p>
        </p:txBody>
      </p:sp>
      <p:sp>
        <p:nvSpPr>
          <p:cNvPr id="14" name="barra-118"/>
          <p:cNvSpPr/>
          <p:nvPr/>
        </p:nvSpPr>
        <p:spPr>
          <a:xfrm>
            <a:off x="4846320" y="2423160"/>
            <a:ext cx="1682496" cy="201168"/>
          </a:xfrm>
          <a:prstGeom prst="roundRect">
            <a:avLst>
              <a:gd name="adj" fmla="val 36364"/>
            </a:avLst>
          </a:prstGeom>
          <a:solidFill>
            <a:schemeClr val="accent4"/>
          </a:solidFill>
          <a:ln/>
        </p:spPr>
      </p:sp>
      <p:sp>
        <p:nvSpPr>
          <p:cNvPr id="15" name="fila-119"/>
          <p:cNvSpPr/>
          <p:nvPr/>
        </p:nvSpPr>
        <p:spPr>
          <a:xfrm>
            <a:off x="548640" y="2724912"/>
            <a:ext cx="10698480" cy="40233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24912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Inc. 1: carta y horarios</a:t>
            </a:r>
            <a:endParaRPr lang="en-US" sz="1300" dirty="0"/>
          </a:p>
        </p:txBody>
      </p:sp>
      <p:sp>
        <p:nvSpPr>
          <p:cNvPr id="17" name="barra-120"/>
          <p:cNvSpPr/>
          <p:nvPr/>
        </p:nvSpPr>
        <p:spPr>
          <a:xfrm>
            <a:off x="5431536" y="2825496"/>
            <a:ext cx="1389888" cy="201168"/>
          </a:xfrm>
          <a:prstGeom prst="roundRect">
            <a:avLst>
              <a:gd name="adj" fmla="val 36364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12724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Inc. 2: carrito, mitades y total</a:t>
            </a:r>
            <a:endParaRPr lang="en-US" sz="1300" dirty="0"/>
          </a:p>
        </p:txBody>
      </p:sp>
      <p:sp>
        <p:nvSpPr>
          <p:cNvPr id="19" name="barra-121"/>
          <p:cNvSpPr/>
          <p:nvPr/>
        </p:nvSpPr>
        <p:spPr>
          <a:xfrm>
            <a:off x="6309360" y="3227832"/>
            <a:ext cx="1389888" cy="201168"/>
          </a:xfrm>
          <a:prstGeom prst="roundRect">
            <a:avLst>
              <a:gd name="adj" fmla="val 36364"/>
            </a:avLst>
          </a:prstGeom>
          <a:solidFill>
            <a:schemeClr val="accent1"/>
          </a:solidFill>
          <a:ln/>
        </p:spPr>
      </p:sp>
      <p:sp>
        <p:nvSpPr>
          <p:cNvPr id="20" name="fila-122"/>
          <p:cNvSpPr/>
          <p:nvPr/>
        </p:nvSpPr>
        <p:spPr>
          <a:xfrm>
            <a:off x="548640" y="3529584"/>
            <a:ext cx="10698480" cy="40233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52958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Inc. 3: recibo, N.º de pedido y WhatsApp</a:t>
            </a:r>
            <a:endParaRPr lang="en-US" sz="1300" dirty="0"/>
          </a:p>
        </p:txBody>
      </p:sp>
      <p:sp>
        <p:nvSpPr>
          <p:cNvPr id="22" name="barra-123"/>
          <p:cNvSpPr/>
          <p:nvPr/>
        </p:nvSpPr>
        <p:spPr>
          <a:xfrm>
            <a:off x="7333488" y="3630168"/>
            <a:ext cx="1389888" cy="201168"/>
          </a:xfrm>
          <a:prstGeom prst="roundRect">
            <a:avLst>
              <a:gd name="adj" fmla="val 36364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931920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Inc. 4: backend, planilla y protección</a:t>
            </a:r>
            <a:endParaRPr lang="en-US" sz="1300" dirty="0"/>
          </a:p>
        </p:txBody>
      </p:sp>
      <p:sp>
        <p:nvSpPr>
          <p:cNvPr id="24" name="barra-124"/>
          <p:cNvSpPr/>
          <p:nvPr/>
        </p:nvSpPr>
        <p:spPr>
          <a:xfrm>
            <a:off x="8357616" y="4032504"/>
            <a:ext cx="1389888" cy="201168"/>
          </a:xfrm>
          <a:prstGeom prst="roundRect">
            <a:avLst>
              <a:gd name="adj" fmla="val 36364"/>
            </a:avLst>
          </a:prstGeom>
          <a:solidFill>
            <a:schemeClr val="accent1"/>
          </a:solidFill>
          <a:ln/>
        </p:spPr>
      </p:sp>
      <p:sp>
        <p:nvSpPr>
          <p:cNvPr id="25" name="fila-125"/>
          <p:cNvSpPr/>
          <p:nvPr/>
        </p:nvSpPr>
        <p:spPr>
          <a:xfrm>
            <a:off x="548640" y="4334256"/>
            <a:ext cx="10698480" cy="40233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34256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Pruebas, publicación y QR</a:t>
            </a:r>
            <a:endParaRPr lang="en-US" sz="1300" dirty="0"/>
          </a:p>
        </p:txBody>
      </p:sp>
      <p:sp>
        <p:nvSpPr>
          <p:cNvPr id="27" name="barra-126"/>
          <p:cNvSpPr/>
          <p:nvPr/>
        </p:nvSpPr>
        <p:spPr>
          <a:xfrm>
            <a:off x="9089136" y="4434840"/>
            <a:ext cx="1536192" cy="201168"/>
          </a:xfrm>
          <a:prstGeom prst="roundRect">
            <a:avLst>
              <a:gd name="adj" fmla="val 36364"/>
            </a:avLst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4736592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Análisis estratégico y económico</a:t>
            </a:r>
            <a:endParaRPr lang="en-US" sz="1300" dirty="0"/>
          </a:p>
        </p:txBody>
      </p:sp>
      <p:sp>
        <p:nvSpPr>
          <p:cNvPr id="29" name="barra-127"/>
          <p:cNvSpPr/>
          <p:nvPr/>
        </p:nvSpPr>
        <p:spPr>
          <a:xfrm>
            <a:off x="9966960" y="4837176"/>
            <a:ext cx="512064" cy="201168"/>
          </a:xfrm>
          <a:prstGeom prst="roundRect">
            <a:avLst>
              <a:gd name="adj" fmla="val 36364"/>
            </a:avLst>
          </a:prstGeom>
          <a:solidFill>
            <a:schemeClr val="tx2"/>
          </a:solidFill>
          <a:ln/>
        </p:spPr>
      </p:sp>
      <p:sp>
        <p:nvSpPr>
          <p:cNvPr id="30" name="fila-128"/>
          <p:cNvSpPr/>
          <p:nvPr/>
        </p:nvSpPr>
        <p:spPr>
          <a:xfrm>
            <a:off x="548640" y="5138928"/>
            <a:ext cx="10698480" cy="40233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1389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Validación con el negocio y exposición</a:t>
            </a:r>
            <a:endParaRPr lang="en-US" sz="1300" dirty="0"/>
          </a:p>
        </p:txBody>
      </p:sp>
      <p:sp>
        <p:nvSpPr>
          <p:cNvPr id="32" name="barra-129"/>
          <p:cNvSpPr/>
          <p:nvPr/>
        </p:nvSpPr>
        <p:spPr>
          <a:xfrm>
            <a:off x="10405872" y="5239512"/>
            <a:ext cx="804672" cy="201168"/>
          </a:xfrm>
          <a:prstGeom prst="roundRect">
            <a:avLst>
              <a:gd name="adj" fmla="val 36364"/>
            </a:avLst>
          </a:prstGeom>
          <a:solidFill>
            <a:schemeClr val="tx2"/>
          </a:solidFill>
          <a:ln/>
        </p:spPr>
      </p:sp>
      <p:sp>
        <p:nvSpPr>
          <p:cNvPr id="33" name="hito-130"/>
          <p:cNvSpPr/>
          <p:nvPr/>
        </p:nvSpPr>
        <p:spPr>
          <a:xfrm>
            <a:off x="9784080" y="1874520"/>
            <a:ext cx="0" cy="3712464"/>
          </a:xfrm>
          <a:prstGeom prst="line">
            <a:avLst/>
          </a:prstGeom>
          <a:noFill/>
          <a:ln w="15875">
            <a:solidFill>
              <a:srgbClr val="2B2420"/>
            </a:solidFill>
            <a:prstDash val="dash"/>
          </a:ln>
        </p:spPr>
      </p:sp>
      <p:sp>
        <p:nvSpPr>
          <p:cNvPr id="34" name="hito-131"/>
          <p:cNvSpPr/>
          <p:nvPr/>
        </p:nvSpPr>
        <p:spPr>
          <a:xfrm>
            <a:off x="11247120" y="1874520"/>
            <a:ext cx="0" cy="3712464"/>
          </a:xfrm>
          <a:prstGeom prst="line">
            <a:avLst/>
          </a:prstGeom>
          <a:noFill/>
          <a:ln w="15875">
            <a:solidFill>
              <a:srgbClr val="2B2420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138160" y="563270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06/10 ▲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555480" y="56327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13/10 ▲</a:t>
            </a:r>
            <a:endParaRPr lang="en-US" sz="1100" dirty="0"/>
          </a:p>
        </p:txBody>
      </p:sp>
      <p:sp>
        <p:nvSpPr>
          <p:cNvPr id="37" name="pendiente-132"/>
          <p:cNvSpPr/>
          <p:nvPr/>
        </p:nvSpPr>
        <p:spPr>
          <a:xfrm>
            <a:off x="548640" y="5897880"/>
            <a:ext cx="7315200" cy="411480"/>
          </a:xfrm>
          <a:prstGeom prst="roundRect">
            <a:avLst>
              <a:gd name="adj" fmla="val 22222"/>
            </a:avLst>
          </a:prstGeom>
          <a:solidFill>
            <a:srgbClr val="FFF4F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731520" y="6007608"/>
            <a:ext cx="6949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reales de inicio y de respuesta del cuestionario (semanas 1 a 4).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5943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Incrementos   </a:t>
            </a:r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  </a:t>
            </a:r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Análisis/diseño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PRESUPUESTO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Presupuesto por macrofase y financiamiento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583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-133"/>
          <p:cNvSpPr/>
          <p:nvPr/>
        </p:nvSpPr>
        <p:spPr>
          <a:xfrm>
            <a:off x="7498080" y="1463040"/>
            <a:ext cx="4114800" cy="219456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total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1965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$234.720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7432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horas de desarrollo × $4.890 (2,5 × hora del salario mínimo, oct-2026)</a:t>
            </a:r>
            <a:endParaRPr lang="en-US" sz="1200" dirty="0"/>
          </a:p>
        </p:txBody>
      </p:sp>
      <p:sp>
        <p:nvSpPr>
          <p:cNvPr id="9" name="card-134"/>
          <p:cNvSpPr/>
          <p:nvPr/>
        </p:nvSpPr>
        <p:spPr>
          <a:xfrm>
            <a:off x="7498080" y="3840480"/>
            <a:ext cx="4114800" cy="233172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Financiamiento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611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Desarrollo: aporte propio del estudiante (sin desembolso del negocio)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Operación: $0/mes (niveles gratuitos de GitHub y Google)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Opcional: dominio propio ≈ $8.500/año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978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de horas por fase estimado por el estudiante.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EVALUACIÓN ECONÓMICO-FINANCIERA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dónde sale el beneficio</a:t>
            </a:r>
            <a:endParaRPr lang="en-US" sz="3200" dirty="0"/>
          </a:p>
        </p:txBody>
      </p:sp>
      <p:sp>
        <p:nvSpPr>
          <p:cNvPr id="4" name="card-135"/>
          <p:cNvSpPr/>
          <p:nvPr/>
        </p:nvSpPr>
        <p:spPr>
          <a:xfrm>
            <a:off x="548640" y="14630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36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por semana</a:t>
            </a:r>
            <a:endParaRPr lang="en-US" sz="1300" dirty="0"/>
          </a:p>
        </p:txBody>
      </p:sp>
      <p:sp>
        <p:nvSpPr>
          <p:cNvPr id="7" name="card-136"/>
          <p:cNvSpPr/>
          <p:nvPr/>
        </p:nvSpPr>
        <p:spPr>
          <a:xfrm>
            <a:off x="3360420" y="14630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9020" y="1536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58902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pizzas por pedido</a:t>
            </a:r>
            <a:endParaRPr lang="en-US" sz="1300" dirty="0"/>
          </a:p>
        </p:txBody>
      </p:sp>
      <p:sp>
        <p:nvSpPr>
          <p:cNvPr id="10" name="card-137"/>
          <p:cNvSpPr/>
          <p:nvPr/>
        </p:nvSpPr>
        <p:spPr>
          <a:xfrm>
            <a:off x="6172200" y="14630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536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$3.800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por pizza (40 %)</a:t>
            </a:r>
            <a:endParaRPr lang="en-US" sz="1300" dirty="0"/>
          </a:p>
        </p:txBody>
      </p:sp>
      <p:sp>
        <p:nvSpPr>
          <p:cNvPr id="13" name="card-138"/>
          <p:cNvSpPr/>
          <p:nvPr/>
        </p:nvSpPr>
        <p:spPr>
          <a:xfrm>
            <a:off x="8983980" y="14630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12580" y="1536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212580" y="21762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perdidos por semana</a:t>
            </a:r>
            <a:endParaRPr lang="en-US" sz="1300" dirty="0"/>
          </a:p>
        </p:txBody>
      </p:sp>
      <p:sp>
        <p:nvSpPr>
          <p:cNvPr id="16" name="icono-fondo-139"/>
          <p:cNvSpPr/>
          <p:nvPr/>
        </p:nvSpPr>
        <p:spPr>
          <a:xfrm>
            <a:off x="548640" y="304495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cono-1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176626"/>
            <a:ext cx="285293" cy="285293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atención ahorrado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3319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 min de chat por pedido a 1 min para confirmar el pago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0" y="2971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$14.127/mes</a:t>
            </a:r>
            <a:endParaRPr lang="en-US" sz="1700" dirty="0"/>
          </a:p>
        </p:txBody>
      </p:sp>
      <p:sp>
        <p:nvSpPr>
          <p:cNvPr id="21" name="icono-fondo-141"/>
          <p:cNvSpPr/>
          <p:nvPr/>
        </p:nvSpPr>
        <p:spPr>
          <a:xfrm>
            <a:off x="548640" y="391363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2" name="icono-1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45306"/>
            <a:ext cx="285293" cy="28529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evitados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1280160" y="418795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10 % al 3 % de pedidos con error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669280" y="3840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$17.290/mes</a:t>
            </a:r>
            <a:endParaRPr lang="en-US" sz="1700" dirty="0"/>
          </a:p>
        </p:txBody>
      </p:sp>
      <p:sp>
        <p:nvSpPr>
          <p:cNvPr id="26" name="icono-fondo-143"/>
          <p:cNvSpPr/>
          <p:nvPr/>
        </p:nvSpPr>
        <p:spPr>
          <a:xfrm>
            <a:off x="548640" y="47823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o-1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913986"/>
            <a:ext cx="285293" cy="285293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801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perdidos recuperados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280160" y="505663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web recupera el 30 % de los ≈ 6 pedidos perdidos por semana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5669280" y="4709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$59.280/mes</a:t>
            </a:r>
            <a:endParaRPr lang="en-US" sz="1700" dirty="0"/>
          </a:p>
        </p:txBody>
      </p:sp>
      <p:sp>
        <p:nvSpPr>
          <p:cNvPr id="31" name="card-145"/>
          <p:cNvSpPr/>
          <p:nvPr/>
        </p:nvSpPr>
        <p:spPr>
          <a:xfrm>
            <a:off x="7772400" y="2926080"/>
            <a:ext cx="3840480" cy="3246120"/>
          </a:xfrm>
          <a:prstGeom prst="roundRect">
            <a:avLst>
              <a:gd name="adj" fmla="val 3380"/>
            </a:avLst>
          </a:prstGeom>
          <a:solidFill>
            <a:schemeClr val="tx1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8046720" y="352044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12 meses, flujos mensuales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Tasa: plazo fijo BNA, TNA 17,5 % → 1,46 % mensual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variables con distribución triangular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Carlo: 10.000 iteraciones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Adopción gradual: 50 %, 75 % y 100 %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mensual del escenario base: $90.697. Datos del negocio; adopción, recupero y tasa de error con la web son supuestos a medir.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EVALUACIÓN ECONÓMICO-FINANCIERA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escenarios: VAN, TIR, ROI, B/C y recupero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Pesimista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$396.090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$234.720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$150.612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Beneficio mensual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$29.494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$90.697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$220.125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 (12 meses)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−$335.891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$583.451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$2.038.551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mensual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−18,4 %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1.067 %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B/C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recupera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 meses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 meses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Pesimista y optimista: cada variable a mitad de camino hacia su extremo, todas a la vez.</a:t>
            </a:r>
            <a:endParaRPr lang="en-US" sz="1200" dirty="0"/>
          </a:p>
        </p:txBody>
      </p:sp>
      <p:pic>
        <p:nvPicPr>
          <p:cNvPr id="6" name="grafico-recupero" descr="/home/claude/danypizzas/docs/analisis/economia/flujo_acumul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463040"/>
            <a:ext cx="5120640" cy="2660904"/>
          </a:xfrm>
          <a:prstGeom prst="rect">
            <a:avLst/>
          </a:prstGeom>
        </p:spPr>
      </p:pic>
      <p:sp>
        <p:nvSpPr>
          <p:cNvPr id="7" name="card-146"/>
          <p:cNvSpPr/>
          <p:nvPr/>
        </p:nvSpPr>
        <p:spPr>
          <a:xfrm>
            <a:off x="6492240" y="4343400"/>
            <a:ext cx="51206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720840" y="4480560"/>
            <a:ext cx="4663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 base: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 se recupera en unos 4 meses y cada peso invertido devuelve $2,71 en valor presente.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EVALUACIÓN ECONÓMICO-FINANCIERA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Carlo: 97,8 % de probabilidad de VAN positivo</a:t>
            </a:r>
            <a:endParaRPr lang="en-US" sz="3200" dirty="0"/>
          </a:p>
        </p:txBody>
      </p:sp>
      <p:pic>
        <p:nvPicPr>
          <p:cNvPr id="4" name="grafico-montecarlo" descr="/home/claude/danypizzas/docs/analisis/economia/montecarlo_v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589520" cy="3950208"/>
          </a:xfrm>
          <a:prstGeom prst="rect">
            <a:avLst/>
          </a:prstGeom>
        </p:spPr>
      </p:pic>
      <p:sp>
        <p:nvSpPr>
          <p:cNvPr id="5" name="card-147"/>
          <p:cNvSpPr/>
          <p:nvPr/>
        </p:nvSpPr>
        <p:spPr>
          <a:xfrm>
            <a:off x="8412480" y="1463040"/>
            <a:ext cx="3200400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41080" y="149047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97,8 %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984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VAN &gt; 0</a:t>
            </a:r>
            <a:endParaRPr lang="en-US" sz="1200" dirty="0"/>
          </a:p>
        </p:txBody>
      </p:sp>
      <p:sp>
        <p:nvSpPr>
          <p:cNvPr id="8" name="card-148"/>
          <p:cNvSpPr/>
          <p:nvPr/>
        </p:nvSpPr>
        <p:spPr>
          <a:xfrm>
            <a:off x="8412480" y="2487168"/>
            <a:ext cx="3200400" cy="9144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41080" y="25146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$532.611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300837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mediano</a:t>
            </a:r>
            <a:endParaRPr lang="en-US" sz="1200" dirty="0"/>
          </a:p>
        </p:txBody>
      </p:sp>
      <p:sp>
        <p:nvSpPr>
          <p:cNvPr id="11" name="card-149"/>
          <p:cNvSpPr/>
          <p:nvPr/>
        </p:nvSpPr>
        <p:spPr>
          <a:xfrm>
            <a:off x="8412480" y="3511296"/>
            <a:ext cx="3200400" cy="9144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41080" y="35387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0325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B/C mediana</a:t>
            </a:r>
            <a:endParaRPr lang="en-US" sz="1200" dirty="0"/>
          </a:p>
        </p:txBody>
      </p:sp>
      <p:sp>
        <p:nvSpPr>
          <p:cNvPr id="14" name="card-150"/>
          <p:cNvSpPr/>
          <p:nvPr/>
        </p:nvSpPr>
        <p:spPr>
          <a:xfrm>
            <a:off x="8412480" y="4535424"/>
            <a:ext cx="3200400" cy="9144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41080" y="45628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 meses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641080" y="50566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recupero mediano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iteraciones · P5 del VAN: $84.479 · P95: $1.101.041. Solo el 2,2 % de los casos termina con VAN negativo.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EVALUACIÓN ECONÓMICO-FINANCIERA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Sensibilidad: el valor está en no perder ventas</a:t>
            </a:r>
            <a:endParaRPr lang="en-US" sz="3200" dirty="0"/>
          </a:p>
        </p:txBody>
      </p:sp>
      <p:pic>
        <p:nvPicPr>
          <p:cNvPr id="4" name="grafico-tornado" descr="/home/claude/danypizzas/docs/analisis/economia/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611880"/>
          </a:xfrm>
          <a:prstGeom prst="rect">
            <a:avLst/>
          </a:prstGeom>
        </p:spPr>
      </p:pic>
      <p:sp>
        <p:nvSpPr>
          <p:cNvPr id="5" name="icono-fondo-151"/>
          <p:cNvSpPr/>
          <p:nvPr/>
        </p:nvSpPr>
        <p:spPr>
          <a:xfrm>
            <a:off x="7863840" y="15087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o-1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541" y="1629461"/>
            <a:ext cx="261518" cy="26151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549640" y="1463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variable que más pesa es el % de pedidos perdidos que la web recupera.</a:t>
            </a:r>
            <a:endParaRPr lang="en-US" sz="1400" dirty="0"/>
          </a:p>
        </p:txBody>
      </p:sp>
      <p:sp>
        <p:nvSpPr>
          <p:cNvPr id="8" name="icono-fondo-153"/>
          <p:cNvSpPr/>
          <p:nvPr/>
        </p:nvSpPr>
        <p:spPr>
          <a:xfrm>
            <a:off x="7863840" y="2743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o-15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541" y="2863901"/>
            <a:ext cx="261518" cy="2615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269748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alcanza con recuperar un pedido perdido cada 3 o 4 meses para que el VAN sea positivo.</a:t>
            </a:r>
            <a:endParaRPr lang="en-US" sz="1400" dirty="0"/>
          </a:p>
        </p:txBody>
      </p:sp>
      <p:sp>
        <p:nvSpPr>
          <p:cNvPr id="11" name="icono-fondo-155"/>
          <p:cNvSpPr/>
          <p:nvPr/>
        </p:nvSpPr>
        <p:spPr>
          <a:xfrm>
            <a:off x="786384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o-1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541" y="4098341"/>
            <a:ext cx="261518" cy="2615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49640" y="39319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 valuando la hora de desarrollo a 5 veces el salario mínimo, el VAN base sigue positivo (≈ $242.000).</a:t>
            </a:r>
            <a:endParaRPr lang="en-US" sz="1400" dirty="0"/>
          </a:p>
        </p:txBody>
      </p:sp>
      <p:sp>
        <p:nvSpPr>
          <p:cNvPr id="14" name="card-157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principal: la adopción.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en el primer mes: pedidos por la web frente al total, pedidos perdidos por semana y pedidos con error. Con esos datos se recalcula 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DISEÑO CONCEPTUAL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sitio estático, backend mínimo y WhatsApp</a:t>
            </a:r>
            <a:endParaRPr lang="en-US" sz="3200" dirty="0"/>
          </a:p>
        </p:txBody>
      </p:sp>
      <p:sp>
        <p:nvSpPr>
          <p:cNvPr id="4" name="nodo-158"/>
          <p:cNvSpPr/>
          <p:nvPr/>
        </p:nvSpPr>
        <p:spPr>
          <a:xfrm>
            <a:off x="548640" y="2651760"/>
            <a:ext cx="2194560" cy="13716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54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o PC con navegador</a:t>
            </a:r>
            <a:endParaRPr lang="en-US" sz="1200" dirty="0"/>
          </a:p>
        </p:txBody>
      </p:sp>
      <p:sp>
        <p:nvSpPr>
          <p:cNvPr id="7" name="nodo-159"/>
          <p:cNvSpPr/>
          <p:nvPr/>
        </p:nvSpPr>
        <p:spPr>
          <a:xfrm>
            <a:off x="3657600" y="1600200"/>
            <a:ext cx="3291840" cy="3246120"/>
          </a:xfrm>
          <a:prstGeom prst="roundRect">
            <a:avLst>
              <a:gd name="adj" fmla="val 338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84048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web (GitHub Pages)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103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0" name="capa-160"/>
          <p:cNvSpPr/>
          <p:nvPr/>
        </p:nvSpPr>
        <p:spPr>
          <a:xfrm>
            <a:off x="3886200" y="2148840"/>
            <a:ext cx="283464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23360" y="217627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· app.js</a:t>
            </a:r>
            <a:endParaRPr lang="en-US" sz="1300" dirty="0"/>
          </a:p>
        </p:txBody>
      </p:sp>
      <p:sp>
        <p:nvSpPr>
          <p:cNvPr id="12" name="capa-161"/>
          <p:cNvSpPr/>
          <p:nvPr/>
        </p:nvSpPr>
        <p:spPr>
          <a:xfrm>
            <a:off x="3886200" y="3063240"/>
            <a:ext cx="283464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23360" y="309067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lib.js: precios, horario, recibo</a:t>
            </a:r>
            <a:endParaRPr lang="en-US" sz="1300" dirty="0"/>
          </a:p>
        </p:txBody>
      </p:sp>
      <p:sp>
        <p:nvSpPr>
          <p:cNvPr id="14" name="capa-162"/>
          <p:cNvSpPr/>
          <p:nvPr/>
        </p:nvSpPr>
        <p:spPr>
          <a:xfrm>
            <a:off x="3886200" y="3977640"/>
            <a:ext cx="283464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23360" y="400507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config.js · catalogo.js</a:t>
            </a:r>
            <a:endParaRPr lang="en-US" sz="1300" dirty="0"/>
          </a:p>
        </p:txBody>
      </p:sp>
      <p:sp>
        <p:nvSpPr>
          <p:cNvPr id="16" name="nodo-163"/>
          <p:cNvSpPr/>
          <p:nvPr/>
        </p:nvSpPr>
        <p:spPr>
          <a:xfrm>
            <a:off x="8001000" y="1600200"/>
            <a:ext cx="36118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183880" y="17373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Google Apps Script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1031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N.º secuencial, total recalculado, protección</a:t>
            </a:r>
            <a:endParaRPr lang="en-US" sz="1200" dirty="0"/>
          </a:p>
        </p:txBody>
      </p:sp>
      <p:sp>
        <p:nvSpPr>
          <p:cNvPr id="19" name="nodo-164"/>
          <p:cNvSpPr/>
          <p:nvPr/>
        </p:nvSpPr>
        <p:spPr>
          <a:xfrm>
            <a:off x="8001000" y="3749040"/>
            <a:ext cx="3611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183880" y="38862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2519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Catalogo y Pedidos AAAA-MM</a:t>
            </a:r>
            <a:endParaRPr lang="en-US" sz="1200" dirty="0"/>
          </a:p>
        </p:txBody>
      </p:sp>
      <p:sp>
        <p:nvSpPr>
          <p:cNvPr id="22" name="nodo-165"/>
          <p:cNvSpPr/>
          <p:nvPr/>
        </p:nvSpPr>
        <p:spPr>
          <a:xfrm>
            <a:off x="3657600" y="5486400"/>
            <a:ext cx="329184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840480" y="5623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negocio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5989320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nodo-166"/>
          <p:cNvSpPr/>
          <p:nvPr/>
        </p:nvSpPr>
        <p:spPr>
          <a:xfrm>
            <a:off x="548640" y="5486400"/>
            <a:ext cx="219456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31520" y="5623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Pago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98932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8" name="flecha-167"/>
          <p:cNvSpPr/>
          <p:nvPr/>
        </p:nvSpPr>
        <p:spPr>
          <a:xfrm>
            <a:off x="2743200" y="3337560"/>
            <a:ext cx="914400" cy="0"/>
          </a:xfrm>
          <a:prstGeom prst="line">
            <a:avLst/>
          </a:prstGeom>
          <a:noFill/>
          <a:ln w="22225">
            <a:solidFill>
              <a:srgbClr val="8A7F7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8600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100" dirty="0"/>
          </a:p>
        </p:txBody>
      </p:sp>
      <p:sp>
        <p:nvSpPr>
          <p:cNvPr id="30" name="flecha-168"/>
          <p:cNvSpPr/>
          <p:nvPr/>
        </p:nvSpPr>
        <p:spPr>
          <a:xfrm>
            <a:off x="6949440" y="2240280"/>
            <a:ext cx="1051560" cy="0"/>
          </a:xfrm>
          <a:prstGeom prst="line">
            <a:avLst/>
          </a:prstGeom>
          <a:noFill/>
          <a:ln w="22225">
            <a:solidFill>
              <a:srgbClr val="8A7F76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583680" y="1783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</a:t>
            </a:r>
            <a:endParaRPr lang="en-US" sz="1100" dirty="0"/>
          </a:p>
        </p:txBody>
      </p:sp>
      <p:sp>
        <p:nvSpPr>
          <p:cNvPr id="32" name="flecha-169"/>
          <p:cNvSpPr/>
          <p:nvPr/>
        </p:nvSpPr>
        <p:spPr>
          <a:xfrm>
            <a:off x="9784080" y="2926080"/>
            <a:ext cx="0" cy="822960"/>
          </a:xfrm>
          <a:prstGeom prst="line">
            <a:avLst/>
          </a:prstGeom>
          <a:noFill/>
          <a:ln w="22225">
            <a:solidFill>
              <a:srgbClr val="8A7F76"/>
            </a:solidFill>
            <a:prstDash val="solid"/>
            <a:tailEnd type="triangle"/>
          </a:ln>
        </p:spPr>
      </p:sp>
      <p:sp>
        <p:nvSpPr>
          <p:cNvPr id="33" name="flecha-170"/>
          <p:cNvSpPr/>
          <p:nvPr/>
        </p:nvSpPr>
        <p:spPr>
          <a:xfrm>
            <a:off x="5303520" y="4846320"/>
            <a:ext cx="0" cy="640080"/>
          </a:xfrm>
          <a:prstGeom prst="line">
            <a:avLst/>
          </a:prstGeom>
          <a:noFill/>
          <a:ln w="22225">
            <a:solidFill>
              <a:srgbClr val="8A7F76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440680" y="4983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wa.me con el recibo</a:t>
            </a:r>
            <a:endParaRPr lang="en-US" sz="1100" dirty="0"/>
          </a:p>
        </p:txBody>
      </p:sp>
      <p:sp>
        <p:nvSpPr>
          <p:cNvPr id="35" name="flecha-171"/>
          <p:cNvSpPr/>
          <p:nvPr/>
        </p:nvSpPr>
        <p:spPr>
          <a:xfrm>
            <a:off x="1645920" y="4023360"/>
            <a:ext cx="0" cy="1463040"/>
          </a:xfrm>
          <a:prstGeom prst="line">
            <a:avLst/>
          </a:prstGeom>
          <a:noFill/>
          <a:ln w="22225">
            <a:solidFill>
              <a:srgbClr val="8A7F76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737360" y="4480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fuera del sistema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001000" y="525780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backend no responde en 6 s, el sitio genera un número local y el pedido sale igual por WhatsApp. Diagramas C4 de contexto y contenedores en el repositorio.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DISEÑO CONCEPTUAL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uso: cliente, atención y dueño</a:t>
            </a:r>
            <a:endParaRPr lang="en-US" sz="3200" dirty="0"/>
          </a:p>
        </p:txBody>
      </p:sp>
      <p:pic>
        <p:nvPicPr>
          <p:cNvPr id="4" name="casos-de-uso" descr="/home/claude/danypizzas/diagramas/casos-de-u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772400" cy="4700016"/>
          </a:xfrm>
          <a:prstGeom prst="rect">
            <a:avLst/>
          </a:prstGeom>
        </p:spPr>
      </p:pic>
      <p:sp>
        <p:nvSpPr>
          <p:cNvPr id="5" name="card-172"/>
          <p:cNvSpPr/>
          <p:nvPr/>
        </p:nvSpPr>
        <p:spPr>
          <a:xfrm>
            <a:off x="8595360" y="1463040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/>
        </p:spPr>
      </p:sp>
      <p:sp>
        <p:nvSpPr>
          <p:cNvPr id="6" name="etiqueta-173"/>
          <p:cNvSpPr/>
          <p:nvPr/>
        </p:nvSpPr>
        <p:spPr>
          <a:xfrm>
            <a:off x="8778240" y="1627632"/>
            <a:ext cx="13716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78240" y="1627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0116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CU‑01 a CU‑06: ve la carta, arma y confirma el pedido, lo envía por WhatsApp y manda el comprobante.</a:t>
            </a:r>
            <a:endParaRPr lang="en-US" sz="1200" dirty="0"/>
          </a:p>
        </p:txBody>
      </p:sp>
      <p:sp>
        <p:nvSpPr>
          <p:cNvPr id="9" name="card-174"/>
          <p:cNvSpPr/>
          <p:nvPr/>
        </p:nvSpPr>
        <p:spPr>
          <a:xfrm>
            <a:off x="8595360" y="3035808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/>
        </p:spPr>
      </p:sp>
      <p:sp>
        <p:nvSpPr>
          <p:cNvPr id="10" name="etiqueta-175"/>
          <p:cNvSpPr/>
          <p:nvPr/>
        </p:nvSpPr>
        <p:spPr>
          <a:xfrm>
            <a:off x="8778240" y="3200400"/>
            <a:ext cx="13716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778240" y="32004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5844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CU‑07 y CU‑08: recibe y valida el pedido, actualiza su estado.</a:t>
            </a:r>
            <a:endParaRPr lang="en-US" sz="1200" dirty="0"/>
          </a:p>
        </p:txBody>
      </p:sp>
      <p:sp>
        <p:nvSpPr>
          <p:cNvPr id="13" name="card-176"/>
          <p:cNvSpPr/>
          <p:nvPr/>
        </p:nvSpPr>
        <p:spPr>
          <a:xfrm>
            <a:off x="8595360" y="4608576"/>
            <a:ext cx="301752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/>
        </p:spPr>
      </p:sp>
      <p:sp>
        <p:nvSpPr>
          <p:cNvPr id="14" name="etiqueta-177"/>
          <p:cNvSpPr/>
          <p:nvPr/>
        </p:nvSpPr>
        <p:spPr>
          <a:xfrm>
            <a:off x="8778240" y="4773168"/>
            <a:ext cx="1371600" cy="310896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0" y="47731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778240" y="515721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CU‑08 a CU‑11: cambia precios, consulta pedidos del mes y puede pausar el registro web.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DISEÑO CONCEPTUAL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Secuencia del pedido, de la carta al comprobante</a:t>
            </a:r>
            <a:endParaRPr lang="en-US" sz="3200" dirty="0"/>
          </a:p>
        </p:txBody>
      </p:sp>
      <p:pic>
        <p:nvPicPr>
          <p:cNvPr id="4" name="secuencia" descr="/home/claude/danypizzas/diagramas/secuencia-ped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760720" cy="4873752"/>
          </a:xfrm>
          <a:prstGeom prst="rect">
            <a:avLst/>
          </a:prstGeom>
        </p:spPr>
      </p:pic>
      <p:sp>
        <p:nvSpPr>
          <p:cNvPr id="5" name="paso-178"/>
          <p:cNvSpPr/>
          <p:nvPr/>
        </p:nvSpPr>
        <p:spPr>
          <a:xfrm>
            <a:off x="667512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6751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44475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pide al backend la carta vigente con precios y disponibilidad.</a:t>
            </a:r>
            <a:endParaRPr lang="en-US" sz="1400" dirty="0"/>
          </a:p>
        </p:txBody>
      </p:sp>
      <p:sp>
        <p:nvSpPr>
          <p:cNvPr id="8" name="paso-179"/>
          <p:cNvSpPr/>
          <p:nvPr/>
        </p:nvSpPr>
        <p:spPr>
          <a:xfrm>
            <a:off x="6675120" y="2423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751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240487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arma el pedido; el sitio calcula total y porciones y valida los datos.</a:t>
            </a:r>
            <a:endParaRPr lang="en-US" sz="1400" dirty="0"/>
          </a:p>
        </p:txBody>
      </p:sp>
      <p:sp>
        <p:nvSpPr>
          <p:cNvPr id="11" name="paso-180"/>
          <p:cNvSpPr/>
          <p:nvPr/>
        </p:nvSpPr>
        <p:spPr>
          <a:xfrm>
            <a:off x="6675120" y="33832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751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36499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backend descarta bots y abusos, recalcula el total y asigna DP-AAMMDD-NNN.</a:t>
            </a:r>
            <a:endParaRPr lang="en-US" sz="1400" dirty="0"/>
          </a:p>
        </p:txBody>
      </p:sp>
      <p:sp>
        <p:nvSpPr>
          <p:cNvPr id="14" name="paso-181"/>
          <p:cNvSpPr/>
          <p:nvPr/>
        </p:nvSpPr>
        <p:spPr>
          <a:xfrm>
            <a:off x="6675120" y="4343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7512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432511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abre WhatsApp con el recibo; el cliente lo envía y manda el comprobante.</a:t>
            </a:r>
            <a:endParaRPr lang="en-US" sz="1400" dirty="0"/>
          </a:p>
        </p:txBody>
      </p:sp>
      <p:sp>
        <p:nvSpPr>
          <p:cNvPr id="17" name="paso-182"/>
          <p:cNvSpPr/>
          <p:nvPr/>
        </p:nvSpPr>
        <p:spPr>
          <a:xfrm>
            <a:off x="6675120" y="5303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7512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0" y="528523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valida el pago, prepara y marca el estado en la planilla.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REQUISITOS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(1 de 2)</a:t>
            </a:r>
            <a:endParaRPr lang="en-US" sz="3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0"/>
                <a:gridCol w="118872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la carta: nombre, foto, ingredientes, precio entera y mitad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abierto/cerrado según el horario y mostrar la tabla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enteras o mitades, cambiar cantidades y quitar ítems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Armar pizza mitad y mitad cobrando cada mitad por separado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total y porciones (mitad redondeada a múltiplo de $500)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Conservar pedido y datos del cliente en su dispositivo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Pedir nombre, teléfono y dirección; referencia y observaciones opcionales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Elegir entrega “lo antes posible” o un horario del mismo día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Elegir pago: Mercado Pago, transferencia o efectivo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datos e indicar qué campo corregir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MoSCoW: M debe · S debería · C podría. Cada requisito tiene su caso de uso y la prueba que lo verifica (docs/analisis/requisitos.md).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REQUISITOS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(2 de 2)</a:t>
            </a:r>
            <a:endParaRPr lang="en-US" sz="3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0"/>
                <a:gridCol w="118872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Asignar N.º DP-AAMMDD-NNN secuencial por día (o local si falla)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Generar el recibo, abrir WhatsApp del negocio y permitir copiarlo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alias, titular, monto y 5 min para el comprobante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cada pedido en la hoja mensual con total recalculado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Cambiar precios y disponibilidad desde la hoja Catalogo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Marcar estado: Nuevo, Pagado, En preparación, Entregado…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validar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 los pedidos de cada mes en la planilla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validar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Rechazar pedidos falsos o abusivos (trampa, límites, duplicados)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Pausar el registro web sin dejar de recibir por WhatsApp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Avisar fuera de horario y permitir o bloquear el envío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MoSCoW: M debe · S debería · C podría. Cada requisito tiene su caso de uso y la prueba que lo verifica (docs/analisis/requisitos.md).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REQUISITOS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no funcionales (ISO/IEC 25010)</a:t>
            </a:r>
            <a:endParaRPr lang="en-US" sz="3200" dirty="0"/>
          </a:p>
        </p:txBody>
      </p:sp>
      <p:sp>
        <p:nvSpPr>
          <p:cNvPr id="4" name="card-183"/>
          <p:cNvSpPr/>
          <p:nvPr/>
        </p:nvSpPr>
        <p:spPr>
          <a:xfrm>
            <a:off x="54864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5" name="icono-fondo-184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-1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013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RNF‑01 a 03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sin ayuda en ≤ 2 min; mobile-first desde 360 px; voseo y precios en formato local</a:t>
            </a:r>
            <a:endParaRPr lang="en-US" sz="1300" dirty="0"/>
          </a:p>
        </p:txBody>
      </p:sp>
      <p:sp>
        <p:nvSpPr>
          <p:cNvPr id="10" name="card-186"/>
          <p:cNvSpPr/>
          <p:nvPr/>
        </p:nvSpPr>
        <p:spPr>
          <a:xfrm>
            <a:off x="336042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11" name="icono-fondo-187"/>
          <p:cNvSpPr/>
          <p:nvPr/>
        </p:nvSpPr>
        <p:spPr>
          <a:xfrm>
            <a:off x="358902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o-1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748" y="180136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8338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RNF‑04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58902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8902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Safari, Firefox y Edge en Android, iOS, Windows y Linux, sin instalar nada</a:t>
            </a:r>
            <a:endParaRPr lang="en-US" sz="1300" dirty="0"/>
          </a:p>
        </p:txBody>
      </p:sp>
      <p:sp>
        <p:nvSpPr>
          <p:cNvPr id="16" name="card-189"/>
          <p:cNvSpPr/>
          <p:nvPr/>
        </p:nvSpPr>
        <p:spPr>
          <a:xfrm>
            <a:off x="617220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17" name="icono-fondo-190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-19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0136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RNF‑05 a 07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HTTPS; total imposible de manipular; datos mínimos y Ley 25.326</a:t>
            </a:r>
            <a:endParaRPr lang="en-US" sz="1300" dirty="0"/>
          </a:p>
        </p:txBody>
      </p:sp>
      <p:sp>
        <p:nvSpPr>
          <p:cNvPr id="22" name="card-192"/>
          <p:cNvSpPr/>
          <p:nvPr/>
        </p:nvSpPr>
        <p:spPr>
          <a:xfrm>
            <a:off x="898398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23" name="icono-fondo-193"/>
          <p:cNvSpPr/>
          <p:nvPr/>
        </p:nvSpPr>
        <p:spPr>
          <a:xfrm>
            <a:off x="921258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o-19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2308" y="1801368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0694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RNF‑08, 09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21258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921258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falla, el pedido sale igual; sin números ni filas duplicadas</a:t>
            </a:r>
            <a:endParaRPr lang="en-US" sz="1300" dirty="0"/>
          </a:p>
        </p:txBody>
      </p:sp>
      <p:sp>
        <p:nvSpPr>
          <p:cNvPr id="28" name="card-195"/>
          <p:cNvSpPr/>
          <p:nvPr/>
        </p:nvSpPr>
        <p:spPr>
          <a:xfrm>
            <a:off x="54864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29" name="icono-fondo-196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cono-19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178808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3716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RNF‑10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77724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frameworks; fotos ≤ 140 KB con carga diferida</a:t>
            </a:r>
            <a:endParaRPr lang="en-US" sz="1300" dirty="0"/>
          </a:p>
        </p:txBody>
      </p:sp>
      <p:sp>
        <p:nvSpPr>
          <p:cNvPr id="34" name="card-198"/>
          <p:cNvSpPr/>
          <p:nvPr/>
        </p:nvSpPr>
        <p:spPr>
          <a:xfrm>
            <a:off x="336042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35" name="icono-fondo-199"/>
          <p:cNvSpPr/>
          <p:nvPr/>
        </p:nvSpPr>
        <p:spPr>
          <a:xfrm>
            <a:off x="358902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6" name="icono-20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8748" y="417880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18338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RNF‑11, 12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358902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358902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negocio sin programar; 44 pruebas antes de cada publicación</a:t>
            </a:r>
            <a:endParaRPr lang="en-US" sz="1300" dirty="0"/>
          </a:p>
        </p:txBody>
      </p:sp>
      <p:sp>
        <p:nvSpPr>
          <p:cNvPr id="40" name="card-201"/>
          <p:cNvSpPr/>
          <p:nvPr/>
        </p:nvSpPr>
        <p:spPr>
          <a:xfrm>
            <a:off x="617220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41" name="icono-fondo-202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2" name="icono-20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17880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9951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RNF‑13</a:t>
            </a:r>
            <a:endParaRPr lang="en-US" sz="1100" dirty="0"/>
          </a:p>
        </p:txBody>
      </p:sp>
      <p:sp>
        <p:nvSpPr>
          <p:cNvPr id="44" name="Text 35"/>
          <p:cNvSpPr txBox="1"/>
          <p:nvPr/>
        </p:nvSpPr>
        <p:spPr>
          <a:xfrm>
            <a:off x="640080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640080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Etiquetas, foco visible, contraste ≥ 4,5:1, navegable con teclado</a:t>
            </a:r>
            <a:endParaRPr lang="en-US" sz="1300" dirty="0"/>
          </a:p>
        </p:txBody>
      </p:sp>
      <p:sp>
        <p:nvSpPr>
          <p:cNvPr id="46" name="card-204"/>
          <p:cNvSpPr/>
          <p:nvPr/>
        </p:nvSpPr>
        <p:spPr>
          <a:xfrm>
            <a:off x="898398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47" name="icono-fondo-205"/>
          <p:cNvSpPr/>
          <p:nvPr/>
        </p:nvSpPr>
        <p:spPr>
          <a:xfrm>
            <a:off x="921258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8" name="icono-20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2308" y="4178808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80694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RNF‑14, 15</a:t>
            </a:r>
            <a:endParaRPr lang="en-US" sz="1100" dirty="0"/>
          </a:p>
        </p:txBody>
      </p:sp>
      <p:sp>
        <p:nvSpPr>
          <p:cNvPr id="50" name="Text 40"/>
          <p:cNvSpPr txBox="1"/>
          <p:nvPr/>
        </p:nvSpPr>
        <p:spPr>
          <a:xfrm>
            <a:off x="921258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y disponibilidad</a:t>
            </a:r>
            <a:endParaRPr lang="en-US" sz="1500" dirty="0"/>
          </a:p>
        </p:txBody>
      </p:sp>
      <p:sp>
        <p:nvSpPr>
          <p:cNvPr id="51" name="Text 41"/>
          <p:cNvSpPr txBox="1"/>
          <p:nvPr/>
        </p:nvSpPr>
        <p:spPr>
          <a:xfrm>
            <a:off x="921258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por mes; disponible en el horario, con plan de contingencia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DESARROLLO E INTEGRACIÓN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e integración continua</a:t>
            </a:r>
            <a:endParaRPr lang="en-US" sz="3200" dirty="0"/>
          </a:p>
        </p:txBody>
      </p:sp>
      <p:sp>
        <p:nvSpPr>
          <p:cNvPr id="4" name="icono-fondo-207"/>
          <p:cNvSpPr/>
          <p:nvPr/>
        </p:nvSpPr>
        <p:spPr>
          <a:xfrm>
            <a:off x="1005840" y="15087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o-2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16733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860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en Git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06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Ubuntu</a:t>
            </a:r>
            <a:endParaRPr lang="en-US" sz="1100" dirty="0"/>
          </a:p>
        </p:txBody>
      </p:sp>
      <p:pic>
        <p:nvPicPr>
          <p:cNvPr id="8" name="flecha-2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1691640"/>
            <a:ext cx="201168" cy="320040"/>
          </a:xfrm>
          <a:prstGeom prst="rect">
            <a:avLst/>
          </a:prstGeom>
        </p:spPr>
      </p:pic>
      <p:sp>
        <p:nvSpPr>
          <p:cNvPr id="9" name="icono-fondo-210"/>
          <p:cNvSpPr/>
          <p:nvPr/>
        </p:nvSpPr>
        <p:spPr>
          <a:xfrm>
            <a:off x="2788920" y="15087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o-2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512" y="1673352"/>
            <a:ext cx="356616" cy="35661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2860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GitHub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2331720" y="2606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main</a:t>
            </a:r>
            <a:endParaRPr lang="en-US" sz="1100" dirty="0"/>
          </a:p>
        </p:txBody>
      </p:sp>
      <p:pic>
        <p:nvPicPr>
          <p:cNvPr id="13" name="flecha-2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4488" y="1691640"/>
            <a:ext cx="201168" cy="320040"/>
          </a:xfrm>
          <a:prstGeom prst="rect">
            <a:avLst/>
          </a:prstGeom>
        </p:spPr>
      </p:pic>
      <p:sp>
        <p:nvSpPr>
          <p:cNvPr id="14" name="icono-fondo-213"/>
          <p:cNvSpPr/>
          <p:nvPr/>
        </p:nvSpPr>
        <p:spPr>
          <a:xfrm>
            <a:off x="4572000" y="1508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o-2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1673352"/>
            <a:ext cx="356616" cy="35661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114800" y="22860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pruebas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4114800" y="2606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--test</a:t>
            </a:r>
            <a:endParaRPr lang="en-US" sz="1100" dirty="0"/>
          </a:p>
        </p:txBody>
      </p:sp>
      <p:pic>
        <p:nvPicPr>
          <p:cNvPr id="18" name="flecha-21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1691640"/>
            <a:ext cx="201168" cy="320040"/>
          </a:xfrm>
          <a:prstGeom prst="rect">
            <a:avLst/>
          </a:prstGeom>
        </p:spPr>
      </p:pic>
      <p:sp>
        <p:nvSpPr>
          <p:cNvPr id="19" name="icono-fondo-216"/>
          <p:cNvSpPr/>
          <p:nvPr/>
        </p:nvSpPr>
        <p:spPr>
          <a:xfrm>
            <a:off x="6355080" y="15087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o-21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1673352"/>
            <a:ext cx="356616" cy="35661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897880" y="22860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endParaRPr lang="en-US" sz="1400" dirty="0"/>
          </a:p>
        </p:txBody>
      </p:sp>
      <p:sp>
        <p:nvSpPr>
          <p:cNvPr id="22" name="Text 13"/>
          <p:cNvSpPr txBox="1"/>
          <p:nvPr/>
        </p:nvSpPr>
        <p:spPr>
          <a:xfrm>
            <a:off x="5897880" y="2606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1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29718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prueba falla, no se publica.</a:t>
            </a:r>
            <a:endParaRPr lang="en-US" sz="1400" dirty="0"/>
          </a:p>
        </p:txBody>
      </p:sp>
      <p:sp>
        <p:nvSpPr>
          <p:cNvPr id="24" name="card-218"/>
          <p:cNvSpPr/>
          <p:nvPr/>
        </p:nvSpPr>
        <p:spPr>
          <a:xfrm>
            <a:off x="548640" y="3520440"/>
            <a:ext cx="2194560" cy="1188720"/>
          </a:xfrm>
          <a:prstGeom prst="roundRect">
            <a:avLst>
              <a:gd name="adj" fmla="val 9231"/>
            </a:avLst>
          </a:prstGeom>
          <a:solidFill>
            <a:schemeClr val="accent6"/>
          </a:solidFill>
          <a:ln/>
        </p:spPr>
      </p:sp>
      <p:sp>
        <p:nvSpPr>
          <p:cNvPr id="25" name="Text 16"/>
          <p:cNvSpPr txBox="1"/>
          <p:nvPr/>
        </p:nvSpPr>
        <p:spPr>
          <a:xfrm>
            <a:off x="731520" y="35661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200" dirty="0"/>
          </a:p>
        </p:txBody>
      </p:sp>
      <p:sp>
        <p:nvSpPr>
          <p:cNvPr id="26" name="Text 17"/>
          <p:cNvSpPr txBox="1"/>
          <p:nvPr/>
        </p:nvSpPr>
        <p:spPr>
          <a:xfrm>
            <a:off x="73152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</a:t>
            </a:r>
            <a:endParaRPr lang="en-US" sz="1200" dirty="0"/>
          </a:p>
        </p:txBody>
      </p:sp>
      <p:sp>
        <p:nvSpPr>
          <p:cNvPr id="27" name="card-219"/>
          <p:cNvSpPr/>
          <p:nvPr/>
        </p:nvSpPr>
        <p:spPr>
          <a:xfrm>
            <a:off x="2926080" y="3520440"/>
            <a:ext cx="2194560" cy="1188720"/>
          </a:xfrm>
          <a:prstGeom prst="roundRect">
            <a:avLst>
              <a:gd name="adj" fmla="val 9231"/>
            </a:avLst>
          </a:prstGeom>
          <a:solidFill>
            <a:schemeClr val="accent6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3108960" y="35661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9" name="Text 20"/>
          <p:cNvSpPr txBox="1"/>
          <p:nvPr/>
        </p:nvSpPr>
        <p:spPr>
          <a:xfrm>
            <a:off x="310896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 de código</a:t>
            </a:r>
            <a:endParaRPr lang="en-US" sz="1200" dirty="0"/>
          </a:p>
        </p:txBody>
      </p:sp>
      <p:sp>
        <p:nvSpPr>
          <p:cNvPr id="30" name="card-220"/>
          <p:cNvSpPr/>
          <p:nvPr/>
        </p:nvSpPr>
        <p:spPr>
          <a:xfrm>
            <a:off x="5303520" y="3520440"/>
            <a:ext cx="2194560" cy="1188720"/>
          </a:xfrm>
          <a:prstGeom prst="roundRect">
            <a:avLst>
              <a:gd name="adj" fmla="val 9231"/>
            </a:avLst>
          </a:prstGeom>
          <a:solidFill>
            <a:schemeClr val="accent6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5486400" y="35661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32" name="Text 23"/>
          <p:cNvSpPr txBox="1"/>
          <p:nvPr/>
        </p:nvSpPr>
        <p:spPr>
          <a:xfrm>
            <a:off x="548640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incrementos semanales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548640" y="48920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pura separada de la interfaz (lib.js) para poder probarla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backend se prueba con Google simulado: mismo total que el sitio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punta a punta con Playwright en móvil (390 px) y PC (1366 px)</a:t>
            </a:r>
            <a:endParaRPr lang="en-US" sz="1400" dirty="0"/>
          </a:p>
        </p:txBody>
      </p:sp>
      <p:pic>
        <p:nvPicPr>
          <p:cNvPr id="34" name="captura-pc" descr="/home/claude/danypizzas/docs/capturas/04-pc-inic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1508760"/>
            <a:ext cx="3794760" cy="2496312"/>
          </a:xfrm>
          <a:prstGeom prst="rect">
            <a:avLst/>
          </a:prstGeom>
        </p:spPr>
      </p:pic>
      <p:sp>
        <p:nvSpPr>
          <p:cNvPr id="35" name="marco-pc"/>
          <p:cNvSpPr/>
          <p:nvPr/>
        </p:nvSpPr>
        <p:spPr>
          <a:xfrm>
            <a:off x="7818120" y="1508760"/>
            <a:ext cx="3794760" cy="2496312"/>
          </a:xfrm>
          <a:prstGeom prst="rect">
            <a:avLst/>
          </a:prstGeom>
          <a:ln w="12700">
            <a:solidFill>
              <a:srgbClr val="E4DCD2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781812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publicado, vista de PC</a:t>
            </a:r>
            <a:endParaRPr lang="en-US" sz="1100" dirty="0"/>
          </a:p>
        </p:txBody>
      </p:sp>
      <p:sp>
        <p:nvSpPr>
          <p:cNvPr id="37" name="card-221"/>
          <p:cNvSpPr/>
          <p:nvPr/>
        </p:nvSpPr>
        <p:spPr>
          <a:xfrm>
            <a:off x="7818120" y="4526280"/>
            <a:ext cx="37947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8046720" y="46177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el negocio: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activo en la cuenta Google del negocio y planilla verificada desde el 06/10/2026.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DESARROLLO E INTEGRACIÓN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producto: castromaximo.github.io/DanyPizzas</a:t>
            </a:r>
            <a:endParaRPr lang="en-US" sz="3200" dirty="0"/>
          </a:p>
        </p:txBody>
      </p:sp>
      <p:sp>
        <p:nvSpPr>
          <p:cNvPr id="4" name="marco-celular-222"/>
          <p:cNvSpPr/>
          <p:nvPr/>
        </p:nvSpPr>
        <p:spPr>
          <a:xfrm>
            <a:off x="612648" y="1389888"/>
            <a:ext cx="2153325" cy="4489704"/>
          </a:xfrm>
          <a:prstGeom prst="roundRect">
            <a:avLst>
              <a:gd name="adj" fmla="val 6370"/>
            </a:avLst>
          </a:prstGeom>
          <a:solidFill>
            <a:schemeClr val="tx1"/>
          </a:solidFill>
          <a:ln/>
        </p:spPr>
      </p:sp>
      <p:pic>
        <p:nvPicPr>
          <p:cNvPr id="5" name="captura-223" descr="/home/claude/danypizzas/docs/capturas/01-movil-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463040"/>
            <a:ext cx="2007021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5897880"/>
            <a:ext cx="255566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Carta con fotos, precios y horario</a:t>
            </a:r>
            <a:endParaRPr lang="en-US" sz="1200" dirty="0"/>
          </a:p>
        </p:txBody>
      </p:sp>
      <p:sp>
        <p:nvSpPr>
          <p:cNvPr id="7" name="marco-celular-224"/>
          <p:cNvSpPr/>
          <p:nvPr/>
        </p:nvSpPr>
        <p:spPr>
          <a:xfrm>
            <a:off x="3355848" y="1389888"/>
            <a:ext cx="2153325" cy="4489704"/>
          </a:xfrm>
          <a:prstGeom prst="roundRect">
            <a:avLst>
              <a:gd name="adj" fmla="val 6370"/>
            </a:avLst>
          </a:prstGeom>
          <a:solidFill>
            <a:schemeClr val="tx1"/>
          </a:solidFill>
          <a:ln/>
        </p:spPr>
      </p:sp>
      <p:pic>
        <p:nvPicPr>
          <p:cNvPr id="8" name="captura-225" descr="/home/claude/danypizzas/docs/capturas/02-movil-pedid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29000" y="1463040"/>
            <a:ext cx="2007021" cy="4343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54680" y="5897880"/>
            <a:ext cx="255566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Pedido, datos de entrega y pago</a:t>
            </a:r>
            <a:endParaRPr lang="en-US" sz="1200" dirty="0"/>
          </a:p>
        </p:txBody>
      </p:sp>
      <p:sp>
        <p:nvSpPr>
          <p:cNvPr id="10" name="marco-celular-226"/>
          <p:cNvSpPr/>
          <p:nvPr/>
        </p:nvSpPr>
        <p:spPr>
          <a:xfrm>
            <a:off x="6099048" y="1389888"/>
            <a:ext cx="2153325" cy="4489704"/>
          </a:xfrm>
          <a:prstGeom prst="roundRect">
            <a:avLst>
              <a:gd name="adj" fmla="val 6370"/>
            </a:avLst>
          </a:prstGeom>
          <a:solidFill>
            <a:schemeClr val="tx1"/>
          </a:solidFill>
          <a:ln/>
        </p:spPr>
      </p:sp>
      <p:pic>
        <p:nvPicPr>
          <p:cNvPr id="11" name="captura-227" descr="/home/claude/danypizzas/docs/capturas/03-movil-confirmac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72200" y="1463040"/>
            <a:ext cx="2007021" cy="4343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97880" y="5897880"/>
            <a:ext cx="255566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N.º de pedido, WhatsApp y pago</a:t>
            </a:r>
            <a:endParaRPr lang="en-US" sz="1200" dirty="0"/>
          </a:p>
        </p:txBody>
      </p:sp>
      <p:sp>
        <p:nvSpPr>
          <p:cNvPr id="13" name="card-228"/>
          <p:cNvSpPr/>
          <p:nvPr/>
        </p:nvSpPr>
        <p:spPr>
          <a:xfrm>
            <a:off x="8778240" y="1463040"/>
            <a:ext cx="2834640" cy="448056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pic>
        <p:nvPicPr>
          <p:cNvPr id="14" name="qr" descr="/home/claude/danypizzas/docs/qr-sit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91640"/>
            <a:ext cx="2103120" cy="21031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Escaneá para probarlo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9006840" y="43434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cualquier celular o PC, sin instalar nada.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por objetivo</a:t>
            </a:r>
            <a:endParaRPr lang="en-US" sz="3200" dirty="0"/>
          </a:p>
        </p:txBody>
      </p:sp>
      <p:sp>
        <p:nvSpPr>
          <p:cNvPr id="4" name="card-229"/>
          <p:cNvSpPr/>
          <p:nvPr/>
        </p:nvSpPr>
        <p:spPr>
          <a:xfrm>
            <a:off x="548640" y="146304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5" name="etiqueta-230"/>
          <p:cNvSpPr/>
          <p:nvPr/>
        </p:nvSpPr>
        <p:spPr>
          <a:xfrm>
            <a:off x="731520" y="1728216"/>
            <a:ext cx="6858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282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46304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toma de pedidos.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publicado el 06/10/2026; flujo completo probado en móvil y PC; recibo con N.º de pedido abierto en WhatsApp.</a:t>
            </a:r>
            <a:endParaRPr lang="en-US" sz="1300" dirty="0"/>
          </a:p>
        </p:txBody>
      </p:sp>
      <p:sp>
        <p:nvSpPr>
          <p:cNvPr id="8" name="card-231"/>
          <p:cNvSpPr/>
          <p:nvPr/>
        </p:nvSpPr>
        <p:spPr>
          <a:xfrm>
            <a:off x="548640" y="242316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9" name="etiqueta-232"/>
          <p:cNvSpPr/>
          <p:nvPr/>
        </p:nvSpPr>
        <p:spPr>
          <a:xfrm>
            <a:off x="731520" y="2688336"/>
            <a:ext cx="6858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68833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42316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administrar.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mensual activa y verificada; precios y disponibilidad editables desde la hoja Catalogo.</a:t>
            </a:r>
            <a:endParaRPr lang="en-US" sz="1300" dirty="0"/>
          </a:p>
        </p:txBody>
      </p:sp>
      <p:sp>
        <p:nvSpPr>
          <p:cNvPr id="12" name="card-233"/>
          <p:cNvSpPr/>
          <p:nvPr/>
        </p:nvSpPr>
        <p:spPr>
          <a:xfrm>
            <a:off x="548640" y="338328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13" name="etiqueta-234"/>
          <p:cNvSpPr/>
          <p:nvPr/>
        </p:nvSpPr>
        <p:spPr>
          <a:xfrm>
            <a:off x="731520" y="3648456"/>
            <a:ext cx="685800" cy="310896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64845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38328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Seguro, confiable y sin costo.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por mes; 100 % HTTPS; 44 pruebas en verde; VAN base $583.451 y P(VAN &gt; 0) = 97,8 %.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 del uso real</a:t>
            </a:r>
            <a:endParaRPr lang="en-US" sz="1800" dirty="0"/>
          </a:p>
        </p:txBody>
      </p:sp>
      <p:sp>
        <p:nvSpPr>
          <p:cNvPr id="17" name="pendiente-235"/>
          <p:cNvSpPr/>
          <p:nvPr/>
        </p:nvSpPr>
        <p:spPr>
          <a:xfrm>
            <a:off x="548640" y="489204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4F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31520" y="5001768"/>
            <a:ext cx="1737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Captura: confirmación en el sitio</a:t>
            </a:r>
            <a:endParaRPr lang="en-US" sz="1400" dirty="0"/>
          </a:p>
        </p:txBody>
      </p:sp>
      <p:sp>
        <p:nvSpPr>
          <p:cNvPr id="19" name="pendiente-236"/>
          <p:cNvSpPr/>
          <p:nvPr/>
        </p:nvSpPr>
        <p:spPr>
          <a:xfrm>
            <a:off x="2834640" y="489204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4F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3017520" y="5001768"/>
            <a:ext cx="1737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Captura: mensaje en WhatsApp</a:t>
            </a:r>
            <a:endParaRPr lang="en-US" sz="1400" dirty="0"/>
          </a:p>
        </p:txBody>
      </p:sp>
      <p:sp>
        <p:nvSpPr>
          <p:cNvPr id="21" name="pendiente-237"/>
          <p:cNvSpPr/>
          <p:nvPr/>
        </p:nvSpPr>
        <p:spPr>
          <a:xfrm>
            <a:off x="5120640" y="4892040"/>
            <a:ext cx="2103120" cy="1280160"/>
          </a:xfrm>
          <a:prstGeom prst="roundRect">
            <a:avLst>
              <a:gd name="adj" fmla="val 7143"/>
            </a:avLst>
          </a:prstGeom>
          <a:solidFill>
            <a:srgbClr val="FFF4F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5303520" y="5001768"/>
            <a:ext cx="1737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Captura: fila en la planilla</a:t>
            </a:r>
            <a:endParaRPr lang="en-US" sz="1400" dirty="0"/>
          </a:p>
        </p:txBody>
      </p:sp>
      <p:sp>
        <p:nvSpPr>
          <p:cNvPr id="23" name="card-238"/>
          <p:cNvSpPr/>
          <p:nvPr/>
        </p:nvSpPr>
        <p:spPr>
          <a:xfrm>
            <a:off x="7589520" y="1463040"/>
            <a:ext cx="4023360" cy="470916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600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del primer mes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205740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por la web / total (meta base: 40 %)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con datos completos (meta: 100 %)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perdidos por semana (hoy ≈ 6)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con error (hoy 10 %)</a:t>
            </a:r>
            <a:endParaRPr lang="en-US" sz="1300" dirty="0"/>
          </a:p>
        </p:txBody>
      </p:sp>
      <p:sp>
        <p:nvSpPr>
          <p:cNvPr id="26" name="pendiente-239"/>
          <p:cNvSpPr/>
          <p:nvPr/>
        </p:nvSpPr>
        <p:spPr>
          <a:xfrm>
            <a:off x="7818120" y="416052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FF4F2"/>
          </a:solidFill>
          <a:ln w="19050">
            <a:solidFill>
              <a:srgbClr val="E83030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8001000" y="4270248"/>
            <a:ext cx="32004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registrados por la web hasta el 13/10 y opinión de 2 o 3 clientes.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CONCLUSIONES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por objetivo</a:t>
            </a:r>
            <a:endParaRPr lang="en-US" sz="3200" dirty="0"/>
          </a:p>
        </p:txBody>
      </p:sp>
      <p:sp>
        <p:nvSpPr>
          <p:cNvPr id="4" name="card-240"/>
          <p:cNvSpPr/>
          <p:nvPr/>
        </p:nvSpPr>
        <p:spPr>
          <a:xfrm>
            <a:off x="548640" y="146304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260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arma su pedido solo y el negocio recibe un recibo completo, uniforme y numerado, sin cambiar de canal: WhatsApp sigue siendo el centro. Se atacan las causas de método e información del Ishikawa.</a:t>
            </a:r>
            <a:endParaRPr lang="en-US" sz="1600" dirty="0"/>
          </a:p>
        </p:txBody>
      </p:sp>
      <p:sp>
        <p:nvSpPr>
          <p:cNvPr id="7" name="card-241"/>
          <p:cNvSpPr/>
          <p:nvPr/>
        </p:nvSpPr>
        <p:spPr>
          <a:xfrm>
            <a:off x="4297680" y="146304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86000"/>
            <a:ext cx="29260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pedido queda registrado en una planilla que el dueño ya sabe usar, y los precios cambian sin tocar código. El negocio pasa a tener datos para decidir (debilidad D5).</a:t>
            </a:r>
            <a:endParaRPr lang="en-US" sz="1600" dirty="0"/>
          </a:p>
        </p:txBody>
      </p:sp>
      <p:sp>
        <p:nvSpPr>
          <p:cNvPr id="10" name="card-242"/>
          <p:cNvSpPr/>
          <p:nvPr/>
        </p:nvSpPr>
        <p:spPr>
          <a:xfrm>
            <a:off x="8046720" y="146304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86000"/>
            <a:ext cx="29260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funciona con $0 de infraestructura, cifrado, a prueba de fallos del servidor y con 44 pruebas. Es económicamente conveniente: recupero en unos 4 meses en el escenario base.</a:t>
            </a:r>
            <a:endParaRPr lang="en-US" sz="1600" dirty="0"/>
          </a:p>
        </p:txBody>
      </p:sp>
      <p:sp>
        <p:nvSpPr>
          <p:cNvPr id="13" name="card-243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2120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general: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solución pequeña, proporcional a un emprendimiento de 3 personas, resuelve el cuello de botella de la atención y es coherente con la estrategia de conservar y mantener (cuadrante V).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TRABAJO PRINCIPAL · RECOMENDACIONES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 por responsable</a:t>
            </a:r>
            <a:endParaRPr lang="en-US" sz="3200" dirty="0"/>
          </a:p>
        </p:txBody>
      </p:sp>
      <p:sp>
        <p:nvSpPr>
          <p:cNvPr id="4" name="card-244"/>
          <p:cNvSpPr/>
          <p:nvPr/>
        </p:nvSpPr>
        <p:spPr>
          <a:xfrm>
            <a:off x="548640" y="1463040"/>
            <a:ext cx="3474720" cy="47091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5" name="icono-fondo-245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-24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84525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Dueño (cocinero)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misión, visión y valores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precios al día en la hoja Catalogo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formalizarse (monotributo) al crecer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la cuenta Google con verificación en dos pasos</a:t>
            </a:r>
            <a:endParaRPr lang="en-US" sz="1600" dirty="0"/>
          </a:p>
        </p:txBody>
      </p:sp>
      <p:sp>
        <p:nvSpPr>
          <p:cNvPr id="9" name="card-247"/>
          <p:cNvSpPr/>
          <p:nvPr/>
        </p:nvSpPr>
        <p:spPr>
          <a:xfrm>
            <a:off x="4297680" y="1463040"/>
            <a:ext cx="3474720" cy="47091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10" name="icono-fondo-248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o-2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Encargado de atención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56032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el estado de cada pedido en la planilla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Anotar los pedidos perdidos durante el primer mes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Difundir el QR e Instagram en cada entrega</a:t>
            </a:r>
            <a:endParaRPr lang="en-US" sz="1600" dirty="0"/>
          </a:p>
        </p:txBody>
      </p:sp>
      <p:sp>
        <p:nvSpPr>
          <p:cNvPr id="14" name="card-250"/>
          <p:cNvSpPr/>
          <p:nvPr/>
        </p:nvSpPr>
        <p:spPr>
          <a:xfrm>
            <a:off x="8046720" y="1463040"/>
            <a:ext cx="3474720" cy="47091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/>
        </p:spPr>
      </p:sp>
      <p:sp>
        <p:nvSpPr>
          <p:cNvPr id="15" name="icono-fondo-251"/>
          <p:cNvSpPr/>
          <p:nvPr/>
        </p:nvSpPr>
        <p:spPr>
          <a:xfrm>
            <a:off x="8321040" y="16916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o-25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18452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Desarrollador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56032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Recalcular la evaluación con los datos del primer mes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Code.gs y las versiones de GitHub Actions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aviso de estado al cliente, panel simple y promociones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26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2B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2336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castromaximo.github.io/DanyPizzas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github.com/CastroMaximo/DanyPizzas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@dany.pizzeria</a:t>
            </a:r>
            <a:endParaRPr lang="en-US" sz="1600" dirty="0"/>
          </a:p>
        </p:txBody>
      </p:sp>
      <p:sp>
        <p:nvSpPr>
          <p:cNvPr id="5" name="qr-fondo"/>
          <p:cNvSpPr/>
          <p:nvPr/>
        </p:nvSpPr>
        <p:spPr>
          <a:xfrm>
            <a:off x="8138160" y="1463040"/>
            <a:ext cx="3291840" cy="3931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</p:sp>
      <p:pic>
        <p:nvPicPr>
          <p:cNvPr id="6" name="qr-cierre" descr="/home/claude/danypizzas/docs/qr-si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73736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38160" y="4617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Pedí desde tu celular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ny Pizzas">
  <a:themeElements>
    <a:clrScheme name="Dany Pizzas">
      <a:dk1>
        <a:srgbClr val="2B2420"/>
      </a:dk1>
      <a:lt1>
        <a:srgbClr val="FFFFFF"/>
      </a:lt1>
      <a:dk2>
        <a:srgbClr val="1F6E5C"/>
      </a:dk2>
      <a:lt2>
        <a:srgbClr val="F7EBDB"/>
      </a:lt2>
      <a:accent1>
        <a:srgbClr val="E83030"/>
      </a:accent1>
      <a:accent2>
        <a:srgbClr val="309880"/>
      </a:accent2>
      <a:accent3>
        <a:srgbClr val="B42323"/>
      </a:accent3>
      <a:accent4>
        <a:srgbClr val="8A7F76"/>
      </a:accent4>
      <a:accent5>
        <a:srgbClr val="F2B63D"/>
      </a:accent5>
      <a:accent6>
        <a:srgbClr val="FBF6F0"/>
      </a:accent6>
      <a:hlink>
        <a:srgbClr val="1F6E5C"/>
      </a:hlink>
      <a:folHlink>
        <a:srgbClr val="8A7F76"/>
      </a:folHlink>
    </a:clrScheme>
    <a:fontScheme name="Dany Pizz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Universidad Nacional de Moquegua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Dany Pizzas Web — Ingeniería de Software</dc:title>
  <dc:subject>PptxGenJS Presentation</dc:subject>
  <dc:creator>Máximo Daniel Castro</dc:creator>
  <cp:lastModifiedBy>Máximo Daniel Castro</cp:lastModifiedBy>
  <cp:revision>1</cp:revision>
  <dcterms:created xsi:type="dcterms:W3CDTF">2026-10-07T14:00:23Z</dcterms:created>
  <dcterms:modified xsi:type="dcterms:W3CDTF">2026-10-07T14:00:23Z</dcterms:modified>
</cp:coreProperties>
</file>