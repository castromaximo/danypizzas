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ce98ef85-d3a2-192c-ad2e-937b166d682f}">
          <p14:sldIdLst>
            <p14:sldId id="256"/>
            <p14:sldId id="257"/>
          </p14:sldIdLst>
        </p14:section>
        <p14:section name="I. Curriculum vitae" id="{67386510-cf01-fc37-4855-f3567a422c75}">
          <p14:sldIdLst>
            <p14:sldId id="258"/>
          </p14:sldIdLst>
        </p14:section>
        <p14:section name="II. Memoria descriptiva" id="{9d30f5c9-130e-6457-fa43-abe9f807edab}">
          <p14:sldIdLst>
            <p14:sldId id="259"/>
            <p14:sldId id="260"/>
            <p14:sldId id="261"/>
          </p14:sldIdLst>
        </p14:section>
        <p14:section name="III. Trabajo principal" id="{fb64ec64-eaab-b2f7-2d1d-bb662dc9a08f}">
          <p14:sldIdLst>
            <p14:sldId id="262"/>
            <p14:sldId id="263"/>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420"/>
                </a:solidFill>
                <a:latin typeface="+mn-lt"/>
              </a:defRPr>
            </a:pPr>
            <a:r>
              <a:rPr sz="1400" b="0" i="0" u="none" strike="noStrike">
                <a:solidFill>
                  <a:srgbClr val="2B2420"/>
                </a:solidFill>
                <a:latin typeface="+mn-lt"/>
              </a:rPr>
              <a:t>Costo por macrofase (horas × $4.890)</a:t>
            </a:r>
          </a:p>
        </c:rich>
      </c:tx>
      <c:layout/>
      <c:overlay val="0"/>
    </c:title>
    <c:autoTitleDeleted val="0"/>
    <c:plotArea>
      <c:layout/>
      <c:barChart>
        <c:barDir val="bar"/>
        <c:grouping val="clustered"/>
        <c:varyColors val="0"/>
        <c:ser>
          <c:idx val="0"/>
          <c:order val="0"/>
          <c:tx>
            <c:strRef>
              <c:f>Sheet1!$B$1</c:f>
              <c:strCache>
                <c:ptCount val="1"/>
                <c:pt idx="0">
                  <c:v>Costo</c:v>
                </c:pt>
              </c:strCache>
            </c:strRef>
          </c:tx>
          <c:spPr>
            <a:solidFill>
              <a:srgbClr val="E83030"/>
            </a:solidFill>
            <a:effectLst/>
          </c:spPr>
          <c:invertIfNegative val="0"/>
          <c:dLbls>
            <c:numFmt formatCode="&quot;$&quot;#,##0" sourceLinked="0"/>
            <c:txPr>
              <a:bodyPr/>
              <a:lstStyle/>
              <a:p>
                <a:pPr>
                  <a:defRPr b="0" i="0" strike="noStrike" sz="1400" u="none">
                    <a:solidFill>
                      <a:srgbClr val="2B2420"/>
                    </a:solidFill>
                    <a:latin typeface="+mn-lt"/>
                  </a:defRPr>
                </a:pPr>
              </a:p>
            </c:txPr>
            <c:showLegendKey val="0"/>
            <c:showVal val="1"/>
            <c:showCatName val="0"/>
            <c:showSerName val="0"/>
            <c:showPercent val="0"/>
            <c:showBubbleSize val="0"/>
            <c:showLeaderLines val="0"/>
          </c:dLbls>
          <c:cat>
            <c:multiLvlStrRef>
              <c:f>Sheet1!$A$2:$A$6</c:f>
              <c:multiLvlStrCache>
                <c:ptCount val="5"/>
                <c:lvl>
                  <c:pt idx="0">
                    <c:v>Análisis</c:v>
                  </c:pt>
                  <c:pt idx="1">
                    <c:v>Diseño</c:v>
                  </c:pt>
                  <c:pt idx="2">
                    <c:v>Desarrollo</c:v>
                  </c:pt>
                  <c:pt idx="3">
                    <c:v>Pruebas</c:v>
                  </c:pt>
                  <c:pt idx="4">
                    <c:v>Despliegue</c:v>
                  </c:pt>
                </c:lvl>
              </c:multiLvlStrCache>
            </c:multiLvlStrRef>
          </c:cat>
          <c:val>
            <c:numRef>
              <c:f>Sheet1!$B$2:$B$6</c:f>
              <c:numCache>
                <c:formatCode>General</c:formatCode>
                <c:ptCount val="5"/>
                <c:pt idx="0">
                  <c:v>39120</c:v>
                </c:pt>
                <c:pt idx="1">
                  <c:v>39120</c:v>
                </c:pt>
                <c:pt idx="2">
                  <c:v>88020</c:v>
                </c:pt>
                <c:pt idx="3">
                  <c:v>39120</c:v>
                </c:pt>
                <c:pt idx="4">
                  <c:v>29340</c:v>
                </c:pt>
              </c:numCache>
            </c:numRef>
          </c:val>
        </c:ser>
        <c:dLbls>
          <c:numFmt formatCode="&quot;$&quot;#,##0" sourceLinked="0"/>
          <c:txPr>
            <a:bodyPr/>
            <a:lstStyle/>
            <a:p>
              <a:pPr>
                <a:defRPr b="0" i="0" strike="noStrike" sz="1400" u="none">
                  <a:solidFill>
                    <a:srgbClr val="2B242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B2420"/>
                </a:solidFill>
                <a:latin typeface="+mn-lt"/>
              </a:defRPr>
            </a:pPr>
            <a:endParaRPr lang="en-US"/>
          </a:p>
        </c:txPr>
        <c:crossAx val="2094734552"/>
        <c:crosses val="autoZero"/>
        <c:auto val="1"/>
        <c:lblAlgn val="ctr"/>
        <c:noMultiLvlLbl val="1"/>
      </c:catAx>
      <c:valAx>
        <c:axId val="2094734552"/>
        <c:scaling>
          <c:orientation val="minMax"/>
          <c:max val="115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0:20 (acumulado 0:20)
Buenos días. Mi nombre es Máximo Castro y les voy a presentar Dany Pizzas Web: un sistema de pedidos que desarrollé para un emprendimiento familiar real, que ya está publicado y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0:20 (acumulado 0:40)
La exposición tiene tres partes: quién soy, cómo es la empresa y el trabajo principal, que va del problema hasta los resultados y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(acumulado 1:10)
Breve: carrera, año y experiencia. Mencionar que este es un proyecto real, no un ejercicio. [Completar con el 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(acumulado 1:50)
Dany Pizzas es un emprendimiento familiar e informal de Chilecito, que empezó en 2024. Trabaja solo con envío, de noche, y vende unos 50 pedidos por semana. Todo entra por WhatsApp. Como no tenían misión ni visión, las redacté con ellos y el dueño las aprobó el 7 de octubre, junto con cuatro valores: calidad casera, precio justo, trato cercano y cumplir con el horario de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(acumulado 2:30)
Son tres personas: el cocinero, que es el dueño; un ayudante; y una persona que atiende al cliente. El reparto es externo. Cocinan en la casa con un horno de 6 moldes. Retengan este dato: un solo celular y una sola persona reciben todos los pedidos.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(acumulado 3:20)
El FODA, validado por el negocio, muestra un producto fuerte y clientes que ya usan WhatsApp, pero pedidos informales y sin registro. Con EFI 2,45 y EFE 2,32 cae en el cuadrante V: conservar y mantener. Es decir, no hace falta cambiar el negocio, sino ordenar cómo vende. Ese es el proyecto. (Detalle de estrategias cruzadas: anexo A1.)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1:10 (acumulado 4:30)
Imaginen un sábado a las diez de la noche. Entran once pedidos. Una sola persona tiene que contestar qué gustos hay, cuánto sale cada uno, pedir la dirección, sumar a mano… [pausa] mientras tanto, otros diez clientes esperan. Algunos se cansan y le piden a otro. [pausa] Según el propio negocio: se pierden unas cuatro horas por semana en el chat, uno de cada diez pedidos sale con error, y se pierde más o menos un pedido por noche. Eso son casi 200 mil pesos de ganancia por mes que se van. Ese es el problema que vine a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(acumulado 5:15)
¿Por qué pasa esto? Agrupé 18 causas en seis categorías. Las más importantes: el pedido se dicta en mensajes sueltos y se suma a mano (método), una sola persona atiende todo (mano de obra) y no hay carta digital ni registro (tecnología). Fíjense que casi todas se pueden atacar con un sistema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(acumulado 6:00)
De esas causas salen los objetivos. El general: que el cliente arme su pedido, que llegue un recibo numerado por WhatsApp y que todo quede registrado. Y tres específicos: ordenar la toma de pedidos, registrar y administrar, y que funcione seguro, confiable y sin costo. Cada uno ataca un grupo de causas, y al final les muestro el resultado de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(acumulado 6:40)
El alcance es deliberadamente chico: lo mínimo que resuelve el problema. El pago en línea o una app quedan para una versión 2. El plan entra en una semana: el lunes 5 y el martes 6 hice el análisis y los cuatro incrementos cortos, con un tablero Kanban y mostrando cada avance a la familia; el sitio se publicó el martes 6. El miércoles validé el análisis con el negocio, y hasta el domingo 11 quedan la evaluación, el pedido real con la medición de uso y el ensayo. Todo termina antes de la exposición del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(acumulado 7:10)
La inversión son 48 horas de desarrollo, valorizadas a 2,5 veces la hora del salario mínimo: 234.720 pesos. El negocio no pone dinero, y el funcionamiento mensual cuesta cero porque uso los niveles gratuitos de GitHub y Google. (Reparto por fase estimado.)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(acumulado 8:00)
¿Conviene económicamente? Valoricé tres beneficios con los datos del negocio. El más grande no es ahorrar minutos sino recuperar pedidos perdidos. En el escenario base el VAN es de 583 mil pesos, la TIR de casi 27 % mensual, cada peso devuelve 2,71 y la inversión se recupera en unos 4 meses. El pesimista da negativo porque supone que todo sale mal al mismo tiempo. ¿Qué tan probable es eso? Para eso hice la simulación. (Supuestos: anexo A2; recupero por escenario: A3.)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(acumulado 8:50)
Simulé diez mil combinaciones de las 17 variables. En el 97,8 % de los casos el VAN es positivo, y la inversión se recupera en una mediana de 4,3 meses. Lo que más pesa es cuántos pedidos perdidos recupera la web: con recuperar uno cada tres o cuatro meses ya conviene. El riesgo real no es técnico, es que los clientes usen la web; por eso lo vamos a medir. (Sensibilidad completa: anexo A4.)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(acumulado 9:35)
La arquitectura es cliente-servidor mínima en capas. El sitio es estático, en GitHub Pages: interfaz, lógica y datos separados. Un backend en Google Apps Script asigna el número de pedido, recalcula el total para que nadie lo manipule y lo guarda en una planilla. El pedido sale por WhatsApp, el canal que el negocio ya usa. Y si Google falla, el pedido sale igual. (Casos de uso y secuencia: anexos A8 y A9.)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0:40 (acumulado 10:15)
Especifiqué 20 requisitos funcionales priorizados con MoSCoW y 15 no funcionales según ISO 25010, cada uno con una métrica. Por ejemplo: que un cliente nuevo pida sin ayuda en menos de dos minutos, o que funcione con costo cero. 18 de los 20 funcionales ya están verificados con pruebas automáticas.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(acumulado 11:00)
Para desarrollarlo usé Git y GitHub con integración continua: cada vez que subo un cambio corren 44 pruebas automáticas, y si una falla no se publica. Así me aseguro de que el total y el recibo nunca salgan mal. Acá ven la carta en el celular y la confirmación con el número de pedido. [Opcional: mostrar el sitio en vivo con el QR del final; si es de día, usar ?ahora=2026-10-13T22:00 para que figure abierto.]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(acumulado 11:50)
Los resultados, objetivo por objetivo, comparando antes y ahora. OE1: la carta dejó de ser una imagen reenviada y el pedido llega siempre completo. OE2: antes no había ningún registro, hoy hay una planilla mensual y los precios se cambian editando una celda. OE3: cuesta cero por mes y pasa 44 pruebas. Y acá tienen la evidencia de un pedido real: [mostrar capturas].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0:45 (acumulado 12:35)
Para cerrar, conecto todo: cada problema tiene su objetivo, lo que hice y el resultado. Los tres objetivos se cumplieron. En resumen: una solución chica, a la medida de un negocio de tres personas, que resuelve su cuello de botella y además conviene económicamente.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0:25 (acumulado 13:00)
Y tres recomendaciones: al dueño, difundir la misión y los valores, y mantener los precios; a quien atiende, anotar los pedidos perdidos durante un mes para medir; y como desarrollador, recalcular la evaluación con esos datos reales y avanzar a una versión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 (acumulado 13:10)
Muchas gracias. Pueden escanear el QR para probarlo. Quedo atento a sus preguntas. [Para responder, abrir DanyPizzas_Anexos.pptx: ver la lista en guion-y-preguntas.md]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rtlCol="0"/>
          <a:lstStyle>
            <a:lvl1pPr indent="0" marL="0">
              <a:buNone/>
              <a:defRPr lang="en-US" sz="1200" b="1" spc="200" kern="0" dirty="0">
                <a:solidFill>
                  <a:schemeClr val="accent1"/>
                </a:solidFill>
                <a:latin typeface="Calibri" pitchFamily="34" charset="0"/>
                <a:ea typeface="Calibri" pitchFamily="34" charset="-122"/>
                <a:cs typeface="Calibri" pitchFamily="34" charset="-120"/>
              </a:defRPr>
            </a:lvl1pP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SECCIÓN</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r>
              <a:rPr lang="en-US" sz="3200" b="1" dirty="0">
                <a:solidFill>
                  <a:schemeClr val="tx1"/>
                </a:solidFill>
                <a:latin typeface="Cambria" pitchFamily="34" charset="0"/>
                <a:ea typeface="Cambria" pitchFamily="34" charset="-122"/>
                <a:cs typeface="Cambria" pitchFamily="34" charset="-120"/>
              </a:rPr>
              <a:t>Título</a:t>
            </a:r>
            <a:endParaRPr lang="en-US" sz="3200" dirty="0"/>
          </a:p>
        </p:txBody>
      </p:sp>
      <p:sp>
        <p:nvSpPr>
          <p:cNvPr id="4" name="Text 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Dany Pizzas Web · Ingeniería de Software · Comisión A</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788920"/>
            <a:ext cx="10515600" cy="10058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Sección</a:t>
            </a:r>
            <a:endParaRPr lang="en-US" sz="4400" dirty="0"/>
          </a:p>
        </p:txBody>
      </p:sp>
      <p:sp>
        <p:nvSpPr>
          <p:cNvPr id="3" name="Text 0"/>
          <p:cNvSpPr/>
          <p:nvPr>
            <p:ph idx="101" type="body" hasCustomPrompt="1"/>
          </p:nvPr>
        </p:nvSpPr>
        <p:spPr>
          <a:xfrm>
            <a:off x="822960" y="3840480"/>
            <a:ext cx="10515600" cy="822960"/>
          </a:xfrm>
          <a:prstGeom prst="rect">
            <a:avLst/>
          </a:prstGeom>
          <a:noFill/>
          <a:ln/>
        </p:spPr>
        <p:txBody>
          <a:bodyPr wrap="square" rtlCol="0"/>
          <a:lstStyle>
            <a:lvl1pPr algn="l" indent="0" marL="0">
              <a:buNone/>
              <a:defRPr lang="en-US" sz="1800" dirty="0">
                <a:solidFill>
                  <a:schemeClr val="bg2"/>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2.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fondo"/>
          <p:cNvSpPr/>
          <p:nvPr/>
        </p:nvSpPr>
        <p:spPr>
          <a:xfrm>
            <a:off x="731520" y="1143000"/>
            <a:ext cx="4023360" cy="4297680"/>
          </a:xfrm>
          <a:prstGeom prst="roundRect">
            <a:avLst>
              <a:gd name="adj" fmla="val 5682"/>
            </a:avLst>
          </a:prstGeom>
          <a:solidFill>
            <a:schemeClr val="bg2"/>
          </a:solidFill>
          <a:ln/>
        </p:spPr>
      </p:sp>
      <p:pic>
        <p:nvPicPr>
          <p:cNvPr id="3" name="logo" descr="/home/claude/danypizzas/site/assets/img/logo.png">    </p:cNvPr>
          <p:cNvPicPr>
            <a:picLocks noChangeAspect="1"/>
          </p:cNvPicPr>
          <p:nvPr/>
        </p:nvPicPr>
        <p:blipFill>
          <a:blip r:embed="rId1"/>
          <a:stretch>
            <a:fillRect/>
          </a:stretch>
        </p:blipFill>
        <p:spPr>
          <a:xfrm>
            <a:off x="960120" y="1325880"/>
            <a:ext cx="3566160" cy="3803904"/>
          </a:xfrm>
          <a:prstGeom prst="rect">
            <a:avLst/>
          </a:prstGeom>
        </p:spPr>
      </p:pic>
      <p:sp>
        <p:nvSpPr>
          <p:cNvPr id="4" name="Text 1"/>
          <p:cNvSpPr txBox="1"/>
          <p:nvPr/>
        </p:nvSpPr>
        <p:spPr>
          <a:xfrm>
            <a:off x="5303520" y="1143000"/>
            <a:ext cx="6400800" cy="320040"/>
          </a:xfrm>
          <a:prstGeom prst="rect">
            <a:avLst/>
          </a:prstGeom>
          <a:noFill/>
          <a:ln/>
        </p:spPr>
        <p:txBody>
          <a:bodyPr wrap="square" lIns="0" tIns="0" rIns="0" bIns="0" rtlCol="0" anchor="t"/>
          <a:lstStyle/>
          <a:p>
            <a:pPr indent="0" marL="0">
              <a:buNone/>
            </a:pPr>
            <a:r>
              <a:rPr lang="en-US" sz="1300" b="1" spc="200" kern="0" dirty="0">
                <a:solidFill>
                  <a:srgbClr val="F2B63D"/>
                </a:solidFill>
                <a:latin typeface="Calibri" pitchFamily="34" charset="0"/>
                <a:ea typeface="Calibri" pitchFamily="34" charset="-122"/>
                <a:cs typeface="Calibri" pitchFamily="34" charset="-120"/>
              </a:rPr>
              <a:t>INGENIERÍA DE SOFTWARE · COMISIÓN A</a:t>
            </a:r>
            <a:endParaRPr lang="en-US" sz="1300" dirty="0"/>
          </a:p>
        </p:txBody>
      </p:sp>
      <p:sp>
        <p:nvSpPr>
          <p:cNvPr id="5" name="Text 2"/>
          <p:cNvSpPr txBox="1"/>
          <p:nvPr/>
        </p:nvSpPr>
        <p:spPr>
          <a:xfrm>
            <a:off x="5303520" y="1508760"/>
            <a:ext cx="6400800" cy="86868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Dany Pizzas Web</a:t>
            </a:r>
            <a:endParaRPr lang="en-US" sz="4800" dirty="0"/>
          </a:p>
        </p:txBody>
      </p:sp>
      <p:sp>
        <p:nvSpPr>
          <p:cNvPr id="6" name="Text 3"/>
          <p:cNvSpPr txBox="1"/>
          <p:nvPr/>
        </p:nvSpPr>
        <p:spPr>
          <a:xfrm>
            <a:off x="5303520" y="2423160"/>
            <a:ext cx="6217920" cy="82296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Sistema web de pedidos por WhatsApp para un emprendimiento familiar de pizzas</a:t>
            </a:r>
            <a:endParaRPr lang="en-US" sz="2000" dirty="0"/>
          </a:p>
        </p:txBody>
      </p:sp>
      <p:sp>
        <p:nvSpPr>
          <p:cNvPr id="7" name="Text 4"/>
          <p:cNvSpPr txBox="1"/>
          <p:nvPr/>
        </p:nvSpPr>
        <p:spPr>
          <a:xfrm>
            <a:off x="5303520" y="3520440"/>
            <a:ext cx="6400800" cy="1097280"/>
          </a:xfrm>
          <a:prstGeom prst="rect">
            <a:avLst/>
          </a:prstGeom>
          <a:noFill/>
          <a:ln/>
        </p:spPr>
        <p:txBody>
          <a:bodyPr wrap="square" lIns="0" tIns="0" rIns="0" bIns="0" rtlCol="0" anchor="t"/>
          <a:lstStyle/>
          <a:p>
            <a:pPr indent="0" marL="0">
              <a:spcAft>
                <a:spcPts val="200"/>
              </a:spcAft>
              <a:buNone/>
            </a:pPr>
            <a:r>
              <a:rPr lang="en-US" sz="1400" b="1" dirty="0">
                <a:solidFill>
                  <a:schemeClr val="bg1"/>
                </a:solidFill>
                <a:latin typeface="Calibri" pitchFamily="34" charset="0"/>
                <a:ea typeface="Calibri" pitchFamily="34" charset="-122"/>
                <a:cs typeface="Calibri" pitchFamily="34" charset="-120"/>
              </a:rPr>
              <a:t>Universidad Nacional de Moquegua</a:t>
            </a:r>
            <a:endParaRPr lang="en-US" sz="1400" dirty="0"/>
          </a:p>
          <a:p>
            <a:pPr indent="0" marL="0">
              <a:spcAft>
                <a:spcPts val="200"/>
              </a:spcAft>
              <a:buNone/>
            </a:pPr>
            <a:r>
              <a:rPr lang="en-US" sz="1400" dirty="0">
                <a:solidFill>
                  <a:schemeClr val="bg1"/>
                </a:solidFill>
                <a:latin typeface="Calibri" pitchFamily="34" charset="0"/>
                <a:ea typeface="Calibri" pitchFamily="34" charset="-122"/>
                <a:cs typeface="Calibri" pitchFamily="34" charset="-120"/>
              </a:rPr>
              <a:t>Facultad de Ingenierías</a:t>
            </a:r>
            <a:endParaRPr lang="en-US" sz="1400" dirty="0"/>
          </a:p>
          <a:p>
            <a:pPr indent="0" marL="0">
              <a:spcAft>
                <a:spcPts val="200"/>
              </a:spcAft>
              <a:buNone/>
            </a:pPr>
            <a:r>
              <a:rPr lang="en-US" sz="1400" dirty="0">
                <a:solidFill>
                  <a:schemeClr val="bg1"/>
                </a:solidFill>
                <a:latin typeface="Calibri" pitchFamily="34" charset="0"/>
                <a:ea typeface="Calibri" pitchFamily="34" charset="-122"/>
                <a:cs typeface="Calibri" pitchFamily="34" charset="-120"/>
              </a:rPr>
              <a:t>Escuela Profesional de Ingeniería de Sistemas e Informática</a:t>
            </a:r>
            <a:endParaRPr lang="en-US" sz="1400" dirty="0"/>
          </a:p>
          <a:p>
            <a:pPr indent="0" marL="0">
              <a:spcAft>
                <a:spcPts val="200"/>
              </a:spcAft>
              <a:buNone/>
            </a:pPr>
            <a:r>
              <a:rPr lang="en-US" sz="1400" dirty="0">
                <a:solidFill>
                  <a:schemeClr val="bg1"/>
                </a:solidFill>
                <a:latin typeface="Calibri" pitchFamily="34" charset="0"/>
                <a:ea typeface="Calibri" pitchFamily="34" charset="-122"/>
                <a:cs typeface="Calibri" pitchFamily="34" charset="-120"/>
              </a:rPr>
              <a:t>Carrera: Ingeniería de Sistemas · Asignatura: Ingeniería de Software</a:t>
            </a:r>
            <a:endParaRPr lang="en-US" sz="1400" dirty="0"/>
          </a:p>
        </p:txBody>
      </p:sp>
      <p:sp>
        <p:nvSpPr>
          <p:cNvPr id="8" name="Text 5"/>
          <p:cNvSpPr txBox="1"/>
          <p:nvPr/>
        </p:nvSpPr>
        <p:spPr>
          <a:xfrm>
            <a:off x="5303520" y="4800600"/>
            <a:ext cx="6400800" cy="914400"/>
          </a:xfrm>
          <a:prstGeom prst="rect">
            <a:avLst/>
          </a:prstGeom>
          <a:noFill/>
          <a:ln/>
        </p:spPr>
        <p:txBody>
          <a:bodyPr wrap="square" lIns="0" tIns="0" rIns="0" bIns="0" rtlCol="0" anchor="t"/>
          <a:lstStyle/>
          <a:p>
            <a:pPr indent="0" marL="0">
              <a:spcAft>
                <a:spcPts val="200"/>
              </a:spcAft>
              <a:buNone/>
            </a:pPr>
            <a:r>
              <a:rPr lang="en-US" sz="1400" b="1" dirty="0">
                <a:solidFill>
                  <a:srgbClr val="F2B63D"/>
                </a:solidFill>
                <a:latin typeface="Calibri" pitchFamily="34" charset="0"/>
                <a:ea typeface="Calibri" pitchFamily="34" charset="-122"/>
                <a:cs typeface="Calibri" pitchFamily="34" charset="-120"/>
              </a:rPr>
              <a:t>Estudiante: </a:t>
            </a:r>
            <a:pPr indent="0" marL="0">
              <a:spcAft>
                <a:spcPts val="200"/>
              </a:spcAft>
              <a:buNone/>
            </a:pPr>
            <a:r>
              <a:rPr lang="en-US" sz="1400" dirty="0">
                <a:solidFill>
                  <a:schemeClr val="bg1"/>
                </a:solidFill>
                <a:latin typeface="Calibri" pitchFamily="34" charset="0"/>
                <a:ea typeface="Calibri" pitchFamily="34" charset="-122"/>
                <a:cs typeface="Calibri" pitchFamily="34" charset="-120"/>
              </a:rPr>
              <a:t>Máximo Daniel Castro</a:t>
            </a:r>
            <a:endParaRPr lang="en-US" sz="1400" dirty="0"/>
          </a:p>
          <a:p>
            <a:pPr indent="0" marL="0">
              <a:spcAft>
                <a:spcPts val="200"/>
              </a:spcAft>
              <a:buNone/>
            </a:pPr>
            <a:r>
              <a:rPr lang="en-US" sz="1400" b="1" dirty="0">
                <a:solidFill>
                  <a:srgbClr val="F2B63D"/>
                </a:solidFill>
                <a:latin typeface="Calibri" pitchFamily="34" charset="0"/>
                <a:ea typeface="Calibri" pitchFamily="34" charset="-122"/>
                <a:cs typeface="Calibri" pitchFamily="34" charset="-120"/>
              </a:rPr>
              <a:t>Docente: </a:t>
            </a:r>
            <a:pPr indent="0" marL="0">
              <a:spcAft>
                <a:spcPts val="200"/>
              </a:spcAft>
              <a:buNone/>
            </a:pPr>
            <a:r>
              <a:rPr lang="en-US" sz="1400" dirty="0">
                <a:solidFill>
                  <a:schemeClr val="bg1"/>
                </a:solidFill>
                <a:latin typeface="Calibri" pitchFamily="34" charset="0"/>
                <a:ea typeface="Calibri" pitchFamily="34" charset="-122"/>
                <a:cs typeface="Calibri" pitchFamily="34" charset="-120"/>
              </a:rPr>
              <a:t>Dr. Alexander Morales Gonzales</a:t>
            </a:r>
            <a:endParaRPr lang="en-US" sz="1400" dirty="0"/>
          </a:p>
          <a:p>
            <a:pPr indent="0" marL="0">
              <a:spcAft>
                <a:spcPts val="200"/>
              </a:spcAft>
              <a:buNone/>
            </a:pPr>
            <a:r>
              <a:rPr lang="en-US" sz="1400" dirty="0">
                <a:solidFill>
                  <a:schemeClr val="bg2"/>
                </a:solidFill>
                <a:latin typeface="Calibri" pitchFamily="34" charset="0"/>
                <a:ea typeface="Calibri" pitchFamily="34" charset="-122"/>
                <a:cs typeface="Calibri" pitchFamily="34" charset="-120"/>
              </a:rPr>
              <a:t>13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INTRODUCCIÓN</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Esquema de la presentación</a:t>
            </a:r>
            <a:endParaRPr lang="en-US" sz="3200" dirty="0"/>
          </a:p>
        </p:txBody>
      </p:sp>
      <p:sp>
        <p:nvSpPr>
          <p:cNvPr id="4" name="card-1"/>
          <p:cNvSpPr/>
          <p:nvPr/>
        </p:nvSpPr>
        <p:spPr>
          <a:xfrm>
            <a:off x="548640" y="1600200"/>
            <a:ext cx="3474720" cy="4206240"/>
          </a:xfrm>
          <a:prstGeom prst="roundRect">
            <a:avLst>
              <a:gd name="adj" fmla="val 3158"/>
            </a:avLst>
          </a:prstGeom>
          <a:solidFill>
            <a:schemeClr val="accent6"/>
          </a:solidFill>
          <a:ln/>
        </p:spPr>
      </p:sp>
      <p:sp>
        <p:nvSpPr>
          <p:cNvPr id="5" name="icono-fondo-2"/>
          <p:cNvSpPr/>
          <p:nvPr/>
        </p:nvSpPr>
        <p:spPr>
          <a:xfrm>
            <a:off x="868680" y="1965960"/>
            <a:ext cx="731520" cy="731520"/>
          </a:xfrm>
          <a:prstGeom prst="ellipse">
            <a:avLst/>
          </a:prstGeom>
          <a:solidFill>
            <a:schemeClr val="accent2"/>
          </a:solidFill>
          <a:ln/>
        </p:spPr>
      </p:sp>
      <p:pic>
        <p:nvPicPr>
          <p:cNvPr id="6" name="icono-3" descr="preencoded.png">    </p:cNvPr>
          <p:cNvPicPr>
            <a:picLocks noChangeAspect="1"/>
          </p:cNvPicPr>
          <p:nvPr/>
        </p:nvPicPr>
        <p:blipFill>
          <a:blip r:embed="rId1"/>
          <a:stretch>
            <a:fillRect/>
          </a:stretch>
        </p:blipFill>
        <p:spPr>
          <a:xfrm>
            <a:off x="1044245" y="2141525"/>
            <a:ext cx="380390" cy="380390"/>
          </a:xfrm>
          <a:prstGeom prst="rect">
            <a:avLst/>
          </a:prstGeom>
        </p:spPr>
      </p:pic>
      <p:sp>
        <p:nvSpPr>
          <p:cNvPr id="7" name="Text 4"/>
          <p:cNvSpPr txBox="1"/>
          <p:nvPr/>
        </p:nvSpPr>
        <p:spPr>
          <a:xfrm>
            <a:off x="2880360" y="1874520"/>
            <a:ext cx="868680" cy="822960"/>
          </a:xfrm>
          <a:prstGeom prst="rect">
            <a:avLst/>
          </a:prstGeom>
          <a:noFill/>
          <a:ln/>
        </p:spPr>
        <p:txBody>
          <a:bodyPr wrap="square" lIns="0" tIns="0" rIns="0" bIns="0" rtlCol="0" anchor="t"/>
          <a:lstStyle/>
          <a:p>
            <a:pPr algn="r" indent="0" marL="0">
              <a:buNone/>
            </a:pPr>
            <a:r>
              <a:rPr lang="en-US" sz="4000" b="1" dirty="0">
                <a:solidFill>
                  <a:schemeClr val="accent2"/>
                </a:solidFill>
                <a:latin typeface="Cambria" pitchFamily="34" charset="0"/>
                <a:ea typeface="Cambria" pitchFamily="34" charset="-122"/>
                <a:cs typeface="Cambria" pitchFamily="34" charset="-120"/>
              </a:rPr>
              <a:t>I</a:t>
            </a:r>
            <a:endParaRPr lang="en-US" sz="4000" dirty="0"/>
          </a:p>
        </p:txBody>
      </p:sp>
      <p:sp>
        <p:nvSpPr>
          <p:cNvPr id="8" name="Text 5"/>
          <p:cNvSpPr txBox="1"/>
          <p:nvPr/>
        </p:nvSpPr>
        <p:spPr>
          <a:xfrm>
            <a:off x="868680" y="2971800"/>
            <a:ext cx="283464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Curriculum vitae</a:t>
            </a:r>
            <a:endParaRPr lang="en-US" sz="2200" dirty="0"/>
          </a:p>
        </p:txBody>
      </p:sp>
      <p:sp>
        <p:nvSpPr>
          <p:cNvPr id="9" name="Text 6"/>
          <p:cNvSpPr txBox="1"/>
          <p:nvPr/>
        </p:nvSpPr>
        <p:spPr>
          <a:xfrm>
            <a:off x="868680" y="3520440"/>
            <a:ext cx="2834640" cy="20116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Quién presenta</a:t>
            </a:r>
            <a:endParaRPr lang="en-US" sz="1600" dirty="0"/>
          </a:p>
        </p:txBody>
      </p:sp>
      <p:sp>
        <p:nvSpPr>
          <p:cNvPr id="10" name="card-4"/>
          <p:cNvSpPr/>
          <p:nvPr/>
        </p:nvSpPr>
        <p:spPr>
          <a:xfrm>
            <a:off x="4297680" y="1600200"/>
            <a:ext cx="3474720" cy="4206240"/>
          </a:xfrm>
          <a:prstGeom prst="roundRect">
            <a:avLst>
              <a:gd name="adj" fmla="val 3158"/>
            </a:avLst>
          </a:prstGeom>
          <a:solidFill>
            <a:schemeClr val="accent6"/>
          </a:solidFill>
          <a:ln/>
        </p:spPr>
      </p:sp>
      <p:sp>
        <p:nvSpPr>
          <p:cNvPr id="11" name="icono-fondo-5"/>
          <p:cNvSpPr/>
          <p:nvPr/>
        </p:nvSpPr>
        <p:spPr>
          <a:xfrm>
            <a:off x="4617720" y="1965960"/>
            <a:ext cx="731520" cy="731520"/>
          </a:xfrm>
          <a:prstGeom prst="ellipse">
            <a:avLst/>
          </a:prstGeom>
          <a:solidFill>
            <a:schemeClr val="accent2"/>
          </a:solidFill>
          <a:ln/>
        </p:spPr>
      </p:sp>
      <p:pic>
        <p:nvPicPr>
          <p:cNvPr id="12" name="icono-6" descr="preencoded.png">    </p:cNvPr>
          <p:cNvPicPr>
            <a:picLocks noChangeAspect="1"/>
          </p:cNvPicPr>
          <p:nvPr/>
        </p:nvPicPr>
        <p:blipFill>
          <a:blip r:embed="rId2"/>
          <a:stretch>
            <a:fillRect/>
          </a:stretch>
        </p:blipFill>
        <p:spPr>
          <a:xfrm>
            <a:off x="4793285" y="2141525"/>
            <a:ext cx="380390" cy="380390"/>
          </a:xfrm>
          <a:prstGeom prst="rect">
            <a:avLst/>
          </a:prstGeom>
        </p:spPr>
      </p:pic>
      <p:sp>
        <p:nvSpPr>
          <p:cNvPr id="13" name="Text 9"/>
          <p:cNvSpPr txBox="1"/>
          <p:nvPr/>
        </p:nvSpPr>
        <p:spPr>
          <a:xfrm>
            <a:off x="6629400" y="1874520"/>
            <a:ext cx="868680" cy="822960"/>
          </a:xfrm>
          <a:prstGeom prst="rect">
            <a:avLst/>
          </a:prstGeom>
          <a:noFill/>
          <a:ln/>
        </p:spPr>
        <p:txBody>
          <a:bodyPr wrap="square" lIns="0" tIns="0" rIns="0" bIns="0" rtlCol="0" anchor="t"/>
          <a:lstStyle/>
          <a:p>
            <a:pPr algn="r" indent="0" marL="0">
              <a:buNone/>
            </a:pPr>
            <a:r>
              <a:rPr lang="en-US" sz="4000" b="1" dirty="0">
                <a:solidFill>
                  <a:schemeClr val="accent2"/>
                </a:solidFill>
                <a:latin typeface="Cambria" pitchFamily="34" charset="0"/>
                <a:ea typeface="Cambria" pitchFamily="34" charset="-122"/>
                <a:cs typeface="Cambria" pitchFamily="34" charset="-120"/>
              </a:rPr>
              <a:t>II</a:t>
            </a:r>
            <a:endParaRPr lang="en-US" sz="4000" dirty="0"/>
          </a:p>
        </p:txBody>
      </p:sp>
      <p:sp>
        <p:nvSpPr>
          <p:cNvPr id="14" name="Text 10"/>
          <p:cNvSpPr txBox="1"/>
          <p:nvPr/>
        </p:nvSpPr>
        <p:spPr>
          <a:xfrm>
            <a:off x="4617720" y="2971800"/>
            <a:ext cx="283464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Memoria descriptiva</a:t>
            </a:r>
            <a:endParaRPr lang="en-US" sz="2200" dirty="0"/>
          </a:p>
        </p:txBody>
      </p:sp>
      <p:sp>
        <p:nvSpPr>
          <p:cNvPr id="15" name="Text 11"/>
          <p:cNvSpPr txBox="1"/>
          <p:nvPr/>
        </p:nvSpPr>
        <p:spPr>
          <a:xfrm>
            <a:off x="4617720" y="3520440"/>
            <a:ext cx="2834640" cy="20116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La empresa, su organización y su diagnóstico estratégico</a:t>
            </a:r>
            <a:endParaRPr lang="en-US" sz="1600" dirty="0"/>
          </a:p>
        </p:txBody>
      </p:sp>
      <p:sp>
        <p:nvSpPr>
          <p:cNvPr id="16" name="card-7"/>
          <p:cNvSpPr/>
          <p:nvPr/>
        </p:nvSpPr>
        <p:spPr>
          <a:xfrm>
            <a:off x="8046720" y="1600200"/>
            <a:ext cx="3474720" cy="4206240"/>
          </a:xfrm>
          <a:prstGeom prst="roundRect">
            <a:avLst>
              <a:gd name="adj" fmla="val 3158"/>
            </a:avLst>
          </a:prstGeom>
          <a:solidFill>
            <a:schemeClr val="accent6"/>
          </a:solidFill>
          <a:ln/>
        </p:spPr>
      </p:sp>
      <p:sp>
        <p:nvSpPr>
          <p:cNvPr id="17" name="icono-fondo-8"/>
          <p:cNvSpPr/>
          <p:nvPr/>
        </p:nvSpPr>
        <p:spPr>
          <a:xfrm>
            <a:off x="8366760" y="1965960"/>
            <a:ext cx="731520" cy="731520"/>
          </a:xfrm>
          <a:prstGeom prst="ellipse">
            <a:avLst/>
          </a:prstGeom>
          <a:solidFill>
            <a:schemeClr val="accent1"/>
          </a:solidFill>
          <a:ln/>
        </p:spPr>
      </p:sp>
      <p:pic>
        <p:nvPicPr>
          <p:cNvPr id="18" name="icono-9" descr="preencoded.png">    </p:cNvPr>
          <p:cNvPicPr>
            <a:picLocks noChangeAspect="1"/>
          </p:cNvPicPr>
          <p:nvPr/>
        </p:nvPicPr>
        <p:blipFill>
          <a:blip r:embed="rId3"/>
          <a:stretch>
            <a:fillRect/>
          </a:stretch>
        </p:blipFill>
        <p:spPr>
          <a:xfrm>
            <a:off x="8542325" y="2141525"/>
            <a:ext cx="380390" cy="380390"/>
          </a:xfrm>
          <a:prstGeom prst="rect">
            <a:avLst/>
          </a:prstGeom>
        </p:spPr>
      </p:pic>
      <p:sp>
        <p:nvSpPr>
          <p:cNvPr id="19" name="Text 14"/>
          <p:cNvSpPr txBox="1"/>
          <p:nvPr/>
        </p:nvSpPr>
        <p:spPr>
          <a:xfrm>
            <a:off x="10378440" y="1874520"/>
            <a:ext cx="868680" cy="822960"/>
          </a:xfrm>
          <a:prstGeom prst="rect">
            <a:avLst/>
          </a:prstGeom>
          <a:noFill/>
          <a:ln/>
        </p:spPr>
        <p:txBody>
          <a:bodyPr wrap="square" lIns="0" tIns="0" rIns="0" bIns="0" rtlCol="0" anchor="t"/>
          <a:lstStyle/>
          <a:p>
            <a:pPr algn="r" indent="0" marL="0">
              <a:buNone/>
            </a:pPr>
            <a:r>
              <a:rPr lang="en-US" sz="4000" b="1" dirty="0">
                <a:solidFill>
                  <a:schemeClr val="accent1"/>
                </a:solidFill>
                <a:latin typeface="Cambria" pitchFamily="34" charset="0"/>
                <a:ea typeface="Cambria" pitchFamily="34" charset="-122"/>
                <a:cs typeface="Cambria" pitchFamily="34" charset="-120"/>
              </a:rPr>
              <a:t>III</a:t>
            </a:r>
            <a:endParaRPr lang="en-US" sz="4000" dirty="0"/>
          </a:p>
        </p:txBody>
      </p:sp>
      <p:sp>
        <p:nvSpPr>
          <p:cNvPr id="20" name="Text 15"/>
          <p:cNvSpPr txBox="1"/>
          <p:nvPr/>
        </p:nvSpPr>
        <p:spPr>
          <a:xfrm>
            <a:off x="8366760" y="2971800"/>
            <a:ext cx="283464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Trabajo principal</a:t>
            </a:r>
            <a:endParaRPr lang="en-US" sz="2200" dirty="0"/>
          </a:p>
        </p:txBody>
      </p:sp>
      <p:sp>
        <p:nvSpPr>
          <p:cNvPr id="21" name="Text 16"/>
          <p:cNvSpPr txBox="1"/>
          <p:nvPr/>
        </p:nvSpPr>
        <p:spPr>
          <a:xfrm>
            <a:off x="8366760" y="3520440"/>
            <a:ext cx="2834640" cy="20116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Problema, objetivos, plan, evaluación económica, diseño, desarrollo, resultados y conclusiones</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 CURRICULUM VITAE</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Máximo Daniel Castro</a:t>
            </a:r>
            <a:endParaRPr lang="en-US" sz="3200" dirty="0"/>
          </a:p>
        </p:txBody>
      </p:sp>
      <p:sp>
        <p:nvSpPr>
          <p:cNvPr id="4" name="foto-cv"/>
          <p:cNvSpPr/>
          <p:nvPr/>
        </p:nvSpPr>
        <p:spPr>
          <a:xfrm>
            <a:off x="731520" y="1645920"/>
            <a:ext cx="2377440" cy="2377440"/>
          </a:xfrm>
          <a:prstGeom prst="ellipse">
            <a:avLst/>
          </a:prstGeom>
          <a:solidFill>
            <a:schemeClr val="bg2"/>
          </a:solidFill>
          <a:ln w="19050">
            <a:solidFill>
              <a:srgbClr val="E83030"/>
            </a:solidFill>
            <a:prstDash val="dash"/>
          </a:ln>
        </p:spPr>
      </p:sp>
      <p:sp>
        <p:nvSpPr>
          <p:cNvPr id="5" name="Text 3"/>
          <p:cNvSpPr txBox="1"/>
          <p:nvPr/>
        </p:nvSpPr>
        <p:spPr>
          <a:xfrm>
            <a:off x="731520" y="2514600"/>
            <a:ext cx="2377440" cy="731520"/>
          </a:xfrm>
          <a:prstGeom prst="rect">
            <a:avLst/>
          </a:prstGeom>
          <a:noFill/>
          <a:ln/>
        </p:spPr>
        <p:txBody>
          <a:bodyPr wrap="square" lIns="0" tIns="0" rIns="0" bIns="0" rtlCol="0" anchor="t"/>
          <a:lstStyle/>
          <a:p>
            <a:pPr algn="ctr" indent="0" marL="0">
              <a:buNone/>
            </a:pPr>
            <a:r>
              <a:rPr lang="en-US" sz="1400" dirty="0">
                <a:solidFill>
                  <a:schemeClr val="accent4"/>
                </a:solidFill>
                <a:latin typeface="Calibri" pitchFamily="34" charset="0"/>
                <a:ea typeface="Calibri" pitchFamily="34" charset="-122"/>
                <a:cs typeface="Calibri" pitchFamily="34" charset="-120"/>
              </a:rPr>
              <a:t>Foto</a:t>
            </a:r>
            <a:endParaRPr lang="en-US" sz="1400" dirty="0"/>
          </a:p>
          <a:p>
            <a:pPr algn="ctr" indent="0" marL="0">
              <a:buNone/>
            </a:pPr>
            <a:r>
              <a:rPr lang="en-US" sz="1400" dirty="0">
                <a:solidFill>
                  <a:schemeClr val="accent4"/>
                </a:solidFill>
                <a:latin typeface="Calibri" pitchFamily="34" charset="0"/>
                <a:ea typeface="Calibri" pitchFamily="34" charset="-122"/>
                <a:cs typeface="Calibri" pitchFamily="34" charset="-120"/>
              </a:rPr>
              <a:t>(opcional)</a:t>
            </a:r>
            <a:endParaRPr lang="en-US" sz="1400" dirty="0"/>
          </a:p>
        </p:txBody>
      </p:sp>
      <p:sp>
        <p:nvSpPr>
          <p:cNvPr id="6" name="Text 4"/>
          <p:cNvSpPr txBox="1"/>
          <p:nvPr/>
        </p:nvSpPr>
        <p:spPr>
          <a:xfrm>
            <a:off x="3566160" y="1645920"/>
            <a:ext cx="7863840" cy="8229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Estudiante de Ingeniería de Sistemas</a:t>
            </a:r>
            <a:endParaRPr lang="en-US" sz="1500" dirty="0"/>
          </a:p>
          <a:p>
            <a:pPr indent="0" marL="0">
              <a:buNone/>
            </a:pPr>
            <a:r>
              <a:rPr lang="en-US" sz="1500" dirty="0">
                <a:solidFill>
                  <a:schemeClr val="accent4"/>
                </a:solidFill>
                <a:latin typeface="Calibri" pitchFamily="34" charset="0"/>
                <a:ea typeface="Calibri" pitchFamily="34" charset="-122"/>
                <a:cs typeface="Calibri" pitchFamily="34" charset="-120"/>
              </a:rPr>
              <a:t>Universidad Nacional de Moquegua · Escuela Profesional de Ingeniería de Sistemas e Informática</a:t>
            </a:r>
            <a:endParaRPr lang="en-US" sz="1500" dirty="0"/>
          </a:p>
        </p:txBody>
      </p:sp>
      <p:sp>
        <p:nvSpPr>
          <p:cNvPr id="7" name="card-10"/>
          <p:cNvSpPr/>
          <p:nvPr/>
        </p:nvSpPr>
        <p:spPr>
          <a:xfrm>
            <a:off x="3566160" y="2606040"/>
            <a:ext cx="3749040" cy="2148840"/>
          </a:xfrm>
          <a:prstGeom prst="roundRect">
            <a:avLst>
              <a:gd name="adj" fmla="val 5106"/>
            </a:avLst>
          </a:prstGeom>
          <a:solidFill>
            <a:schemeClr val="accent6"/>
          </a:solidFill>
          <a:ln/>
        </p:spPr>
      </p:sp>
      <p:sp>
        <p:nvSpPr>
          <p:cNvPr id="8" name="Text 6"/>
          <p:cNvSpPr txBox="1"/>
          <p:nvPr/>
        </p:nvSpPr>
        <p:spPr>
          <a:xfrm>
            <a:off x="3794760" y="2743200"/>
            <a:ext cx="329184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Proyecto destacado</a:t>
            </a:r>
            <a:endParaRPr lang="en-US" sz="1400" dirty="0"/>
          </a:p>
        </p:txBody>
      </p:sp>
      <p:sp>
        <p:nvSpPr>
          <p:cNvPr id="9" name="Text 7"/>
          <p:cNvSpPr txBox="1"/>
          <p:nvPr/>
        </p:nvSpPr>
        <p:spPr>
          <a:xfrm>
            <a:off x="3794760" y="3090672"/>
            <a:ext cx="3291840" cy="1600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Dany Pizzas Web (2026): sistema de pedidos publicado y en uso para un emprendimiento real.</a:t>
            </a:r>
            <a:endParaRPr lang="en-US" sz="1500" dirty="0"/>
          </a:p>
        </p:txBody>
      </p:sp>
      <p:sp>
        <p:nvSpPr>
          <p:cNvPr id="10" name="card-11"/>
          <p:cNvSpPr/>
          <p:nvPr/>
        </p:nvSpPr>
        <p:spPr>
          <a:xfrm>
            <a:off x="7589520" y="2606040"/>
            <a:ext cx="3840480" cy="2148840"/>
          </a:xfrm>
          <a:prstGeom prst="roundRect">
            <a:avLst>
              <a:gd name="adj" fmla="val 5106"/>
            </a:avLst>
          </a:prstGeom>
          <a:solidFill>
            <a:schemeClr val="accent6"/>
          </a:solidFill>
          <a:ln/>
        </p:spPr>
      </p:sp>
      <p:sp>
        <p:nvSpPr>
          <p:cNvPr id="11" name="Text 9"/>
          <p:cNvSpPr txBox="1"/>
          <p:nvPr/>
        </p:nvSpPr>
        <p:spPr>
          <a:xfrm>
            <a:off x="7818120" y="2743200"/>
            <a:ext cx="3474720" cy="32004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Herramientas</a:t>
            </a:r>
            <a:endParaRPr lang="en-US" sz="1400" dirty="0"/>
          </a:p>
        </p:txBody>
      </p:sp>
      <p:sp>
        <p:nvSpPr>
          <p:cNvPr id="12" name="Text 10"/>
          <p:cNvSpPr txBox="1"/>
          <p:nvPr/>
        </p:nvSpPr>
        <p:spPr>
          <a:xfrm>
            <a:off x="7818120" y="3090672"/>
            <a:ext cx="3474720" cy="16002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HTML, CSS y JavaScript</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Git, GitHub y GitHub Actions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Google Apps Script y Sheets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Linux Ubuntu y VS Code</a:t>
            </a:r>
            <a:endParaRPr lang="en-US" sz="1400" dirty="0"/>
          </a:p>
        </p:txBody>
      </p:sp>
      <p:sp>
        <p:nvSpPr>
          <p:cNvPr id="13" name="pendiente-12"/>
          <p:cNvSpPr/>
          <p:nvPr/>
        </p:nvSpPr>
        <p:spPr>
          <a:xfrm>
            <a:off x="731520" y="5029200"/>
            <a:ext cx="10698480" cy="1051560"/>
          </a:xfrm>
          <a:prstGeom prst="roundRect">
            <a:avLst>
              <a:gd name="adj" fmla="val 8696"/>
            </a:avLst>
          </a:prstGeom>
          <a:solidFill>
            <a:srgbClr val="FFF4F2"/>
          </a:solidFill>
          <a:ln w="19050">
            <a:solidFill>
              <a:srgbClr val="E83030"/>
            </a:solidFill>
            <a:prstDash val="dash"/>
          </a:ln>
        </p:spPr>
      </p:sp>
      <p:sp>
        <p:nvSpPr>
          <p:cNvPr id="14" name="Text 12"/>
          <p:cNvSpPr txBox="1"/>
          <p:nvPr/>
        </p:nvSpPr>
        <p:spPr>
          <a:xfrm>
            <a:off x="914400" y="5138928"/>
            <a:ext cx="10332720" cy="832104"/>
          </a:xfrm>
          <a:prstGeom prst="rect">
            <a:avLst/>
          </a:prstGeom>
          <a:noFill/>
          <a:ln/>
        </p:spPr>
        <p:txBody>
          <a:bodyPr wrap="square" lIns="0" tIns="0" rIns="0" bIns="0" rtlCol="0" anchor="ctr"/>
          <a:lstStyle/>
          <a:p>
            <a:pPr indent="0" marL="0">
              <a:buNone/>
            </a:pPr>
            <a:r>
              <a:rPr lang="en-US" sz="1200" b="1" dirty="0">
                <a:solidFill>
                  <a:schemeClr val="accent3"/>
                </a:solidFill>
                <a:latin typeface="Calibri" pitchFamily="34" charset="0"/>
                <a:ea typeface="Calibri" pitchFamily="34" charset="-122"/>
                <a:cs typeface="Calibri" pitchFamily="34" charset="-120"/>
              </a:rPr>
              <a:t>PENDIENTE  </a:t>
            </a:r>
            <a:pPr indent="0" marL="0">
              <a:buNone/>
            </a:pPr>
            <a:r>
              <a:rPr lang="en-US" sz="1400" dirty="0">
                <a:solidFill>
                  <a:schemeClr val="accent3"/>
                </a:solidFill>
                <a:latin typeface="Calibri" pitchFamily="34" charset="0"/>
                <a:ea typeface="Calibri" pitchFamily="34" charset="-122"/>
                <a:cs typeface="Calibri" pitchFamily="34" charset="-120"/>
              </a:rPr>
              <a:t>Completar con tu CV: año que cursás, formación previa, experiencia laboral, cursos o certificaciones, idiomas y datos de contacto.</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 MEMORIA DESCRIPTIVA</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La empresa: Dany Pizzas</a:t>
            </a:r>
            <a:endParaRPr lang="en-US" sz="3200" dirty="0"/>
          </a:p>
        </p:txBody>
      </p:sp>
      <p:pic>
        <p:nvPicPr>
          <p:cNvPr id="4" name="foto-pizza" descr="/home/claude/danypizzas/site/assets/img/napolitana.jpg">    </p:cNvPr>
          <p:cNvPicPr>
            <a:picLocks noChangeAspect="1"/>
          </p:cNvPicPr>
          <p:nvPr/>
        </p:nvPicPr>
        <p:blipFill>
          <a:blip r:embed="rId1"/>
          <a:stretch>
            <a:fillRect/>
          </a:stretch>
        </p:blipFill>
        <p:spPr>
          <a:xfrm>
            <a:off x="548640" y="1463040"/>
            <a:ext cx="4389120" cy="2743200"/>
          </a:xfrm>
          <a:prstGeom prst="rect">
            <a:avLst/>
          </a:prstGeom>
        </p:spPr>
      </p:pic>
      <p:sp>
        <p:nvSpPr>
          <p:cNvPr id="5" name="card-13"/>
          <p:cNvSpPr/>
          <p:nvPr/>
        </p:nvSpPr>
        <p:spPr>
          <a:xfrm>
            <a:off x="548640" y="4389120"/>
            <a:ext cx="1371600" cy="1783080"/>
          </a:xfrm>
          <a:prstGeom prst="roundRect">
            <a:avLst>
              <a:gd name="adj" fmla="val 8000"/>
            </a:avLst>
          </a:prstGeom>
          <a:solidFill>
            <a:schemeClr val="accent6"/>
          </a:solidFill>
          <a:ln/>
        </p:spPr>
      </p:sp>
      <p:sp>
        <p:nvSpPr>
          <p:cNvPr id="6" name="Text 3"/>
          <p:cNvSpPr txBox="1"/>
          <p:nvPr/>
        </p:nvSpPr>
        <p:spPr>
          <a:xfrm>
            <a:off x="640080" y="4572000"/>
            <a:ext cx="1188720" cy="640080"/>
          </a:xfrm>
          <a:prstGeom prst="rect">
            <a:avLst/>
          </a:prstGeom>
          <a:noFill/>
          <a:ln/>
        </p:spPr>
        <p:txBody>
          <a:bodyPr wrap="square" lIns="0" tIns="0" rIns="0" bIns="0" rtlCol="0" anchor="t"/>
          <a:lstStyle/>
          <a:p>
            <a:pPr algn="ctr" indent="0" marL="0">
              <a:buNone/>
            </a:pPr>
            <a:r>
              <a:rPr lang="en-US" sz="2600" b="1" dirty="0">
                <a:solidFill>
                  <a:schemeClr val="accent1"/>
                </a:solidFill>
                <a:latin typeface="Cambria" pitchFamily="34" charset="0"/>
                <a:ea typeface="Cambria" pitchFamily="34" charset="-122"/>
                <a:cs typeface="Cambria" pitchFamily="34" charset="-120"/>
              </a:rPr>
              <a:t>7</a:t>
            </a:r>
            <a:endParaRPr lang="en-US" sz="2600" dirty="0"/>
          </a:p>
        </p:txBody>
      </p:sp>
      <p:sp>
        <p:nvSpPr>
          <p:cNvPr id="7" name="Text 4"/>
          <p:cNvSpPr txBox="1"/>
          <p:nvPr/>
        </p:nvSpPr>
        <p:spPr>
          <a:xfrm>
            <a:off x="640080" y="5257800"/>
            <a:ext cx="1188720" cy="731520"/>
          </a:xfrm>
          <a:prstGeom prst="rect">
            <a:avLst/>
          </a:prstGeom>
          <a:noFill/>
          <a:ln/>
        </p:spPr>
        <p:txBody>
          <a:bodyPr wrap="square" lIns="0" tIns="0" rIns="0" bIns="0" rtlCol="0" anchor="t"/>
          <a:lstStyle/>
          <a:p>
            <a:pPr algn="ctr" indent="0" marL="0">
              <a:buNone/>
            </a:pPr>
            <a:r>
              <a:rPr lang="en-US" sz="1300" dirty="0">
                <a:solidFill>
                  <a:schemeClr val="accent4"/>
                </a:solidFill>
                <a:latin typeface="Calibri" pitchFamily="34" charset="0"/>
                <a:ea typeface="Calibri" pitchFamily="34" charset="-122"/>
                <a:cs typeface="Calibri" pitchFamily="34" charset="-120"/>
              </a:rPr>
              <a:t>variedades</a:t>
            </a:r>
            <a:endParaRPr lang="en-US" sz="1300" dirty="0"/>
          </a:p>
        </p:txBody>
      </p:sp>
      <p:sp>
        <p:nvSpPr>
          <p:cNvPr id="8" name="card-14"/>
          <p:cNvSpPr/>
          <p:nvPr/>
        </p:nvSpPr>
        <p:spPr>
          <a:xfrm>
            <a:off x="2057400" y="4389120"/>
            <a:ext cx="1371600" cy="1783080"/>
          </a:xfrm>
          <a:prstGeom prst="roundRect">
            <a:avLst>
              <a:gd name="adj" fmla="val 8000"/>
            </a:avLst>
          </a:prstGeom>
          <a:solidFill>
            <a:schemeClr val="accent6"/>
          </a:solidFill>
          <a:ln/>
        </p:spPr>
      </p:sp>
      <p:sp>
        <p:nvSpPr>
          <p:cNvPr id="9" name="Text 6"/>
          <p:cNvSpPr txBox="1"/>
          <p:nvPr/>
        </p:nvSpPr>
        <p:spPr>
          <a:xfrm>
            <a:off x="2148840" y="4572000"/>
            <a:ext cx="1188720" cy="640080"/>
          </a:xfrm>
          <a:prstGeom prst="rect">
            <a:avLst/>
          </a:prstGeom>
          <a:noFill/>
          <a:ln/>
        </p:spPr>
        <p:txBody>
          <a:bodyPr wrap="square" lIns="0" tIns="0" rIns="0" bIns="0" rtlCol="0" anchor="t"/>
          <a:lstStyle/>
          <a:p>
            <a:pPr algn="ctr" indent="0" marL="0">
              <a:buNone/>
            </a:pPr>
            <a:r>
              <a:rPr lang="en-US" sz="2600" b="1" dirty="0">
                <a:solidFill>
                  <a:schemeClr val="accent1"/>
                </a:solidFill>
                <a:latin typeface="Cambria" pitchFamily="34" charset="0"/>
                <a:ea typeface="Cambria" pitchFamily="34" charset="-122"/>
                <a:cs typeface="Cambria" pitchFamily="34" charset="-120"/>
              </a:rPr>
              <a:t>≈ 50</a:t>
            </a:r>
            <a:endParaRPr lang="en-US" sz="2600" dirty="0"/>
          </a:p>
        </p:txBody>
      </p:sp>
      <p:sp>
        <p:nvSpPr>
          <p:cNvPr id="10" name="Text 7"/>
          <p:cNvSpPr txBox="1"/>
          <p:nvPr/>
        </p:nvSpPr>
        <p:spPr>
          <a:xfrm>
            <a:off x="2148840" y="5257800"/>
            <a:ext cx="1188720" cy="731520"/>
          </a:xfrm>
          <a:prstGeom prst="rect">
            <a:avLst/>
          </a:prstGeom>
          <a:noFill/>
          <a:ln/>
        </p:spPr>
        <p:txBody>
          <a:bodyPr wrap="square" lIns="0" tIns="0" rIns="0" bIns="0" rtlCol="0" anchor="t"/>
          <a:lstStyle/>
          <a:p>
            <a:pPr algn="ctr" indent="0" marL="0">
              <a:buNone/>
            </a:pPr>
            <a:r>
              <a:rPr lang="en-US" sz="1300" dirty="0">
                <a:solidFill>
                  <a:schemeClr val="accent4"/>
                </a:solidFill>
                <a:latin typeface="Calibri" pitchFamily="34" charset="0"/>
                <a:ea typeface="Calibri" pitchFamily="34" charset="-122"/>
                <a:cs typeface="Calibri" pitchFamily="34" charset="-120"/>
              </a:rPr>
              <a:t>pedidos/semana</a:t>
            </a:r>
            <a:endParaRPr lang="en-US" sz="1300" dirty="0"/>
          </a:p>
        </p:txBody>
      </p:sp>
      <p:sp>
        <p:nvSpPr>
          <p:cNvPr id="11" name="card-15"/>
          <p:cNvSpPr/>
          <p:nvPr/>
        </p:nvSpPr>
        <p:spPr>
          <a:xfrm>
            <a:off x="3566160" y="4389120"/>
            <a:ext cx="1371600" cy="1783080"/>
          </a:xfrm>
          <a:prstGeom prst="roundRect">
            <a:avLst>
              <a:gd name="adj" fmla="val 8000"/>
            </a:avLst>
          </a:prstGeom>
          <a:solidFill>
            <a:schemeClr val="accent6"/>
          </a:solidFill>
          <a:ln/>
        </p:spPr>
      </p:sp>
      <p:sp>
        <p:nvSpPr>
          <p:cNvPr id="12" name="Text 9"/>
          <p:cNvSpPr txBox="1"/>
          <p:nvPr/>
        </p:nvSpPr>
        <p:spPr>
          <a:xfrm>
            <a:off x="3657600" y="4572000"/>
            <a:ext cx="1188720" cy="640080"/>
          </a:xfrm>
          <a:prstGeom prst="rect">
            <a:avLst/>
          </a:prstGeom>
          <a:noFill/>
          <a:ln/>
        </p:spPr>
        <p:txBody>
          <a:bodyPr wrap="square" lIns="0" tIns="0" rIns="0" bIns="0" rtlCol="0" anchor="t"/>
          <a:lstStyle/>
          <a:p>
            <a:pPr algn="ctr" indent="0" marL="0">
              <a:buNone/>
            </a:pPr>
            <a:r>
              <a:rPr lang="en-US" sz="2600" b="1" dirty="0">
                <a:solidFill>
                  <a:schemeClr val="accent1"/>
                </a:solidFill>
                <a:latin typeface="Cambria" pitchFamily="34" charset="0"/>
                <a:ea typeface="Cambria" pitchFamily="34" charset="-122"/>
                <a:cs typeface="Cambria" pitchFamily="34" charset="-120"/>
              </a:rPr>
              <a:t>2024</a:t>
            </a:r>
            <a:endParaRPr lang="en-US" sz="2600" dirty="0"/>
          </a:p>
        </p:txBody>
      </p:sp>
      <p:sp>
        <p:nvSpPr>
          <p:cNvPr id="13" name="Text 10"/>
          <p:cNvSpPr txBox="1"/>
          <p:nvPr/>
        </p:nvSpPr>
        <p:spPr>
          <a:xfrm>
            <a:off x="3657600" y="5257800"/>
            <a:ext cx="1188720" cy="731520"/>
          </a:xfrm>
          <a:prstGeom prst="rect">
            <a:avLst/>
          </a:prstGeom>
          <a:noFill/>
          <a:ln/>
        </p:spPr>
        <p:txBody>
          <a:bodyPr wrap="square" lIns="0" tIns="0" rIns="0" bIns="0" rtlCol="0" anchor="t"/>
          <a:lstStyle/>
          <a:p>
            <a:pPr algn="ctr" indent="0" marL="0">
              <a:buNone/>
            </a:pPr>
            <a:r>
              <a:rPr lang="en-US" sz="1300" dirty="0">
                <a:solidFill>
                  <a:schemeClr val="accent4"/>
                </a:solidFill>
                <a:latin typeface="Calibri" pitchFamily="34" charset="0"/>
                <a:ea typeface="Calibri" pitchFamily="34" charset="-122"/>
                <a:cs typeface="Calibri" pitchFamily="34" charset="-120"/>
              </a:rPr>
              <a:t>año de inicio</a:t>
            </a:r>
            <a:endParaRPr lang="en-US" sz="1300" dirty="0"/>
          </a:p>
        </p:txBody>
      </p:sp>
      <p:sp>
        <p:nvSpPr>
          <p:cNvPr id="14" name="icono-fondo-16"/>
          <p:cNvSpPr/>
          <p:nvPr/>
        </p:nvSpPr>
        <p:spPr>
          <a:xfrm>
            <a:off x="5303520" y="1508760"/>
            <a:ext cx="502920" cy="502920"/>
          </a:xfrm>
          <a:prstGeom prst="ellipse">
            <a:avLst/>
          </a:prstGeom>
          <a:solidFill>
            <a:schemeClr val="accent1"/>
          </a:solidFill>
          <a:ln/>
        </p:spPr>
      </p:sp>
      <p:pic>
        <p:nvPicPr>
          <p:cNvPr id="15" name="icono-17" descr="preencoded.png">    </p:cNvPr>
          <p:cNvPicPr>
            <a:picLocks noChangeAspect="1"/>
          </p:cNvPicPr>
          <p:nvPr/>
        </p:nvPicPr>
        <p:blipFill>
          <a:blip r:embed="rId2"/>
          <a:stretch>
            <a:fillRect/>
          </a:stretch>
        </p:blipFill>
        <p:spPr>
          <a:xfrm>
            <a:off x="5424221" y="1629461"/>
            <a:ext cx="261518" cy="261518"/>
          </a:xfrm>
          <a:prstGeom prst="rect">
            <a:avLst/>
          </a:prstGeom>
        </p:spPr>
      </p:pic>
      <p:sp>
        <p:nvSpPr>
          <p:cNvPr id="16" name="Text 12"/>
          <p:cNvSpPr txBox="1"/>
          <p:nvPr/>
        </p:nvSpPr>
        <p:spPr>
          <a:xfrm>
            <a:off x="5943600" y="1463040"/>
            <a:ext cx="246888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Ubicación</a:t>
            </a:r>
            <a:endParaRPr lang="en-US" sz="1200" dirty="0"/>
          </a:p>
        </p:txBody>
      </p:sp>
      <p:sp>
        <p:nvSpPr>
          <p:cNvPr id="17" name="Text 13"/>
          <p:cNvSpPr txBox="1"/>
          <p:nvPr/>
        </p:nvSpPr>
        <p:spPr>
          <a:xfrm>
            <a:off x="5943600" y="1755648"/>
            <a:ext cx="251460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Chilecito, La Rioja, Argentina</a:t>
            </a:r>
            <a:endParaRPr lang="en-US" sz="1500" dirty="0"/>
          </a:p>
        </p:txBody>
      </p:sp>
      <p:sp>
        <p:nvSpPr>
          <p:cNvPr id="18" name="icono-fondo-18"/>
          <p:cNvSpPr/>
          <p:nvPr/>
        </p:nvSpPr>
        <p:spPr>
          <a:xfrm>
            <a:off x="8503920" y="1508760"/>
            <a:ext cx="502920" cy="502920"/>
          </a:xfrm>
          <a:prstGeom prst="ellipse">
            <a:avLst/>
          </a:prstGeom>
          <a:solidFill>
            <a:schemeClr val="accent2"/>
          </a:solidFill>
          <a:ln/>
        </p:spPr>
      </p:sp>
      <p:pic>
        <p:nvPicPr>
          <p:cNvPr id="19" name="icono-19" descr="preencoded.png">    </p:cNvPr>
          <p:cNvPicPr>
            <a:picLocks noChangeAspect="1"/>
          </p:cNvPicPr>
          <p:nvPr/>
        </p:nvPicPr>
        <p:blipFill>
          <a:blip r:embed="rId3"/>
          <a:stretch>
            <a:fillRect/>
          </a:stretch>
        </p:blipFill>
        <p:spPr>
          <a:xfrm>
            <a:off x="8624621" y="1629461"/>
            <a:ext cx="261518" cy="261518"/>
          </a:xfrm>
          <a:prstGeom prst="rect">
            <a:avLst/>
          </a:prstGeom>
        </p:spPr>
      </p:pic>
      <p:sp>
        <p:nvSpPr>
          <p:cNvPr id="20" name="Text 15"/>
          <p:cNvSpPr txBox="1"/>
          <p:nvPr/>
        </p:nvSpPr>
        <p:spPr>
          <a:xfrm>
            <a:off x="9144000" y="1463040"/>
            <a:ext cx="246888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Modalidad</a:t>
            </a:r>
            <a:endParaRPr lang="en-US" sz="1200" dirty="0"/>
          </a:p>
        </p:txBody>
      </p:sp>
      <p:sp>
        <p:nvSpPr>
          <p:cNvPr id="21" name="Text 16"/>
          <p:cNvSpPr txBox="1"/>
          <p:nvPr/>
        </p:nvSpPr>
        <p:spPr>
          <a:xfrm>
            <a:off x="9144000" y="1755648"/>
            <a:ext cx="251460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Solo envío a domicilio</a:t>
            </a:r>
            <a:endParaRPr lang="en-US" sz="1500" dirty="0"/>
          </a:p>
        </p:txBody>
      </p:sp>
      <p:sp>
        <p:nvSpPr>
          <p:cNvPr id="22" name="icono-fondo-20"/>
          <p:cNvSpPr/>
          <p:nvPr/>
        </p:nvSpPr>
        <p:spPr>
          <a:xfrm>
            <a:off x="5303520" y="2560320"/>
            <a:ext cx="502920" cy="502920"/>
          </a:xfrm>
          <a:prstGeom prst="ellipse">
            <a:avLst/>
          </a:prstGeom>
          <a:solidFill>
            <a:schemeClr val="accent1"/>
          </a:solidFill>
          <a:ln/>
        </p:spPr>
      </p:sp>
      <p:pic>
        <p:nvPicPr>
          <p:cNvPr id="23" name="icono-21" descr="preencoded.png">    </p:cNvPr>
          <p:cNvPicPr>
            <a:picLocks noChangeAspect="1"/>
          </p:cNvPicPr>
          <p:nvPr/>
        </p:nvPicPr>
        <p:blipFill>
          <a:blip r:embed="rId4"/>
          <a:stretch>
            <a:fillRect/>
          </a:stretch>
        </p:blipFill>
        <p:spPr>
          <a:xfrm>
            <a:off x="5424221" y="2681021"/>
            <a:ext cx="261518" cy="261518"/>
          </a:xfrm>
          <a:prstGeom prst="rect">
            <a:avLst/>
          </a:prstGeom>
        </p:spPr>
      </p:pic>
      <p:sp>
        <p:nvSpPr>
          <p:cNvPr id="24" name="Text 18"/>
          <p:cNvSpPr txBox="1"/>
          <p:nvPr/>
        </p:nvSpPr>
        <p:spPr>
          <a:xfrm>
            <a:off x="5943600" y="2514600"/>
            <a:ext cx="246888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Horario</a:t>
            </a:r>
            <a:endParaRPr lang="en-US" sz="1200" dirty="0"/>
          </a:p>
        </p:txBody>
      </p:sp>
      <p:sp>
        <p:nvSpPr>
          <p:cNvPr id="25" name="Text 19"/>
          <p:cNvSpPr txBox="1"/>
          <p:nvPr/>
        </p:nvSpPr>
        <p:spPr>
          <a:xfrm>
            <a:off x="5943600" y="2807208"/>
            <a:ext cx="251460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Mar a dom, 21:00 a 00:30</a:t>
            </a:r>
            <a:endParaRPr lang="en-US" sz="1500" dirty="0"/>
          </a:p>
        </p:txBody>
      </p:sp>
      <p:sp>
        <p:nvSpPr>
          <p:cNvPr id="26" name="icono-fondo-22"/>
          <p:cNvSpPr/>
          <p:nvPr/>
        </p:nvSpPr>
        <p:spPr>
          <a:xfrm>
            <a:off x="8503920" y="2560320"/>
            <a:ext cx="502920" cy="502920"/>
          </a:xfrm>
          <a:prstGeom prst="ellipse">
            <a:avLst/>
          </a:prstGeom>
          <a:solidFill>
            <a:schemeClr val="accent2"/>
          </a:solidFill>
          <a:ln/>
        </p:spPr>
      </p:sp>
      <p:pic>
        <p:nvPicPr>
          <p:cNvPr id="27" name="icono-23" descr="preencoded.png">    </p:cNvPr>
          <p:cNvPicPr>
            <a:picLocks noChangeAspect="1"/>
          </p:cNvPicPr>
          <p:nvPr/>
        </p:nvPicPr>
        <p:blipFill>
          <a:blip r:embed="rId5"/>
          <a:stretch>
            <a:fillRect/>
          </a:stretch>
        </p:blipFill>
        <p:spPr>
          <a:xfrm>
            <a:off x="8624621" y="2681021"/>
            <a:ext cx="261518" cy="261518"/>
          </a:xfrm>
          <a:prstGeom prst="rect">
            <a:avLst/>
          </a:prstGeom>
        </p:spPr>
      </p:pic>
      <p:sp>
        <p:nvSpPr>
          <p:cNvPr id="28" name="Text 21"/>
          <p:cNvSpPr txBox="1"/>
          <p:nvPr/>
        </p:nvSpPr>
        <p:spPr>
          <a:xfrm>
            <a:off x="9144000" y="2514600"/>
            <a:ext cx="2468880" cy="274320"/>
          </a:xfrm>
          <a:prstGeom prst="rect">
            <a:avLst/>
          </a:prstGeom>
          <a:noFill/>
          <a:ln/>
        </p:spPr>
        <p:txBody>
          <a:bodyPr wrap="square" lIns="0" tIns="0" rIns="0" bIns="0" rtlCol="0" anchor="t"/>
          <a:lstStyle/>
          <a:p>
            <a:pPr indent="0" marL="0">
              <a:buNone/>
            </a:pPr>
            <a:r>
              <a:rPr lang="en-US" sz="1200" b="1" dirty="0">
                <a:solidFill>
                  <a:schemeClr val="accent4"/>
                </a:solidFill>
                <a:latin typeface="Calibri" pitchFamily="34" charset="0"/>
                <a:ea typeface="Calibri" pitchFamily="34" charset="-122"/>
                <a:cs typeface="Calibri" pitchFamily="34" charset="-120"/>
              </a:rPr>
              <a:t>Canal de venta</a:t>
            </a:r>
            <a:endParaRPr lang="en-US" sz="1200" dirty="0"/>
          </a:p>
        </p:txBody>
      </p:sp>
      <p:sp>
        <p:nvSpPr>
          <p:cNvPr id="29" name="Text 22"/>
          <p:cNvSpPr txBox="1"/>
          <p:nvPr/>
        </p:nvSpPr>
        <p:spPr>
          <a:xfrm>
            <a:off x="9144000" y="2807208"/>
            <a:ext cx="251460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WhatsApp e Instagram</a:t>
            </a:r>
            <a:endParaRPr lang="en-US" sz="1500" dirty="0"/>
          </a:p>
        </p:txBody>
      </p:sp>
      <p:sp>
        <p:nvSpPr>
          <p:cNvPr id="30" name="card-24"/>
          <p:cNvSpPr/>
          <p:nvPr/>
        </p:nvSpPr>
        <p:spPr>
          <a:xfrm>
            <a:off x="5303520" y="3703320"/>
            <a:ext cx="6309360" cy="2468880"/>
          </a:xfrm>
          <a:prstGeom prst="roundRect">
            <a:avLst>
              <a:gd name="adj" fmla="val 4444"/>
            </a:avLst>
          </a:prstGeom>
          <a:solidFill>
            <a:schemeClr val="bg2"/>
          </a:solidFill>
          <a:ln/>
        </p:spPr>
      </p:sp>
      <p:sp>
        <p:nvSpPr>
          <p:cNvPr id="31" name="etiqueta-25"/>
          <p:cNvSpPr/>
          <p:nvPr/>
        </p:nvSpPr>
        <p:spPr>
          <a:xfrm>
            <a:off x="8686800" y="3840480"/>
            <a:ext cx="2788920" cy="310896"/>
          </a:xfrm>
          <a:prstGeom prst="roundRect">
            <a:avLst>
              <a:gd name="adj" fmla="val 50000"/>
            </a:avLst>
          </a:prstGeom>
          <a:solidFill>
            <a:schemeClr val="tx2"/>
          </a:solidFill>
          <a:ln/>
        </p:spPr>
      </p:sp>
      <p:sp>
        <p:nvSpPr>
          <p:cNvPr id="32" name="Text 25"/>
          <p:cNvSpPr txBox="1"/>
          <p:nvPr/>
        </p:nvSpPr>
        <p:spPr>
          <a:xfrm>
            <a:off x="8686800" y="3840480"/>
            <a:ext cx="278892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APROBADAS POR EL DUEÑO · 07/10</a:t>
            </a:r>
            <a:endParaRPr lang="en-US" sz="1100" dirty="0"/>
          </a:p>
        </p:txBody>
      </p:sp>
      <p:sp>
        <p:nvSpPr>
          <p:cNvPr id="33" name="Text 26"/>
          <p:cNvSpPr txBox="1"/>
          <p:nvPr/>
        </p:nvSpPr>
        <p:spPr>
          <a:xfrm>
            <a:off x="5577840" y="4206240"/>
            <a:ext cx="5806440" cy="1920240"/>
          </a:xfrm>
          <a:prstGeom prst="rect">
            <a:avLst/>
          </a:prstGeom>
          <a:noFill/>
          <a:ln/>
        </p:spPr>
        <p:txBody>
          <a:bodyPr wrap="square" lIns="0" tIns="0" rIns="0" bIns="0" rtlCol="0" anchor="t"/>
          <a:lstStyle/>
          <a:p>
            <a:pPr indent="0" marL="0">
              <a:buNone/>
            </a:pPr>
            <a:r>
              <a:rPr lang="en-US" sz="1500" b="1" dirty="0">
                <a:solidFill>
                  <a:schemeClr val="accent3"/>
                </a:solidFill>
                <a:latin typeface="Calibri" pitchFamily="34" charset="0"/>
                <a:ea typeface="Calibri" pitchFamily="34" charset="-122"/>
                <a:cs typeface="Calibri" pitchFamily="34" charset="-120"/>
              </a:rPr>
              <a:t>Misión. </a:t>
            </a:r>
            <a:pPr indent="0" marL="0">
              <a:buNone/>
            </a:pPr>
            <a:r>
              <a:rPr lang="en-US" sz="1500" dirty="0">
                <a:solidFill>
                  <a:schemeClr val="tx1"/>
                </a:solidFill>
                <a:latin typeface="Calibri" pitchFamily="34" charset="0"/>
                <a:ea typeface="Calibri" pitchFamily="34" charset="-122"/>
                <a:cs typeface="Calibri" pitchFamily="34" charset="-120"/>
              </a:rPr>
              <a:t>Llevar a las casas de Chilecito pizzas caseras y a buen precio, con un pedido simple y una atención cercana.</a:t>
            </a:r>
            <a:endParaRPr lang="en-US" sz="15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chemeClr val="tx2"/>
                </a:solidFill>
                <a:latin typeface="Calibri" pitchFamily="34" charset="0"/>
                <a:ea typeface="Calibri" pitchFamily="34" charset="-122"/>
                <a:cs typeface="Calibri" pitchFamily="34" charset="-120"/>
              </a:rPr>
              <a:t>Visión. </a:t>
            </a:r>
            <a:pPr indent="0" marL="0">
              <a:buNone/>
            </a:pPr>
            <a:r>
              <a:rPr lang="en-US" sz="1500" dirty="0">
                <a:solidFill>
                  <a:schemeClr val="tx1"/>
                </a:solidFill>
                <a:latin typeface="Calibri" pitchFamily="34" charset="0"/>
                <a:ea typeface="Calibri" pitchFamily="34" charset="-122"/>
                <a:cs typeface="Calibri" pitchFamily="34" charset="-120"/>
              </a:rPr>
              <a:t>Ser para 2028 la pizzería de envío de referencia en Chilecito, creciendo de forma ordenada y formalizándose.</a:t>
            </a:r>
            <a:endParaRPr lang="en-US" sz="1500" dirty="0"/>
          </a:p>
          <a:p>
            <a:pPr indent="0" marL="0">
              <a:buNone/>
            </a:pPr>
            <a:r>
              <a:rPr lang="en-US" sz="600" dirty="0">
                <a:solidFill>
                  <a:schemeClr val="tx1"/>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chemeClr val="tx1"/>
                </a:solidFill>
                <a:latin typeface="Calibri" pitchFamily="34" charset="0"/>
                <a:ea typeface="Calibri" pitchFamily="34" charset="-122"/>
                <a:cs typeface="Calibri" pitchFamily="34" charset="-120"/>
              </a:rPr>
              <a:t>Valores. </a:t>
            </a:r>
            <a:pPr indent="0" marL="0">
              <a:buNone/>
            </a:pPr>
            <a:r>
              <a:rPr lang="en-US" sz="1500" dirty="0">
                <a:solidFill>
                  <a:schemeClr val="tx1"/>
                </a:solidFill>
                <a:latin typeface="Calibri" pitchFamily="34" charset="0"/>
                <a:ea typeface="Calibri" pitchFamily="34" charset="-122"/>
                <a:cs typeface="Calibri" pitchFamily="34" charset="-120"/>
              </a:rPr>
              <a:t>Calidad casera · Precio justo · Trato cercano · Cumplimiento del horario.</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 MEMORIA DESCRIPTIVA</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Organización e infraestructura</a:t>
            </a:r>
            <a:endParaRPr lang="en-US" sz="3200" dirty="0"/>
          </a:p>
        </p:txBody>
      </p:sp>
      <p:sp>
        <p:nvSpPr>
          <p:cNvPr id="4" name="linea-26"/>
          <p:cNvSpPr/>
          <p:nvPr/>
        </p:nvSpPr>
        <p:spPr>
          <a:xfrm>
            <a:off x="3657600" y="2606040"/>
            <a:ext cx="0" cy="365760"/>
          </a:xfrm>
          <a:prstGeom prst="line">
            <a:avLst/>
          </a:prstGeom>
          <a:noFill/>
          <a:ln w="19050">
            <a:solidFill>
              <a:srgbClr val="8A7F76"/>
            </a:solidFill>
            <a:prstDash val="solid"/>
          </a:ln>
        </p:spPr>
      </p:sp>
      <p:sp>
        <p:nvSpPr>
          <p:cNvPr id="5" name="linea-27"/>
          <p:cNvSpPr/>
          <p:nvPr/>
        </p:nvSpPr>
        <p:spPr>
          <a:xfrm>
            <a:off x="1783080" y="2971800"/>
            <a:ext cx="3749040" cy="0"/>
          </a:xfrm>
          <a:prstGeom prst="line">
            <a:avLst/>
          </a:prstGeom>
          <a:noFill/>
          <a:ln w="19050">
            <a:solidFill>
              <a:srgbClr val="8A7F76"/>
            </a:solidFill>
            <a:prstDash val="solid"/>
          </a:ln>
        </p:spPr>
      </p:sp>
      <p:sp>
        <p:nvSpPr>
          <p:cNvPr id="6" name="linea-28"/>
          <p:cNvSpPr/>
          <p:nvPr/>
        </p:nvSpPr>
        <p:spPr>
          <a:xfrm>
            <a:off x="1783080" y="2971800"/>
            <a:ext cx="0" cy="320040"/>
          </a:xfrm>
          <a:prstGeom prst="line">
            <a:avLst/>
          </a:prstGeom>
          <a:noFill/>
          <a:ln w="19050">
            <a:solidFill>
              <a:srgbClr val="8A7F76"/>
            </a:solidFill>
            <a:prstDash val="solid"/>
          </a:ln>
        </p:spPr>
      </p:sp>
      <p:sp>
        <p:nvSpPr>
          <p:cNvPr id="7" name="linea-29"/>
          <p:cNvSpPr/>
          <p:nvPr/>
        </p:nvSpPr>
        <p:spPr>
          <a:xfrm>
            <a:off x="5532120" y="2971800"/>
            <a:ext cx="0" cy="320040"/>
          </a:xfrm>
          <a:prstGeom prst="line">
            <a:avLst/>
          </a:prstGeom>
          <a:noFill/>
          <a:ln w="19050">
            <a:solidFill>
              <a:srgbClr val="8A7F76"/>
            </a:solidFill>
            <a:prstDash val="solid"/>
          </a:ln>
        </p:spPr>
      </p:sp>
      <p:sp>
        <p:nvSpPr>
          <p:cNvPr id="8" name="linea-30"/>
          <p:cNvSpPr/>
          <p:nvPr/>
        </p:nvSpPr>
        <p:spPr>
          <a:xfrm>
            <a:off x="5532120" y="4572000"/>
            <a:ext cx="0" cy="411480"/>
          </a:xfrm>
          <a:prstGeom prst="line">
            <a:avLst/>
          </a:prstGeom>
          <a:noFill/>
          <a:ln w="19050">
            <a:solidFill>
              <a:srgbClr val="8A7F76"/>
            </a:solidFill>
            <a:prstDash val="solid"/>
          </a:ln>
        </p:spPr>
      </p:sp>
      <p:sp>
        <p:nvSpPr>
          <p:cNvPr id="9" name="org-31"/>
          <p:cNvSpPr/>
          <p:nvPr/>
        </p:nvSpPr>
        <p:spPr>
          <a:xfrm>
            <a:off x="2103120" y="1508760"/>
            <a:ext cx="3108960" cy="1097280"/>
          </a:xfrm>
          <a:prstGeom prst="roundRect">
            <a:avLst>
              <a:gd name="adj" fmla="val 10000"/>
            </a:avLst>
          </a:prstGeom>
          <a:solidFill>
            <a:schemeClr val="accent1"/>
          </a:solidFill>
          <a:ln/>
        </p:spPr>
      </p:sp>
      <p:sp>
        <p:nvSpPr>
          <p:cNvPr id="10" name="Text 8"/>
          <p:cNvSpPr txBox="1"/>
          <p:nvPr/>
        </p:nvSpPr>
        <p:spPr>
          <a:xfrm>
            <a:off x="2286000" y="1645920"/>
            <a:ext cx="274320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Cocinero (dueño)</a:t>
            </a:r>
            <a:endParaRPr lang="en-US" sz="1600" dirty="0"/>
          </a:p>
        </p:txBody>
      </p:sp>
      <p:sp>
        <p:nvSpPr>
          <p:cNvPr id="11" name="Text 9"/>
          <p:cNvSpPr txBox="1"/>
          <p:nvPr/>
        </p:nvSpPr>
        <p:spPr>
          <a:xfrm>
            <a:off x="2286000" y="2057400"/>
            <a:ext cx="2743200" cy="45720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Elabora y fija carta y precios</a:t>
            </a:r>
            <a:endParaRPr lang="en-US" sz="1400" dirty="0"/>
          </a:p>
        </p:txBody>
      </p:sp>
      <p:sp>
        <p:nvSpPr>
          <p:cNvPr id="12" name="org-32"/>
          <p:cNvSpPr/>
          <p:nvPr/>
        </p:nvSpPr>
        <p:spPr>
          <a:xfrm>
            <a:off x="548640" y="3291840"/>
            <a:ext cx="2468880" cy="1280160"/>
          </a:xfrm>
          <a:prstGeom prst="roundRect">
            <a:avLst>
              <a:gd name="adj" fmla="val 8571"/>
            </a:avLst>
          </a:prstGeom>
          <a:solidFill>
            <a:schemeClr val="accent2"/>
          </a:solidFill>
          <a:ln/>
        </p:spPr>
      </p:sp>
      <p:sp>
        <p:nvSpPr>
          <p:cNvPr id="13" name="Text 11"/>
          <p:cNvSpPr txBox="1"/>
          <p:nvPr/>
        </p:nvSpPr>
        <p:spPr>
          <a:xfrm>
            <a:off x="731520" y="3429000"/>
            <a:ext cx="210312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Ayudante</a:t>
            </a:r>
            <a:endParaRPr lang="en-US" sz="1600" dirty="0"/>
          </a:p>
        </p:txBody>
      </p:sp>
      <p:sp>
        <p:nvSpPr>
          <p:cNvPr id="14" name="Text 12"/>
          <p:cNvSpPr txBox="1"/>
          <p:nvPr/>
        </p:nvSpPr>
        <p:spPr>
          <a:xfrm>
            <a:off x="731520" y="3840480"/>
            <a:ext cx="2103120" cy="64008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Masas, horneado y empaque</a:t>
            </a:r>
            <a:endParaRPr lang="en-US" sz="1400" dirty="0"/>
          </a:p>
        </p:txBody>
      </p:sp>
      <p:sp>
        <p:nvSpPr>
          <p:cNvPr id="15" name="org-33"/>
          <p:cNvSpPr/>
          <p:nvPr/>
        </p:nvSpPr>
        <p:spPr>
          <a:xfrm>
            <a:off x="4114800" y="3291840"/>
            <a:ext cx="2834640" cy="1280160"/>
          </a:xfrm>
          <a:prstGeom prst="roundRect">
            <a:avLst>
              <a:gd name="adj" fmla="val 8571"/>
            </a:avLst>
          </a:prstGeom>
          <a:solidFill>
            <a:schemeClr val="accent2"/>
          </a:solidFill>
          <a:ln/>
        </p:spPr>
      </p:sp>
      <p:sp>
        <p:nvSpPr>
          <p:cNvPr id="16" name="Text 14"/>
          <p:cNvSpPr txBox="1"/>
          <p:nvPr/>
        </p:nvSpPr>
        <p:spPr>
          <a:xfrm>
            <a:off x="4297680" y="3429000"/>
            <a:ext cx="246888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Atención al cliente</a:t>
            </a:r>
            <a:endParaRPr lang="en-US" sz="1600" dirty="0"/>
          </a:p>
        </p:txBody>
      </p:sp>
      <p:sp>
        <p:nvSpPr>
          <p:cNvPr id="17" name="Text 15"/>
          <p:cNvSpPr txBox="1"/>
          <p:nvPr/>
        </p:nvSpPr>
        <p:spPr>
          <a:xfrm>
            <a:off x="4297680" y="3840480"/>
            <a:ext cx="2468880" cy="64008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Atiende WhatsApp, cobra y coordina</a:t>
            </a:r>
            <a:endParaRPr lang="en-US" sz="1400" dirty="0"/>
          </a:p>
        </p:txBody>
      </p:sp>
      <p:sp>
        <p:nvSpPr>
          <p:cNvPr id="18" name="org-34"/>
          <p:cNvSpPr/>
          <p:nvPr/>
        </p:nvSpPr>
        <p:spPr>
          <a:xfrm>
            <a:off x="4114800" y="4983480"/>
            <a:ext cx="2834640" cy="1188720"/>
          </a:xfrm>
          <a:prstGeom prst="roundRect">
            <a:avLst>
              <a:gd name="adj" fmla="val 9231"/>
            </a:avLst>
          </a:prstGeom>
          <a:solidFill>
            <a:schemeClr val="accent6"/>
          </a:solidFill>
          <a:ln w="15875">
            <a:solidFill>
              <a:srgbClr val="8A7F76"/>
            </a:solidFill>
            <a:prstDash val="dash"/>
          </a:ln>
        </p:spPr>
      </p:sp>
      <p:sp>
        <p:nvSpPr>
          <p:cNvPr id="19" name="Text 17"/>
          <p:cNvSpPr txBox="1"/>
          <p:nvPr/>
        </p:nvSpPr>
        <p:spPr>
          <a:xfrm>
            <a:off x="4297680" y="5120640"/>
            <a:ext cx="246888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Repartidor (externo)</a:t>
            </a:r>
            <a:endParaRPr lang="en-US" sz="1600" dirty="0"/>
          </a:p>
        </p:txBody>
      </p:sp>
      <p:sp>
        <p:nvSpPr>
          <p:cNvPr id="20" name="Text 18"/>
          <p:cNvSpPr txBox="1"/>
          <p:nvPr/>
        </p:nvSpPr>
        <p:spPr>
          <a:xfrm>
            <a:off x="4297680" y="5532120"/>
            <a:ext cx="246888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Cobra el envío al cliente</a:t>
            </a:r>
            <a:endParaRPr lang="en-US" sz="1400" dirty="0"/>
          </a:p>
        </p:txBody>
      </p:sp>
      <p:sp>
        <p:nvSpPr>
          <p:cNvPr id="21" name="card-35"/>
          <p:cNvSpPr/>
          <p:nvPr/>
        </p:nvSpPr>
        <p:spPr>
          <a:xfrm>
            <a:off x="7406640" y="1508760"/>
            <a:ext cx="4206240" cy="4663440"/>
          </a:xfrm>
          <a:prstGeom prst="roundRect">
            <a:avLst>
              <a:gd name="adj" fmla="val 2609"/>
            </a:avLst>
          </a:prstGeom>
          <a:solidFill>
            <a:schemeClr val="accent6"/>
          </a:solidFill>
          <a:ln/>
        </p:spPr>
      </p:sp>
      <p:sp>
        <p:nvSpPr>
          <p:cNvPr id="22" name="Text 20"/>
          <p:cNvSpPr txBox="1"/>
          <p:nvPr/>
        </p:nvSpPr>
        <p:spPr>
          <a:xfrm>
            <a:off x="7680960" y="1691640"/>
            <a:ext cx="365760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Infraestructura</a:t>
            </a:r>
            <a:endParaRPr lang="en-US" sz="2000" dirty="0"/>
          </a:p>
        </p:txBody>
      </p:sp>
      <p:sp>
        <p:nvSpPr>
          <p:cNvPr id="23" name="icono-fondo-36"/>
          <p:cNvSpPr/>
          <p:nvPr/>
        </p:nvSpPr>
        <p:spPr>
          <a:xfrm>
            <a:off x="7680960" y="2286000"/>
            <a:ext cx="502920" cy="502920"/>
          </a:xfrm>
          <a:prstGeom prst="ellipse">
            <a:avLst/>
          </a:prstGeom>
          <a:solidFill>
            <a:schemeClr val="accent2"/>
          </a:solidFill>
          <a:ln/>
        </p:spPr>
      </p:sp>
      <p:pic>
        <p:nvPicPr>
          <p:cNvPr id="24" name="icono-37" descr="preencoded.png">    </p:cNvPr>
          <p:cNvPicPr>
            <a:picLocks noChangeAspect="1"/>
          </p:cNvPicPr>
          <p:nvPr/>
        </p:nvPicPr>
        <p:blipFill>
          <a:blip r:embed="rId1"/>
          <a:stretch>
            <a:fillRect/>
          </a:stretch>
        </p:blipFill>
        <p:spPr>
          <a:xfrm>
            <a:off x="7801661" y="2406701"/>
            <a:ext cx="261518" cy="261518"/>
          </a:xfrm>
          <a:prstGeom prst="rect">
            <a:avLst/>
          </a:prstGeom>
        </p:spPr>
      </p:pic>
      <p:sp>
        <p:nvSpPr>
          <p:cNvPr id="25" name="Text 22"/>
          <p:cNvSpPr txBox="1"/>
          <p:nvPr/>
        </p:nvSpPr>
        <p:spPr>
          <a:xfrm>
            <a:off x="8366760" y="2240280"/>
            <a:ext cx="3063240" cy="6858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Cocina de la vivienda familiar</a:t>
            </a:r>
            <a:endParaRPr lang="en-US" sz="1500" dirty="0"/>
          </a:p>
        </p:txBody>
      </p:sp>
      <p:sp>
        <p:nvSpPr>
          <p:cNvPr id="26" name="icono-fondo-38"/>
          <p:cNvSpPr/>
          <p:nvPr/>
        </p:nvSpPr>
        <p:spPr>
          <a:xfrm>
            <a:off x="7680960" y="3227832"/>
            <a:ext cx="502920" cy="502920"/>
          </a:xfrm>
          <a:prstGeom prst="ellipse">
            <a:avLst/>
          </a:prstGeom>
          <a:solidFill>
            <a:schemeClr val="accent2"/>
          </a:solidFill>
          <a:ln/>
        </p:spPr>
      </p:sp>
      <p:pic>
        <p:nvPicPr>
          <p:cNvPr id="27" name="icono-39" descr="preencoded.png">    </p:cNvPr>
          <p:cNvPicPr>
            <a:picLocks noChangeAspect="1"/>
          </p:cNvPicPr>
          <p:nvPr/>
        </p:nvPicPr>
        <p:blipFill>
          <a:blip r:embed="rId2"/>
          <a:stretch>
            <a:fillRect/>
          </a:stretch>
        </p:blipFill>
        <p:spPr>
          <a:xfrm>
            <a:off x="7801661" y="3348533"/>
            <a:ext cx="261518" cy="261518"/>
          </a:xfrm>
          <a:prstGeom prst="rect">
            <a:avLst/>
          </a:prstGeom>
        </p:spPr>
      </p:pic>
      <p:sp>
        <p:nvSpPr>
          <p:cNvPr id="28" name="Text 24"/>
          <p:cNvSpPr txBox="1"/>
          <p:nvPr/>
        </p:nvSpPr>
        <p:spPr>
          <a:xfrm>
            <a:off x="8366760" y="3182112"/>
            <a:ext cx="3063240" cy="6858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Horno pizzero de 6 moldes: una noche fuerte son 4 tandas</a:t>
            </a:r>
            <a:endParaRPr lang="en-US" sz="1500" dirty="0"/>
          </a:p>
        </p:txBody>
      </p:sp>
      <p:sp>
        <p:nvSpPr>
          <p:cNvPr id="29" name="icono-fondo-40"/>
          <p:cNvSpPr/>
          <p:nvPr/>
        </p:nvSpPr>
        <p:spPr>
          <a:xfrm>
            <a:off x="7680960" y="4169664"/>
            <a:ext cx="502920" cy="502920"/>
          </a:xfrm>
          <a:prstGeom prst="ellipse">
            <a:avLst/>
          </a:prstGeom>
          <a:solidFill>
            <a:schemeClr val="accent1"/>
          </a:solidFill>
          <a:ln/>
        </p:spPr>
      </p:sp>
      <p:pic>
        <p:nvPicPr>
          <p:cNvPr id="30" name="icono-41" descr="preencoded.png">    </p:cNvPr>
          <p:cNvPicPr>
            <a:picLocks noChangeAspect="1"/>
          </p:cNvPicPr>
          <p:nvPr/>
        </p:nvPicPr>
        <p:blipFill>
          <a:blip r:embed="rId3"/>
          <a:stretch>
            <a:fillRect/>
          </a:stretch>
        </p:blipFill>
        <p:spPr>
          <a:xfrm>
            <a:off x="7801661" y="4290365"/>
            <a:ext cx="261518" cy="261518"/>
          </a:xfrm>
          <a:prstGeom prst="rect">
            <a:avLst/>
          </a:prstGeom>
        </p:spPr>
      </p:pic>
      <p:sp>
        <p:nvSpPr>
          <p:cNvPr id="31" name="Text 26"/>
          <p:cNvSpPr txBox="1"/>
          <p:nvPr/>
        </p:nvSpPr>
        <p:spPr>
          <a:xfrm>
            <a:off x="8366760" y="4123944"/>
            <a:ext cx="3063240" cy="6858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Un solo celular recibe todos los pedidos</a:t>
            </a:r>
            <a:endParaRPr lang="en-US" sz="1500" dirty="0"/>
          </a:p>
        </p:txBody>
      </p:sp>
      <p:sp>
        <p:nvSpPr>
          <p:cNvPr id="32" name="icono-fondo-42"/>
          <p:cNvSpPr/>
          <p:nvPr/>
        </p:nvSpPr>
        <p:spPr>
          <a:xfrm>
            <a:off x="7680960" y="5111496"/>
            <a:ext cx="502920" cy="502920"/>
          </a:xfrm>
          <a:prstGeom prst="ellipse">
            <a:avLst/>
          </a:prstGeom>
          <a:solidFill>
            <a:schemeClr val="accent2"/>
          </a:solidFill>
          <a:ln/>
        </p:spPr>
      </p:sp>
      <p:pic>
        <p:nvPicPr>
          <p:cNvPr id="33" name="icono-43" descr="preencoded.png">    </p:cNvPr>
          <p:cNvPicPr>
            <a:picLocks noChangeAspect="1"/>
          </p:cNvPicPr>
          <p:nvPr/>
        </p:nvPicPr>
        <p:blipFill>
          <a:blip r:embed="rId4"/>
          <a:stretch>
            <a:fillRect/>
          </a:stretch>
        </p:blipFill>
        <p:spPr>
          <a:xfrm>
            <a:off x="7801661" y="5232197"/>
            <a:ext cx="261518" cy="261518"/>
          </a:xfrm>
          <a:prstGeom prst="rect">
            <a:avLst/>
          </a:prstGeom>
        </p:spPr>
      </p:pic>
      <p:sp>
        <p:nvSpPr>
          <p:cNvPr id="34" name="Text 28"/>
          <p:cNvSpPr txBox="1"/>
          <p:nvPr/>
        </p:nvSpPr>
        <p:spPr>
          <a:xfrm>
            <a:off x="8366760" y="5065776"/>
            <a:ext cx="3063240" cy="6858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Tecnología nueva: $0 (servicios gratuitos)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 MEMORIA DESCRIPTIVA</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FODA y posición estratégica</a:t>
            </a:r>
            <a:endParaRPr lang="en-US" sz="3200" dirty="0"/>
          </a:p>
        </p:txBody>
      </p:sp>
      <p:sp>
        <p:nvSpPr>
          <p:cNvPr id="4" name="card-44"/>
          <p:cNvSpPr/>
          <p:nvPr/>
        </p:nvSpPr>
        <p:spPr>
          <a:xfrm>
            <a:off x="548640" y="1463040"/>
            <a:ext cx="3520440" cy="2240280"/>
          </a:xfrm>
          <a:prstGeom prst="roundRect">
            <a:avLst>
              <a:gd name="adj" fmla="val 4898"/>
            </a:avLst>
          </a:prstGeom>
          <a:solidFill>
            <a:schemeClr val="accent6"/>
          </a:solidFill>
          <a:ln/>
        </p:spPr>
      </p:sp>
      <p:sp>
        <p:nvSpPr>
          <p:cNvPr id="5" name="letra-45"/>
          <p:cNvSpPr/>
          <p:nvPr/>
        </p:nvSpPr>
        <p:spPr>
          <a:xfrm>
            <a:off x="777240" y="1645920"/>
            <a:ext cx="502920" cy="502920"/>
          </a:xfrm>
          <a:prstGeom prst="ellipse">
            <a:avLst/>
          </a:prstGeom>
          <a:solidFill>
            <a:schemeClr val="accent2"/>
          </a:solidFill>
          <a:ln/>
        </p:spPr>
      </p:sp>
      <p:sp>
        <p:nvSpPr>
          <p:cNvPr id="6" name="Text 4"/>
          <p:cNvSpPr txBox="1"/>
          <p:nvPr/>
        </p:nvSpPr>
        <p:spPr>
          <a:xfrm>
            <a:off x="777240" y="16459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F</a:t>
            </a:r>
            <a:endParaRPr lang="en-US" sz="2000" dirty="0"/>
          </a:p>
        </p:txBody>
      </p:sp>
      <p:sp>
        <p:nvSpPr>
          <p:cNvPr id="7" name="Text 5"/>
          <p:cNvSpPr txBox="1"/>
          <p:nvPr/>
        </p:nvSpPr>
        <p:spPr>
          <a:xfrm>
            <a:off x="1417320" y="1664208"/>
            <a:ext cx="246888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Fortalezas</a:t>
            </a:r>
            <a:endParaRPr lang="en-US" sz="1900" dirty="0"/>
          </a:p>
        </p:txBody>
      </p:sp>
      <p:sp>
        <p:nvSpPr>
          <p:cNvPr id="8" name="Text 6"/>
          <p:cNvSpPr txBox="1"/>
          <p:nvPr/>
        </p:nvSpPr>
        <p:spPr>
          <a:xfrm>
            <a:off x="822960" y="2286000"/>
            <a:ext cx="306324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Producto propio, 7 variedades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Clientes que ya piden por WhatsApp</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Cobro digital incorporado</a:t>
            </a:r>
            <a:endParaRPr lang="en-US" sz="1400" dirty="0"/>
          </a:p>
        </p:txBody>
      </p:sp>
      <p:sp>
        <p:nvSpPr>
          <p:cNvPr id="9" name="card-46"/>
          <p:cNvSpPr/>
          <p:nvPr/>
        </p:nvSpPr>
        <p:spPr>
          <a:xfrm>
            <a:off x="4251960" y="1463040"/>
            <a:ext cx="3520440" cy="2240280"/>
          </a:xfrm>
          <a:prstGeom prst="roundRect">
            <a:avLst>
              <a:gd name="adj" fmla="val 4898"/>
            </a:avLst>
          </a:prstGeom>
          <a:solidFill>
            <a:schemeClr val="accent6"/>
          </a:solidFill>
          <a:ln/>
        </p:spPr>
      </p:sp>
      <p:sp>
        <p:nvSpPr>
          <p:cNvPr id="10" name="letra-47"/>
          <p:cNvSpPr/>
          <p:nvPr/>
        </p:nvSpPr>
        <p:spPr>
          <a:xfrm>
            <a:off x="4480560" y="1645920"/>
            <a:ext cx="502920" cy="502920"/>
          </a:xfrm>
          <a:prstGeom prst="ellipse">
            <a:avLst/>
          </a:prstGeom>
          <a:solidFill>
            <a:schemeClr val="tx2"/>
          </a:solidFill>
          <a:ln/>
        </p:spPr>
      </p:sp>
      <p:sp>
        <p:nvSpPr>
          <p:cNvPr id="11" name="Text 9"/>
          <p:cNvSpPr txBox="1"/>
          <p:nvPr/>
        </p:nvSpPr>
        <p:spPr>
          <a:xfrm>
            <a:off x="4480560" y="16459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O</a:t>
            </a:r>
            <a:endParaRPr lang="en-US" sz="2000" dirty="0"/>
          </a:p>
        </p:txBody>
      </p:sp>
      <p:sp>
        <p:nvSpPr>
          <p:cNvPr id="12" name="Text 10"/>
          <p:cNvSpPr txBox="1"/>
          <p:nvPr/>
        </p:nvSpPr>
        <p:spPr>
          <a:xfrm>
            <a:off x="5120640" y="1664208"/>
            <a:ext cx="246888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Oportunidades</a:t>
            </a:r>
            <a:endParaRPr lang="en-US" sz="1900" dirty="0"/>
          </a:p>
        </p:txBody>
      </p:sp>
      <p:sp>
        <p:nvSpPr>
          <p:cNvPr id="13" name="Text 11"/>
          <p:cNvSpPr txBox="1"/>
          <p:nvPr/>
        </p:nvSpPr>
        <p:spPr>
          <a:xfrm>
            <a:off x="4526280" y="2286000"/>
            <a:ext cx="306324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Uso masivo de celular y WhatsApp</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Herramientas web gratuitas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Difusión por Instagram y QR</a:t>
            </a:r>
            <a:endParaRPr lang="en-US" sz="1400" dirty="0"/>
          </a:p>
        </p:txBody>
      </p:sp>
      <p:sp>
        <p:nvSpPr>
          <p:cNvPr id="14" name="card-48"/>
          <p:cNvSpPr/>
          <p:nvPr/>
        </p:nvSpPr>
        <p:spPr>
          <a:xfrm>
            <a:off x="548640" y="3858768"/>
            <a:ext cx="3520440" cy="2240280"/>
          </a:xfrm>
          <a:prstGeom prst="roundRect">
            <a:avLst>
              <a:gd name="adj" fmla="val 4898"/>
            </a:avLst>
          </a:prstGeom>
          <a:solidFill>
            <a:schemeClr val="accent6"/>
          </a:solidFill>
          <a:ln/>
        </p:spPr>
      </p:sp>
      <p:sp>
        <p:nvSpPr>
          <p:cNvPr id="15" name="letra-49"/>
          <p:cNvSpPr/>
          <p:nvPr/>
        </p:nvSpPr>
        <p:spPr>
          <a:xfrm>
            <a:off x="777240" y="4041648"/>
            <a:ext cx="502920" cy="502920"/>
          </a:xfrm>
          <a:prstGeom prst="ellipse">
            <a:avLst/>
          </a:prstGeom>
          <a:solidFill>
            <a:schemeClr val="accent1"/>
          </a:solidFill>
          <a:ln/>
        </p:spPr>
      </p:sp>
      <p:sp>
        <p:nvSpPr>
          <p:cNvPr id="16" name="Text 14"/>
          <p:cNvSpPr txBox="1"/>
          <p:nvPr/>
        </p:nvSpPr>
        <p:spPr>
          <a:xfrm>
            <a:off x="777240" y="4041648"/>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D</a:t>
            </a:r>
            <a:endParaRPr lang="en-US" sz="2000" dirty="0"/>
          </a:p>
        </p:txBody>
      </p:sp>
      <p:sp>
        <p:nvSpPr>
          <p:cNvPr id="17" name="Text 15"/>
          <p:cNvSpPr txBox="1"/>
          <p:nvPr/>
        </p:nvSpPr>
        <p:spPr>
          <a:xfrm>
            <a:off x="1417320" y="4059936"/>
            <a:ext cx="246888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Debilidades</a:t>
            </a:r>
            <a:endParaRPr lang="en-US" sz="1900" dirty="0"/>
          </a:p>
        </p:txBody>
      </p:sp>
      <p:sp>
        <p:nvSpPr>
          <p:cNvPr id="18" name="Text 16"/>
          <p:cNvSpPr txBox="1"/>
          <p:nvPr/>
        </p:nvSpPr>
        <p:spPr>
          <a:xfrm>
            <a:off x="822960" y="4681728"/>
            <a:ext cx="306324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Pedidos informales, sin registro</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Sin carta digital</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Una sola persona atiende</a:t>
            </a:r>
            <a:endParaRPr lang="en-US" sz="1400" dirty="0"/>
          </a:p>
        </p:txBody>
      </p:sp>
      <p:sp>
        <p:nvSpPr>
          <p:cNvPr id="19" name="card-50"/>
          <p:cNvSpPr/>
          <p:nvPr/>
        </p:nvSpPr>
        <p:spPr>
          <a:xfrm>
            <a:off x="4251960" y="3858768"/>
            <a:ext cx="3520440" cy="2240280"/>
          </a:xfrm>
          <a:prstGeom prst="roundRect">
            <a:avLst>
              <a:gd name="adj" fmla="val 4898"/>
            </a:avLst>
          </a:prstGeom>
          <a:solidFill>
            <a:schemeClr val="accent6"/>
          </a:solidFill>
          <a:ln/>
        </p:spPr>
      </p:sp>
      <p:sp>
        <p:nvSpPr>
          <p:cNvPr id="20" name="letra-51"/>
          <p:cNvSpPr/>
          <p:nvPr/>
        </p:nvSpPr>
        <p:spPr>
          <a:xfrm>
            <a:off x="4480560" y="4041648"/>
            <a:ext cx="502920" cy="502920"/>
          </a:xfrm>
          <a:prstGeom prst="ellipse">
            <a:avLst/>
          </a:prstGeom>
          <a:solidFill>
            <a:schemeClr val="accent3"/>
          </a:solidFill>
          <a:ln/>
        </p:spPr>
      </p:sp>
      <p:sp>
        <p:nvSpPr>
          <p:cNvPr id="21" name="Text 19"/>
          <p:cNvSpPr txBox="1"/>
          <p:nvPr/>
        </p:nvSpPr>
        <p:spPr>
          <a:xfrm>
            <a:off x="4480560" y="4041648"/>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A</a:t>
            </a:r>
            <a:endParaRPr lang="en-US" sz="2000" dirty="0"/>
          </a:p>
        </p:txBody>
      </p:sp>
      <p:sp>
        <p:nvSpPr>
          <p:cNvPr id="22" name="Text 20"/>
          <p:cNvSpPr txBox="1"/>
          <p:nvPr/>
        </p:nvSpPr>
        <p:spPr>
          <a:xfrm>
            <a:off x="5120640" y="4059936"/>
            <a:ext cx="2468880" cy="4572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Amenazas</a:t>
            </a:r>
            <a:endParaRPr lang="en-US" sz="1900" dirty="0"/>
          </a:p>
        </p:txBody>
      </p:sp>
      <p:sp>
        <p:nvSpPr>
          <p:cNvPr id="23" name="Text 21"/>
          <p:cNvSpPr txBox="1"/>
          <p:nvPr/>
        </p:nvSpPr>
        <p:spPr>
          <a:xfrm>
            <a:off x="4526280" y="4681728"/>
            <a:ext cx="306324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Competencia y apps de delivery</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Inflación de insumos</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Dependencia de terceros</a:t>
            </a:r>
            <a:endParaRPr lang="en-US" sz="1400" dirty="0"/>
          </a:p>
        </p:txBody>
      </p:sp>
      <p:sp>
        <p:nvSpPr>
          <p:cNvPr id="24" name="card-52"/>
          <p:cNvSpPr/>
          <p:nvPr/>
        </p:nvSpPr>
        <p:spPr>
          <a:xfrm>
            <a:off x="8183880" y="1463040"/>
            <a:ext cx="3429000" cy="4709160"/>
          </a:xfrm>
          <a:prstGeom prst="roundRect">
            <a:avLst>
              <a:gd name="adj" fmla="val 3200"/>
            </a:avLst>
          </a:prstGeom>
          <a:solidFill>
            <a:schemeClr val="tx1"/>
          </a:solidFill>
          <a:ln/>
        </p:spPr>
      </p:sp>
      <p:sp>
        <p:nvSpPr>
          <p:cNvPr id="25" name="Text 23"/>
          <p:cNvSpPr txBox="1"/>
          <p:nvPr/>
        </p:nvSpPr>
        <p:spPr>
          <a:xfrm>
            <a:off x="8412480" y="1645920"/>
            <a:ext cx="3017520" cy="365760"/>
          </a:xfrm>
          <a:prstGeom prst="rect">
            <a:avLst/>
          </a:prstGeom>
          <a:noFill/>
          <a:ln/>
        </p:spPr>
        <p:txBody>
          <a:bodyPr wrap="square" lIns="0" tIns="0" rIns="0" bIns="0" rtlCol="0" anchor="t"/>
          <a:lstStyle/>
          <a:p>
            <a:pPr indent="0" marL="0">
              <a:buNone/>
            </a:pPr>
            <a:r>
              <a:rPr lang="en-US" sz="1400" b="1" dirty="0">
                <a:solidFill>
                  <a:srgbClr val="F2B63D"/>
                </a:solidFill>
                <a:latin typeface="Calibri" pitchFamily="34" charset="0"/>
                <a:ea typeface="Calibri" pitchFamily="34" charset="-122"/>
                <a:cs typeface="Calibri" pitchFamily="34" charset="-120"/>
              </a:rPr>
              <a:t>Matriz interna-externa</a:t>
            </a:r>
            <a:endParaRPr lang="en-US" sz="1400" dirty="0"/>
          </a:p>
        </p:txBody>
      </p:sp>
      <p:sp>
        <p:nvSpPr>
          <p:cNvPr id="26" name="Text 24"/>
          <p:cNvSpPr txBox="1"/>
          <p:nvPr/>
        </p:nvSpPr>
        <p:spPr>
          <a:xfrm>
            <a:off x="8412480" y="2057400"/>
            <a:ext cx="3017520" cy="68580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EFI </a:t>
            </a:r>
            <a:pPr indent="0" marL="0">
              <a:buNone/>
            </a:pPr>
            <a:r>
              <a:rPr lang="en-US" sz="3600" b="1" dirty="0">
                <a:solidFill>
                  <a:schemeClr val="bg1"/>
                </a:solidFill>
                <a:latin typeface="Cambria" pitchFamily="34" charset="0"/>
                <a:ea typeface="Cambria" pitchFamily="34" charset="-122"/>
                <a:cs typeface="Cambria" pitchFamily="34" charset="-120"/>
              </a:rPr>
              <a:t>2,45</a:t>
            </a:r>
            <a:endParaRPr lang="en-US" sz="1400" dirty="0"/>
          </a:p>
        </p:txBody>
      </p:sp>
      <p:sp>
        <p:nvSpPr>
          <p:cNvPr id="27" name="Text 25"/>
          <p:cNvSpPr txBox="1"/>
          <p:nvPr/>
        </p:nvSpPr>
        <p:spPr>
          <a:xfrm>
            <a:off x="8412480" y="2743200"/>
            <a:ext cx="3017520" cy="68580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EFE </a:t>
            </a:r>
            <a:pPr indent="0" marL="0">
              <a:buNone/>
            </a:pPr>
            <a:r>
              <a:rPr lang="en-US" sz="3600" b="1" dirty="0">
                <a:solidFill>
                  <a:schemeClr val="bg1"/>
                </a:solidFill>
                <a:latin typeface="Cambria" pitchFamily="34" charset="0"/>
                <a:ea typeface="Cambria" pitchFamily="34" charset="-122"/>
                <a:cs typeface="Cambria" pitchFamily="34" charset="-120"/>
              </a:rPr>
              <a:t>2,32</a:t>
            </a:r>
            <a:endParaRPr lang="en-US" sz="1400" dirty="0"/>
          </a:p>
        </p:txBody>
      </p:sp>
      <p:sp>
        <p:nvSpPr>
          <p:cNvPr id="28" name="cuadrante"/>
          <p:cNvSpPr/>
          <p:nvPr/>
        </p:nvSpPr>
        <p:spPr>
          <a:xfrm>
            <a:off x="8412480" y="3611880"/>
            <a:ext cx="2971800" cy="685800"/>
          </a:xfrm>
          <a:prstGeom prst="roundRect">
            <a:avLst>
              <a:gd name="adj" fmla="val 13333"/>
            </a:avLst>
          </a:prstGeom>
          <a:solidFill>
            <a:schemeClr val="accent1"/>
          </a:solidFill>
          <a:ln/>
        </p:spPr>
      </p:sp>
      <p:sp>
        <p:nvSpPr>
          <p:cNvPr id="29" name="Text 27"/>
          <p:cNvSpPr txBox="1"/>
          <p:nvPr/>
        </p:nvSpPr>
        <p:spPr>
          <a:xfrm>
            <a:off x="8503920" y="3611880"/>
            <a:ext cx="2788920" cy="6858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Cuadrante V: conservar y mantener</a:t>
            </a:r>
            <a:endParaRPr lang="en-US" sz="1500" dirty="0"/>
          </a:p>
        </p:txBody>
      </p:sp>
      <p:sp>
        <p:nvSpPr>
          <p:cNvPr id="30" name="Text 28"/>
          <p:cNvSpPr txBox="1"/>
          <p:nvPr/>
        </p:nvSpPr>
        <p:spPr>
          <a:xfrm>
            <a:off x="8412480" y="4480560"/>
            <a:ext cx="3017520" cy="155448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Estrategia: mejorar cómo se vende lo que ya existe. El sistema web hace eso, sin cambiar producto ni canal.</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PROBLEMA</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Sábado, 22:00: once pedidos y una sola persona</a:t>
            </a:r>
            <a:endParaRPr lang="en-US" sz="3200" dirty="0"/>
          </a:p>
        </p:txBody>
      </p:sp>
      <p:sp>
        <p:nvSpPr>
          <p:cNvPr id="4" name="celular"/>
          <p:cNvSpPr/>
          <p:nvPr/>
        </p:nvSpPr>
        <p:spPr>
          <a:xfrm>
            <a:off x="731520" y="1417320"/>
            <a:ext cx="3383280" cy="4846320"/>
          </a:xfrm>
          <a:prstGeom prst="roundRect">
            <a:avLst>
              <a:gd name="adj" fmla="val 8108"/>
            </a:avLst>
          </a:prstGeom>
          <a:solidFill>
            <a:schemeClr val="tx1"/>
          </a:solidFill>
          <a:ln/>
        </p:spPr>
      </p:sp>
      <p:sp>
        <p:nvSpPr>
          <p:cNvPr id="5" name="pantalla"/>
          <p:cNvSpPr/>
          <p:nvPr/>
        </p:nvSpPr>
        <p:spPr>
          <a:xfrm>
            <a:off x="868680" y="1600200"/>
            <a:ext cx="3108960" cy="4526280"/>
          </a:xfrm>
          <a:prstGeom prst="roundRect">
            <a:avLst>
              <a:gd name="adj" fmla="val 5294"/>
            </a:avLst>
          </a:prstGeom>
          <a:solidFill>
            <a:srgbClr val="ECE5DD"/>
          </a:solidFill>
          <a:ln/>
        </p:spPr>
      </p:sp>
      <p:sp>
        <p:nvSpPr>
          <p:cNvPr id="6" name="mensaje-53"/>
          <p:cNvSpPr/>
          <p:nvPr/>
        </p:nvSpPr>
        <p:spPr>
          <a:xfrm>
            <a:off x="1005840" y="1737360"/>
            <a:ext cx="2331720" cy="457200"/>
          </a:xfrm>
          <a:prstGeom prst="roundRect">
            <a:avLst>
              <a:gd name="adj" fmla="val 16000"/>
            </a:avLst>
          </a:prstGeom>
          <a:solidFill>
            <a:srgbClr val="FFFFFF"/>
          </a:solidFill>
          <a:ln/>
        </p:spPr>
      </p:sp>
      <p:sp>
        <p:nvSpPr>
          <p:cNvPr id="7" name="Text 5"/>
          <p:cNvSpPr txBox="1"/>
          <p:nvPr/>
        </p:nvSpPr>
        <p:spPr>
          <a:xfrm>
            <a:off x="1097280" y="1737360"/>
            <a:ext cx="214884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Hola! qué gustos tienen?</a:t>
            </a:r>
            <a:endParaRPr lang="en-US" sz="1200" dirty="0"/>
          </a:p>
        </p:txBody>
      </p:sp>
      <p:sp>
        <p:nvSpPr>
          <p:cNvPr id="8" name="mensaje-54"/>
          <p:cNvSpPr/>
          <p:nvPr/>
        </p:nvSpPr>
        <p:spPr>
          <a:xfrm>
            <a:off x="1508760" y="2322576"/>
            <a:ext cx="2331720" cy="457200"/>
          </a:xfrm>
          <a:prstGeom prst="roundRect">
            <a:avLst>
              <a:gd name="adj" fmla="val 16000"/>
            </a:avLst>
          </a:prstGeom>
          <a:solidFill>
            <a:srgbClr val="D9FDD3"/>
          </a:solidFill>
          <a:ln/>
        </p:spPr>
      </p:sp>
      <p:sp>
        <p:nvSpPr>
          <p:cNvPr id="9" name="Text 7"/>
          <p:cNvSpPr txBox="1"/>
          <p:nvPr/>
        </p:nvSpPr>
        <p:spPr>
          <a:xfrm>
            <a:off x="1600200" y="2322576"/>
            <a:ext cx="214884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Muzza, fugazzeta, napo, especial…</a:t>
            </a:r>
            <a:endParaRPr lang="en-US" sz="1200" dirty="0"/>
          </a:p>
        </p:txBody>
      </p:sp>
      <p:sp>
        <p:nvSpPr>
          <p:cNvPr id="10" name="mensaje-55"/>
          <p:cNvSpPr/>
          <p:nvPr/>
        </p:nvSpPr>
        <p:spPr>
          <a:xfrm>
            <a:off x="1005840" y="2907792"/>
            <a:ext cx="2331720" cy="457200"/>
          </a:xfrm>
          <a:prstGeom prst="roundRect">
            <a:avLst>
              <a:gd name="adj" fmla="val 16000"/>
            </a:avLst>
          </a:prstGeom>
          <a:solidFill>
            <a:srgbClr val="FFFFFF"/>
          </a:solidFill>
          <a:ln/>
        </p:spPr>
      </p:sp>
      <p:sp>
        <p:nvSpPr>
          <p:cNvPr id="11" name="Text 9"/>
          <p:cNvSpPr txBox="1"/>
          <p:nvPr/>
        </p:nvSpPr>
        <p:spPr>
          <a:xfrm>
            <a:off x="1097280" y="2907792"/>
            <a:ext cx="214884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cuánto sale la napo?</a:t>
            </a:r>
            <a:endParaRPr lang="en-US" sz="1200" dirty="0"/>
          </a:p>
        </p:txBody>
      </p:sp>
      <p:sp>
        <p:nvSpPr>
          <p:cNvPr id="12" name="mensaje-56"/>
          <p:cNvSpPr/>
          <p:nvPr/>
        </p:nvSpPr>
        <p:spPr>
          <a:xfrm>
            <a:off x="1005840" y="3493008"/>
            <a:ext cx="2331720" cy="457200"/>
          </a:xfrm>
          <a:prstGeom prst="roundRect">
            <a:avLst>
              <a:gd name="adj" fmla="val 16000"/>
            </a:avLst>
          </a:prstGeom>
          <a:solidFill>
            <a:srgbClr val="FFFFFF"/>
          </a:solidFill>
          <a:ln/>
        </p:spPr>
      </p:sp>
      <p:sp>
        <p:nvSpPr>
          <p:cNvPr id="13" name="Text 11"/>
          <p:cNvSpPr txBox="1"/>
          <p:nvPr/>
        </p:nvSpPr>
        <p:spPr>
          <a:xfrm>
            <a:off x="1097280" y="3493008"/>
            <a:ext cx="214884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dame una muzza y media fuga</a:t>
            </a:r>
            <a:endParaRPr lang="en-US" sz="1200" dirty="0"/>
          </a:p>
        </p:txBody>
      </p:sp>
      <p:sp>
        <p:nvSpPr>
          <p:cNvPr id="14" name="mensaje-57"/>
          <p:cNvSpPr/>
          <p:nvPr/>
        </p:nvSpPr>
        <p:spPr>
          <a:xfrm>
            <a:off x="1508760" y="4078224"/>
            <a:ext cx="2331720" cy="457200"/>
          </a:xfrm>
          <a:prstGeom prst="roundRect">
            <a:avLst>
              <a:gd name="adj" fmla="val 16000"/>
            </a:avLst>
          </a:prstGeom>
          <a:solidFill>
            <a:srgbClr val="D9FDD3"/>
          </a:solidFill>
          <a:ln/>
        </p:spPr>
      </p:sp>
      <p:sp>
        <p:nvSpPr>
          <p:cNvPr id="15" name="Text 13"/>
          <p:cNvSpPr txBox="1"/>
          <p:nvPr/>
        </p:nvSpPr>
        <p:spPr>
          <a:xfrm>
            <a:off x="1600200" y="4078224"/>
            <a:ext cx="214884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¿Dirección?</a:t>
            </a:r>
            <a:endParaRPr lang="en-US" sz="1200" dirty="0"/>
          </a:p>
        </p:txBody>
      </p:sp>
      <p:sp>
        <p:nvSpPr>
          <p:cNvPr id="16" name="mensaje-58"/>
          <p:cNvSpPr/>
          <p:nvPr/>
        </p:nvSpPr>
        <p:spPr>
          <a:xfrm>
            <a:off x="1005840" y="4663440"/>
            <a:ext cx="2331720" cy="457200"/>
          </a:xfrm>
          <a:prstGeom prst="roundRect">
            <a:avLst>
              <a:gd name="adj" fmla="val 16000"/>
            </a:avLst>
          </a:prstGeom>
          <a:solidFill>
            <a:srgbClr val="FFFFFF"/>
          </a:solidFill>
          <a:ln/>
        </p:spPr>
      </p:sp>
      <p:sp>
        <p:nvSpPr>
          <p:cNvPr id="17" name="Text 15"/>
          <p:cNvSpPr txBox="1"/>
          <p:nvPr/>
        </p:nvSpPr>
        <p:spPr>
          <a:xfrm>
            <a:off x="1097280" y="4663440"/>
            <a:ext cx="214884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por el hospital 😅</a:t>
            </a:r>
            <a:endParaRPr lang="en-US" sz="1200" dirty="0"/>
          </a:p>
        </p:txBody>
      </p:sp>
      <p:sp>
        <p:nvSpPr>
          <p:cNvPr id="18" name="mensaje-59"/>
          <p:cNvSpPr/>
          <p:nvPr/>
        </p:nvSpPr>
        <p:spPr>
          <a:xfrm>
            <a:off x="1508760" y="5248656"/>
            <a:ext cx="2331720" cy="457200"/>
          </a:xfrm>
          <a:prstGeom prst="roundRect">
            <a:avLst>
              <a:gd name="adj" fmla="val 16000"/>
            </a:avLst>
          </a:prstGeom>
          <a:solidFill>
            <a:srgbClr val="D9FDD3"/>
          </a:solidFill>
          <a:ln/>
        </p:spPr>
      </p:sp>
      <p:sp>
        <p:nvSpPr>
          <p:cNvPr id="19" name="Text 17"/>
          <p:cNvSpPr txBox="1"/>
          <p:nvPr/>
        </p:nvSpPr>
        <p:spPr>
          <a:xfrm>
            <a:off x="1600200" y="5248656"/>
            <a:ext cx="214884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Son $14.000… ¿o eran $13.500?</a:t>
            </a:r>
            <a:endParaRPr lang="en-US" sz="1200" dirty="0"/>
          </a:p>
        </p:txBody>
      </p:sp>
      <p:sp>
        <p:nvSpPr>
          <p:cNvPr id="20" name="Text 18"/>
          <p:cNvSpPr txBox="1"/>
          <p:nvPr/>
        </p:nvSpPr>
        <p:spPr>
          <a:xfrm>
            <a:off x="868680" y="5806440"/>
            <a:ext cx="3108960" cy="274320"/>
          </a:xfrm>
          <a:prstGeom prst="rect">
            <a:avLst/>
          </a:prstGeom>
          <a:noFill/>
          <a:ln/>
        </p:spPr>
        <p:txBody>
          <a:bodyPr wrap="square" lIns="0" tIns="0" rIns="0" bIns="0" rtlCol="0" anchor="t"/>
          <a:lstStyle/>
          <a:p>
            <a:pPr algn="ctr" indent="0" marL="0">
              <a:buNone/>
            </a:pPr>
            <a:r>
              <a:rPr lang="en-US" sz="1200" b="1" dirty="0">
                <a:solidFill>
                  <a:schemeClr val="accent3"/>
                </a:solidFill>
                <a:latin typeface="Calibri" pitchFamily="34" charset="0"/>
                <a:ea typeface="Calibri" pitchFamily="34" charset="-122"/>
                <a:cs typeface="Calibri" pitchFamily="34" charset="-120"/>
              </a:rPr>
              <a:t>… y 10 chats más esperando</a:t>
            </a:r>
            <a:endParaRPr lang="en-US" sz="1200" dirty="0"/>
          </a:p>
        </p:txBody>
      </p:sp>
      <p:sp>
        <p:nvSpPr>
          <p:cNvPr id="21" name="card-60"/>
          <p:cNvSpPr/>
          <p:nvPr/>
        </p:nvSpPr>
        <p:spPr>
          <a:xfrm>
            <a:off x="4572000" y="1463040"/>
            <a:ext cx="7040880" cy="1261872"/>
          </a:xfrm>
          <a:prstGeom prst="roundRect">
            <a:avLst>
              <a:gd name="adj" fmla="val 8696"/>
            </a:avLst>
          </a:prstGeom>
          <a:solidFill>
            <a:schemeClr val="accent6"/>
          </a:solidFill>
          <a:ln/>
        </p:spPr>
      </p:sp>
      <p:sp>
        <p:nvSpPr>
          <p:cNvPr id="22" name="Text 20"/>
          <p:cNvSpPr txBox="1"/>
          <p:nvPr/>
        </p:nvSpPr>
        <p:spPr>
          <a:xfrm>
            <a:off x="4800600" y="1463040"/>
            <a:ext cx="2468880" cy="1261872"/>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 4 h</a:t>
            </a:r>
            <a:endParaRPr lang="en-US" sz="3600" dirty="0"/>
          </a:p>
        </p:txBody>
      </p:sp>
      <p:sp>
        <p:nvSpPr>
          <p:cNvPr id="23" name="Text 21"/>
          <p:cNvSpPr txBox="1"/>
          <p:nvPr/>
        </p:nvSpPr>
        <p:spPr>
          <a:xfrm>
            <a:off x="7360920" y="1463040"/>
            <a:ext cx="4114800" cy="1261872"/>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por semana respondiendo el chat</a:t>
            </a:r>
            <a:endParaRPr lang="en-US" sz="1400" dirty="0"/>
          </a:p>
          <a:p>
            <a:pPr indent="0" marL="0">
              <a:buNone/>
            </a:pPr>
            <a:r>
              <a:rPr lang="en-US" sz="1300" dirty="0">
                <a:solidFill>
                  <a:schemeClr val="accent4"/>
                </a:solidFill>
                <a:latin typeface="Calibri" pitchFamily="34" charset="0"/>
                <a:ea typeface="Calibri" pitchFamily="34" charset="-122"/>
                <a:cs typeface="Calibri" pitchFamily="34" charset="-120"/>
              </a:rPr>
              <a:t>50 pedidos × 2 a 10 minutos cada uno</a:t>
            </a:r>
            <a:endParaRPr lang="en-US" sz="1400" dirty="0"/>
          </a:p>
        </p:txBody>
      </p:sp>
      <p:sp>
        <p:nvSpPr>
          <p:cNvPr id="24" name="card-61"/>
          <p:cNvSpPr/>
          <p:nvPr/>
        </p:nvSpPr>
        <p:spPr>
          <a:xfrm>
            <a:off x="4572000" y="2880360"/>
            <a:ext cx="7040880" cy="1261872"/>
          </a:xfrm>
          <a:prstGeom prst="roundRect">
            <a:avLst>
              <a:gd name="adj" fmla="val 8696"/>
            </a:avLst>
          </a:prstGeom>
          <a:solidFill>
            <a:schemeClr val="accent6"/>
          </a:solidFill>
          <a:ln/>
        </p:spPr>
      </p:sp>
      <p:sp>
        <p:nvSpPr>
          <p:cNvPr id="25" name="Text 23"/>
          <p:cNvSpPr txBox="1"/>
          <p:nvPr/>
        </p:nvSpPr>
        <p:spPr>
          <a:xfrm>
            <a:off x="4800600" y="2880360"/>
            <a:ext cx="2468880" cy="1261872"/>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5</a:t>
            </a:r>
            <a:endParaRPr lang="en-US" sz="3600" dirty="0"/>
          </a:p>
        </p:txBody>
      </p:sp>
      <p:sp>
        <p:nvSpPr>
          <p:cNvPr id="26" name="Text 24"/>
          <p:cNvSpPr txBox="1"/>
          <p:nvPr/>
        </p:nvSpPr>
        <p:spPr>
          <a:xfrm>
            <a:off x="7360920" y="2880360"/>
            <a:ext cx="4114800" cy="1261872"/>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pedidos con error por semana</a:t>
            </a:r>
            <a:endParaRPr lang="en-US" sz="1400" dirty="0"/>
          </a:p>
          <a:p>
            <a:pPr indent="0" marL="0">
              <a:buNone/>
            </a:pPr>
            <a:r>
              <a:rPr lang="en-US" sz="1300" dirty="0">
                <a:solidFill>
                  <a:schemeClr val="accent4"/>
                </a:solidFill>
                <a:latin typeface="Calibri" pitchFamily="34" charset="0"/>
                <a:ea typeface="Calibri" pitchFamily="34" charset="-122"/>
                <a:cs typeface="Calibri" pitchFamily="34" charset="-120"/>
              </a:rPr>
              <a:t>gusto, dirección o total equivocados (1 de cada 10)</a:t>
            </a:r>
            <a:endParaRPr lang="en-US" sz="1400" dirty="0"/>
          </a:p>
        </p:txBody>
      </p:sp>
      <p:sp>
        <p:nvSpPr>
          <p:cNvPr id="27" name="card-62"/>
          <p:cNvSpPr/>
          <p:nvPr/>
        </p:nvSpPr>
        <p:spPr>
          <a:xfrm>
            <a:off x="4572000" y="4297680"/>
            <a:ext cx="7040880" cy="1261872"/>
          </a:xfrm>
          <a:prstGeom prst="roundRect">
            <a:avLst>
              <a:gd name="adj" fmla="val 8696"/>
            </a:avLst>
          </a:prstGeom>
          <a:solidFill>
            <a:schemeClr val="bg2"/>
          </a:solidFill>
          <a:ln/>
        </p:spPr>
      </p:sp>
      <p:sp>
        <p:nvSpPr>
          <p:cNvPr id="28" name="Text 26"/>
          <p:cNvSpPr txBox="1"/>
          <p:nvPr/>
        </p:nvSpPr>
        <p:spPr>
          <a:xfrm>
            <a:off x="4800600" y="4297680"/>
            <a:ext cx="2468880" cy="1261872"/>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$197.600</a:t>
            </a:r>
            <a:endParaRPr lang="en-US" sz="3000" dirty="0"/>
          </a:p>
        </p:txBody>
      </p:sp>
      <p:sp>
        <p:nvSpPr>
          <p:cNvPr id="29" name="Text 27"/>
          <p:cNvSpPr txBox="1"/>
          <p:nvPr/>
        </p:nvSpPr>
        <p:spPr>
          <a:xfrm>
            <a:off x="7360920" y="4297680"/>
            <a:ext cx="4114800" cy="1261872"/>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de ganancia que se pierde por mes</a:t>
            </a:r>
            <a:endParaRPr lang="en-US" sz="1400" dirty="0"/>
          </a:p>
          <a:p>
            <a:pPr indent="0" marL="0">
              <a:buNone/>
            </a:pPr>
            <a:r>
              <a:rPr lang="en-US" sz="1300" dirty="0">
                <a:solidFill>
                  <a:schemeClr val="accent4"/>
                </a:solidFill>
                <a:latin typeface="Calibri" pitchFamily="34" charset="0"/>
                <a:ea typeface="Calibri" pitchFamily="34" charset="-122"/>
                <a:cs typeface="Calibri" pitchFamily="34" charset="-120"/>
              </a:rPr>
              <a:t>≈ 1 pedido perdido por noche por no contestar a tiempo</a:t>
            </a:r>
            <a:endParaRPr lang="en-US" sz="1400" dirty="0"/>
          </a:p>
        </p:txBody>
      </p:sp>
      <p:sp>
        <p:nvSpPr>
          <p:cNvPr id="30" name="Text 28"/>
          <p:cNvSpPr txBox="1"/>
          <p:nvPr/>
        </p:nvSpPr>
        <p:spPr>
          <a:xfrm>
            <a:off x="4572000" y="5806440"/>
            <a:ext cx="7040880" cy="411480"/>
          </a:xfrm>
          <a:prstGeom prst="rect">
            <a:avLst/>
          </a:prstGeom>
          <a:noFill/>
          <a:ln/>
        </p:spPr>
        <p:txBody>
          <a:bodyPr wrap="square" lIns="0" tIns="0" rIns="0" bIns="0" rtlCol="0" anchor="t"/>
          <a:lstStyle/>
          <a:p>
            <a:pPr indent="0" marL="0">
              <a:buNone/>
            </a:pPr>
            <a:r>
              <a:rPr lang="en-US" sz="1100" dirty="0">
                <a:solidFill>
                  <a:schemeClr val="accent4"/>
                </a:solidFill>
                <a:latin typeface="Calibri" pitchFamily="34" charset="0"/>
                <a:ea typeface="Calibri" pitchFamily="34" charset="-122"/>
                <a:cs typeface="Calibri" pitchFamily="34" charset="-120"/>
              </a:rPr>
              <a:t>Datos del propio negocio. Pérdida: 6 pedidos/semana × 2 pizzas × $3.800 de ganancia × 4,33 semanas.</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PROBLEMA</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Causas del problema (diagrama de Ishikawa)</a:t>
            </a:r>
            <a:endParaRPr lang="en-US" sz="3200" dirty="0"/>
          </a:p>
        </p:txBody>
      </p:sp>
      <p:sp>
        <p:nvSpPr>
          <p:cNvPr id="4" name="espina"/>
          <p:cNvSpPr/>
          <p:nvPr/>
        </p:nvSpPr>
        <p:spPr>
          <a:xfrm>
            <a:off x="548640" y="3840480"/>
            <a:ext cx="9006840" cy="0"/>
          </a:xfrm>
          <a:prstGeom prst="line">
            <a:avLst/>
          </a:prstGeom>
          <a:noFill/>
          <a:ln w="38100">
            <a:solidFill>
              <a:srgbClr val="2B2420"/>
            </a:solidFill>
            <a:prstDash val="solid"/>
            <a:tailEnd type="triangle"/>
          </a:ln>
        </p:spPr>
      </p:sp>
      <p:sp>
        <p:nvSpPr>
          <p:cNvPr id="5" name="efecto"/>
          <p:cNvSpPr/>
          <p:nvPr/>
        </p:nvSpPr>
        <p:spPr>
          <a:xfrm>
            <a:off x="9601200" y="3017520"/>
            <a:ext cx="2011680" cy="1645920"/>
          </a:xfrm>
          <a:prstGeom prst="roundRect">
            <a:avLst>
              <a:gd name="adj" fmla="val 6667"/>
            </a:avLst>
          </a:prstGeom>
          <a:solidFill>
            <a:schemeClr val="accent1"/>
          </a:solidFill>
          <a:ln/>
        </p:spPr>
      </p:sp>
      <p:sp>
        <p:nvSpPr>
          <p:cNvPr id="6" name="Text 4"/>
          <p:cNvSpPr txBox="1"/>
          <p:nvPr/>
        </p:nvSpPr>
        <p:spPr>
          <a:xfrm>
            <a:off x="9710928" y="3017520"/>
            <a:ext cx="1792224" cy="164592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Pedidos lentos, incompletos, con errores y sin registro</a:t>
            </a:r>
            <a:endParaRPr lang="en-US" sz="1500" dirty="0"/>
          </a:p>
        </p:txBody>
      </p:sp>
      <p:sp>
        <p:nvSpPr>
          <p:cNvPr id="7" name="hueso-63"/>
          <p:cNvSpPr/>
          <p:nvPr/>
        </p:nvSpPr>
        <p:spPr>
          <a:xfrm>
            <a:off x="2743200" y="1828800"/>
            <a:ext cx="1097280" cy="2011680"/>
          </a:xfrm>
          <a:prstGeom prst="line">
            <a:avLst/>
          </a:prstGeom>
          <a:noFill/>
          <a:ln w="25400">
            <a:solidFill>
              <a:srgbClr val="1F6E5C"/>
            </a:solidFill>
            <a:prstDash val="solid"/>
          </a:ln>
        </p:spPr>
      </p:sp>
      <p:sp>
        <p:nvSpPr>
          <p:cNvPr id="8" name="categoria-64"/>
          <p:cNvSpPr/>
          <p:nvPr/>
        </p:nvSpPr>
        <p:spPr>
          <a:xfrm>
            <a:off x="1828800" y="1389888"/>
            <a:ext cx="1828800" cy="384048"/>
          </a:xfrm>
          <a:prstGeom prst="roundRect">
            <a:avLst>
              <a:gd name="adj" fmla="val 19048"/>
            </a:avLst>
          </a:prstGeom>
          <a:solidFill>
            <a:schemeClr val="tx2"/>
          </a:solidFill>
          <a:ln/>
        </p:spPr>
      </p:sp>
      <p:sp>
        <p:nvSpPr>
          <p:cNvPr id="9" name="Text 7"/>
          <p:cNvSpPr txBox="1"/>
          <p:nvPr/>
        </p:nvSpPr>
        <p:spPr>
          <a:xfrm>
            <a:off x="1828800" y="1389888"/>
            <a:ext cx="182880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MÉTODO</a:t>
            </a:r>
            <a:endParaRPr lang="en-US" sz="1300" dirty="0"/>
          </a:p>
        </p:txBody>
      </p:sp>
      <p:sp>
        <p:nvSpPr>
          <p:cNvPr id="10" name="Text 8"/>
          <p:cNvSpPr txBox="1"/>
          <p:nvPr/>
        </p:nvSpPr>
        <p:spPr>
          <a:xfrm>
            <a:off x="569422" y="210312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Pedido en mensajes sueltos</a:t>
            </a:r>
            <a:endParaRPr lang="en-US" sz="1400" dirty="0"/>
          </a:p>
        </p:txBody>
      </p:sp>
      <p:sp>
        <p:nvSpPr>
          <p:cNvPr id="11" name="Text 9"/>
          <p:cNvSpPr txBox="1"/>
          <p:nvPr/>
        </p:nvSpPr>
        <p:spPr>
          <a:xfrm>
            <a:off x="868680" y="265176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Sin formato de recibo</a:t>
            </a:r>
            <a:endParaRPr lang="en-US" sz="1400" dirty="0"/>
          </a:p>
        </p:txBody>
      </p:sp>
      <p:sp>
        <p:nvSpPr>
          <p:cNvPr id="12" name="Text 10"/>
          <p:cNvSpPr txBox="1"/>
          <p:nvPr/>
        </p:nvSpPr>
        <p:spPr>
          <a:xfrm>
            <a:off x="1167938" y="320040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Total sumado a mano</a:t>
            </a:r>
            <a:endParaRPr lang="en-US" sz="1400" dirty="0"/>
          </a:p>
        </p:txBody>
      </p:sp>
      <p:sp>
        <p:nvSpPr>
          <p:cNvPr id="13" name="hueso-65"/>
          <p:cNvSpPr/>
          <p:nvPr/>
        </p:nvSpPr>
        <p:spPr>
          <a:xfrm>
            <a:off x="5394960" y="1828800"/>
            <a:ext cx="1097280" cy="2011680"/>
          </a:xfrm>
          <a:prstGeom prst="line">
            <a:avLst/>
          </a:prstGeom>
          <a:noFill/>
          <a:ln w="25400">
            <a:solidFill>
              <a:srgbClr val="1F6E5C"/>
            </a:solidFill>
            <a:prstDash val="solid"/>
          </a:ln>
        </p:spPr>
      </p:sp>
      <p:sp>
        <p:nvSpPr>
          <p:cNvPr id="14" name="categoria-66"/>
          <p:cNvSpPr/>
          <p:nvPr/>
        </p:nvSpPr>
        <p:spPr>
          <a:xfrm>
            <a:off x="4480560" y="1389888"/>
            <a:ext cx="1828800" cy="384048"/>
          </a:xfrm>
          <a:prstGeom prst="roundRect">
            <a:avLst>
              <a:gd name="adj" fmla="val 19048"/>
            </a:avLst>
          </a:prstGeom>
          <a:solidFill>
            <a:schemeClr val="tx2"/>
          </a:solidFill>
          <a:ln/>
        </p:spPr>
      </p:sp>
      <p:sp>
        <p:nvSpPr>
          <p:cNvPr id="15" name="Text 13"/>
          <p:cNvSpPr txBox="1"/>
          <p:nvPr/>
        </p:nvSpPr>
        <p:spPr>
          <a:xfrm>
            <a:off x="4480560" y="1389888"/>
            <a:ext cx="182880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MANO DE OBRA</a:t>
            </a:r>
            <a:endParaRPr lang="en-US" sz="1300" dirty="0"/>
          </a:p>
        </p:txBody>
      </p:sp>
      <p:sp>
        <p:nvSpPr>
          <p:cNvPr id="16" name="Text 14"/>
          <p:cNvSpPr txBox="1"/>
          <p:nvPr/>
        </p:nvSpPr>
        <p:spPr>
          <a:xfrm>
            <a:off x="3221182" y="210312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Una persona atiende todo</a:t>
            </a:r>
            <a:endParaRPr lang="en-US" sz="1400" dirty="0"/>
          </a:p>
        </p:txBody>
      </p:sp>
      <p:sp>
        <p:nvSpPr>
          <p:cNvPr id="17" name="Text 15"/>
          <p:cNvSpPr txBox="1"/>
          <p:nvPr/>
        </p:nvSpPr>
        <p:spPr>
          <a:xfrm>
            <a:off x="3520440" y="265176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Chat compite con la cocina</a:t>
            </a:r>
            <a:endParaRPr lang="en-US" sz="1400" dirty="0"/>
          </a:p>
        </p:txBody>
      </p:sp>
      <p:sp>
        <p:nvSpPr>
          <p:cNvPr id="18" name="Text 16"/>
          <p:cNvSpPr txBox="1"/>
          <p:nvPr/>
        </p:nvSpPr>
        <p:spPr>
          <a:xfrm>
            <a:off x="3819698" y="320040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Saber técnico en uno solo</a:t>
            </a:r>
            <a:endParaRPr lang="en-US" sz="1400" dirty="0"/>
          </a:p>
        </p:txBody>
      </p:sp>
      <p:sp>
        <p:nvSpPr>
          <p:cNvPr id="19" name="hueso-67"/>
          <p:cNvSpPr/>
          <p:nvPr/>
        </p:nvSpPr>
        <p:spPr>
          <a:xfrm>
            <a:off x="8046720" y="1828800"/>
            <a:ext cx="1097280" cy="2011680"/>
          </a:xfrm>
          <a:prstGeom prst="line">
            <a:avLst/>
          </a:prstGeom>
          <a:noFill/>
          <a:ln w="25400">
            <a:solidFill>
              <a:srgbClr val="1F6E5C"/>
            </a:solidFill>
            <a:prstDash val="solid"/>
          </a:ln>
        </p:spPr>
      </p:sp>
      <p:sp>
        <p:nvSpPr>
          <p:cNvPr id="20" name="categoria-68"/>
          <p:cNvSpPr/>
          <p:nvPr/>
        </p:nvSpPr>
        <p:spPr>
          <a:xfrm>
            <a:off x="7132320" y="1389888"/>
            <a:ext cx="1828800" cy="384048"/>
          </a:xfrm>
          <a:prstGeom prst="roundRect">
            <a:avLst>
              <a:gd name="adj" fmla="val 19048"/>
            </a:avLst>
          </a:prstGeom>
          <a:solidFill>
            <a:schemeClr val="tx2"/>
          </a:solidFill>
          <a:ln/>
        </p:spPr>
      </p:sp>
      <p:sp>
        <p:nvSpPr>
          <p:cNvPr id="21" name="Text 19"/>
          <p:cNvSpPr txBox="1"/>
          <p:nvPr/>
        </p:nvSpPr>
        <p:spPr>
          <a:xfrm>
            <a:off x="7132320" y="1389888"/>
            <a:ext cx="182880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MEDICIÓN</a:t>
            </a:r>
            <a:endParaRPr lang="en-US" sz="1300" dirty="0"/>
          </a:p>
        </p:txBody>
      </p:sp>
      <p:sp>
        <p:nvSpPr>
          <p:cNvPr id="22" name="Text 20"/>
          <p:cNvSpPr txBox="1"/>
          <p:nvPr/>
        </p:nvSpPr>
        <p:spPr>
          <a:xfrm>
            <a:off x="5872942" y="210312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No se cuentan pedidos</a:t>
            </a:r>
            <a:endParaRPr lang="en-US" sz="1400" dirty="0"/>
          </a:p>
        </p:txBody>
      </p:sp>
      <p:sp>
        <p:nvSpPr>
          <p:cNvPr id="23" name="Text 21"/>
          <p:cNvSpPr txBox="1"/>
          <p:nvPr/>
        </p:nvSpPr>
        <p:spPr>
          <a:xfrm>
            <a:off x="6172200" y="265176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No se miden errores</a:t>
            </a:r>
            <a:endParaRPr lang="en-US" sz="1400" dirty="0"/>
          </a:p>
        </p:txBody>
      </p:sp>
      <p:sp>
        <p:nvSpPr>
          <p:cNvPr id="24" name="Text 22"/>
          <p:cNvSpPr txBox="1"/>
          <p:nvPr/>
        </p:nvSpPr>
        <p:spPr>
          <a:xfrm>
            <a:off x="6471458" y="320040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Sin datos de ventas</a:t>
            </a:r>
            <a:endParaRPr lang="en-US" sz="1400" dirty="0"/>
          </a:p>
        </p:txBody>
      </p:sp>
      <p:sp>
        <p:nvSpPr>
          <p:cNvPr id="25" name="hueso-69"/>
          <p:cNvSpPr/>
          <p:nvPr/>
        </p:nvSpPr>
        <p:spPr>
          <a:xfrm flipV="1">
            <a:off x="2743200" y="3840480"/>
            <a:ext cx="1097280" cy="2011680"/>
          </a:xfrm>
          <a:prstGeom prst="line">
            <a:avLst/>
          </a:prstGeom>
          <a:noFill/>
          <a:ln w="25400">
            <a:solidFill>
              <a:srgbClr val="1F6E5C"/>
            </a:solidFill>
            <a:prstDash val="solid"/>
          </a:ln>
        </p:spPr>
      </p:sp>
      <p:sp>
        <p:nvSpPr>
          <p:cNvPr id="26" name="categoria-70"/>
          <p:cNvSpPr/>
          <p:nvPr/>
        </p:nvSpPr>
        <p:spPr>
          <a:xfrm>
            <a:off x="1828800" y="5870448"/>
            <a:ext cx="1828800" cy="384048"/>
          </a:xfrm>
          <a:prstGeom prst="roundRect">
            <a:avLst>
              <a:gd name="adj" fmla="val 19048"/>
            </a:avLst>
          </a:prstGeom>
          <a:solidFill>
            <a:schemeClr val="tx2"/>
          </a:solidFill>
          <a:ln/>
        </p:spPr>
      </p:sp>
      <p:sp>
        <p:nvSpPr>
          <p:cNvPr id="27" name="Text 25"/>
          <p:cNvSpPr txBox="1"/>
          <p:nvPr/>
        </p:nvSpPr>
        <p:spPr>
          <a:xfrm>
            <a:off x="1828800" y="5870448"/>
            <a:ext cx="182880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TECNOLOGÍA</a:t>
            </a:r>
            <a:endParaRPr lang="en-US" sz="1300" dirty="0"/>
          </a:p>
        </p:txBody>
      </p:sp>
      <p:sp>
        <p:nvSpPr>
          <p:cNvPr id="28" name="Text 26"/>
          <p:cNvSpPr txBox="1"/>
          <p:nvPr/>
        </p:nvSpPr>
        <p:spPr>
          <a:xfrm>
            <a:off x="1167938" y="411480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Sin carta digital</a:t>
            </a:r>
            <a:endParaRPr lang="en-US" sz="1400" dirty="0"/>
          </a:p>
        </p:txBody>
      </p:sp>
      <p:sp>
        <p:nvSpPr>
          <p:cNvPr id="29" name="Text 27"/>
          <p:cNvSpPr txBox="1"/>
          <p:nvPr/>
        </p:nvSpPr>
        <p:spPr>
          <a:xfrm>
            <a:off x="868680" y="466344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Un solo celular</a:t>
            </a:r>
            <a:endParaRPr lang="en-US" sz="1400" dirty="0"/>
          </a:p>
        </p:txBody>
      </p:sp>
      <p:sp>
        <p:nvSpPr>
          <p:cNvPr id="30" name="Text 28"/>
          <p:cNvSpPr txBox="1"/>
          <p:nvPr/>
        </p:nvSpPr>
        <p:spPr>
          <a:xfrm>
            <a:off x="569422" y="521208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Sin registro digital</a:t>
            </a:r>
            <a:endParaRPr lang="en-US" sz="1400" dirty="0"/>
          </a:p>
        </p:txBody>
      </p:sp>
      <p:sp>
        <p:nvSpPr>
          <p:cNvPr id="31" name="hueso-71"/>
          <p:cNvSpPr/>
          <p:nvPr/>
        </p:nvSpPr>
        <p:spPr>
          <a:xfrm flipV="1">
            <a:off x="5394960" y="3840480"/>
            <a:ext cx="1097280" cy="2011680"/>
          </a:xfrm>
          <a:prstGeom prst="line">
            <a:avLst/>
          </a:prstGeom>
          <a:noFill/>
          <a:ln w="25400">
            <a:solidFill>
              <a:srgbClr val="1F6E5C"/>
            </a:solidFill>
            <a:prstDash val="solid"/>
          </a:ln>
        </p:spPr>
      </p:sp>
      <p:sp>
        <p:nvSpPr>
          <p:cNvPr id="32" name="categoria-72"/>
          <p:cNvSpPr/>
          <p:nvPr/>
        </p:nvSpPr>
        <p:spPr>
          <a:xfrm>
            <a:off x="4480560" y="5870448"/>
            <a:ext cx="1828800" cy="384048"/>
          </a:xfrm>
          <a:prstGeom prst="roundRect">
            <a:avLst>
              <a:gd name="adj" fmla="val 19048"/>
            </a:avLst>
          </a:prstGeom>
          <a:solidFill>
            <a:schemeClr val="tx2"/>
          </a:solidFill>
          <a:ln/>
        </p:spPr>
      </p:sp>
      <p:sp>
        <p:nvSpPr>
          <p:cNvPr id="33" name="Text 31"/>
          <p:cNvSpPr txBox="1"/>
          <p:nvPr/>
        </p:nvSpPr>
        <p:spPr>
          <a:xfrm>
            <a:off x="4480560" y="5870448"/>
            <a:ext cx="182880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INFORMACIÓN</a:t>
            </a:r>
            <a:endParaRPr lang="en-US" sz="1300" dirty="0"/>
          </a:p>
        </p:txBody>
      </p:sp>
      <p:sp>
        <p:nvSpPr>
          <p:cNvPr id="34" name="Text 32"/>
          <p:cNvSpPr txBox="1"/>
          <p:nvPr/>
        </p:nvSpPr>
        <p:spPr>
          <a:xfrm>
            <a:off x="3819698" y="411480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Carta reenviada en imagen</a:t>
            </a:r>
            <a:endParaRPr lang="en-US" sz="1400" dirty="0"/>
          </a:p>
        </p:txBody>
      </p:sp>
      <p:sp>
        <p:nvSpPr>
          <p:cNvPr id="35" name="Text 33"/>
          <p:cNvSpPr txBox="1"/>
          <p:nvPr/>
        </p:nvSpPr>
        <p:spPr>
          <a:xfrm>
            <a:off x="3520440" y="466344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Precios desactualizados</a:t>
            </a:r>
            <a:endParaRPr lang="en-US" sz="1400" dirty="0"/>
          </a:p>
        </p:txBody>
      </p:sp>
      <p:sp>
        <p:nvSpPr>
          <p:cNvPr id="36" name="Text 34"/>
          <p:cNvSpPr txBox="1"/>
          <p:nvPr/>
        </p:nvSpPr>
        <p:spPr>
          <a:xfrm>
            <a:off x="3221182" y="521208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Faltan datos de entrega</a:t>
            </a:r>
            <a:endParaRPr lang="en-US" sz="1400" dirty="0"/>
          </a:p>
        </p:txBody>
      </p:sp>
      <p:sp>
        <p:nvSpPr>
          <p:cNvPr id="37" name="hueso-73"/>
          <p:cNvSpPr/>
          <p:nvPr/>
        </p:nvSpPr>
        <p:spPr>
          <a:xfrm flipV="1">
            <a:off x="8046720" y="3840480"/>
            <a:ext cx="1097280" cy="2011680"/>
          </a:xfrm>
          <a:prstGeom prst="line">
            <a:avLst/>
          </a:prstGeom>
          <a:noFill/>
          <a:ln w="25400">
            <a:solidFill>
              <a:srgbClr val="1F6E5C"/>
            </a:solidFill>
            <a:prstDash val="solid"/>
          </a:ln>
        </p:spPr>
      </p:sp>
      <p:sp>
        <p:nvSpPr>
          <p:cNvPr id="38" name="categoria-74"/>
          <p:cNvSpPr/>
          <p:nvPr/>
        </p:nvSpPr>
        <p:spPr>
          <a:xfrm>
            <a:off x="7132320" y="5870448"/>
            <a:ext cx="1828800" cy="384048"/>
          </a:xfrm>
          <a:prstGeom prst="roundRect">
            <a:avLst>
              <a:gd name="adj" fmla="val 19048"/>
            </a:avLst>
          </a:prstGeom>
          <a:solidFill>
            <a:schemeClr val="tx2"/>
          </a:solidFill>
          <a:ln/>
        </p:spPr>
      </p:sp>
      <p:sp>
        <p:nvSpPr>
          <p:cNvPr id="39" name="Text 37"/>
          <p:cNvSpPr txBox="1"/>
          <p:nvPr/>
        </p:nvSpPr>
        <p:spPr>
          <a:xfrm>
            <a:off x="7132320" y="5870448"/>
            <a:ext cx="1828800"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ENTORNO</a:t>
            </a:r>
            <a:endParaRPr lang="en-US" sz="1300" dirty="0"/>
          </a:p>
        </p:txBody>
      </p:sp>
      <p:sp>
        <p:nvSpPr>
          <p:cNvPr id="40" name="Text 38"/>
          <p:cNvSpPr txBox="1"/>
          <p:nvPr/>
        </p:nvSpPr>
        <p:spPr>
          <a:xfrm>
            <a:off x="6471458" y="411480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Clientes esperan rapidez</a:t>
            </a:r>
            <a:endParaRPr lang="en-US" sz="1400" dirty="0"/>
          </a:p>
        </p:txBody>
      </p:sp>
      <p:sp>
        <p:nvSpPr>
          <p:cNvPr id="41" name="Text 39"/>
          <p:cNvSpPr txBox="1"/>
          <p:nvPr/>
        </p:nvSpPr>
        <p:spPr>
          <a:xfrm>
            <a:off x="6172200" y="466344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Competencia y apps</a:t>
            </a:r>
            <a:endParaRPr lang="en-US" sz="1400" dirty="0"/>
          </a:p>
        </p:txBody>
      </p:sp>
      <p:sp>
        <p:nvSpPr>
          <p:cNvPr id="42" name="Text 40"/>
          <p:cNvSpPr txBox="1"/>
          <p:nvPr/>
        </p:nvSpPr>
        <p:spPr>
          <a:xfrm>
            <a:off x="5872942" y="5212080"/>
            <a:ext cx="2331720" cy="365760"/>
          </a:xfrm>
          <a:prstGeom prst="rect">
            <a:avLst/>
          </a:prstGeom>
          <a:noFill/>
          <a:ln/>
        </p:spPr>
        <p:txBody>
          <a:bodyPr wrap="square" lIns="0" tIns="0" rIns="0" bIns="0" rtlCol="0" anchor="ctr"/>
          <a:lstStyle/>
          <a:p>
            <a:pPr algn="r" indent="0" marL="0">
              <a:buNone/>
            </a:pPr>
            <a:r>
              <a:rPr lang="en-US" sz="1400" dirty="0">
                <a:solidFill>
                  <a:schemeClr val="tx1"/>
                </a:solidFill>
                <a:latin typeface="Calibri" pitchFamily="34" charset="0"/>
                <a:ea typeface="Calibri" pitchFamily="34" charset="-122"/>
                <a:cs typeface="Calibri" pitchFamily="34" charset="-120"/>
              </a:rPr>
              <a:t>Picos de fin de semana</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OBJETIVOS</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Objetivos del proyecto</a:t>
            </a:r>
            <a:endParaRPr lang="en-US" sz="3200" dirty="0"/>
          </a:p>
        </p:txBody>
      </p:sp>
      <p:sp>
        <p:nvSpPr>
          <p:cNvPr id="4" name="card-75"/>
          <p:cNvSpPr/>
          <p:nvPr/>
        </p:nvSpPr>
        <p:spPr>
          <a:xfrm>
            <a:off x="548640" y="1463040"/>
            <a:ext cx="11064240" cy="1417320"/>
          </a:xfrm>
          <a:prstGeom prst="roundRect">
            <a:avLst>
              <a:gd name="adj" fmla="val 7742"/>
            </a:avLst>
          </a:prstGeom>
          <a:solidFill>
            <a:schemeClr val="tx1"/>
          </a:solidFill>
          <a:ln/>
        </p:spPr>
      </p:sp>
      <p:sp>
        <p:nvSpPr>
          <p:cNvPr id="5" name="Text 3"/>
          <p:cNvSpPr txBox="1"/>
          <p:nvPr/>
        </p:nvSpPr>
        <p:spPr>
          <a:xfrm>
            <a:off x="822960" y="1463040"/>
            <a:ext cx="10515600" cy="1417320"/>
          </a:xfrm>
          <a:prstGeom prst="rect">
            <a:avLst/>
          </a:prstGeom>
          <a:noFill/>
          <a:ln/>
        </p:spPr>
        <p:txBody>
          <a:bodyPr wrap="square" lIns="0" tIns="0" rIns="0" bIns="0" rtlCol="0" anchor="ctr"/>
          <a:lstStyle/>
          <a:p>
            <a:pPr indent="0" marL="0">
              <a:buNone/>
            </a:pPr>
            <a:r>
              <a:rPr lang="en-US" sz="1700" b="1" dirty="0">
                <a:solidFill>
                  <a:srgbClr val="F2B63D"/>
                </a:solidFill>
                <a:latin typeface="Calibri" pitchFamily="34" charset="0"/>
                <a:ea typeface="Calibri" pitchFamily="34" charset="-122"/>
                <a:cs typeface="Calibri" pitchFamily="34" charset="-120"/>
              </a:rPr>
              <a:t>Objetivo general. </a:t>
            </a:r>
            <a:pPr indent="0" marL="0">
              <a:buNone/>
            </a:pPr>
            <a:r>
              <a:rPr lang="en-US" sz="1700" dirty="0">
                <a:solidFill>
                  <a:schemeClr val="bg1"/>
                </a:solidFill>
                <a:latin typeface="Calibri" pitchFamily="34" charset="0"/>
                <a:ea typeface="Calibri" pitchFamily="34" charset="-122"/>
                <a:cs typeface="Calibri" pitchFamily="34" charset="-120"/>
              </a:rPr>
              <a:t>Implementar un sistema web en el que el cliente arme su pedido, se genere un recibo numerado que llegue por WhatsApp y cada pedido quede registrado, para reducir demoras, errores y pedidos perdidos.</a:t>
            </a:r>
            <a:endParaRPr lang="en-US" sz="1700" dirty="0"/>
          </a:p>
        </p:txBody>
      </p:sp>
      <p:sp>
        <p:nvSpPr>
          <p:cNvPr id="6" name="card-76"/>
          <p:cNvSpPr/>
          <p:nvPr/>
        </p:nvSpPr>
        <p:spPr>
          <a:xfrm>
            <a:off x="548640" y="3154680"/>
            <a:ext cx="3474720" cy="3017520"/>
          </a:xfrm>
          <a:prstGeom prst="roundRect">
            <a:avLst>
              <a:gd name="adj" fmla="val 3636"/>
            </a:avLst>
          </a:prstGeom>
          <a:solidFill>
            <a:schemeClr val="accent6"/>
          </a:solidFill>
          <a:ln/>
        </p:spPr>
      </p:sp>
      <p:sp>
        <p:nvSpPr>
          <p:cNvPr id="7" name="icono-fondo-77"/>
          <p:cNvSpPr/>
          <p:nvPr/>
        </p:nvSpPr>
        <p:spPr>
          <a:xfrm>
            <a:off x="822960" y="3429000"/>
            <a:ext cx="594360" cy="594360"/>
          </a:xfrm>
          <a:prstGeom prst="ellipse">
            <a:avLst/>
          </a:prstGeom>
          <a:solidFill>
            <a:schemeClr val="accent1"/>
          </a:solidFill>
          <a:ln/>
        </p:spPr>
      </p:sp>
      <p:pic>
        <p:nvPicPr>
          <p:cNvPr id="8" name="icono-78" descr="preencoded.png">    </p:cNvPr>
          <p:cNvPicPr>
            <a:picLocks noChangeAspect="1"/>
          </p:cNvPicPr>
          <p:nvPr/>
        </p:nvPicPr>
        <p:blipFill>
          <a:blip r:embed="rId1"/>
          <a:stretch>
            <a:fillRect/>
          </a:stretch>
        </p:blipFill>
        <p:spPr>
          <a:xfrm>
            <a:off x="965606" y="3571646"/>
            <a:ext cx="309067" cy="309067"/>
          </a:xfrm>
          <a:prstGeom prst="rect">
            <a:avLst/>
          </a:prstGeom>
        </p:spPr>
      </p:pic>
      <p:sp>
        <p:nvSpPr>
          <p:cNvPr id="9" name="Text 6"/>
          <p:cNvSpPr txBox="1"/>
          <p:nvPr/>
        </p:nvSpPr>
        <p:spPr>
          <a:xfrm>
            <a:off x="1554480" y="3474720"/>
            <a:ext cx="2194560" cy="50292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OE1</a:t>
            </a:r>
            <a:endParaRPr lang="en-US" sz="2600" dirty="0"/>
          </a:p>
        </p:txBody>
      </p:sp>
      <p:sp>
        <p:nvSpPr>
          <p:cNvPr id="10" name="Text 7"/>
          <p:cNvSpPr txBox="1"/>
          <p:nvPr/>
        </p:nvSpPr>
        <p:spPr>
          <a:xfrm>
            <a:off x="822960" y="4206240"/>
            <a:ext cx="2926080" cy="10058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Ordenar la toma de pedidos</a:t>
            </a:r>
            <a:endParaRPr lang="en-US" sz="1800" dirty="0"/>
          </a:p>
        </p:txBody>
      </p:sp>
      <p:sp>
        <p:nvSpPr>
          <p:cNvPr id="11" name="Text 8"/>
          <p:cNvSpPr txBox="1"/>
          <p:nvPr/>
        </p:nvSpPr>
        <p:spPr>
          <a:xfrm>
            <a:off x="822960" y="5394960"/>
            <a:ext cx="2926080" cy="5943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Ataca: método, información y mano de obra</a:t>
            </a:r>
            <a:endParaRPr lang="en-US" sz="1300" dirty="0"/>
          </a:p>
        </p:txBody>
      </p:sp>
      <p:sp>
        <p:nvSpPr>
          <p:cNvPr id="12" name="card-79"/>
          <p:cNvSpPr/>
          <p:nvPr/>
        </p:nvSpPr>
        <p:spPr>
          <a:xfrm>
            <a:off x="4297680" y="3154680"/>
            <a:ext cx="3474720" cy="3017520"/>
          </a:xfrm>
          <a:prstGeom prst="roundRect">
            <a:avLst>
              <a:gd name="adj" fmla="val 3636"/>
            </a:avLst>
          </a:prstGeom>
          <a:solidFill>
            <a:schemeClr val="accent6"/>
          </a:solidFill>
          <a:ln/>
        </p:spPr>
      </p:sp>
      <p:sp>
        <p:nvSpPr>
          <p:cNvPr id="13" name="icono-fondo-80"/>
          <p:cNvSpPr/>
          <p:nvPr/>
        </p:nvSpPr>
        <p:spPr>
          <a:xfrm>
            <a:off x="4572000" y="3429000"/>
            <a:ext cx="594360" cy="594360"/>
          </a:xfrm>
          <a:prstGeom prst="ellipse">
            <a:avLst/>
          </a:prstGeom>
          <a:solidFill>
            <a:schemeClr val="accent2"/>
          </a:solidFill>
          <a:ln/>
        </p:spPr>
      </p:sp>
      <p:pic>
        <p:nvPicPr>
          <p:cNvPr id="14" name="icono-81" descr="preencoded.png">    </p:cNvPr>
          <p:cNvPicPr>
            <a:picLocks noChangeAspect="1"/>
          </p:cNvPicPr>
          <p:nvPr/>
        </p:nvPicPr>
        <p:blipFill>
          <a:blip r:embed="rId2"/>
          <a:stretch>
            <a:fillRect/>
          </a:stretch>
        </p:blipFill>
        <p:spPr>
          <a:xfrm>
            <a:off x="4714646" y="3571646"/>
            <a:ext cx="309067" cy="309067"/>
          </a:xfrm>
          <a:prstGeom prst="rect">
            <a:avLst/>
          </a:prstGeom>
        </p:spPr>
      </p:pic>
      <p:sp>
        <p:nvSpPr>
          <p:cNvPr id="15" name="Text 11"/>
          <p:cNvSpPr txBox="1"/>
          <p:nvPr/>
        </p:nvSpPr>
        <p:spPr>
          <a:xfrm>
            <a:off x="5303520" y="3474720"/>
            <a:ext cx="2194560" cy="50292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OE2</a:t>
            </a:r>
            <a:endParaRPr lang="en-US" sz="2600" dirty="0"/>
          </a:p>
        </p:txBody>
      </p:sp>
      <p:sp>
        <p:nvSpPr>
          <p:cNvPr id="16" name="Text 12"/>
          <p:cNvSpPr txBox="1"/>
          <p:nvPr/>
        </p:nvSpPr>
        <p:spPr>
          <a:xfrm>
            <a:off x="4572000" y="4206240"/>
            <a:ext cx="2926080" cy="10058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Registrar los pedidos y facilitar la administración</a:t>
            </a:r>
            <a:endParaRPr lang="en-US" sz="1800" dirty="0"/>
          </a:p>
        </p:txBody>
      </p:sp>
      <p:sp>
        <p:nvSpPr>
          <p:cNvPr id="17" name="Text 13"/>
          <p:cNvSpPr txBox="1"/>
          <p:nvPr/>
        </p:nvSpPr>
        <p:spPr>
          <a:xfrm>
            <a:off x="4572000" y="5394960"/>
            <a:ext cx="2926080" cy="5943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Ataca: medición y tecnología</a:t>
            </a:r>
            <a:endParaRPr lang="en-US" sz="1300" dirty="0"/>
          </a:p>
        </p:txBody>
      </p:sp>
      <p:sp>
        <p:nvSpPr>
          <p:cNvPr id="18" name="card-82"/>
          <p:cNvSpPr/>
          <p:nvPr/>
        </p:nvSpPr>
        <p:spPr>
          <a:xfrm>
            <a:off x="8046720" y="3154680"/>
            <a:ext cx="3474720" cy="3017520"/>
          </a:xfrm>
          <a:prstGeom prst="roundRect">
            <a:avLst>
              <a:gd name="adj" fmla="val 3636"/>
            </a:avLst>
          </a:prstGeom>
          <a:solidFill>
            <a:schemeClr val="accent6"/>
          </a:solidFill>
          <a:ln/>
        </p:spPr>
      </p:sp>
      <p:sp>
        <p:nvSpPr>
          <p:cNvPr id="19" name="icono-fondo-83"/>
          <p:cNvSpPr/>
          <p:nvPr/>
        </p:nvSpPr>
        <p:spPr>
          <a:xfrm>
            <a:off x="8321040" y="3429000"/>
            <a:ext cx="594360" cy="594360"/>
          </a:xfrm>
          <a:prstGeom prst="ellipse">
            <a:avLst/>
          </a:prstGeom>
          <a:solidFill>
            <a:schemeClr val="tx2"/>
          </a:solidFill>
          <a:ln/>
        </p:spPr>
      </p:sp>
      <p:pic>
        <p:nvPicPr>
          <p:cNvPr id="20" name="icono-84" descr="preencoded.png">    </p:cNvPr>
          <p:cNvPicPr>
            <a:picLocks noChangeAspect="1"/>
          </p:cNvPicPr>
          <p:nvPr/>
        </p:nvPicPr>
        <p:blipFill>
          <a:blip r:embed="rId3"/>
          <a:stretch>
            <a:fillRect/>
          </a:stretch>
        </p:blipFill>
        <p:spPr>
          <a:xfrm>
            <a:off x="8463686" y="3571646"/>
            <a:ext cx="309067" cy="309067"/>
          </a:xfrm>
          <a:prstGeom prst="rect">
            <a:avLst/>
          </a:prstGeom>
        </p:spPr>
      </p:pic>
      <p:sp>
        <p:nvSpPr>
          <p:cNvPr id="21" name="Text 16"/>
          <p:cNvSpPr txBox="1"/>
          <p:nvPr/>
        </p:nvSpPr>
        <p:spPr>
          <a:xfrm>
            <a:off x="9052560" y="3474720"/>
            <a:ext cx="2194560" cy="502920"/>
          </a:xfrm>
          <a:prstGeom prst="rect">
            <a:avLst/>
          </a:prstGeom>
          <a:noFill/>
          <a:ln/>
        </p:spPr>
        <p:txBody>
          <a:bodyPr wrap="square" lIns="0" tIns="0" rIns="0" bIns="0" rtlCol="0" anchor="t"/>
          <a:lstStyle/>
          <a:p>
            <a:pPr indent="0" marL="0">
              <a:buNone/>
            </a:pPr>
            <a:r>
              <a:rPr lang="en-US" sz="2600" b="1" dirty="0">
                <a:solidFill>
                  <a:schemeClr val="tx2"/>
                </a:solidFill>
                <a:latin typeface="Cambria" pitchFamily="34" charset="0"/>
                <a:ea typeface="Cambria" pitchFamily="34" charset="-122"/>
                <a:cs typeface="Cambria" pitchFamily="34" charset="-120"/>
              </a:rPr>
              <a:t>OE3</a:t>
            </a:r>
            <a:endParaRPr lang="en-US" sz="2600" dirty="0"/>
          </a:p>
        </p:txBody>
      </p:sp>
      <p:sp>
        <p:nvSpPr>
          <p:cNvPr id="22" name="Text 17"/>
          <p:cNvSpPr txBox="1"/>
          <p:nvPr/>
        </p:nvSpPr>
        <p:spPr>
          <a:xfrm>
            <a:off x="8321040" y="4206240"/>
            <a:ext cx="2926080" cy="10058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Operar de forma segura, confiable y sin costo</a:t>
            </a:r>
            <a:endParaRPr lang="en-US" sz="1800" dirty="0"/>
          </a:p>
        </p:txBody>
      </p:sp>
      <p:sp>
        <p:nvSpPr>
          <p:cNvPr id="23" name="Text 18"/>
          <p:cNvSpPr txBox="1"/>
          <p:nvPr/>
        </p:nvSpPr>
        <p:spPr>
          <a:xfrm>
            <a:off x="8321040" y="5394960"/>
            <a:ext cx="2926080" cy="5943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Ataca: entorno y riesgo técnico</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ALCANCE Y PLAN</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Alcance y plan de ejecución</a:t>
            </a:r>
            <a:endParaRPr lang="en-US" sz="3200" dirty="0"/>
          </a:p>
        </p:txBody>
      </p:sp>
      <p:sp>
        <p:nvSpPr>
          <p:cNvPr id="4" name="card-85"/>
          <p:cNvSpPr/>
          <p:nvPr/>
        </p:nvSpPr>
        <p:spPr>
          <a:xfrm>
            <a:off x="548640" y="1463040"/>
            <a:ext cx="3566160" cy="2331720"/>
          </a:xfrm>
          <a:prstGeom prst="roundRect">
            <a:avLst>
              <a:gd name="adj" fmla="val 4706"/>
            </a:avLst>
          </a:prstGeom>
          <a:solidFill>
            <a:schemeClr val="accent6"/>
          </a:solidFill>
          <a:ln/>
        </p:spPr>
      </p:sp>
      <p:sp>
        <p:nvSpPr>
          <p:cNvPr id="5" name="Text 3"/>
          <p:cNvSpPr txBox="1"/>
          <p:nvPr/>
        </p:nvSpPr>
        <p:spPr>
          <a:xfrm>
            <a:off x="777240" y="1572768"/>
            <a:ext cx="31089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Incluye</a:t>
            </a:r>
            <a:endParaRPr lang="en-US" sz="1800" dirty="0"/>
          </a:p>
        </p:txBody>
      </p:sp>
      <p:sp>
        <p:nvSpPr>
          <p:cNvPr id="6" name="Text 4"/>
          <p:cNvSpPr txBox="1"/>
          <p:nvPr/>
        </p:nvSpPr>
        <p:spPr>
          <a:xfrm>
            <a:off x="777240" y="1965960"/>
            <a:ext cx="320040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Carta, carrito y mitades</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Recibo numerado a WhatsApp</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Planilla de pedidos y precios</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Protección y 44 pruebas</a:t>
            </a:r>
            <a:endParaRPr lang="en-US" sz="1400" dirty="0"/>
          </a:p>
        </p:txBody>
      </p:sp>
      <p:sp>
        <p:nvSpPr>
          <p:cNvPr id="7" name="card-86"/>
          <p:cNvSpPr/>
          <p:nvPr/>
        </p:nvSpPr>
        <p:spPr>
          <a:xfrm>
            <a:off x="548640" y="3931920"/>
            <a:ext cx="3566160" cy="2240280"/>
          </a:xfrm>
          <a:prstGeom prst="roundRect">
            <a:avLst>
              <a:gd name="adj" fmla="val 4898"/>
            </a:avLst>
          </a:prstGeom>
          <a:solidFill>
            <a:schemeClr val="bg2"/>
          </a:solidFill>
          <a:ln/>
        </p:spPr>
      </p:sp>
      <p:sp>
        <p:nvSpPr>
          <p:cNvPr id="8" name="Text 6"/>
          <p:cNvSpPr txBox="1"/>
          <p:nvPr/>
        </p:nvSpPr>
        <p:spPr>
          <a:xfrm>
            <a:off x="777240" y="4041648"/>
            <a:ext cx="3108960" cy="36576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No incluye (v2)</a:t>
            </a:r>
            <a:endParaRPr lang="en-US" sz="1800" dirty="0"/>
          </a:p>
        </p:txBody>
      </p:sp>
      <p:sp>
        <p:nvSpPr>
          <p:cNvPr id="9" name="Text 7"/>
          <p:cNvSpPr txBox="1"/>
          <p:nvPr/>
        </p:nvSpPr>
        <p:spPr>
          <a:xfrm>
            <a:off x="777240" y="4434840"/>
            <a:ext cx="320040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Pago en línea</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App móvil nativa</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Seguimiento en tiempo real</a:t>
            </a:r>
            <a:endParaRPr lang="en-US" sz="1400" dirty="0"/>
          </a:p>
          <a:p>
            <a:pPr marL="342900" indent="-342900">
              <a:spcAft>
                <a:spcPts val="300"/>
              </a:spcAft>
              <a:buSzPct val="100000"/>
              <a:buChar char="•"/>
            </a:pPr>
            <a:r>
              <a:rPr lang="en-US" sz="1400" dirty="0">
                <a:solidFill>
                  <a:schemeClr val="tx1"/>
                </a:solidFill>
                <a:latin typeface="Calibri" pitchFamily="34" charset="0"/>
                <a:ea typeface="Calibri" pitchFamily="34" charset="-122"/>
                <a:cs typeface="Calibri" pitchFamily="34" charset="-120"/>
              </a:rPr>
              <a:t>Más de un local</a:t>
            </a:r>
            <a:endParaRPr lang="en-US" sz="1400" dirty="0"/>
          </a:p>
        </p:txBody>
      </p:sp>
      <p:sp>
        <p:nvSpPr>
          <p:cNvPr id="10" name="Text 8"/>
          <p:cNvSpPr txBox="1"/>
          <p:nvPr/>
        </p:nvSpPr>
        <p:spPr>
          <a:xfrm>
            <a:off x="6903720" y="1417320"/>
            <a:ext cx="585216" cy="457200"/>
          </a:xfrm>
          <a:prstGeom prst="rect">
            <a:avLst/>
          </a:prstGeom>
          <a:noFill/>
          <a:ln/>
        </p:spPr>
        <p:txBody>
          <a:bodyPr wrap="square" lIns="0" tIns="0" rIns="0" bIns="0" rtlCol="0" anchor="ctr"/>
          <a:lstStyle/>
          <a:p>
            <a:pPr algn="ctr" indent="0" marL="0">
              <a:buNone/>
            </a:pPr>
            <a:r>
              <a:rPr lang="en-US" sz="1100" b="1" dirty="0">
                <a:solidFill>
                  <a:schemeClr val="accent4"/>
                </a:solidFill>
                <a:latin typeface="Calibri" pitchFamily="34" charset="0"/>
                <a:ea typeface="Calibri" pitchFamily="34" charset="-122"/>
                <a:cs typeface="Calibri" pitchFamily="34" charset="-120"/>
              </a:rPr>
              <a:t>Lun</a:t>
            </a:r>
            <a:endParaRPr lang="en-US" sz="1100" dirty="0"/>
          </a:p>
          <a:p>
            <a:pPr algn="ctr" indent="0" marL="0">
              <a:buNone/>
            </a:pPr>
            <a:r>
              <a:rPr lang="en-US" sz="1100" b="1" dirty="0">
                <a:solidFill>
                  <a:schemeClr val="accent4"/>
                </a:solidFill>
                <a:latin typeface="Calibri" pitchFamily="34" charset="0"/>
                <a:ea typeface="Calibri" pitchFamily="34" charset="-122"/>
                <a:cs typeface="Calibri" pitchFamily="34" charset="-120"/>
              </a:rPr>
              <a:t>05</a:t>
            </a:r>
            <a:endParaRPr lang="en-US" sz="1100" dirty="0"/>
          </a:p>
        </p:txBody>
      </p:sp>
      <p:sp>
        <p:nvSpPr>
          <p:cNvPr id="11" name="Text 9"/>
          <p:cNvSpPr txBox="1"/>
          <p:nvPr/>
        </p:nvSpPr>
        <p:spPr>
          <a:xfrm>
            <a:off x="7488936" y="1417320"/>
            <a:ext cx="585216" cy="457200"/>
          </a:xfrm>
          <a:prstGeom prst="rect">
            <a:avLst/>
          </a:prstGeom>
          <a:noFill/>
          <a:ln/>
        </p:spPr>
        <p:txBody>
          <a:bodyPr wrap="square" lIns="0" tIns="0" rIns="0" bIns="0" rtlCol="0" anchor="ctr"/>
          <a:lstStyle/>
          <a:p>
            <a:pPr algn="ctr" indent="0" marL="0">
              <a:buNone/>
            </a:pPr>
            <a:r>
              <a:rPr lang="en-US" sz="1100" b="1" dirty="0">
                <a:solidFill>
                  <a:schemeClr val="accent4"/>
                </a:solidFill>
                <a:latin typeface="Calibri" pitchFamily="34" charset="0"/>
                <a:ea typeface="Calibri" pitchFamily="34" charset="-122"/>
                <a:cs typeface="Calibri" pitchFamily="34" charset="-120"/>
              </a:rPr>
              <a:t>Mar</a:t>
            </a:r>
            <a:endParaRPr lang="en-US" sz="1100" dirty="0"/>
          </a:p>
          <a:p>
            <a:pPr algn="ctr" indent="0" marL="0">
              <a:buNone/>
            </a:pPr>
            <a:r>
              <a:rPr lang="en-US" sz="1100" b="1" dirty="0">
                <a:solidFill>
                  <a:schemeClr val="accent4"/>
                </a:solidFill>
                <a:latin typeface="Calibri" pitchFamily="34" charset="0"/>
                <a:ea typeface="Calibri" pitchFamily="34" charset="-122"/>
                <a:cs typeface="Calibri" pitchFamily="34" charset="-120"/>
              </a:rPr>
              <a:t>06</a:t>
            </a:r>
            <a:endParaRPr lang="en-US" sz="1100" dirty="0"/>
          </a:p>
        </p:txBody>
      </p:sp>
      <p:sp>
        <p:nvSpPr>
          <p:cNvPr id="12" name="Text 10"/>
          <p:cNvSpPr txBox="1"/>
          <p:nvPr/>
        </p:nvSpPr>
        <p:spPr>
          <a:xfrm>
            <a:off x="8074152" y="1417320"/>
            <a:ext cx="585216" cy="457200"/>
          </a:xfrm>
          <a:prstGeom prst="rect">
            <a:avLst/>
          </a:prstGeom>
          <a:noFill/>
          <a:ln/>
        </p:spPr>
        <p:txBody>
          <a:bodyPr wrap="square" lIns="0" tIns="0" rIns="0" bIns="0" rtlCol="0" anchor="ctr"/>
          <a:lstStyle/>
          <a:p>
            <a:pPr algn="ctr" indent="0" marL="0">
              <a:buNone/>
            </a:pPr>
            <a:r>
              <a:rPr lang="en-US" sz="1100" b="1" dirty="0">
                <a:solidFill>
                  <a:schemeClr val="accent4"/>
                </a:solidFill>
                <a:latin typeface="Calibri" pitchFamily="34" charset="0"/>
                <a:ea typeface="Calibri" pitchFamily="34" charset="-122"/>
                <a:cs typeface="Calibri" pitchFamily="34" charset="-120"/>
              </a:rPr>
              <a:t>Mié</a:t>
            </a:r>
            <a:endParaRPr lang="en-US" sz="1100" dirty="0"/>
          </a:p>
          <a:p>
            <a:pPr algn="ctr" indent="0" marL="0">
              <a:buNone/>
            </a:pPr>
            <a:r>
              <a:rPr lang="en-US" sz="1100" b="1" dirty="0">
                <a:solidFill>
                  <a:schemeClr val="accent4"/>
                </a:solidFill>
                <a:latin typeface="Calibri" pitchFamily="34" charset="0"/>
                <a:ea typeface="Calibri" pitchFamily="34" charset="-122"/>
                <a:cs typeface="Calibri" pitchFamily="34" charset="-120"/>
              </a:rPr>
              <a:t>07</a:t>
            </a:r>
            <a:endParaRPr lang="en-US" sz="1100" dirty="0"/>
          </a:p>
        </p:txBody>
      </p:sp>
      <p:sp>
        <p:nvSpPr>
          <p:cNvPr id="13" name="Text 11"/>
          <p:cNvSpPr txBox="1"/>
          <p:nvPr/>
        </p:nvSpPr>
        <p:spPr>
          <a:xfrm>
            <a:off x="8659368" y="1417320"/>
            <a:ext cx="585216" cy="457200"/>
          </a:xfrm>
          <a:prstGeom prst="rect">
            <a:avLst/>
          </a:prstGeom>
          <a:noFill/>
          <a:ln/>
        </p:spPr>
        <p:txBody>
          <a:bodyPr wrap="square" lIns="0" tIns="0" rIns="0" bIns="0" rtlCol="0" anchor="ctr"/>
          <a:lstStyle/>
          <a:p>
            <a:pPr algn="ctr" indent="0" marL="0">
              <a:buNone/>
            </a:pPr>
            <a:r>
              <a:rPr lang="en-US" sz="1100" b="1" dirty="0">
                <a:solidFill>
                  <a:schemeClr val="accent4"/>
                </a:solidFill>
                <a:latin typeface="Calibri" pitchFamily="34" charset="0"/>
                <a:ea typeface="Calibri" pitchFamily="34" charset="-122"/>
                <a:cs typeface="Calibri" pitchFamily="34" charset="-120"/>
              </a:rPr>
              <a:t>Jue</a:t>
            </a:r>
            <a:endParaRPr lang="en-US" sz="1100" dirty="0"/>
          </a:p>
          <a:p>
            <a:pPr algn="ctr" indent="0" marL="0">
              <a:buNone/>
            </a:pPr>
            <a:r>
              <a:rPr lang="en-US" sz="1100" b="1" dirty="0">
                <a:solidFill>
                  <a:schemeClr val="accent4"/>
                </a:solidFill>
                <a:latin typeface="Calibri" pitchFamily="34" charset="0"/>
                <a:ea typeface="Calibri" pitchFamily="34" charset="-122"/>
                <a:cs typeface="Calibri" pitchFamily="34" charset="-120"/>
              </a:rPr>
              <a:t>08</a:t>
            </a:r>
            <a:endParaRPr lang="en-US" sz="1100" dirty="0"/>
          </a:p>
        </p:txBody>
      </p:sp>
      <p:sp>
        <p:nvSpPr>
          <p:cNvPr id="14" name="Text 12"/>
          <p:cNvSpPr txBox="1"/>
          <p:nvPr/>
        </p:nvSpPr>
        <p:spPr>
          <a:xfrm>
            <a:off x="9244584" y="1417320"/>
            <a:ext cx="585216" cy="457200"/>
          </a:xfrm>
          <a:prstGeom prst="rect">
            <a:avLst/>
          </a:prstGeom>
          <a:noFill/>
          <a:ln/>
        </p:spPr>
        <p:txBody>
          <a:bodyPr wrap="square" lIns="0" tIns="0" rIns="0" bIns="0" rtlCol="0" anchor="ctr"/>
          <a:lstStyle/>
          <a:p>
            <a:pPr algn="ctr" indent="0" marL="0">
              <a:buNone/>
            </a:pPr>
            <a:r>
              <a:rPr lang="en-US" sz="1100" b="1" dirty="0">
                <a:solidFill>
                  <a:schemeClr val="accent4"/>
                </a:solidFill>
                <a:latin typeface="Calibri" pitchFamily="34" charset="0"/>
                <a:ea typeface="Calibri" pitchFamily="34" charset="-122"/>
                <a:cs typeface="Calibri" pitchFamily="34" charset="-120"/>
              </a:rPr>
              <a:t>Vie</a:t>
            </a:r>
            <a:endParaRPr lang="en-US" sz="1100" dirty="0"/>
          </a:p>
          <a:p>
            <a:pPr algn="ctr" indent="0" marL="0">
              <a:buNone/>
            </a:pPr>
            <a:r>
              <a:rPr lang="en-US" sz="1100" b="1" dirty="0">
                <a:solidFill>
                  <a:schemeClr val="accent4"/>
                </a:solidFill>
                <a:latin typeface="Calibri" pitchFamily="34" charset="0"/>
                <a:ea typeface="Calibri" pitchFamily="34" charset="-122"/>
                <a:cs typeface="Calibri" pitchFamily="34" charset="-120"/>
              </a:rPr>
              <a:t>09</a:t>
            </a:r>
            <a:endParaRPr lang="en-US" sz="1100" dirty="0"/>
          </a:p>
        </p:txBody>
      </p:sp>
      <p:sp>
        <p:nvSpPr>
          <p:cNvPr id="15" name="Text 13"/>
          <p:cNvSpPr txBox="1"/>
          <p:nvPr/>
        </p:nvSpPr>
        <p:spPr>
          <a:xfrm>
            <a:off x="9829800" y="1417320"/>
            <a:ext cx="585216" cy="457200"/>
          </a:xfrm>
          <a:prstGeom prst="rect">
            <a:avLst/>
          </a:prstGeom>
          <a:noFill/>
          <a:ln/>
        </p:spPr>
        <p:txBody>
          <a:bodyPr wrap="square" lIns="0" tIns="0" rIns="0" bIns="0" rtlCol="0" anchor="ctr"/>
          <a:lstStyle/>
          <a:p>
            <a:pPr algn="ctr" indent="0" marL="0">
              <a:buNone/>
            </a:pPr>
            <a:r>
              <a:rPr lang="en-US" sz="1100" b="1" dirty="0">
                <a:solidFill>
                  <a:schemeClr val="accent4"/>
                </a:solidFill>
                <a:latin typeface="Calibri" pitchFamily="34" charset="0"/>
                <a:ea typeface="Calibri" pitchFamily="34" charset="-122"/>
                <a:cs typeface="Calibri" pitchFamily="34" charset="-120"/>
              </a:rPr>
              <a:t>Sáb</a:t>
            </a:r>
            <a:endParaRPr lang="en-US" sz="1100" dirty="0"/>
          </a:p>
          <a:p>
            <a:pPr algn="ctr" indent="0" marL="0">
              <a:buNone/>
            </a:pPr>
            <a:r>
              <a:rPr lang="en-US" sz="1100" b="1" dirty="0">
                <a:solidFill>
                  <a:schemeClr val="accent4"/>
                </a:solidFill>
                <a:latin typeface="Calibri" pitchFamily="34" charset="0"/>
                <a:ea typeface="Calibri" pitchFamily="34" charset="-122"/>
                <a:cs typeface="Calibri" pitchFamily="34" charset="-120"/>
              </a:rPr>
              <a:t>10</a:t>
            </a:r>
            <a:endParaRPr lang="en-US" sz="1100" dirty="0"/>
          </a:p>
        </p:txBody>
      </p:sp>
      <p:sp>
        <p:nvSpPr>
          <p:cNvPr id="16" name="Text 14"/>
          <p:cNvSpPr txBox="1"/>
          <p:nvPr/>
        </p:nvSpPr>
        <p:spPr>
          <a:xfrm>
            <a:off x="10415016" y="1417320"/>
            <a:ext cx="585216" cy="457200"/>
          </a:xfrm>
          <a:prstGeom prst="rect">
            <a:avLst/>
          </a:prstGeom>
          <a:noFill/>
          <a:ln/>
        </p:spPr>
        <p:txBody>
          <a:bodyPr wrap="square" lIns="0" tIns="0" rIns="0" bIns="0" rtlCol="0" anchor="ctr"/>
          <a:lstStyle/>
          <a:p>
            <a:pPr algn="ctr" indent="0" marL="0">
              <a:buNone/>
            </a:pPr>
            <a:r>
              <a:rPr lang="en-US" sz="1100" b="1" dirty="0">
                <a:solidFill>
                  <a:schemeClr val="accent4"/>
                </a:solidFill>
                <a:latin typeface="Calibri" pitchFamily="34" charset="0"/>
                <a:ea typeface="Calibri" pitchFamily="34" charset="-122"/>
                <a:cs typeface="Calibri" pitchFamily="34" charset="-120"/>
              </a:rPr>
              <a:t>Dom</a:t>
            </a:r>
            <a:endParaRPr lang="en-US" sz="1100" dirty="0"/>
          </a:p>
          <a:p>
            <a:pPr algn="ctr" indent="0" marL="0">
              <a:buNone/>
            </a:pPr>
            <a:r>
              <a:rPr lang="en-US" sz="1100" b="1" dirty="0">
                <a:solidFill>
                  <a:schemeClr val="accent4"/>
                </a:solidFill>
                <a:latin typeface="Calibri" pitchFamily="34" charset="0"/>
                <a:ea typeface="Calibri" pitchFamily="34" charset="-122"/>
                <a:cs typeface="Calibri" pitchFamily="34" charset="-120"/>
              </a:rPr>
              <a:t>11</a:t>
            </a:r>
            <a:endParaRPr lang="en-US" sz="1100" dirty="0"/>
          </a:p>
        </p:txBody>
      </p:sp>
      <p:sp>
        <p:nvSpPr>
          <p:cNvPr id="17" name="Text 15"/>
          <p:cNvSpPr txBox="1"/>
          <p:nvPr/>
        </p:nvSpPr>
        <p:spPr>
          <a:xfrm>
            <a:off x="11000232" y="1417320"/>
            <a:ext cx="585216" cy="457200"/>
          </a:xfrm>
          <a:prstGeom prst="rect">
            <a:avLst/>
          </a:prstGeom>
          <a:noFill/>
          <a:ln/>
        </p:spPr>
        <p:txBody>
          <a:bodyPr wrap="square" lIns="0" tIns="0" rIns="0" bIns="0" rtlCol="0" anchor="ctr"/>
          <a:lstStyle/>
          <a:p>
            <a:pPr algn="ctr" indent="0" marL="0">
              <a:buNone/>
            </a:pPr>
            <a:r>
              <a:rPr lang="en-US" sz="1100" b="1" dirty="0">
                <a:solidFill>
                  <a:schemeClr val="accent3"/>
                </a:solidFill>
                <a:latin typeface="Calibri" pitchFamily="34" charset="0"/>
                <a:ea typeface="Calibri" pitchFamily="34" charset="-122"/>
                <a:cs typeface="Calibri" pitchFamily="34" charset="-120"/>
              </a:rPr>
              <a:t>Mar</a:t>
            </a:r>
            <a:endParaRPr lang="en-US" sz="1100" dirty="0"/>
          </a:p>
          <a:p>
            <a:pPr algn="ctr" indent="0" marL="0">
              <a:buNone/>
            </a:pPr>
            <a:r>
              <a:rPr lang="en-US" sz="1100" b="1" dirty="0">
                <a:solidFill>
                  <a:schemeClr val="accent3"/>
                </a:solidFill>
                <a:latin typeface="Calibri" pitchFamily="34" charset="0"/>
                <a:ea typeface="Calibri" pitchFamily="34" charset="-122"/>
                <a:cs typeface="Calibri" pitchFamily="34" charset="-120"/>
              </a:rPr>
              <a:t>13</a:t>
            </a:r>
            <a:endParaRPr lang="en-US" sz="1100" dirty="0"/>
          </a:p>
        </p:txBody>
      </p:sp>
      <p:sp>
        <p:nvSpPr>
          <p:cNvPr id="18" name="fila-87"/>
          <p:cNvSpPr/>
          <p:nvPr/>
        </p:nvSpPr>
        <p:spPr>
          <a:xfrm>
            <a:off x="4343400" y="1920240"/>
            <a:ext cx="7242048" cy="429768"/>
          </a:xfrm>
          <a:prstGeom prst="rect">
            <a:avLst/>
          </a:prstGeom>
          <a:solidFill>
            <a:schemeClr val="accent6"/>
          </a:solidFill>
          <a:ln/>
        </p:spPr>
      </p:sp>
      <p:sp>
        <p:nvSpPr>
          <p:cNvPr id="19" name="Text 17"/>
          <p:cNvSpPr txBox="1"/>
          <p:nvPr/>
        </p:nvSpPr>
        <p:spPr>
          <a:xfrm>
            <a:off x="4416552" y="1920240"/>
            <a:ext cx="2514600" cy="4297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Análisis y requisitos</a:t>
            </a:r>
            <a:endParaRPr lang="en-US" sz="1300" dirty="0"/>
          </a:p>
        </p:txBody>
      </p:sp>
      <p:sp>
        <p:nvSpPr>
          <p:cNvPr id="20" name="barra-88"/>
          <p:cNvSpPr/>
          <p:nvPr/>
        </p:nvSpPr>
        <p:spPr>
          <a:xfrm>
            <a:off x="6940296" y="2029968"/>
            <a:ext cx="1097280" cy="210312"/>
          </a:xfrm>
          <a:prstGeom prst="roundRect">
            <a:avLst>
              <a:gd name="adj" fmla="val 26087"/>
            </a:avLst>
          </a:prstGeom>
          <a:solidFill>
            <a:schemeClr val="accent4"/>
          </a:solidFill>
          <a:ln/>
        </p:spPr>
      </p:sp>
      <p:sp>
        <p:nvSpPr>
          <p:cNvPr id="21" name="Text 19"/>
          <p:cNvSpPr txBox="1"/>
          <p:nvPr/>
        </p:nvSpPr>
        <p:spPr>
          <a:xfrm>
            <a:off x="4416552" y="2350008"/>
            <a:ext cx="2514600" cy="4297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Diseño y arquitectura</a:t>
            </a:r>
            <a:endParaRPr lang="en-US" sz="1300" dirty="0"/>
          </a:p>
        </p:txBody>
      </p:sp>
      <p:sp>
        <p:nvSpPr>
          <p:cNvPr id="22" name="barra-89"/>
          <p:cNvSpPr/>
          <p:nvPr/>
        </p:nvSpPr>
        <p:spPr>
          <a:xfrm>
            <a:off x="6940296" y="2459736"/>
            <a:ext cx="512064" cy="210312"/>
          </a:xfrm>
          <a:prstGeom prst="roundRect">
            <a:avLst>
              <a:gd name="adj" fmla="val 26087"/>
            </a:avLst>
          </a:prstGeom>
          <a:solidFill>
            <a:schemeClr val="accent4"/>
          </a:solidFill>
          <a:ln/>
        </p:spPr>
      </p:sp>
      <p:sp>
        <p:nvSpPr>
          <p:cNvPr id="23" name="fila-90"/>
          <p:cNvSpPr/>
          <p:nvPr/>
        </p:nvSpPr>
        <p:spPr>
          <a:xfrm>
            <a:off x="4343400" y="2779776"/>
            <a:ext cx="7242048" cy="429768"/>
          </a:xfrm>
          <a:prstGeom prst="rect">
            <a:avLst/>
          </a:prstGeom>
          <a:solidFill>
            <a:schemeClr val="accent6"/>
          </a:solidFill>
          <a:ln/>
        </p:spPr>
      </p:sp>
      <p:sp>
        <p:nvSpPr>
          <p:cNvPr id="24" name="Text 22"/>
          <p:cNvSpPr txBox="1"/>
          <p:nvPr/>
        </p:nvSpPr>
        <p:spPr>
          <a:xfrm>
            <a:off x="4416552" y="2779776"/>
            <a:ext cx="2514600" cy="4297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Inc. 1–2: carta y carrito</a:t>
            </a:r>
            <a:endParaRPr lang="en-US" sz="1300" dirty="0"/>
          </a:p>
        </p:txBody>
      </p:sp>
      <p:sp>
        <p:nvSpPr>
          <p:cNvPr id="25" name="barra-91"/>
          <p:cNvSpPr/>
          <p:nvPr/>
        </p:nvSpPr>
        <p:spPr>
          <a:xfrm>
            <a:off x="6940296" y="2889504"/>
            <a:ext cx="1097280" cy="210312"/>
          </a:xfrm>
          <a:prstGeom prst="roundRect">
            <a:avLst>
              <a:gd name="adj" fmla="val 26087"/>
            </a:avLst>
          </a:prstGeom>
          <a:solidFill>
            <a:schemeClr val="accent1"/>
          </a:solidFill>
          <a:ln/>
        </p:spPr>
      </p:sp>
      <p:sp>
        <p:nvSpPr>
          <p:cNvPr id="26" name="Text 24"/>
          <p:cNvSpPr txBox="1"/>
          <p:nvPr/>
        </p:nvSpPr>
        <p:spPr>
          <a:xfrm>
            <a:off x="4416552" y="3209544"/>
            <a:ext cx="2514600" cy="4297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Inc. 3–4: recibo y backend</a:t>
            </a:r>
            <a:endParaRPr lang="en-US" sz="1300" dirty="0"/>
          </a:p>
        </p:txBody>
      </p:sp>
      <p:sp>
        <p:nvSpPr>
          <p:cNvPr id="27" name="barra-92"/>
          <p:cNvSpPr/>
          <p:nvPr/>
        </p:nvSpPr>
        <p:spPr>
          <a:xfrm>
            <a:off x="7525512" y="3319272"/>
            <a:ext cx="512064" cy="210312"/>
          </a:xfrm>
          <a:prstGeom prst="roundRect">
            <a:avLst>
              <a:gd name="adj" fmla="val 26087"/>
            </a:avLst>
          </a:prstGeom>
          <a:solidFill>
            <a:schemeClr val="accent1"/>
          </a:solidFill>
          <a:ln/>
        </p:spPr>
      </p:sp>
      <p:sp>
        <p:nvSpPr>
          <p:cNvPr id="28" name="fila-93"/>
          <p:cNvSpPr/>
          <p:nvPr/>
        </p:nvSpPr>
        <p:spPr>
          <a:xfrm>
            <a:off x="4343400" y="3639312"/>
            <a:ext cx="7242048" cy="429768"/>
          </a:xfrm>
          <a:prstGeom prst="rect">
            <a:avLst/>
          </a:prstGeom>
          <a:solidFill>
            <a:schemeClr val="accent6"/>
          </a:solidFill>
          <a:ln/>
        </p:spPr>
      </p:sp>
      <p:sp>
        <p:nvSpPr>
          <p:cNvPr id="29" name="Text 27"/>
          <p:cNvSpPr txBox="1"/>
          <p:nvPr/>
        </p:nvSpPr>
        <p:spPr>
          <a:xfrm>
            <a:off x="4416552" y="3639312"/>
            <a:ext cx="2514600" cy="4297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Pruebas y publicación</a:t>
            </a:r>
            <a:endParaRPr lang="en-US" sz="1300" dirty="0"/>
          </a:p>
        </p:txBody>
      </p:sp>
      <p:sp>
        <p:nvSpPr>
          <p:cNvPr id="30" name="barra-94"/>
          <p:cNvSpPr/>
          <p:nvPr/>
        </p:nvSpPr>
        <p:spPr>
          <a:xfrm>
            <a:off x="7525512" y="3749040"/>
            <a:ext cx="512064" cy="210312"/>
          </a:xfrm>
          <a:prstGeom prst="roundRect">
            <a:avLst>
              <a:gd name="adj" fmla="val 26087"/>
            </a:avLst>
          </a:prstGeom>
          <a:solidFill>
            <a:schemeClr val="accent2"/>
          </a:solidFill>
          <a:ln/>
        </p:spPr>
      </p:sp>
      <p:sp>
        <p:nvSpPr>
          <p:cNvPr id="31" name="Text 29"/>
          <p:cNvSpPr txBox="1"/>
          <p:nvPr/>
        </p:nvSpPr>
        <p:spPr>
          <a:xfrm>
            <a:off x="4416552" y="4069080"/>
            <a:ext cx="2514600" cy="4297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Validación con el negocio</a:t>
            </a:r>
            <a:endParaRPr lang="en-US" sz="1300" dirty="0"/>
          </a:p>
        </p:txBody>
      </p:sp>
      <p:sp>
        <p:nvSpPr>
          <p:cNvPr id="32" name="barra-95"/>
          <p:cNvSpPr/>
          <p:nvPr/>
        </p:nvSpPr>
        <p:spPr>
          <a:xfrm>
            <a:off x="8110728" y="4178808"/>
            <a:ext cx="512064" cy="210312"/>
          </a:xfrm>
          <a:prstGeom prst="roundRect">
            <a:avLst>
              <a:gd name="adj" fmla="val 26087"/>
            </a:avLst>
          </a:prstGeom>
          <a:solidFill>
            <a:schemeClr val="tx2"/>
          </a:solidFill>
          <a:ln/>
        </p:spPr>
      </p:sp>
      <p:sp>
        <p:nvSpPr>
          <p:cNvPr id="33" name="fila-96"/>
          <p:cNvSpPr/>
          <p:nvPr/>
        </p:nvSpPr>
        <p:spPr>
          <a:xfrm>
            <a:off x="4343400" y="4498848"/>
            <a:ext cx="7242048" cy="429768"/>
          </a:xfrm>
          <a:prstGeom prst="rect">
            <a:avLst/>
          </a:prstGeom>
          <a:solidFill>
            <a:schemeClr val="accent6"/>
          </a:solidFill>
          <a:ln/>
        </p:spPr>
      </p:sp>
      <p:sp>
        <p:nvSpPr>
          <p:cNvPr id="34" name="Text 32"/>
          <p:cNvSpPr txBox="1"/>
          <p:nvPr/>
        </p:nvSpPr>
        <p:spPr>
          <a:xfrm>
            <a:off x="4416552" y="4498848"/>
            <a:ext cx="2514600" cy="4297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Evaluación y documentos</a:t>
            </a:r>
            <a:endParaRPr lang="en-US" sz="1300" dirty="0"/>
          </a:p>
        </p:txBody>
      </p:sp>
      <p:sp>
        <p:nvSpPr>
          <p:cNvPr id="35" name="barra-97"/>
          <p:cNvSpPr/>
          <p:nvPr/>
        </p:nvSpPr>
        <p:spPr>
          <a:xfrm>
            <a:off x="8110728" y="4608576"/>
            <a:ext cx="1097280" cy="210312"/>
          </a:xfrm>
          <a:prstGeom prst="roundRect">
            <a:avLst>
              <a:gd name="adj" fmla="val 26087"/>
            </a:avLst>
          </a:prstGeom>
          <a:solidFill>
            <a:schemeClr val="tx2"/>
          </a:solidFill>
          <a:ln/>
        </p:spPr>
      </p:sp>
      <p:sp>
        <p:nvSpPr>
          <p:cNvPr id="36" name="Text 34"/>
          <p:cNvSpPr txBox="1"/>
          <p:nvPr/>
        </p:nvSpPr>
        <p:spPr>
          <a:xfrm>
            <a:off x="4416552" y="4928616"/>
            <a:ext cx="2514600" cy="4297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Pedido real y medición</a:t>
            </a:r>
            <a:endParaRPr lang="en-US" sz="1300" dirty="0"/>
          </a:p>
        </p:txBody>
      </p:sp>
      <p:sp>
        <p:nvSpPr>
          <p:cNvPr id="37" name="barra-98"/>
          <p:cNvSpPr/>
          <p:nvPr/>
        </p:nvSpPr>
        <p:spPr>
          <a:xfrm>
            <a:off x="8695944" y="5038344"/>
            <a:ext cx="2267712" cy="210312"/>
          </a:xfrm>
          <a:prstGeom prst="roundRect">
            <a:avLst>
              <a:gd name="adj" fmla="val 26087"/>
            </a:avLst>
          </a:prstGeom>
          <a:solidFill>
            <a:schemeClr val="accent2"/>
          </a:solidFill>
          <a:ln/>
        </p:spPr>
      </p:sp>
      <p:sp>
        <p:nvSpPr>
          <p:cNvPr id="38" name="fila-99"/>
          <p:cNvSpPr/>
          <p:nvPr/>
        </p:nvSpPr>
        <p:spPr>
          <a:xfrm>
            <a:off x="4343400" y="5358384"/>
            <a:ext cx="7242048" cy="429768"/>
          </a:xfrm>
          <a:prstGeom prst="rect">
            <a:avLst/>
          </a:prstGeom>
          <a:solidFill>
            <a:schemeClr val="accent6"/>
          </a:solidFill>
          <a:ln/>
        </p:spPr>
      </p:sp>
      <p:sp>
        <p:nvSpPr>
          <p:cNvPr id="39" name="Text 37"/>
          <p:cNvSpPr txBox="1"/>
          <p:nvPr/>
        </p:nvSpPr>
        <p:spPr>
          <a:xfrm>
            <a:off x="4416552" y="5358384"/>
            <a:ext cx="2514600" cy="429768"/>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Presentación y ensayo</a:t>
            </a:r>
            <a:endParaRPr lang="en-US" sz="1300" dirty="0"/>
          </a:p>
        </p:txBody>
      </p:sp>
      <p:sp>
        <p:nvSpPr>
          <p:cNvPr id="40" name="barra-100"/>
          <p:cNvSpPr/>
          <p:nvPr/>
        </p:nvSpPr>
        <p:spPr>
          <a:xfrm>
            <a:off x="8110728" y="5468112"/>
            <a:ext cx="2852928" cy="210312"/>
          </a:xfrm>
          <a:prstGeom prst="roundRect">
            <a:avLst>
              <a:gd name="adj" fmla="val 26087"/>
            </a:avLst>
          </a:prstGeom>
          <a:solidFill>
            <a:schemeClr val="tx1"/>
          </a:solidFill>
          <a:ln/>
        </p:spPr>
      </p:sp>
      <p:sp>
        <p:nvSpPr>
          <p:cNvPr id="41" name="hito-101"/>
          <p:cNvSpPr/>
          <p:nvPr/>
        </p:nvSpPr>
        <p:spPr>
          <a:xfrm>
            <a:off x="8074152" y="1874520"/>
            <a:ext cx="0" cy="3959352"/>
          </a:xfrm>
          <a:prstGeom prst="line">
            <a:avLst/>
          </a:prstGeom>
          <a:noFill/>
          <a:ln w="15875">
            <a:solidFill>
              <a:srgbClr val="2B2420"/>
            </a:solidFill>
            <a:prstDash val="dash"/>
          </a:ln>
        </p:spPr>
      </p:sp>
      <p:sp>
        <p:nvSpPr>
          <p:cNvPr id="42" name="hito-102"/>
          <p:cNvSpPr/>
          <p:nvPr/>
        </p:nvSpPr>
        <p:spPr>
          <a:xfrm>
            <a:off x="11292840" y="1874520"/>
            <a:ext cx="0" cy="3959352"/>
          </a:xfrm>
          <a:prstGeom prst="line">
            <a:avLst/>
          </a:prstGeom>
          <a:noFill/>
          <a:ln w="19050">
            <a:solidFill>
              <a:schemeClr val="accent3"/>
            </a:solidFill>
            <a:prstDash val="dash"/>
          </a:ln>
        </p:spPr>
      </p:sp>
      <p:sp>
        <p:nvSpPr>
          <p:cNvPr id="43" name="Text 41"/>
          <p:cNvSpPr txBox="1"/>
          <p:nvPr/>
        </p:nvSpPr>
        <p:spPr>
          <a:xfrm>
            <a:off x="8028432" y="5897880"/>
            <a:ext cx="173736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 Publicado 06/10</a:t>
            </a:r>
            <a:endParaRPr lang="en-US" sz="1200" dirty="0"/>
          </a:p>
        </p:txBody>
      </p:sp>
      <p:sp>
        <p:nvSpPr>
          <p:cNvPr id="44" name="Text 42"/>
          <p:cNvSpPr txBox="1"/>
          <p:nvPr/>
        </p:nvSpPr>
        <p:spPr>
          <a:xfrm>
            <a:off x="9966960" y="5897880"/>
            <a:ext cx="1280160" cy="274320"/>
          </a:xfrm>
          <a:prstGeom prst="rect">
            <a:avLst/>
          </a:prstGeom>
          <a:noFill/>
          <a:ln/>
        </p:spPr>
        <p:txBody>
          <a:bodyPr wrap="square" lIns="0" tIns="0" rIns="0" bIns="0" rtlCol="0" anchor="t"/>
          <a:lstStyle/>
          <a:p>
            <a:pPr algn="r" indent="0" marL="0">
              <a:buNone/>
            </a:pPr>
            <a:r>
              <a:rPr lang="en-US" sz="1200" b="1" dirty="0">
                <a:solidFill>
                  <a:schemeClr val="accent3"/>
                </a:solidFill>
                <a:latin typeface="Calibri" pitchFamily="34" charset="0"/>
                <a:ea typeface="Calibri" pitchFamily="34" charset="-122"/>
                <a:cs typeface="Calibri" pitchFamily="34" charset="-120"/>
              </a:rPr>
              <a:t>Expo 13/10 ▲</a:t>
            </a:r>
            <a:endParaRPr lang="en-US" sz="1200" dirty="0"/>
          </a:p>
        </p:txBody>
      </p:sp>
      <p:sp>
        <p:nvSpPr>
          <p:cNvPr id="45" name="Text 43"/>
          <p:cNvSpPr txBox="1"/>
          <p:nvPr/>
        </p:nvSpPr>
        <p:spPr>
          <a:xfrm>
            <a:off x="4343400" y="6199632"/>
            <a:ext cx="7223760" cy="274320"/>
          </a:xfrm>
          <a:prstGeom prst="rect">
            <a:avLst/>
          </a:prstGeom>
          <a:noFill/>
          <a:ln/>
        </p:spPr>
        <p:txBody>
          <a:bodyPr wrap="square" lIns="0" tIns="0" rIns="0" bIns="0" rtlCol="0" anchor="t"/>
          <a:lstStyle/>
          <a:p>
            <a:pPr indent="0" marL="0">
              <a:buNone/>
            </a:pPr>
            <a:r>
              <a:rPr lang="en-US" sz="1200" i="1" dirty="0">
                <a:solidFill>
                  <a:schemeClr val="accent4"/>
                </a:solidFill>
                <a:latin typeface="Calibri" pitchFamily="34" charset="0"/>
                <a:ea typeface="Calibri" pitchFamily="34" charset="-122"/>
                <a:cs typeface="Calibri" pitchFamily="34" charset="-120"/>
              </a:rPr>
              <a:t>Todas las tareas terminan el domingo 11/10.</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PRESUPUESTO</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Presupuesto y financiamiento</a:t>
            </a:r>
            <a:endParaRPr lang="en-US" sz="3200" dirty="0"/>
          </a:p>
        </p:txBody>
      </p:sp>
      <p:graphicFrame>
        <p:nvGraphicFramePr>
          <p:cNvPr id="4" name="Chart 0" descr=""/>
          <p:cNvGraphicFramePr/>
          <p:nvPr/>
        </p:nvGraphicFramePr>
        <p:xfrm>
          <a:off x="548640" y="1463040"/>
          <a:ext cx="6583680" cy="4389120"/>
        </p:xfrm>
        <a:graphic xmlns:a="http://schemas.openxmlformats.org/drawingml/2006/main">
          <a:graphicData uri="http://schemas.openxmlformats.org/drawingml/2006/chart">
            <c:chart xmlns:c="http://schemas.openxmlformats.org/drawingml/2006/chart" r:id="rId1"/>
          </a:graphicData>
        </a:graphic>
      </p:graphicFrame>
      <p:sp>
        <p:nvSpPr>
          <p:cNvPr id="5" name="card-103"/>
          <p:cNvSpPr/>
          <p:nvPr/>
        </p:nvSpPr>
        <p:spPr>
          <a:xfrm>
            <a:off x="7498080" y="1463040"/>
            <a:ext cx="4114800" cy="2194560"/>
          </a:xfrm>
          <a:prstGeom prst="roundRect">
            <a:avLst>
              <a:gd name="adj" fmla="val 5000"/>
            </a:avLst>
          </a:prstGeom>
          <a:solidFill>
            <a:schemeClr val="tx1"/>
          </a:solidFill>
          <a:ln/>
        </p:spPr>
      </p:sp>
      <p:sp>
        <p:nvSpPr>
          <p:cNvPr id="6" name="Text 3"/>
          <p:cNvSpPr txBox="1"/>
          <p:nvPr/>
        </p:nvSpPr>
        <p:spPr>
          <a:xfrm>
            <a:off x="7772400" y="1645920"/>
            <a:ext cx="356616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Inversión total</a:t>
            </a:r>
            <a:endParaRPr lang="en-US" sz="1400" dirty="0"/>
          </a:p>
        </p:txBody>
      </p:sp>
      <p:sp>
        <p:nvSpPr>
          <p:cNvPr id="7" name="Text 4"/>
          <p:cNvSpPr txBox="1"/>
          <p:nvPr/>
        </p:nvSpPr>
        <p:spPr>
          <a:xfrm>
            <a:off x="7772400" y="1965960"/>
            <a:ext cx="3566160" cy="7315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$234.720</a:t>
            </a:r>
            <a:endParaRPr lang="en-US" sz="4000" dirty="0"/>
          </a:p>
        </p:txBody>
      </p:sp>
      <p:sp>
        <p:nvSpPr>
          <p:cNvPr id="8" name="Text 5"/>
          <p:cNvSpPr txBox="1"/>
          <p:nvPr/>
        </p:nvSpPr>
        <p:spPr>
          <a:xfrm>
            <a:off x="7772400" y="2788920"/>
            <a:ext cx="3566160" cy="5486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48 h de desarrollo valorizadas</a:t>
            </a:r>
            <a:endParaRPr lang="en-US" sz="1400" dirty="0"/>
          </a:p>
        </p:txBody>
      </p:sp>
      <p:sp>
        <p:nvSpPr>
          <p:cNvPr id="9" name="card-104"/>
          <p:cNvSpPr/>
          <p:nvPr/>
        </p:nvSpPr>
        <p:spPr>
          <a:xfrm>
            <a:off x="7498080" y="3840480"/>
            <a:ext cx="4114800" cy="2331720"/>
          </a:xfrm>
          <a:prstGeom prst="roundRect">
            <a:avLst>
              <a:gd name="adj" fmla="val 4706"/>
            </a:avLst>
          </a:prstGeom>
          <a:solidFill>
            <a:schemeClr val="accent6"/>
          </a:solidFill>
          <a:ln/>
        </p:spPr>
      </p:sp>
      <p:sp>
        <p:nvSpPr>
          <p:cNvPr id="10" name="Text 7"/>
          <p:cNvSpPr txBox="1"/>
          <p:nvPr/>
        </p:nvSpPr>
        <p:spPr>
          <a:xfrm>
            <a:off x="7772400" y="3977640"/>
            <a:ext cx="35661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Financiamiento</a:t>
            </a:r>
            <a:endParaRPr lang="en-US" sz="1800" dirty="0"/>
          </a:p>
        </p:txBody>
      </p:sp>
      <p:sp>
        <p:nvSpPr>
          <p:cNvPr id="11" name="Text 8"/>
          <p:cNvSpPr txBox="1"/>
          <p:nvPr/>
        </p:nvSpPr>
        <p:spPr>
          <a:xfrm>
            <a:off x="7772400" y="4434840"/>
            <a:ext cx="361188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Desarrollo: aporte propio</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Operación: $0 por mes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Dominio propio: opcional</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EVALUACIÓN ECONÓMICO-FINANCIERA</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¿Conviene? Evaluación a 12 meses</a:t>
            </a:r>
            <a:endParaRPr lang="en-US" sz="3200" dirty="0"/>
          </a:p>
        </p:txBody>
      </p:sp>
      <p:sp>
        <p:nvSpPr>
          <p:cNvPr id="4" name="Text 2"/>
          <p:cNvSpPr txBox="1"/>
          <p:nvPr/>
        </p:nvSpPr>
        <p:spPr>
          <a:xfrm>
            <a:off x="548640" y="1463040"/>
            <a:ext cx="4572000" cy="365760"/>
          </a:xfrm>
          <a:prstGeom prst="rect">
            <a:avLst/>
          </a:prstGeom>
          <a:noFill/>
          <a:ln/>
        </p:spPr>
        <p:txBody>
          <a:bodyPr wrap="square" lIns="0" tIns="0" rIns="0" bIns="0" rtlCol="0" anchor="t"/>
          <a:lstStyle/>
          <a:p>
            <a:pPr indent="0" marL="0">
              <a:buNone/>
            </a:pPr>
            <a:r>
              <a:rPr lang="en-US" sz="1500" b="1" dirty="0">
                <a:solidFill>
                  <a:schemeClr val="accent4"/>
                </a:solidFill>
                <a:latin typeface="Calibri" pitchFamily="34" charset="0"/>
                <a:ea typeface="Calibri" pitchFamily="34" charset="-122"/>
                <a:cs typeface="Calibri" pitchFamily="34" charset="-120"/>
              </a:rPr>
              <a:t>Beneficio mensual (base)</a:t>
            </a:r>
            <a:endParaRPr lang="en-US" sz="1500" dirty="0"/>
          </a:p>
        </p:txBody>
      </p:sp>
      <p:sp>
        <p:nvSpPr>
          <p:cNvPr id="5" name="icono-fondo-105"/>
          <p:cNvSpPr/>
          <p:nvPr/>
        </p:nvSpPr>
        <p:spPr>
          <a:xfrm>
            <a:off x="548640" y="1920240"/>
            <a:ext cx="548640" cy="548640"/>
          </a:xfrm>
          <a:prstGeom prst="ellipse">
            <a:avLst/>
          </a:prstGeom>
          <a:solidFill>
            <a:schemeClr val="accent1"/>
          </a:solidFill>
          <a:ln/>
        </p:spPr>
      </p:sp>
      <p:pic>
        <p:nvPicPr>
          <p:cNvPr id="6" name="icono-106" descr="preencoded.png">    </p:cNvPr>
          <p:cNvPicPr>
            <a:picLocks noChangeAspect="1"/>
          </p:cNvPicPr>
          <p:nvPr/>
        </p:nvPicPr>
        <p:blipFill>
          <a:blip r:embed="rId1"/>
          <a:stretch>
            <a:fillRect/>
          </a:stretch>
        </p:blipFill>
        <p:spPr>
          <a:xfrm>
            <a:off x="680314" y="2051914"/>
            <a:ext cx="285293" cy="285293"/>
          </a:xfrm>
          <a:prstGeom prst="rect">
            <a:avLst/>
          </a:prstGeom>
        </p:spPr>
      </p:pic>
      <p:sp>
        <p:nvSpPr>
          <p:cNvPr id="7" name="Text 4"/>
          <p:cNvSpPr txBox="1"/>
          <p:nvPr/>
        </p:nvSpPr>
        <p:spPr>
          <a:xfrm>
            <a:off x="1234440" y="1920240"/>
            <a:ext cx="2834640" cy="5486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Pedidos perdidos recuperados</a:t>
            </a:r>
            <a:endParaRPr lang="en-US" sz="1500" dirty="0"/>
          </a:p>
        </p:txBody>
      </p:sp>
      <p:sp>
        <p:nvSpPr>
          <p:cNvPr id="8" name="Text 5"/>
          <p:cNvSpPr txBox="1"/>
          <p:nvPr/>
        </p:nvSpPr>
        <p:spPr>
          <a:xfrm>
            <a:off x="3931920" y="1920240"/>
            <a:ext cx="1280160" cy="548640"/>
          </a:xfrm>
          <a:prstGeom prst="rect">
            <a:avLst/>
          </a:prstGeom>
          <a:noFill/>
          <a:ln/>
        </p:spPr>
        <p:txBody>
          <a:bodyPr wrap="square" lIns="0" tIns="0" rIns="0" bIns="0" rtlCol="0" anchor="ctr"/>
          <a:lstStyle/>
          <a:p>
            <a:pPr algn="r" indent="0" marL="0">
              <a:buNone/>
            </a:pPr>
            <a:r>
              <a:rPr lang="en-US" sz="1800" b="1" dirty="0">
                <a:solidFill>
                  <a:schemeClr val="accent3"/>
                </a:solidFill>
                <a:latin typeface="Calibri" pitchFamily="34" charset="0"/>
                <a:ea typeface="Calibri" pitchFamily="34" charset="-122"/>
                <a:cs typeface="Calibri" pitchFamily="34" charset="-120"/>
              </a:rPr>
              <a:t>$59.280</a:t>
            </a:r>
            <a:endParaRPr lang="en-US" sz="1800" dirty="0"/>
          </a:p>
        </p:txBody>
      </p:sp>
      <p:sp>
        <p:nvSpPr>
          <p:cNvPr id="9" name="icono-fondo-107"/>
          <p:cNvSpPr/>
          <p:nvPr/>
        </p:nvSpPr>
        <p:spPr>
          <a:xfrm>
            <a:off x="548640" y="2788920"/>
            <a:ext cx="548640" cy="548640"/>
          </a:xfrm>
          <a:prstGeom prst="ellipse">
            <a:avLst/>
          </a:prstGeom>
          <a:solidFill>
            <a:schemeClr val="tx2"/>
          </a:solidFill>
          <a:ln/>
        </p:spPr>
      </p:sp>
      <p:pic>
        <p:nvPicPr>
          <p:cNvPr id="10" name="icono-108" descr="preencoded.png">    </p:cNvPr>
          <p:cNvPicPr>
            <a:picLocks noChangeAspect="1"/>
          </p:cNvPicPr>
          <p:nvPr/>
        </p:nvPicPr>
        <p:blipFill>
          <a:blip r:embed="rId2"/>
          <a:stretch>
            <a:fillRect/>
          </a:stretch>
        </p:blipFill>
        <p:spPr>
          <a:xfrm>
            <a:off x="680314" y="2920594"/>
            <a:ext cx="285293" cy="285293"/>
          </a:xfrm>
          <a:prstGeom prst="rect">
            <a:avLst/>
          </a:prstGeom>
        </p:spPr>
      </p:pic>
      <p:sp>
        <p:nvSpPr>
          <p:cNvPr id="11" name="Text 7"/>
          <p:cNvSpPr txBox="1"/>
          <p:nvPr/>
        </p:nvSpPr>
        <p:spPr>
          <a:xfrm>
            <a:off x="1234440" y="2788920"/>
            <a:ext cx="2834640" cy="5486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Errores evitados</a:t>
            </a:r>
            <a:endParaRPr lang="en-US" sz="1500" dirty="0"/>
          </a:p>
        </p:txBody>
      </p:sp>
      <p:sp>
        <p:nvSpPr>
          <p:cNvPr id="12" name="Text 8"/>
          <p:cNvSpPr txBox="1"/>
          <p:nvPr/>
        </p:nvSpPr>
        <p:spPr>
          <a:xfrm>
            <a:off x="3931920" y="2788920"/>
            <a:ext cx="1280160" cy="548640"/>
          </a:xfrm>
          <a:prstGeom prst="rect">
            <a:avLst/>
          </a:prstGeom>
          <a:noFill/>
          <a:ln/>
        </p:spPr>
        <p:txBody>
          <a:bodyPr wrap="square" lIns="0" tIns="0" rIns="0" bIns="0" rtlCol="0" anchor="ctr"/>
          <a:lstStyle/>
          <a:p>
            <a:pPr algn="r" indent="0" marL="0">
              <a:buNone/>
            </a:pPr>
            <a:r>
              <a:rPr lang="en-US" sz="1800" b="1" dirty="0">
                <a:solidFill>
                  <a:schemeClr val="accent3"/>
                </a:solidFill>
                <a:latin typeface="Calibri" pitchFamily="34" charset="0"/>
                <a:ea typeface="Calibri" pitchFamily="34" charset="-122"/>
                <a:cs typeface="Calibri" pitchFamily="34" charset="-120"/>
              </a:rPr>
              <a:t>$17.290</a:t>
            </a:r>
            <a:endParaRPr lang="en-US" sz="1800" dirty="0"/>
          </a:p>
        </p:txBody>
      </p:sp>
      <p:sp>
        <p:nvSpPr>
          <p:cNvPr id="13" name="icono-fondo-109"/>
          <p:cNvSpPr/>
          <p:nvPr/>
        </p:nvSpPr>
        <p:spPr>
          <a:xfrm>
            <a:off x="548640" y="3657600"/>
            <a:ext cx="548640" cy="548640"/>
          </a:xfrm>
          <a:prstGeom prst="ellipse">
            <a:avLst/>
          </a:prstGeom>
          <a:solidFill>
            <a:schemeClr val="accent2"/>
          </a:solidFill>
          <a:ln/>
        </p:spPr>
      </p:sp>
      <p:pic>
        <p:nvPicPr>
          <p:cNvPr id="14" name="icono-110" descr="preencoded.png">    </p:cNvPr>
          <p:cNvPicPr>
            <a:picLocks noChangeAspect="1"/>
          </p:cNvPicPr>
          <p:nvPr/>
        </p:nvPicPr>
        <p:blipFill>
          <a:blip r:embed="rId3"/>
          <a:stretch>
            <a:fillRect/>
          </a:stretch>
        </p:blipFill>
        <p:spPr>
          <a:xfrm>
            <a:off x="680314" y="3789274"/>
            <a:ext cx="285293" cy="285293"/>
          </a:xfrm>
          <a:prstGeom prst="rect">
            <a:avLst/>
          </a:prstGeom>
        </p:spPr>
      </p:pic>
      <p:sp>
        <p:nvSpPr>
          <p:cNvPr id="15" name="Text 10"/>
          <p:cNvSpPr txBox="1"/>
          <p:nvPr/>
        </p:nvSpPr>
        <p:spPr>
          <a:xfrm>
            <a:off x="1234440" y="3657600"/>
            <a:ext cx="2834640" cy="5486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Tiempo de atención ahorrado</a:t>
            </a:r>
            <a:endParaRPr lang="en-US" sz="1500" dirty="0"/>
          </a:p>
        </p:txBody>
      </p:sp>
      <p:sp>
        <p:nvSpPr>
          <p:cNvPr id="16" name="Text 11"/>
          <p:cNvSpPr txBox="1"/>
          <p:nvPr/>
        </p:nvSpPr>
        <p:spPr>
          <a:xfrm>
            <a:off x="3931920" y="3657600"/>
            <a:ext cx="1280160" cy="548640"/>
          </a:xfrm>
          <a:prstGeom prst="rect">
            <a:avLst/>
          </a:prstGeom>
          <a:noFill/>
          <a:ln/>
        </p:spPr>
        <p:txBody>
          <a:bodyPr wrap="square" lIns="0" tIns="0" rIns="0" bIns="0" rtlCol="0" anchor="ctr"/>
          <a:lstStyle/>
          <a:p>
            <a:pPr algn="r" indent="0" marL="0">
              <a:buNone/>
            </a:pPr>
            <a:r>
              <a:rPr lang="en-US" sz="1800" b="1" dirty="0">
                <a:solidFill>
                  <a:schemeClr val="accent3"/>
                </a:solidFill>
                <a:latin typeface="Calibri" pitchFamily="34" charset="0"/>
                <a:ea typeface="Calibri" pitchFamily="34" charset="-122"/>
                <a:cs typeface="Calibri" pitchFamily="34" charset="-120"/>
              </a:rPr>
              <a:t>$14.127</a:t>
            </a:r>
            <a:endParaRPr lang="en-US" sz="1800" dirty="0"/>
          </a:p>
        </p:txBody>
      </p:sp>
      <p:sp>
        <p:nvSpPr>
          <p:cNvPr id="17" name="card-111"/>
          <p:cNvSpPr/>
          <p:nvPr/>
        </p:nvSpPr>
        <p:spPr>
          <a:xfrm>
            <a:off x="548640" y="4572000"/>
            <a:ext cx="4663440" cy="1600200"/>
          </a:xfrm>
          <a:prstGeom prst="roundRect">
            <a:avLst>
              <a:gd name="adj" fmla="val 6857"/>
            </a:avLst>
          </a:prstGeom>
          <a:solidFill>
            <a:schemeClr val="bg2"/>
          </a:solidFill>
          <a:ln/>
        </p:spPr>
      </p:sp>
      <p:sp>
        <p:nvSpPr>
          <p:cNvPr id="18" name="Text 13"/>
          <p:cNvSpPr txBox="1"/>
          <p:nvPr/>
        </p:nvSpPr>
        <p:spPr>
          <a:xfrm>
            <a:off x="777240" y="4572000"/>
            <a:ext cx="4297680" cy="1600200"/>
          </a:xfrm>
          <a:prstGeom prst="rect">
            <a:avLst/>
          </a:prstGeom>
          <a:noFill/>
          <a:ln/>
        </p:spPr>
        <p:txBody>
          <a:bodyPr wrap="square" lIns="0" tIns="0" rIns="0" bIns="0" rtlCol="0" anchor="ctr"/>
          <a:lstStyle/>
          <a:p>
            <a:pPr indent="0" marL="0">
              <a:buNone/>
            </a:pPr>
            <a:r>
              <a:rPr lang="en-US" sz="2000" b="1" dirty="0">
                <a:solidFill>
                  <a:schemeClr val="accent3"/>
                </a:solidFill>
                <a:latin typeface="Calibri" pitchFamily="34" charset="0"/>
                <a:ea typeface="Calibri" pitchFamily="34" charset="-122"/>
                <a:cs typeface="Calibri" pitchFamily="34" charset="-120"/>
              </a:rPr>
              <a:t>$90.697 por mes</a:t>
            </a:r>
            <a:endParaRPr lang="en-US" sz="1400" dirty="0"/>
          </a:p>
          <a:p>
            <a:pPr indent="0" marL="0">
              <a:buNone/>
            </a:pPr>
            <a:r>
              <a:rPr lang="en-US" sz="1300" dirty="0">
                <a:solidFill>
                  <a:schemeClr val="tx1"/>
                </a:solidFill>
                <a:latin typeface="Calibri" pitchFamily="34" charset="0"/>
                <a:ea typeface="Calibri" pitchFamily="34" charset="-122"/>
                <a:cs typeface="Calibri" pitchFamily="34" charset="-120"/>
              </a:rPr>
              <a:t>Tasa: plazo fijo BNA (TNA 17,5 %). Adopción gradual: 50 %, 75 % y 100 %.</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577840" y="1463040"/>
          <a:ext cx="6035040" cy="914400"/>
        </p:xfrm>
        <a:graphic>
          <a:graphicData uri="http://schemas.openxmlformats.org/drawingml/2006/table">
            <a:tbl>
              <a:tblPr/>
              <a:tblGrid>
                <a:gridCol w="1554480"/>
                <a:gridCol w="1463040"/>
                <a:gridCol w="1508760"/>
                <a:gridCol w="1508760"/>
              </a:tblGrid>
              <a:tr h="548640">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Indicador</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Pesimista</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Base</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E83030"/>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Optimista</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r>
              <a:tr h="548640">
                <a:tc>
                  <a:txBody>
                    <a:bodyPr/>
                    <a:lstStyle/>
                    <a:p>
                      <a:pPr indent="0" marL="0">
                        <a:buNone/>
                      </a:pPr>
                      <a:r>
                        <a:rPr lang="en-US" sz="1600" b="1" dirty="0">
                          <a:solidFill>
                            <a:srgbClr val="2B2420"/>
                          </a:solidFill>
                          <a:latin typeface="Calibri" pitchFamily="34" charset="0"/>
                          <a:ea typeface="Calibri" pitchFamily="34" charset="-122"/>
                          <a:cs typeface="Calibri" pitchFamily="34" charset="-120"/>
                        </a:rPr>
                        <a:t>Inversión</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$396.090</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b="1" dirty="0">
                          <a:solidFill>
                            <a:srgbClr val="2B2420"/>
                          </a:solidFill>
                          <a:latin typeface="Calibri" pitchFamily="34" charset="0"/>
                          <a:ea typeface="Calibri" pitchFamily="34" charset="-122"/>
                          <a:cs typeface="Calibri" pitchFamily="34" charset="-120"/>
                        </a:rPr>
                        <a:t>$234.720</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F7EBDB"/>
                    </a:solidFill>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$150.612</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548640">
                <a:tc>
                  <a:txBody>
                    <a:bodyPr/>
                    <a:lstStyle/>
                    <a:p>
                      <a:pPr indent="0" marL="0">
                        <a:buNone/>
                      </a:pPr>
                      <a:r>
                        <a:rPr lang="en-US" sz="1600" b="1" dirty="0">
                          <a:solidFill>
                            <a:srgbClr val="2B2420"/>
                          </a:solidFill>
                          <a:latin typeface="Calibri" pitchFamily="34" charset="0"/>
                          <a:ea typeface="Calibri" pitchFamily="34" charset="-122"/>
                          <a:cs typeface="Calibri" pitchFamily="34" charset="-120"/>
                        </a:rPr>
                        <a:t>VAN</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−$335.891</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b="1" dirty="0">
                          <a:solidFill>
                            <a:srgbClr val="2B2420"/>
                          </a:solidFill>
                          <a:latin typeface="Calibri" pitchFamily="34" charset="0"/>
                          <a:ea typeface="Calibri" pitchFamily="34" charset="-122"/>
                          <a:cs typeface="Calibri" pitchFamily="34" charset="-120"/>
                        </a:rPr>
                        <a:t>$583.451</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F7EBDB"/>
                    </a:solidFill>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$2.038.551</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548640">
                <a:tc>
                  <a:txBody>
                    <a:bodyPr/>
                    <a:lstStyle/>
                    <a:p>
                      <a:pPr indent="0" marL="0">
                        <a:buNone/>
                      </a:pPr>
                      <a:r>
                        <a:rPr lang="en-US" sz="1600" b="1" dirty="0">
                          <a:solidFill>
                            <a:srgbClr val="2B2420"/>
                          </a:solidFill>
                          <a:latin typeface="Calibri" pitchFamily="34" charset="0"/>
                          <a:ea typeface="Calibri" pitchFamily="34" charset="-122"/>
                          <a:cs typeface="Calibri" pitchFamily="34" charset="-120"/>
                        </a:rPr>
                        <a:t>TIR mensual</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−18,4 %</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b="1" dirty="0">
                          <a:solidFill>
                            <a:srgbClr val="2B2420"/>
                          </a:solidFill>
                          <a:latin typeface="Calibri" pitchFamily="34" charset="0"/>
                          <a:ea typeface="Calibri" pitchFamily="34" charset="-122"/>
                          <a:cs typeface="Calibri" pitchFamily="34" charset="-120"/>
                        </a:rPr>
                        <a:t>26,8 %</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F7EBDB"/>
                    </a:solidFill>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97,5 %</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548640">
                <a:tc>
                  <a:txBody>
                    <a:bodyPr/>
                    <a:lstStyle/>
                    <a:p>
                      <a:pPr indent="0" marL="0">
                        <a:buNone/>
                      </a:pPr>
                      <a:r>
                        <a:rPr lang="en-US" sz="1600" b="1" dirty="0">
                          <a:solidFill>
                            <a:srgbClr val="2B2420"/>
                          </a:solidFill>
                          <a:latin typeface="Calibri" pitchFamily="34" charset="0"/>
                          <a:ea typeface="Calibri" pitchFamily="34" charset="-122"/>
                          <a:cs typeface="Calibri" pitchFamily="34" charset="-120"/>
                        </a:rPr>
                        <a:t>ROI</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−50 %</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b="1" dirty="0">
                          <a:solidFill>
                            <a:srgbClr val="2B2420"/>
                          </a:solidFill>
                          <a:latin typeface="Calibri" pitchFamily="34" charset="0"/>
                          <a:ea typeface="Calibri" pitchFamily="34" charset="-122"/>
                          <a:cs typeface="Calibri" pitchFamily="34" charset="-120"/>
                        </a:rPr>
                        <a:t>190 %</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F7EBDB"/>
                    </a:solidFill>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1.067 %</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548640">
                <a:tc>
                  <a:txBody>
                    <a:bodyPr/>
                    <a:lstStyle/>
                    <a:p>
                      <a:pPr indent="0" marL="0">
                        <a:buNone/>
                      </a:pPr>
                      <a:r>
                        <a:rPr lang="en-US" sz="1600" b="1" dirty="0">
                          <a:solidFill>
                            <a:srgbClr val="2B2420"/>
                          </a:solidFill>
                          <a:latin typeface="Calibri" pitchFamily="34" charset="0"/>
                          <a:ea typeface="Calibri" pitchFamily="34" charset="-122"/>
                          <a:cs typeface="Calibri" pitchFamily="34" charset="-120"/>
                        </a:rPr>
                        <a:t>B/C</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0,47</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b="1" dirty="0">
                          <a:solidFill>
                            <a:srgbClr val="2B2420"/>
                          </a:solidFill>
                          <a:latin typeface="Calibri" pitchFamily="34" charset="0"/>
                          <a:ea typeface="Calibri" pitchFamily="34" charset="-122"/>
                          <a:cs typeface="Calibri" pitchFamily="34" charset="-120"/>
                        </a:rPr>
                        <a:t>2,71</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F7EBDB"/>
                    </a:solidFill>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10,86</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548640">
                <a:tc>
                  <a:txBody>
                    <a:bodyPr/>
                    <a:lstStyle/>
                    <a:p>
                      <a:pPr indent="0" marL="0">
                        <a:buNone/>
                      </a:pPr>
                      <a:r>
                        <a:rPr lang="en-US" sz="1600" b="1" dirty="0">
                          <a:solidFill>
                            <a:srgbClr val="2B2420"/>
                          </a:solidFill>
                          <a:latin typeface="Calibri" pitchFamily="34" charset="0"/>
                          <a:ea typeface="Calibri" pitchFamily="34" charset="-122"/>
                          <a:cs typeface="Calibri" pitchFamily="34" charset="-120"/>
                        </a:rPr>
                        <a:t>Recupero</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no recupera</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algn="r" indent="0" marL="0">
                        <a:buNone/>
                      </a:pPr>
                      <a:r>
                        <a:rPr lang="en-US" sz="1600" b="1" dirty="0">
                          <a:solidFill>
                            <a:srgbClr val="2B2420"/>
                          </a:solidFill>
                          <a:latin typeface="Calibri" pitchFamily="34" charset="0"/>
                          <a:ea typeface="Calibri" pitchFamily="34" charset="-122"/>
                          <a:cs typeface="Calibri" pitchFamily="34" charset="-120"/>
                        </a:rPr>
                        <a:t>3,9 meses</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F7EBDB"/>
                    </a:solidFill>
                  </a:tcPr>
                </a:tc>
                <a:tc>
                  <a:txBody>
                    <a:bodyPr/>
                    <a:lstStyle/>
                    <a:p>
                      <a:pPr algn="r" indent="0" marL="0">
                        <a:buNone/>
                      </a:pPr>
                      <a:r>
                        <a:rPr lang="en-US" sz="1600" dirty="0">
                          <a:solidFill>
                            <a:srgbClr val="2B2420"/>
                          </a:solidFill>
                          <a:latin typeface="Calibri" pitchFamily="34" charset="0"/>
                          <a:ea typeface="Calibri" pitchFamily="34" charset="-122"/>
                          <a:cs typeface="Calibri" pitchFamily="34" charset="-120"/>
                        </a:rPr>
                        <a:t>1,3 meses</a:t>
                      </a:r>
                      <a:endParaRPr lang="en-US" sz="16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bl>
          </a:graphicData>
        </a:graphic>
      </p:graphicFrame>
      <p:sp>
        <p:nvSpPr>
          <p:cNvPr id="20" name="Text 14"/>
          <p:cNvSpPr txBox="1"/>
          <p:nvPr/>
        </p:nvSpPr>
        <p:spPr>
          <a:xfrm>
            <a:off x="5577840" y="5486400"/>
            <a:ext cx="6035040" cy="6400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Pesimista: todas las variables empeoran a la vez. ¿Qué tan probable es? → Monte Carlo.</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EVALUACIÓN ECONÓMICO-FINANCIERA</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Monte Carlo: 97,8 % de probabilidad de VAN positivo</a:t>
            </a:r>
            <a:endParaRPr lang="en-US" sz="3200" dirty="0"/>
          </a:p>
        </p:txBody>
      </p:sp>
      <p:pic>
        <p:nvPicPr>
          <p:cNvPr id="4" name="grafico-montecarlo" descr="/home/claude/danypizzas/docs/analisis/economia/montecarlo_van.png">    </p:cNvPr>
          <p:cNvPicPr>
            <a:picLocks noChangeAspect="1"/>
          </p:cNvPicPr>
          <p:nvPr/>
        </p:nvPicPr>
        <p:blipFill>
          <a:blip r:embed="rId1"/>
          <a:stretch>
            <a:fillRect/>
          </a:stretch>
        </p:blipFill>
        <p:spPr>
          <a:xfrm>
            <a:off x="548640" y="1463040"/>
            <a:ext cx="7315200" cy="3803904"/>
          </a:xfrm>
          <a:prstGeom prst="rect">
            <a:avLst/>
          </a:prstGeom>
        </p:spPr>
      </p:pic>
      <p:sp>
        <p:nvSpPr>
          <p:cNvPr id="5" name="Text 2"/>
          <p:cNvSpPr txBox="1"/>
          <p:nvPr/>
        </p:nvSpPr>
        <p:spPr>
          <a:xfrm>
            <a:off x="548640" y="5349240"/>
            <a:ext cx="7315200" cy="32004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10.000 iteraciones · 17 variables con distribución triangular</a:t>
            </a:r>
            <a:endParaRPr lang="en-US" sz="1300" dirty="0"/>
          </a:p>
        </p:txBody>
      </p:sp>
      <p:sp>
        <p:nvSpPr>
          <p:cNvPr id="6" name="card-112"/>
          <p:cNvSpPr/>
          <p:nvPr/>
        </p:nvSpPr>
        <p:spPr>
          <a:xfrm>
            <a:off x="8183880" y="1463040"/>
            <a:ext cx="3429000" cy="1051560"/>
          </a:xfrm>
          <a:prstGeom prst="roundRect">
            <a:avLst>
              <a:gd name="adj" fmla="val 10435"/>
            </a:avLst>
          </a:prstGeom>
          <a:solidFill>
            <a:schemeClr val="tx1"/>
          </a:solidFill>
          <a:ln/>
        </p:spPr>
      </p:sp>
      <p:sp>
        <p:nvSpPr>
          <p:cNvPr id="7" name="Text 4"/>
          <p:cNvSpPr txBox="1"/>
          <p:nvPr/>
        </p:nvSpPr>
        <p:spPr>
          <a:xfrm>
            <a:off x="8412480" y="1490472"/>
            <a:ext cx="3017520" cy="566928"/>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97,8 %</a:t>
            </a:r>
            <a:endParaRPr lang="en-US" sz="2800" dirty="0"/>
          </a:p>
        </p:txBody>
      </p:sp>
      <p:sp>
        <p:nvSpPr>
          <p:cNvPr id="8" name="Text 5"/>
          <p:cNvSpPr txBox="1"/>
          <p:nvPr/>
        </p:nvSpPr>
        <p:spPr>
          <a:xfrm>
            <a:off x="8412480" y="2057400"/>
            <a:ext cx="3017520" cy="36576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de los casos con VAN &gt; 0</a:t>
            </a:r>
            <a:endParaRPr lang="en-US" sz="1400" dirty="0"/>
          </a:p>
        </p:txBody>
      </p:sp>
      <p:sp>
        <p:nvSpPr>
          <p:cNvPr id="9" name="card-113"/>
          <p:cNvSpPr/>
          <p:nvPr/>
        </p:nvSpPr>
        <p:spPr>
          <a:xfrm>
            <a:off x="8183880" y="2651760"/>
            <a:ext cx="3429000" cy="1051560"/>
          </a:xfrm>
          <a:prstGeom prst="roundRect">
            <a:avLst>
              <a:gd name="adj" fmla="val 10435"/>
            </a:avLst>
          </a:prstGeom>
          <a:solidFill>
            <a:schemeClr val="accent6"/>
          </a:solidFill>
          <a:ln/>
        </p:spPr>
      </p:sp>
      <p:sp>
        <p:nvSpPr>
          <p:cNvPr id="10" name="Text 7"/>
          <p:cNvSpPr txBox="1"/>
          <p:nvPr/>
        </p:nvSpPr>
        <p:spPr>
          <a:xfrm>
            <a:off x="8412480" y="2679192"/>
            <a:ext cx="3017520" cy="566928"/>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4,3 meses</a:t>
            </a:r>
            <a:endParaRPr lang="en-US" sz="2800" dirty="0"/>
          </a:p>
        </p:txBody>
      </p:sp>
      <p:sp>
        <p:nvSpPr>
          <p:cNvPr id="11" name="Text 8"/>
          <p:cNvSpPr txBox="1"/>
          <p:nvPr/>
        </p:nvSpPr>
        <p:spPr>
          <a:xfrm>
            <a:off x="8412480" y="3246120"/>
            <a:ext cx="3017520" cy="36576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recupero mediano</a:t>
            </a:r>
            <a:endParaRPr lang="en-US" sz="1400" dirty="0"/>
          </a:p>
        </p:txBody>
      </p:sp>
      <p:sp>
        <p:nvSpPr>
          <p:cNvPr id="12" name="card-114"/>
          <p:cNvSpPr/>
          <p:nvPr/>
        </p:nvSpPr>
        <p:spPr>
          <a:xfrm>
            <a:off x="8183880" y="3886200"/>
            <a:ext cx="3429000" cy="2286000"/>
          </a:xfrm>
          <a:prstGeom prst="roundRect">
            <a:avLst>
              <a:gd name="adj" fmla="val 4800"/>
            </a:avLst>
          </a:prstGeom>
          <a:solidFill>
            <a:schemeClr val="bg2"/>
          </a:solidFill>
          <a:ln/>
        </p:spPr>
      </p:sp>
      <p:sp>
        <p:nvSpPr>
          <p:cNvPr id="13" name="Text 10"/>
          <p:cNvSpPr txBox="1"/>
          <p:nvPr/>
        </p:nvSpPr>
        <p:spPr>
          <a:xfrm>
            <a:off x="8412480" y="4023360"/>
            <a:ext cx="3017520" cy="2011680"/>
          </a:xfrm>
          <a:prstGeom prst="rect">
            <a:avLst/>
          </a:prstGeom>
          <a:noFill/>
          <a:ln/>
        </p:spPr>
        <p:txBody>
          <a:bodyPr wrap="square" lIns="0" tIns="0" rIns="0" bIns="0" rtlCol="0" anchor="t"/>
          <a:lstStyle/>
          <a:p>
            <a:pPr indent="0" marL="0">
              <a:buNone/>
            </a:pPr>
            <a:r>
              <a:rPr lang="en-US" sz="1600" b="1" dirty="0">
                <a:solidFill>
                  <a:schemeClr val="accent3"/>
                </a:solidFill>
                <a:latin typeface="Calibri" pitchFamily="34" charset="0"/>
                <a:ea typeface="Calibri" pitchFamily="34" charset="-122"/>
                <a:cs typeface="Calibri" pitchFamily="34" charset="-120"/>
              </a:rPr>
              <a:t>Punto de equilibrio</a:t>
            </a:r>
            <a:endParaRPr lang="en-US" sz="1600" dirty="0"/>
          </a:p>
          <a:p>
            <a:pPr indent="0" marL="0">
              <a:buNone/>
            </a:pPr>
            <a:r>
              <a:rPr lang="en-US" sz="1600" dirty="0">
                <a:solidFill>
                  <a:schemeClr val="tx1"/>
                </a:solidFill>
                <a:latin typeface="Calibri" pitchFamily="34" charset="0"/>
                <a:ea typeface="Calibri" pitchFamily="34" charset="-122"/>
                <a:cs typeface="Calibri" pitchFamily="34" charset="-120"/>
              </a:rPr>
              <a:t>Alcanza con recuperar un pedido perdido cada 3 o 4 meses para que el VAN sea positivo.</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DISEÑO CONCEPTUAL</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Diseño: sitio estático, backend mínimo y WhatsApp</a:t>
            </a:r>
            <a:endParaRPr lang="en-US" sz="3200" dirty="0"/>
          </a:p>
        </p:txBody>
      </p:sp>
      <p:sp>
        <p:nvSpPr>
          <p:cNvPr id="4" name="nodo-115"/>
          <p:cNvSpPr/>
          <p:nvPr/>
        </p:nvSpPr>
        <p:spPr>
          <a:xfrm>
            <a:off x="548640" y="2651760"/>
            <a:ext cx="2194560" cy="1371600"/>
          </a:xfrm>
          <a:prstGeom prst="roundRect">
            <a:avLst>
              <a:gd name="adj" fmla="val 8000"/>
            </a:avLst>
          </a:prstGeom>
          <a:solidFill>
            <a:schemeClr val="accent1"/>
          </a:solidFill>
          <a:ln/>
          <a:effectLst>
            <a:outerShdw sx="100000" sy="100000" kx="0" ky="0" algn="bl" rotWithShape="0" blurRad="76200" dist="25400" dir="5400000">
              <a:srgbClr val="000000">
                <a:alpha val="12000"/>
              </a:srgbClr>
            </a:outerShdw>
          </a:effectLst>
        </p:spPr>
      </p:sp>
      <p:sp>
        <p:nvSpPr>
          <p:cNvPr id="5" name="Text 3"/>
          <p:cNvSpPr txBox="1"/>
          <p:nvPr/>
        </p:nvSpPr>
        <p:spPr>
          <a:xfrm>
            <a:off x="731520" y="2788920"/>
            <a:ext cx="182880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Cliente</a:t>
            </a:r>
            <a:endParaRPr lang="en-US" sz="1600" dirty="0"/>
          </a:p>
        </p:txBody>
      </p:sp>
      <p:sp>
        <p:nvSpPr>
          <p:cNvPr id="6" name="Text 4"/>
          <p:cNvSpPr txBox="1"/>
          <p:nvPr/>
        </p:nvSpPr>
        <p:spPr>
          <a:xfrm>
            <a:off x="731520" y="3182112"/>
            <a:ext cx="1828800" cy="749808"/>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Celular o PC</a:t>
            </a:r>
            <a:endParaRPr lang="en-US" sz="1300" dirty="0"/>
          </a:p>
        </p:txBody>
      </p:sp>
      <p:sp>
        <p:nvSpPr>
          <p:cNvPr id="7" name="nodo-116"/>
          <p:cNvSpPr/>
          <p:nvPr/>
        </p:nvSpPr>
        <p:spPr>
          <a:xfrm>
            <a:off x="3657600" y="1600200"/>
            <a:ext cx="3291840" cy="3246120"/>
          </a:xfrm>
          <a:prstGeom prst="roundRect">
            <a:avLst>
              <a:gd name="adj" fmla="val 3380"/>
            </a:avLst>
          </a:prstGeom>
          <a:solidFill>
            <a:schemeClr val="accent2"/>
          </a:solidFill>
          <a:ln/>
          <a:effectLst>
            <a:outerShdw sx="100000" sy="100000" kx="0" ky="0" algn="bl" rotWithShape="0" blurRad="76200" dist="25400" dir="5400000">
              <a:srgbClr val="000000">
                <a:alpha val="12000"/>
              </a:srgbClr>
            </a:outerShdw>
          </a:effectLst>
        </p:spPr>
      </p:sp>
      <p:sp>
        <p:nvSpPr>
          <p:cNvPr id="8" name="Text 6"/>
          <p:cNvSpPr txBox="1"/>
          <p:nvPr/>
        </p:nvSpPr>
        <p:spPr>
          <a:xfrm>
            <a:off x="3840480" y="1737360"/>
            <a:ext cx="292608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Sitio web (GitHub Pages)</a:t>
            </a:r>
            <a:endParaRPr lang="en-US" sz="1600" dirty="0"/>
          </a:p>
        </p:txBody>
      </p:sp>
      <p:sp>
        <p:nvSpPr>
          <p:cNvPr id="9" name="capa-117"/>
          <p:cNvSpPr/>
          <p:nvPr/>
        </p:nvSpPr>
        <p:spPr>
          <a:xfrm>
            <a:off x="3886200" y="2148840"/>
            <a:ext cx="2834640" cy="777240"/>
          </a:xfrm>
          <a:prstGeom prst="roundRect">
            <a:avLst>
              <a:gd name="adj" fmla="val 9412"/>
            </a:avLst>
          </a:prstGeom>
          <a:solidFill>
            <a:schemeClr val="bg1"/>
          </a:solidFill>
          <a:ln/>
        </p:spPr>
      </p:sp>
      <p:sp>
        <p:nvSpPr>
          <p:cNvPr id="10" name="Text 8"/>
          <p:cNvSpPr txBox="1"/>
          <p:nvPr/>
        </p:nvSpPr>
        <p:spPr>
          <a:xfrm>
            <a:off x="4023360" y="2176272"/>
            <a:ext cx="2606040" cy="7315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Interfaz</a:t>
            </a:r>
            <a:endParaRPr lang="en-US" sz="1400" dirty="0"/>
          </a:p>
          <a:p>
            <a:pPr indent="0" marL="0">
              <a:buNone/>
            </a:pPr>
            <a:r>
              <a:rPr lang="en-US" sz="1200" dirty="0">
                <a:solidFill>
                  <a:schemeClr val="accent4"/>
                </a:solidFill>
                <a:latin typeface="Calibri" pitchFamily="34" charset="0"/>
                <a:ea typeface="Calibri" pitchFamily="34" charset="-122"/>
                <a:cs typeface="Calibri" pitchFamily="34" charset="-120"/>
              </a:rPr>
              <a:t>pantallas y carrito</a:t>
            </a:r>
            <a:endParaRPr lang="en-US" sz="1400" dirty="0"/>
          </a:p>
        </p:txBody>
      </p:sp>
      <p:sp>
        <p:nvSpPr>
          <p:cNvPr id="11" name="capa-118"/>
          <p:cNvSpPr/>
          <p:nvPr/>
        </p:nvSpPr>
        <p:spPr>
          <a:xfrm>
            <a:off x="3886200" y="3063240"/>
            <a:ext cx="2834640" cy="777240"/>
          </a:xfrm>
          <a:prstGeom prst="roundRect">
            <a:avLst>
              <a:gd name="adj" fmla="val 9412"/>
            </a:avLst>
          </a:prstGeom>
          <a:solidFill>
            <a:schemeClr val="bg1"/>
          </a:solidFill>
          <a:ln/>
        </p:spPr>
      </p:sp>
      <p:sp>
        <p:nvSpPr>
          <p:cNvPr id="12" name="Text 10"/>
          <p:cNvSpPr txBox="1"/>
          <p:nvPr/>
        </p:nvSpPr>
        <p:spPr>
          <a:xfrm>
            <a:off x="4023360" y="3090672"/>
            <a:ext cx="2606040" cy="7315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Lógica</a:t>
            </a:r>
            <a:endParaRPr lang="en-US" sz="1400" dirty="0"/>
          </a:p>
          <a:p>
            <a:pPr indent="0" marL="0">
              <a:buNone/>
            </a:pPr>
            <a:r>
              <a:rPr lang="en-US" sz="1200" dirty="0">
                <a:solidFill>
                  <a:schemeClr val="accent4"/>
                </a:solidFill>
                <a:latin typeface="Calibri" pitchFamily="34" charset="0"/>
                <a:ea typeface="Calibri" pitchFamily="34" charset="-122"/>
                <a:cs typeface="Calibri" pitchFamily="34" charset="-120"/>
              </a:rPr>
              <a:t>precios, horario, recibo</a:t>
            </a:r>
            <a:endParaRPr lang="en-US" sz="1400" dirty="0"/>
          </a:p>
        </p:txBody>
      </p:sp>
      <p:sp>
        <p:nvSpPr>
          <p:cNvPr id="13" name="capa-119"/>
          <p:cNvSpPr/>
          <p:nvPr/>
        </p:nvSpPr>
        <p:spPr>
          <a:xfrm>
            <a:off x="3886200" y="3977640"/>
            <a:ext cx="2834640" cy="777240"/>
          </a:xfrm>
          <a:prstGeom prst="roundRect">
            <a:avLst>
              <a:gd name="adj" fmla="val 9412"/>
            </a:avLst>
          </a:prstGeom>
          <a:solidFill>
            <a:schemeClr val="bg1"/>
          </a:solidFill>
          <a:ln/>
        </p:spPr>
      </p:sp>
      <p:sp>
        <p:nvSpPr>
          <p:cNvPr id="14" name="Text 12"/>
          <p:cNvSpPr txBox="1"/>
          <p:nvPr/>
        </p:nvSpPr>
        <p:spPr>
          <a:xfrm>
            <a:off x="4023360" y="4005072"/>
            <a:ext cx="2606040" cy="73152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Datos</a:t>
            </a:r>
            <a:endParaRPr lang="en-US" sz="1400" dirty="0"/>
          </a:p>
          <a:p>
            <a:pPr indent="0" marL="0">
              <a:buNone/>
            </a:pPr>
            <a:r>
              <a:rPr lang="en-US" sz="1200" dirty="0">
                <a:solidFill>
                  <a:schemeClr val="accent4"/>
                </a:solidFill>
                <a:latin typeface="Calibri" pitchFamily="34" charset="0"/>
                <a:ea typeface="Calibri" pitchFamily="34" charset="-122"/>
                <a:cs typeface="Calibri" pitchFamily="34" charset="-120"/>
              </a:rPr>
              <a:t>configuración y carta</a:t>
            </a:r>
            <a:endParaRPr lang="en-US" sz="1400" dirty="0"/>
          </a:p>
        </p:txBody>
      </p:sp>
      <p:sp>
        <p:nvSpPr>
          <p:cNvPr id="15" name="nodo-120"/>
          <p:cNvSpPr/>
          <p:nvPr/>
        </p:nvSpPr>
        <p:spPr>
          <a:xfrm>
            <a:off x="8001000" y="1600200"/>
            <a:ext cx="3611880" cy="1325880"/>
          </a:xfrm>
          <a:prstGeom prst="roundRect">
            <a:avLst>
              <a:gd name="adj" fmla="val 8276"/>
            </a:avLst>
          </a:prstGeom>
          <a:solidFill>
            <a:schemeClr val="tx2"/>
          </a:solidFill>
          <a:ln/>
          <a:effectLst>
            <a:outerShdw sx="100000" sy="100000" kx="0" ky="0" algn="bl" rotWithShape="0" blurRad="76200" dist="25400" dir="5400000">
              <a:srgbClr val="000000">
                <a:alpha val="12000"/>
              </a:srgbClr>
            </a:outerShdw>
          </a:effectLst>
        </p:spPr>
      </p:sp>
      <p:sp>
        <p:nvSpPr>
          <p:cNvPr id="16" name="Text 14"/>
          <p:cNvSpPr txBox="1"/>
          <p:nvPr/>
        </p:nvSpPr>
        <p:spPr>
          <a:xfrm>
            <a:off x="8183880" y="1737360"/>
            <a:ext cx="324612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Google Apps Script</a:t>
            </a:r>
            <a:endParaRPr lang="en-US" sz="1600" dirty="0"/>
          </a:p>
        </p:txBody>
      </p:sp>
      <p:sp>
        <p:nvSpPr>
          <p:cNvPr id="17" name="Text 15"/>
          <p:cNvSpPr txBox="1"/>
          <p:nvPr/>
        </p:nvSpPr>
        <p:spPr>
          <a:xfrm>
            <a:off x="8183880" y="2130552"/>
            <a:ext cx="3246120" cy="704088"/>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N.º de pedido, total recalculado, protección</a:t>
            </a:r>
            <a:endParaRPr lang="en-US" sz="1300" dirty="0"/>
          </a:p>
        </p:txBody>
      </p:sp>
      <p:sp>
        <p:nvSpPr>
          <p:cNvPr id="18" name="nodo-121"/>
          <p:cNvSpPr/>
          <p:nvPr/>
        </p:nvSpPr>
        <p:spPr>
          <a:xfrm>
            <a:off x="8001000" y="3749040"/>
            <a:ext cx="3611880" cy="1097280"/>
          </a:xfrm>
          <a:prstGeom prst="roundRect">
            <a:avLst>
              <a:gd name="adj" fmla="val 10000"/>
            </a:avLst>
          </a:prstGeom>
          <a:solidFill>
            <a:schemeClr val="bg2"/>
          </a:solidFill>
          <a:ln/>
          <a:effectLst>
            <a:outerShdw sx="100000" sy="100000" kx="0" ky="0" algn="bl" rotWithShape="0" blurRad="76200" dist="25400" dir="5400000">
              <a:srgbClr val="000000">
                <a:alpha val="12000"/>
              </a:srgbClr>
            </a:outerShdw>
          </a:effectLst>
        </p:spPr>
      </p:sp>
      <p:sp>
        <p:nvSpPr>
          <p:cNvPr id="19" name="Text 17"/>
          <p:cNvSpPr txBox="1"/>
          <p:nvPr/>
        </p:nvSpPr>
        <p:spPr>
          <a:xfrm>
            <a:off x="8183880" y="3886200"/>
            <a:ext cx="324612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Google Sheets</a:t>
            </a:r>
            <a:endParaRPr lang="en-US" sz="1600" dirty="0"/>
          </a:p>
        </p:txBody>
      </p:sp>
      <p:sp>
        <p:nvSpPr>
          <p:cNvPr id="20" name="Text 18"/>
          <p:cNvSpPr txBox="1"/>
          <p:nvPr/>
        </p:nvSpPr>
        <p:spPr>
          <a:xfrm>
            <a:off x="8183880" y="4279392"/>
            <a:ext cx="3246120" cy="475488"/>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Carta y pedidos del mes</a:t>
            </a:r>
            <a:endParaRPr lang="en-US" sz="1300" dirty="0"/>
          </a:p>
        </p:txBody>
      </p:sp>
      <p:sp>
        <p:nvSpPr>
          <p:cNvPr id="21" name="nodo-122"/>
          <p:cNvSpPr/>
          <p:nvPr/>
        </p:nvSpPr>
        <p:spPr>
          <a:xfrm>
            <a:off x="3657600" y="5486400"/>
            <a:ext cx="3291840" cy="731520"/>
          </a:xfrm>
          <a:prstGeom prst="roundRect">
            <a:avLst>
              <a:gd name="adj" fmla="val 15000"/>
            </a:avLst>
          </a:prstGeom>
          <a:solidFill>
            <a:schemeClr val="tx1"/>
          </a:solidFill>
          <a:ln/>
          <a:effectLst>
            <a:outerShdw sx="100000" sy="100000" kx="0" ky="0" algn="bl" rotWithShape="0" blurRad="76200" dist="25400" dir="5400000">
              <a:srgbClr val="000000">
                <a:alpha val="12000"/>
              </a:srgbClr>
            </a:outerShdw>
          </a:effectLst>
        </p:spPr>
      </p:sp>
      <p:sp>
        <p:nvSpPr>
          <p:cNvPr id="22" name="Text 20"/>
          <p:cNvSpPr txBox="1"/>
          <p:nvPr/>
        </p:nvSpPr>
        <p:spPr>
          <a:xfrm>
            <a:off x="3840480" y="5623560"/>
            <a:ext cx="292608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WhatsApp del negocio</a:t>
            </a:r>
            <a:endParaRPr lang="en-US" sz="1600" dirty="0"/>
          </a:p>
        </p:txBody>
      </p:sp>
      <p:sp>
        <p:nvSpPr>
          <p:cNvPr id="23" name="nodo-123"/>
          <p:cNvSpPr/>
          <p:nvPr/>
        </p:nvSpPr>
        <p:spPr>
          <a:xfrm>
            <a:off x="548640" y="5486400"/>
            <a:ext cx="2194560" cy="731520"/>
          </a:xfrm>
          <a:prstGeom prst="roundRect">
            <a:avLst>
              <a:gd name="adj" fmla="val 15000"/>
            </a:avLst>
          </a:prstGeom>
          <a:solidFill>
            <a:schemeClr val="bg2"/>
          </a:solidFill>
          <a:ln/>
          <a:effectLst>
            <a:outerShdw sx="100000" sy="100000" kx="0" ky="0" algn="bl" rotWithShape="0" blurRad="76200" dist="25400" dir="5400000">
              <a:srgbClr val="000000">
                <a:alpha val="12000"/>
              </a:srgbClr>
            </a:outerShdw>
          </a:effectLst>
        </p:spPr>
      </p:sp>
      <p:sp>
        <p:nvSpPr>
          <p:cNvPr id="24" name="Text 22"/>
          <p:cNvSpPr txBox="1"/>
          <p:nvPr/>
        </p:nvSpPr>
        <p:spPr>
          <a:xfrm>
            <a:off x="731520" y="5623560"/>
            <a:ext cx="182880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Mercado Pago</a:t>
            </a:r>
            <a:endParaRPr lang="en-US" sz="1600" dirty="0"/>
          </a:p>
        </p:txBody>
      </p:sp>
      <p:sp>
        <p:nvSpPr>
          <p:cNvPr id="25" name="flecha-124"/>
          <p:cNvSpPr/>
          <p:nvPr/>
        </p:nvSpPr>
        <p:spPr>
          <a:xfrm>
            <a:off x="2743200" y="3337560"/>
            <a:ext cx="914400" cy="0"/>
          </a:xfrm>
          <a:prstGeom prst="line">
            <a:avLst/>
          </a:prstGeom>
          <a:noFill/>
          <a:ln w="22225">
            <a:solidFill>
              <a:srgbClr val="8A7F76"/>
            </a:solidFill>
            <a:prstDash val="solid"/>
            <a:tailEnd type="triangle"/>
          </a:ln>
        </p:spPr>
      </p:sp>
      <p:sp>
        <p:nvSpPr>
          <p:cNvPr id="26" name="Text 24"/>
          <p:cNvSpPr txBox="1"/>
          <p:nvPr/>
        </p:nvSpPr>
        <p:spPr>
          <a:xfrm>
            <a:off x="2743200" y="2971800"/>
            <a:ext cx="914400" cy="32004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HTTPS</a:t>
            </a:r>
            <a:endParaRPr lang="en-US" sz="1200" dirty="0"/>
          </a:p>
        </p:txBody>
      </p:sp>
      <p:sp>
        <p:nvSpPr>
          <p:cNvPr id="27" name="flecha-125"/>
          <p:cNvSpPr/>
          <p:nvPr/>
        </p:nvSpPr>
        <p:spPr>
          <a:xfrm>
            <a:off x="6949440" y="2240280"/>
            <a:ext cx="1051560" cy="0"/>
          </a:xfrm>
          <a:prstGeom prst="line">
            <a:avLst/>
          </a:prstGeom>
          <a:noFill/>
          <a:ln w="22225">
            <a:solidFill>
              <a:srgbClr val="8A7F76"/>
            </a:solidFill>
            <a:prstDash val="solid"/>
            <a:tailEnd type="triangle"/>
          </a:ln>
        </p:spPr>
      </p:sp>
      <p:sp>
        <p:nvSpPr>
          <p:cNvPr id="28" name="Text 26"/>
          <p:cNvSpPr txBox="1"/>
          <p:nvPr/>
        </p:nvSpPr>
        <p:spPr>
          <a:xfrm>
            <a:off x="6903720" y="1874520"/>
            <a:ext cx="1143000" cy="32004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GET / POST</a:t>
            </a:r>
            <a:endParaRPr lang="en-US" sz="1200" dirty="0"/>
          </a:p>
        </p:txBody>
      </p:sp>
      <p:sp>
        <p:nvSpPr>
          <p:cNvPr id="29" name="flecha-126"/>
          <p:cNvSpPr/>
          <p:nvPr/>
        </p:nvSpPr>
        <p:spPr>
          <a:xfrm>
            <a:off x="9784080" y="2926080"/>
            <a:ext cx="0" cy="822960"/>
          </a:xfrm>
          <a:prstGeom prst="line">
            <a:avLst/>
          </a:prstGeom>
          <a:noFill/>
          <a:ln w="22225">
            <a:solidFill>
              <a:srgbClr val="8A7F76"/>
            </a:solidFill>
            <a:prstDash val="solid"/>
            <a:tailEnd type="triangle"/>
          </a:ln>
        </p:spPr>
      </p:sp>
      <p:sp>
        <p:nvSpPr>
          <p:cNvPr id="30" name="flecha-127"/>
          <p:cNvSpPr/>
          <p:nvPr/>
        </p:nvSpPr>
        <p:spPr>
          <a:xfrm>
            <a:off x="5303520" y="4846320"/>
            <a:ext cx="0" cy="640080"/>
          </a:xfrm>
          <a:prstGeom prst="line">
            <a:avLst/>
          </a:prstGeom>
          <a:noFill/>
          <a:ln w="22225">
            <a:solidFill>
              <a:srgbClr val="8A7F76"/>
            </a:solidFill>
            <a:prstDash val="solid"/>
            <a:tailEnd type="triangle"/>
          </a:ln>
        </p:spPr>
      </p:sp>
      <p:sp>
        <p:nvSpPr>
          <p:cNvPr id="31" name="Text 29"/>
          <p:cNvSpPr txBox="1"/>
          <p:nvPr/>
        </p:nvSpPr>
        <p:spPr>
          <a:xfrm>
            <a:off x="5440680" y="4983480"/>
            <a:ext cx="2194560" cy="32004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recibo listo (wa.me)</a:t>
            </a:r>
            <a:endParaRPr lang="en-US" sz="1200" dirty="0"/>
          </a:p>
        </p:txBody>
      </p:sp>
      <p:sp>
        <p:nvSpPr>
          <p:cNvPr id="32" name="flecha-128"/>
          <p:cNvSpPr/>
          <p:nvPr/>
        </p:nvSpPr>
        <p:spPr>
          <a:xfrm>
            <a:off x="1645920" y="4023360"/>
            <a:ext cx="0" cy="1463040"/>
          </a:xfrm>
          <a:prstGeom prst="line">
            <a:avLst/>
          </a:prstGeom>
          <a:noFill/>
          <a:ln w="22225">
            <a:solidFill>
              <a:srgbClr val="8A7F76"/>
            </a:solidFill>
            <a:prstDash val="solid"/>
            <a:tailEnd type="triangle"/>
          </a:ln>
        </p:spPr>
      </p:sp>
      <p:sp>
        <p:nvSpPr>
          <p:cNvPr id="33" name="Text 31"/>
          <p:cNvSpPr txBox="1"/>
          <p:nvPr/>
        </p:nvSpPr>
        <p:spPr>
          <a:xfrm>
            <a:off x="1737360" y="4526280"/>
            <a:ext cx="1463040" cy="32004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paga aparte</a:t>
            </a:r>
            <a:endParaRPr lang="en-US" sz="1200" dirty="0"/>
          </a:p>
        </p:txBody>
      </p:sp>
      <p:sp>
        <p:nvSpPr>
          <p:cNvPr id="34" name="card-129"/>
          <p:cNvSpPr/>
          <p:nvPr/>
        </p:nvSpPr>
        <p:spPr>
          <a:xfrm>
            <a:off x="8001000" y="5074920"/>
            <a:ext cx="3611880" cy="1143000"/>
          </a:xfrm>
          <a:prstGeom prst="roundRect">
            <a:avLst>
              <a:gd name="adj" fmla="val 9600"/>
            </a:avLst>
          </a:prstGeom>
          <a:solidFill>
            <a:schemeClr val="accent6"/>
          </a:solidFill>
          <a:ln/>
        </p:spPr>
      </p:sp>
      <p:sp>
        <p:nvSpPr>
          <p:cNvPr id="35" name="Text 33"/>
          <p:cNvSpPr txBox="1"/>
          <p:nvPr/>
        </p:nvSpPr>
        <p:spPr>
          <a:xfrm>
            <a:off x="8183880" y="5074920"/>
            <a:ext cx="3291840" cy="1143000"/>
          </a:xfrm>
          <a:prstGeom prst="rect">
            <a:avLst/>
          </a:prstGeom>
          <a:noFill/>
          <a:ln/>
        </p:spPr>
        <p:txBody>
          <a:bodyPr wrap="square" lIns="0" tIns="0" rIns="0" bIns="0" rtlCol="0" anchor="ctr"/>
          <a:lstStyle/>
          <a:p>
            <a:pPr indent="0" marL="0">
              <a:buNone/>
            </a:pPr>
            <a:r>
              <a:rPr lang="en-US" sz="1400" b="1" dirty="0">
                <a:solidFill>
                  <a:schemeClr val="accent3"/>
                </a:solidFill>
                <a:latin typeface="Calibri" pitchFamily="34" charset="0"/>
                <a:ea typeface="Calibri" pitchFamily="34" charset="-122"/>
                <a:cs typeface="Calibri" pitchFamily="34" charset="-120"/>
              </a:rPr>
              <a:t>Si Google falla, el pedido sale igual por WhatsApp.</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REQUISITOS</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Requisitos: 20 funcionales y 15 no funcionales</a:t>
            </a:r>
            <a:endParaRPr lang="en-US" sz="3200" dirty="0"/>
          </a:p>
        </p:txBody>
      </p:sp>
      <p:sp>
        <p:nvSpPr>
          <p:cNvPr id="4" name="Text 2"/>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Funcionales (MoSCoW)</a:t>
            </a:r>
            <a:endParaRPr lang="en-US" sz="1600" dirty="0"/>
          </a:p>
        </p:txBody>
      </p:sp>
      <p:sp>
        <p:nvSpPr>
          <p:cNvPr id="5" name="card-130"/>
          <p:cNvSpPr/>
          <p:nvPr/>
        </p:nvSpPr>
        <p:spPr>
          <a:xfrm>
            <a:off x="548640" y="1920240"/>
            <a:ext cx="3108960" cy="914400"/>
          </a:xfrm>
          <a:prstGeom prst="roundRect">
            <a:avLst>
              <a:gd name="adj" fmla="val 12000"/>
            </a:avLst>
          </a:prstGeom>
          <a:solidFill>
            <a:schemeClr val="accent6"/>
          </a:solidFill>
          <a:ln/>
        </p:spPr>
      </p:sp>
      <p:sp>
        <p:nvSpPr>
          <p:cNvPr id="6" name="Text 4"/>
          <p:cNvSpPr txBox="1"/>
          <p:nvPr/>
        </p:nvSpPr>
        <p:spPr>
          <a:xfrm>
            <a:off x="731520" y="1920240"/>
            <a:ext cx="2743200" cy="9144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Carta y horario</a:t>
            </a:r>
            <a:endParaRPr lang="en-US" sz="1500" dirty="0"/>
          </a:p>
          <a:p>
            <a:pPr indent="0" marL="0">
              <a:buNone/>
            </a:pPr>
            <a:r>
              <a:rPr lang="en-US" sz="1300" dirty="0">
                <a:solidFill>
                  <a:schemeClr val="accent4"/>
                </a:solidFill>
                <a:latin typeface="Calibri" pitchFamily="34" charset="0"/>
                <a:ea typeface="Calibri" pitchFamily="34" charset="-122"/>
                <a:cs typeface="Calibri" pitchFamily="34" charset="-120"/>
              </a:rPr>
              <a:t>RF‑01, RF‑02</a:t>
            </a:r>
            <a:endParaRPr lang="en-US" sz="1500" dirty="0"/>
          </a:p>
        </p:txBody>
      </p:sp>
      <p:sp>
        <p:nvSpPr>
          <p:cNvPr id="7" name="card-131"/>
          <p:cNvSpPr/>
          <p:nvPr/>
        </p:nvSpPr>
        <p:spPr>
          <a:xfrm>
            <a:off x="3840480" y="1920240"/>
            <a:ext cx="3108960" cy="914400"/>
          </a:xfrm>
          <a:prstGeom prst="roundRect">
            <a:avLst>
              <a:gd name="adj" fmla="val 12000"/>
            </a:avLst>
          </a:prstGeom>
          <a:solidFill>
            <a:schemeClr val="accent6"/>
          </a:solidFill>
          <a:ln/>
        </p:spPr>
      </p:sp>
      <p:sp>
        <p:nvSpPr>
          <p:cNvPr id="8" name="Text 6"/>
          <p:cNvSpPr txBox="1"/>
          <p:nvPr/>
        </p:nvSpPr>
        <p:spPr>
          <a:xfrm>
            <a:off x="4023360" y="1920240"/>
            <a:ext cx="2743200" cy="9144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Armar el pedido</a:t>
            </a:r>
            <a:endParaRPr lang="en-US" sz="1500" dirty="0"/>
          </a:p>
          <a:p>
            <a:pPr indent="0" marL="0">
              <a:buNone/>
            </a:pPr>
            <a:r>
              <a:rPr lang="en-US" sz="1300" dirty="0">
                <a:solidFill>
                  <a:schemeClr val="accent4"/>
                </a:solidFill>
                <a:latin typeface="Calibri" pitchFamily="34" charset="0"/>
                <a:ea typeface="Calibri" pitchFamily="34" charset="-122"/>
                <a:cs typeface="Calibri" pitchFamily="34" charset="-120"/>
              </a:rPr>
              <a:t>RF‑03 a RF‑06</a:t>
            </a:r>
            <a:endParaRPr lang="en-US" sz="1500" dirty="0"/>
          </a:p>
        </p:txBody>
      </p:sp>
      <p:sp>
        <p:nvSpPr>
          <p:cNvPr id="9" name="card-132"/>
          <p:cNvSpPr/>
          <p:nvPr/>
        </p:nvSpPr>
        <p:spPr>
          <a:xfrm>
            <a:off x="548640" y="2971800"/>
            <a:ext cx="3108960" cy="914400"/>
          </a:xfrm>
          <a:prstGeom prst="roundRect">
            <a:avLst>
              <a:gd name="adj" fmla="val 12000"/>
            </a:avLst>
          </a:prstGeom>
          <a:solidFill>
            <a:schemeClr val="accent6"/>
          </a:solidFill>
          <a:ln/>
        </p:spPr>
      </p:sp>
      <p:sp>
        <p:nvSpPr>
          <p:cNvPr id="10" name="Text 8"/>
          <p:cNvSpPr txBox="1"/>
          <p:nvPr/>
        </p:nvSpPr>
        <p:spPr>
          <a:xfrm>
            <a:off x="731520" y="2971800"/>
            <a:ext cx="2743200" cy="9144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Datos y validación</a:t>
            </a:r>
            <a:endParaRPr lang="en-US" sz="1500" dirty="0"/>
          </a:p>
          <a:p>
            <a:pPr indent="0" marL="0">
              <a:buNone/>
            </a:pPr>
            <a:r>
              <a:rPr lang="en-US" sz="1300" dirty="0">
                <a:solidFill>
                  <a:schemeClr val="accent4"/>
                </a:solidFill>
                <a:latin typeface="Calibri" pitchFamily="34" charset="0"/>
                <a:ea typeface="Calibri" pitchFamily="34" charset="-122"/>
                <a:cs typeface="Calibri" pitchFamily="34" charset="-120"/>
              </a:rPr>
              <a:t>RF‑07 a RF‑10</a:t>
            </a:r>
            <a:endParaRPr lang="en-US" sz="1500" dirty="0"/>
          </a:p>
        </p:txBody>
      </p:sp>
      <p:sp>
        <p:nvSpPr>
          <p:cNvPr id="11" name="card-133"/>
          <p:cNvSpPr/>
          <p:nvPr/>
        </p:nvSpPr>
        <p:spPr>
          <a:xfrm>
            <a:off x="3840480" y="2971800"/>
            <a:ext cx="3108960" cy="914400"/>
          </a:xfrm>
          <a:prstGeom prst="roundRect">
            <a:avLst>
              <a:gd name="adj" fmla="val 12000"/>
            </a:avLst>
          </a:prstGeom>
          <a:solidFill>
            <a:schemeClr val="accent6"/>
          </a:solidFill>
          <a:ln/>
        </p:spPr>
      </p:sp>
      <p:sp>
        <p:nvSpPr>
          <p:cNvPr id="12" name="Text 10"/>
          <p:cNvSpPr txBox="1"/>
          <p:nvPr/>
        </p:nvSpPr>
        <p:spPr>
          <a:xfrm>
            <a:off x="4023360" y="2971800"/>
            <a:ext cx="2743200" cy="9144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Recibo, WhatsApp y pago</a:t>
            </a:r>
            <a:endParaRPr lang="en-US" sz="1500" dirty="0"/>
          </a:p>
          <a:p>
            <a:pPr indent="0" marL="0">
              <a:buNone/>
            </a:pPr>
            <a:r>
              <a:rPr lang="en-US" sz="1300" dirty="0">
                <a:solidFill>
                  <a:schemeClr val="accent4"/>
                </a:solidFill>
                <a:latin typeface="Calibri" pitchFamily="34" charset="0"/>
                <a:ea typeface="Calibri" pitchFamily="34" charset="-122"/>
                <a:cs typeface="Calibri" pitchFamily="34" charset="-120"/>
              </a:rPr>
              <a:t>RF‑11 a RF‑13</a:t>
            </a:r>
            <a:endParaRPr lang="en-US" sz="1500" dirty="0"/>
          </a:p>
        </p:txBody>
      </p:sp>
      <p:sp>
        <p:nvSpPr>
          <p:cNvPr id="13" name="card-134"/>
          <p:cNvSpPr/>
          <p:nvPr/>
        </p:nvSpPr>
        <p:spPr>
          <a:xfrm>
            <a:off x="548640" y="4023360"/>
            <a:ext cx="3108960" cy="914400"/>
          </a:xfrm>
          <a:prstGeom prst="roundRect">
            <a:avLst>
              <a:gd name="adj" fmla="val 12000"/>
            </a:avLst>
          </a:prstGeom>
          <a:solidFill>
            <a:schemeClr val="accent6"/>
          </a:solidFill>
          <a:ln/>
        </p:spPr>
      </p:sp>
      <p:sp>
        <p:nvSpPr>
          <p:cNvPr id="14" name="Text 12"/>
          <p:cNvSpPr txBox="1"/>
          <p:nvPr/>
        </p:nvSpPr>
        <p:spPr>
          <a:xfrm>
            <a:off x="731520" y="4023360"/>
            <a:ext cx="2743200" cy="9144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Planilla y administración</a:t>
            </a:r>
            <a:endParaRPr lang="en-US" sz="1500" dirty="0"/>
          </a:p>
          <a:p>
            <a:pPr indent="0" marL="0">
              <a:buNone/>
            </a:pPr>
            <a:r>
              <a:rPr lang="en-US" sz="1300" dirty="0">
                <a:solidFill>
                  <a:schemeClr val="accent4"/>
                </a:solidFill>
                <a:latin typeface="Calibri" pitchFamily="34" charset="0"/>
                <a:ea typeface="Calibri" pitchFamily="34" charset="-122"/>
                <a:cs typeface="Calibri" pitchFamily="34" charset="-120"/>
              </a:rPr>
              <a:t>RF‑14 a RF‑17, RF‑19</a:t>
            </a:r>
            <a:endParaRPr lang="en-US" sz="1500" dirty="0"/>
          </a:p>
        </p:txBody>
      </p:sp>
      <p:sp>
        <p:nvSpPr>
          <p:cNvPr id="15" name="card-135"/>
          <p:cNvSpPr/>
          <p:nvPr/>
        </p:nvSpPr>
        <p:spPr>
          <a:xfrm>
            <a:off x="3840480" y="4023360"/>
            <a:ext cx="3108960" cy="914400"/>
          </a:xfrm>
          <a:prstGeom prst="roundRect">
            <a:avLst>
              <a:gd name="adj" fmla="val 12000"/>
            </a:avLst>
          </a:prstGeom>
          <a:solidFill>
            <a:schemeClr val="accent6"/>
          </a:solidFill>
          <a:ln/>
        </p:spPr>
      </p:sp>
      <p:sp>
        <p:nvSpPr>
          <p:cNvPr id="16" name="Text 14"/>
          <p:cNvSpPr txBox="1"/>
          <p:nvPr/>
        </p:nvSpPr>
        <p:spPr>
          <a:xfrm>
            <a:off x="4023360" y="4023360"/>
            <a:ext cx="2743200" cy="9144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Protección y horario</a:t>
            </a:r>
            <a:endParaRPr lang="en-US" sz="1500" dirty="0"/>
          </a:p>
          <a:p>
            <a:pPr indent="0" marL="0">
              <a:buNone/>
            </a:pPr>
            <a:r>
              <a:rPr lang="en-US" sz="1300" dirty="0">
                <a:solidFill>
                  <a:schemeClr val="accent4"/>
                </a:solidFill>
                <a:latin typeface="Calibri" pitchFamily="34" charset="0"/>
                <a:ea typeface="Calibri" pitchFamily="34" charset="-122"/>
                <a:cs typeface="Calibri" pitchFamily="34" charset="-120"/>
              </a:rPr>
              <a:t>RF‑18, RF‑20</a:t>
            </a:r>
            <a:endParaRPr lang="en-US" sz="1500" dirty="0"/>
          </a:p>
        </p:txBody>
      </p:sp>
      <p:sp>
        <p:nvSpPr>
          <p:cNvPr id="17" name="Text 15"/>
          <p:cNvSpPr txBox="1"/>
          <p:nvPr/>
        </p:nvSpPr>
        <p:spPr>
          <a:xfrm>
            <a:off x="548640" y="5120640"/>
            <a:ext cx="6400800"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18 de 20 verificados con pruebas · 2 se validan con el uso real</a:t>
            </a:r>
            <a:endParaRPr lang="en-US" sz="1400" dirty="0"/>
          </a:p>
        </p:txBody>
      </p:sp>
      <p:sp>
        <p:nvSpPr>
          <p:cNvPr id="18" name="Text 16"/>
          <p:cNvSpPr txBox="1"/>
          <p:nvPr/>
        </p:nvSpPr>
        <p:spPr>
          <a:xfrm>
            <a:off x="7406640" y="1463040"/>
            <a:ext cx="420624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No funcionales (ISO/IEC 25010)</a:t>
            </a:r>
            <a:endParaRPr lang="en-US" sz="1600" dirty="0"/>
          </a:p>
        </p:txBody>
      </p:sp>
      <p:sp>
        <p:nvSpPr>
          <p:cNvPr id="19" name="etiqueta-136"/>
          <p:cNvSpPr/>
          <p:nvPr/>
        </p:nvSpPr>
        <p:spPr>
          <a:xfrm>
            <a:off x="7406640" y="1965960"/>
            <a:ext cx="2011680" cy="310896"/>
          </a:xfrm>
          <a:prstGeom prst="roundRect">
            <a:avLst>
              <a:gd name="adj" fmla="val 50000"/>
            </a:avLst>
          </a:prstGeom>
          <a:solidFill>
            <a:schemeClr val="accent1"/>
          </a:solidFill>
          <a:ln/>
        </p:spPr>
      </p:sp>
      <p:sp>
        <p:nvSpPr>
          <p:cNvPr id="20" name="Text 18"/>
          <p:cNvSpPr txBox="1"/>
          <p:nvPr/>
        </p:nvSpPr>
        <p:spPr>
          <a:xfrm>
            <a:off x="7406640" y="1965960"/>
            <a:ext cx="20116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Usabilidad</a:t>
            </a:r>
            <a:endParaRPr lang="en-US" sz="1100" dirty="0"/>
          </a:p>
        </p:txBody>
      </p:sp>
      <p:sp>
        <p:nvSpPr>
          <p:cNvPr id="21" name="etiqueta-137"/>
          <p:cNvSpPr/>
          <p:nvPr/>
        </p:nvSpPr>
        <p:spPr>
          <a:xfrm>
            <a:off x="9555480" y="1965960"/>
            <a:ext cx="2011680" cy="310896"/>
          </a:xfrm>
          <a:prstGeom prst="roundRect">
            <a:avLst>
              <a:gd name="adj" fmla="val 50000"/>
            </a:avLst>
          </a:prstGeom>
          <a:solidFill>
            <a:schemeClr val="accent1"/>
          </a:solidFill>
          <a:ln/>
        </p:spPr>
      </p:sp>
      <p:sp>
        <p:nvSpPr>
          <p:cNvPr id="22" name="Text 20"/>
          <p:cNvSpPr txBox="1"/>
          <p:nvPr/>
        </p:nvSpPr>
        <p:spPr>
          <a:xfrm>
            <a:off x="9555480" y="1965960"/>
            <a:ext cx="20116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Compatibilidad</a:t>
            </a:r>
            <a:endParaRPr lang="en-US" sz="1100" dirty="0"/>
          </a:p>
        </p:txBody>
      </p:sp>
      <p:sp>
        <p:nvSpPr>
          <p:cNvPr id="23" name="etiqueta-138"/>
          <p:cNvSpPr/>
          <p:nvPr/>
        </p:nvSpPr>
        <p:spPr>
          <a:xfrm>
            <a:off x="7406640" y="2514600"/>
            <a:ext cx="2011680" cy="310896"/>
          </a:xfrm>
          <a:prstGeom prst="roundRect">
            <a:avLst>
              <a:gd name="adj" fmla="val 50000"/>
            </a:avLst>
          </a:prstGeom>
          <a:solidFill>
            <a:schemeClr val="accent1"/>
          </a:solidFill>
          <a:ln/>
        </p:spPr>
      </p:sp>
      <p:sp>
        <p:nvSpPr>
          <p:cNvPr id="24" name="Text 22"/>
          <p:cNvSpPr txBox="1"/>
          <p:nvPr/>
        </p:nvSpPr>
        <p:spPr>
          <a:xfrm>
            <a:off x="7406640" y="2514600"/>
            <a:ext cx="20116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Seguridad</a:t>
            </a:r>
            <a:endParaRPr lang="en-US" sz="1100" dirty="0"/>
          </a:p>
        </p:txBody>
      </p:sp>
      <p:sp>
        <p:nvSpPr>
          <p:cNvPr id="25" name="etiqueta-139"/>
          <p:cNvSpPr/>
          <p:nvPr/>
        </p:nvSpPr>
        <p:spPr>
          <a:xfrm>
            <a:off x="9555480" y="2514600"/>
            <a:ext cx="2011680" cy="310896"/>
          </a:xfrm>
          <a:prstGeom prst="roundRect">
            <a:avLst>
              <a:gd name="adj" fmla="val 50000"/>
            </a:avLst>
          </a:prstGeom>
          <a:solidFill>
            <a:schemeClr val="accent1"/>
          </a:solidFill>
          <a:ln/>
        </p:spPr>
      </p:sp>
      <p:sp>
        <p:nvSpPr>
          <p:cNvPr id="26" name="Text 24"/>
          <p:cNvSpPr txBox="1"/>
          <p:nvPr/>
        </p:nvSpPr>
        <p:spPr>
          <a:xfrm>
            <a:off x="9555480" y="2514600"/>
            <a:ext cx="20116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Fiabilidad</a:t>
            </a:r>
            <a:endParaRPr lang="en-US" sz="1100" dirty="0"/>
          </a:p>
        </p:txBody>
      </p:sp>
      <p:sp>
        <p:nvSpPr>
          <p:cNvPr id="27" name="etiqueta-140"/>
          <p:cNvSpPr/>
          <p:nvPr/>
        </p:nvSpPr>
        <p:spPr>
          <a:xfrm>
            <a:off x="7406640" y="3063240"/>
            <a:ext cx="2011680" cy="310896"/>
          </a:xfrm>
          <a:prstGeom prst="roundRect">
            <a:avLst>
              <a:gd name="adj" fmla="val 50000"/>
            </a:avLst>
          </a:prstGeom>
          <a:solidFill>
            <a:schemeClr val="accent2"/>
          </a:solidFill>
          <a:ln/>
        </p:spPr>
      </p:sp>
      <p:sp>
        <p:nvSpPr>
          <p:cNvPr id="28" name="Text 26"/>
          <p:cNvSpPr txBox="1"/>
          <p:nvPr/>
        </p:nvSpPr>
        <p:spPr>
          <a:xfrm>
            <a:off x="7406640" y="3063240"/>
            <a:ext cx="20116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Eficiencia</a:t>
            </a:r>
            <a:endParaRPr lang="en-US" sz="1100" dirty="0"/>
          </a:p>
        </p:txBody>
      </p:sp>
      <p:sp>
        <p:nvSpPr>
          <p:cNvPr id="29" name="etiqueta-141"/>
          <p:cNvSpPr/>
          <p:nvPr/>
        </p:nvSpPr>
        <p:spPr>
          <a:xfrm>
            <a:off x="9555480" y="3063240"/>
            <a:ext cx="2011680" cy="310896"/>
          </a:xfrm>
          <a:prstGeom prst="roundRect">
            <a:avLst>
              <a:gd name="adj" fmla="val 50000"/>
            </a:avLst>
          </a:prstGeom>
          <a:solidFill>
            <a:schemeClr val="accent2"/>
          </a:solidFill>
          <a:ln/>
        </p:spPr>
      </p:sp>
      <p:sp>
        <p:nvSpPr>
          <p:cNvPr id="30" name="Text 28"/>
          <p:cNvSpPr txBox="1"/>
          <p:nvPr/>
        </p:nvSpPr>
        <p:spPr>
          <a:xfrm>
            <a:off x="9555480" y="3063240"/>
            <a:ext cx="20116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Mantenibilidad</a:t>
            </a:r>
            <a:endParaRPr lang="en-US" sz="1100" dirty="0"/>
          </a:p>
        </p:txBody>
      </p:sp>
      <p:sp>
        <p:nvSpPr>
          <p:cNvPr id="31" name="etiqueta-142"/>
          <p:cNvSpPr/>
          <p:nvPr/>
        </p:nvSpPr>
        <p:spPr>
          <a:xfrm>
            <a:off x="7406640" y="3611880"/>
            <a:ext cx="2011680" cy="310896"/>
          </a:xfrm>
          <a:prstGeom prst="roundRect">
            <a:avLst>
              <a:gd name="adj" fmla="val 50000"/>
            </a:avLst>
          </a:prstGeom>
          <a:solidFill>
            <a:schemeClr val="accent2"/>
          </a:solidFill>
          <a:ln/>
        </p:spPr>
      </p:sp>
      <p:sp>
        <p:nvSpPr>
          <p:cNvPr id="32" name="Text 30"/>
          <p:cNvSpPr txBox="1"/>
          <p:nvPr/>
        </p:nvSpPr>
        <p:spPr>
          <a:xfrm>
            <a:off x="7406640" y="3611880"/>
            <a:ext cx="20116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Accesibilidad</a:t>
            </a:r>
            <a:endParaRPr lang="en-US" sz="1100" dirty="0"/>
          </a:p>
        </p:txBody>
      </p:sp>
      <p:sp>
        <p:nvSpPr>
          <p:cNvPr id="33" name="etiqueta-143"/>
          <p:cNvSpPr/>
          <p:nvPr/>
        </p:nvSpPr>
        <p:spPr>
          <a:xfrm>
            <a:off x="9555480" y="3611880"/>
            <a:ext cx="2011680" cy="310896"/>
          </a:xfrm>
          <a:prstGeom prst="roundRect">
            <a:avLst>
              <a:gd name="adj" fmla="val 50000"/>
            </a:avLst>
          </a:prstGeom>
          <a:solidFill>
            <a:schemeClr val="accent2"/>
          </a:solidFill>
          <a:ln/>
        </p:spPr>
      </p:sp>
      <p:sp>
        <p:nvSpPr>
          <p:cNvPr id="34" name="Text 32"/>
          <p:cNvSpPr txBox="1"/>
          <p:nvPr/>
        </p:nvSpPr>
        <p:spPr>
          <a:xfrm>
            <a:off x="9555480" y="3611880"/>
            <a:ext cx="20116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Costo y disponibilidad</a:t>
            </a:r>
            <a:endParaRPr lang="en-US" sz="1100" dirty="0"/>
          </a:p>
        </p:txBody>
      </p:sp>
      <p:sp>
        <p:nvSpPr>
          <p:cNvPr id="35" name="card-144"/>
          <p:cNvSpPr/>
          <p:nvPr/>
        </p:nvSpPr>
        <p:spPr>
          <a:xfrm>
            <a:off x="7406640" y="4343400"/>
            <a:ext cx="4206240" cy="1828800"/>
          </a:xfrm>
          <a:prstGeom prst="roundRect">
            <a:avLst>
              <a:gd name="adj" fmla="val 6000"/>
            </a:avLst>
          </a:prstGeom>
          <a:solidFill>
            <a:schemeClr val="bg2"/>
          </a:solidFill>
          <a:ln/>
        </p:spPr>
      </p:sp>
      <p:sp>
        <p:nvSpPr>
          <p:cNvPr id="36" name="Text 34"/>
          <p:cNvSpPr txBox="1"/>
          <p:nvPr/>
        </p:nvSpPr>
        <p:spPr>
          <a:xfrm>
            <a:off x="7589520" y="4343400"/>
            <a:ext cx="3840480" cy="1828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Ejemplos: pedido sin ayuda en ≤ 2 minutos · 100 % HTTPS · $0 por mes · 44 pruebas antes de publicar</a:t>
            </a:r>
            <a:endParaRPr lang="en-US" sz="1600" dirty="0"/>
          </a:p>
        </p:txBody>
      </p:sp>
      <p:sp>
        <p:nvSpPr>
          <p:cNvPr id="37" name="Text 35"/>
          <p:cNvSpPr txBox="1"/>
          <p:nvPr/>
        </p:nvSpPr>
        <p:spPr>
          <a:xfrm>
            <a:off x="548640" y="5623560"/>
            <a:ext cx="6400800" cy="32004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Listado completo y trazabilidad: anexos A5 a A7.</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DESARROLLO E INTEGRACIÓN</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Desarrollo: cada cambio se prueba antes de publicarse</a:t>
            </a:r>
            <a:endParaRPr lang="en-US" sz="3200" dirty="0"/>
          </a:p>
        </p:txBody>
      </p:sp>
      <p:sp>
        <p:nvSpPr>
          <p:cNvPr id="4" name="icono-fondo-145"/>
          <p:cNvSpPr/>
          <p:nvPr/>
        </p:nvSpPr>
        <p:spPr>
          <a:xfrm>
            <a:off x="1005840" y="1554480"/>
            <a:ext cx="685800" cy="685800"/>
          </a:xfrm>
          <a:prstGeom prst="ellipse">
            <a:avLst/>
          </a:prstGeom>
          <a:solidFill>
            <a:schemeClr val="accent2"/>
          </a:solidFill>
          <a:ln/>
        </p:spPr>
      </p:sp>
      <p:pic>
        <p:nvPicPr>
          <p:cNvPr id="5" name="icono-146" descr="preencoded.png">    </p:cNvPr>
          <p:cNvPicPr>
            <a:picLocks noChangeAspect="1"/>
          </p:cNvPicPr>
          <p:nvPr/>
        </p:nvPicPr>
        <p:blipFill>
          <a:blip r:embed="rId1"/>
          <a:stretch>
            <a:fillRect/>
          </a:stretch>
        </p:blipFill>
        <p:spPr>
          <a:xfrm>
            <a:off x="1170432" y="1719072"/>
            <a:ext cx="356616" cy="356616"/>
          </a:xfrm>
          <a:prstGeom prst="rect">
            <a:avLst/>
          </a:prstGeom>
        </p:spPr>
      </p:pic>
      <p:sp>
        <p:nvSpPr>
          <p:cNvPr id="6" name="Text 3"/>
          <p:cNvSpPr txBox="1"/>
          <p:nvPr/>
        </p:nvSpPr>
        <p:spPr>
          <a:xfrm>
            <a:off x="548640" y="2331720"/>
            <a:ext cx="1600200" cy="32004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Código</a:t>
            </a:r>
            <a:endParaRPr lang="en-US" sz="1500" dirty="0"/>
          </a:p>
        </p:txBody>
      </p:sp>
      <p:sp>
        <p:nvSpPr>
          <p:cNvPr id="7" name="Text 4"/>
          <p:cNvSpPr txBox="1"/>
          <p:nvPr/>
        </p:nvSpPr>
        <p:spPr>
          <a:xfrm>
            <a:off x="548640" y="2651760"/>
            <a:ext cx="1600200" cy="27432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VS Code + Git</a:t>
            </a:r>
            <a:endParaRPr lang="en-US" sz="1200" dirty="0"/>
          </a:p>
        </p:txBody>
      </p:sp>
      <p:pic>
        <p:nvPicPr>
          <p:cNvPr id="8" name="flecha-147" descr="preencoded.png">    </p:cNvPr>
          <p:cNvPicPr>
            <a:picLocks noChangeAspect="1"/>
          </p:cNvPicPr>
          <p:nvPr/>
        </p:nvPicPr>
        <p:blipFill>
          <a:blip r:embed="rId2"/>
          <a:stretch>
            <a:fillRect/>
          </a:stretch>
        </p:blipFill>
        <p:spPr>
          <a:xfrm>
            <a:off x="2121408" y="1737360"/>
            <a:ext cx="201168" cy="320040"/>
          </a:xfrm>
          <a:prstGeom prst="rect">
            <a:avLst/>
          </a:prstGeom>
        </p:spPr>
      </p:pic>
      <p:sp>
        <p:nvSpPr>
          <p:cNvPr id="9" name="icono-fondo-148"/>
          <p:cNvSpPr/>
          <p:nvPr/>
        </p:nvSpPr>
        <p:spPr>
          <a:xfrm>
            <a:off x="2788920" y="1554480"/>
            <a:ext cx="685800" cy="685800"/>
          </a:xfrm>
          <a:prstGeom prst="ellipse">
            <a:avLst/>
          </a:prstGeom>
          <a:solidFill>
            <a:schemeClr val="accent2"/>
          </a:solidFill>
          <a:ln/>
        </p:spPr>
      </p:sp>
      <p:pic>
        <p:nvPicPr>
          <p:cNvPr id="10" name="icono-149" descr="preencoded.png">    </p:cNvPr>
          <p:cNvPicPr>
            <a:picLocks noChangeAspect="1"/>
          </p:cNvPicPr>
          <p:nvPr/>
        </p:nvPicPr>
        <p:blipFill>
          <a:blip r:embed="rId3"/>
          <a:stretch>
            <a:fillRect/>
          </a:stretch>
        </p:blipFill>
        <p:spPr>
          <a:xfrm>
            <a:off x="2953512" y="1719072"/>
            <a:ext cx="356616" cy="356616"/>
          </a:xfrm>
          <a:prstGeom prst="rect">
            <a:avLst/>
          </a:prstGeom>
        </p:spPr>
      </p:pic>
      <p:sp>
        <p:nvSpPr>
          <p:cNvPr id="11" name="Text 6"/>
          <p:cNvSpPr txBox="1"/>
          <p:nvPr/>
        </p:nvSpPr>
        <p:spPr>
          <a:xfrm>
            <a:off x="2331720" y="2331720"/>
            <a:ext cx="1600200" cy="32004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GitHub</a:t>
            </a:r>
            <a:endParaRPr lang="en-US" sz="1500" dirty="0"/>
          </a:p>
        </p:txBody>
      </p:sp>
      <p:sp>
        <p:nvSpPr>
          <p:cNvPr id="12" name="Text 7"/>
          <p:cNvSpPr txBox="1"/>
          <p:nvPr/>
        </p:nvSpPr>
        <p:spPr>
          <a:xfrm>
            <a:off x="2331720" y="2651760"/>
            <a:ext cx="1600200" cy="27432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push a main</a:t>
            </a:r>
            <a:endParaRPr lang="en-US" sz="1200" dirty="0"/>
          </a:p>
        </p:txBody>
      </p:sp>
      <p:pic>
        <p:nvPicPr>
          <p:cNvPr id="13" name="flecha-150" descr="preencoded.png">    </p:cNvPr>
          <p:cNvPicPr>
            <a:picLocks noChangeAspect="1"/>
          </p:cNvPicPr>
          <p:nvPr/>
        </p:nvPicPr>
        <p:blipFill>
          <a:blip r:embed="rId4"/>
          <a:stretch>
            <a:fillRect/>
          </a:stretch>
        </p:blipFill>
        <p:spPr>
          <a:xfrm>
            <a:off x="3904488" y="1737360"/>
            <a:ext cx="201168" cy="320040"/>
          </a:xfrm>
          <a:prstGeom prst="rect">
            <a:avLst/>
          </a:prstGeom>
        </p:spPr>
      </p:pic>
      <p:sp>
        <p:nvSpPr>
          <p:cNvPr id="14" name="icono-fondo-151"/>
          <p:cNvSpPr/>
          <p:nvPr/>
        </p:nvSpPr>
        <p:spPr>
          <a:xfrm>
            <a:off x="4572000" y="1554480"/>
            <a:ext cx="685800" cy="685800"/>
          </a:xfrm>
          <a:prstGeom prst="ellipse">
            <a:avLst/>
          </a:prstGeom>
          <a:solidFill>
            <a:schemeClr val="accent1"/>
          </a:solidFill>
          <a:ln/>
        </p:spPr>
      </p:sp>
      <p:pic>
        <p:nvPicPr>
          <p:cNvPr id="15" name="icono-152" descr="preencoded.png">    </p:cNvPr>
          <p:cNvPicPr>
            <a:picLocks noChangeAspect="1"/>
          </p:cNvPicPr>
          <p:nvPr/>
        </p:nvPicPr>
        <p:blipFill>
          <a:blip r:embed="rId5"/>
          <a:stretch>
            <a:fillRect/>
          </a:stretch>
        </p:blipFill>
        <p:spPr>
          <a:xfrm>
            <a:off x="4736592" y="1719072"/>
            <a:ext cx="356616" cy="356616"/>
          </a:xfrm>
          <a:prstGeom prst="rect">
            <a:avLst/>
          </a:prstGeom>
        </p:spPr>
      </p:pic>
      <p:sp>
        <p:nvSpPr>
          <p:cNvPr id="16" name="Text 9"/>
          <p:cNvSpPr txBox="1"/>
          <p:nvPr/>
        </p:nvSpPr>
        <p:spPr>
          <a:xfrm>
            <a:off x="4114800" y="2331720"/>
            <a:ext cx="1600200" cy="32004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44 pruebas</a:t>
            </a:r>
            <a:endParaRPr lang="en-US" sz="1500" dirty="0"/>
          </a:p>
        </p:txBody>
      </p:sp>
      <p:sp>
        <p:nvSpPr>
          <p:cNvPr id="17" name="Text 10"/>
          <p:cNvSpPr txBox="1"/>
          <p:nvPr/>
        </p:nvSpPr>
        <p:spPr>
          <a:xfrm>
            <a:off x="4114800" y="2651760"/>
            <a:ext cx="1600200" cy="27432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automáticas</a:t>
            </a:r>
            <a:endParaRPr lang="en-US" sz="1200" dirty="0"/>
          </a:p>
        </p:txBody>
      </p:sp>
      <p:pic>
        <p:nvPicPr>
          <p:cNvPr id="18" name="flecha-153" descr="preencoded.png">    </p:cNvPr>
          <p:cNvPicPr>
            <a:picLocks noChangeAspect="1"/>
          </p:cNvPicPr>
          <p:nvPr/>
        </p:nvPicPr>
        <p:blipFill>
          <a:blip r:embed="rId6"/>
          <a:stretch>
            <a:fillRect/>
          </a:stretch>
        </p:blipFill>
        <p:spPr>
          <a:xfrm>
            <a:off x="5687568" y="1737360"/>
            <a:ext cx="201168" cy="320040"/>
          </a:xfrm>
          <a:prstGeom prst="rect">
            <a:avLst/>
          </a:prstGeom>
        </p:spPr>
      </p:pic>
      <p:sp>
        <p:nvSpPr>
          <p:cNvPr id="19" name="icono-fondo-154"/>
          <p:cNvSpPr/>
          <p:nvPr/>
        </p:nvSpPr>
        <p:spPr>
          <a:xfrm>
            <a:off x="6355080" y="1554480"/>
            <a:ext cx="685800" cy="685800"/>
          </a:xfrm>
          <a:prstGeom prst="ellipse">
            <a:avLst/>
          </a:prstGeom>
          <a:solidFill>
            <a:schemeClr val="accent2"/>
          </a:solidFill>
          <a:ln/>
        </p:spPr>
      </p:sp>
      <p:pic>
        <p:nvPicPr>
          <p:cNvPr id="20" name="icono-155" descr="preencoded.png">    </p:cNvPr>
          <p:cNvPicPr>
            <a:picLocks noChangeAspect="1"/>
          </p:cNvPicPr>
          <p:nvPr/>
        </p:nvPicPr>
        <p:blipFill>
          <a:blip r:embed="rId7"/>
          <a:stretch>
            <a:fillRect/>
          </a:stretch>
        </p:blipFill>
        <p:spPr>
          <a:xfrm>
            <a:off x="6519672" y="1719072"/>
            <a:ext cx="356616" cy="356616"/>
          </a:xfrm>
          <a:prstGeom prst="rect">
            <a:avLst/>
          </a:prstGeom>
        </p:spPr>
      </p:pic>
      <p:sp>
        <p:nvSpPr>
          <p:cNvPr id="21" name="Text 12"/>
          <p:cNvSpPr txBox="1"/>
          <p:nvPr/>
        </p:nvSpPr>
        <p:spPr>
          <a:xfrm>
            <a:off x="5897880" y="2331720"/>
            <a:ext cx="1600200" cy="320040"/>
          </a:xfrm>
          <a:prstGeom prst="rect">
            <a:avLst/>
          </a:prstGeom>
          <a:noFill/>
          <a:ln/>
        </p:spPr>
        <p:txBody>
          <a:bodyPr wrap="square" lIns="0" tIns="0" rIns="0" bIns="0" rtlCol="0" anchor="t"/>
          <a:lstStyle/>
          <a:p>
            <a:pPr algn="ctr" indent="0" marL="0">
              <a:buNone/>
            </a:pPr>
            <a:r>
              <a:rPr lang="en-US" sz="1500" b="1" dirty="0">
                <a:solidFill>
                  <a:schemeClr val="tx1"/>
                </a:solidFill>
                <a:latin typeface="Calibri" pitchFamily="34" charset="0"/>
                <a:ea typeface="Calibri" pitchFamily="34" charset="-122"/>
                <a:cs typeface="Calibri" pitchFamily="34" charset="-120"/>
              </a:rPr>
              <a:t>Publicación</a:t>
            </a:r>
            <a:endParaRPr lang="en-US" sz="1500" dirty="0"/>
          </a:p>
        </p:txBody>
      </p:sp>
      <p:sp>
        <p:nvSpPr>
          <p:cNvPr id="22" name="Text 13"/>
          <p:cNvSpPr txBox="1"/>
          <p:nvPr/>
        </p:nvSpPr>
        <p:spPr>
          <a:xfrm>
            <a:off x="5897880" y="2651760"/>
            <a:ext cx="1600200" cy="27432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GitHub Pages</a:t>
            </a:r>
            <a:endParaRPr lang="en-US" sz="1200" dirty="0"/>
          </a:p>
        </p:txBody>
      </p:sp>
      <p:sp>
        <p:nvSpPr>
          <p:cNvPr id="23" name="card-156"/>
          <p:cNvSpPr/>
          <p:nvPr/>
        </p:nvSpPr>
        <p:spPr>
          <a:xfrm>
            <a:off x="548640" y="3200400"/>
            <a:ext cx="6949440" cy="1051560"/>
          </a:xfrm>
          <a:prstGeom prst="roundRect">
            <a:avLst>
              <a:gd name="adj" fmla="val 10435"/>
            </a:avLst>
          </a:prstGeom>
          <a:solidFill>
            <a:schemeClr val="bg2"/>
          </a:solidFill>
          <a:ln/>
        </p:spPr>
      </p:sp>
      <p:sp>
        <p:nvSpPr>
          <p:cNvPr id="24" name="Text 15"/>
          <p:cNvSpPr txBox="1"/>
          <p:nvPr/>
        </p:nvSpPr>
        <p:spPr>
          <a:xfrm>
            <a:off x="777240" y="3200400"/>
            <a:ext cx="6583680" cy="10515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Si una prueba falla, no se publica. Así el recibo y el total nunca salen mal.</a:t>
            </a:r>
            <a:endParaRPr lang="en-US" sz="1600" dirty="0"/>
          </a:p>
        </p:txBody>
      </p:sp>
      <p:sp>
        <p:nvSpPr>
          <p:cNvPr id="25" name="card-157"/>
          <p:cNvSpPr/>
          <p:nvPr/>
        </p:nvSpPr>
        <p:spPr>
          <a:xfrm>
            <a:off x="548640" y="4480560"/>
            <a:ext cx="2194560" cy="1691640"/>
          </a:xfrm>
          <a:prstGeom prst="roundRect">
            <a:avLst>
              <a:gd name="adj" fmla="val 6486"/>
            </a:avLst>
          </a:prstGeom>
          <a:solidFill>
            <a:schemeClr val="accent6"/>
          </a:solidFill>
          <a:ln/>
        </p:spPr>
      </p:sp>
      <p:sp>
        <p:nvSpPr>
          <p:cNvPr id="26" name="Text 17"/>
          <p:cNvSpPr txBox="1"/>
          <p:nvPr/>
        </p:nvSpPr>
        <p:spPr>
          <a:xfrm>
            <a:off x="731520" y="4617720"/>
            <a:ext cx="182880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44</a:t>
            </a:r>
            <a:endParaRPr lang="en-US" sz="4000" dirty="0"/>
          </a:p>
        </p:txBody>
      </p:sp>
      <p:sp>
        <p:nvSpPr>
          <p:cNvPr id="27" name="Text 18"/>
          <p:cNvSpPr txBox="1"/>
          <p:nvPr/>
        </p:nvSpPr>
        <p:spPr>
          <a:xfrm>
            <a:off x="731520" y="5440680"/>
            <a:ext cx="1828800" cy="41148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pruebas</a:t>
            </a:r>
            <a:endParaRPr lang="en-US" sz="1500" dirty="0"/>
          </a:p>
        </p:txBody>
      </p:sp>
      <p:sp>
        <p:nvSpPr>
          <p:cNvPr id="28" name="card-158"/>
          <p:cNvSpPr/>
          <p:nvPr/>
        </p:nvSpPr>
        <p:spPr>
          <a:xfrm>
            <a:off x="2926080" y="4480560"/>
            <a:ext cx="2194560" cy="1691640"/>
          </a:xfrm>
          <a:prstGeom prst="roundRect">
            <a:avLst>
              <a:gd name="adj" fmla="val 6486"/>
            </a:avLst>
          </a:prstGeom>
          <a:solidFill>
            <a:schemeClr val="accent6"/>
          </a:solidFill>
          <a:ln/>
        </p:spPr>
      </p:sp>
      <p:sp>
        <p:nvSpPr>
          <p:cNvPr id="29" name="Text 20"/>
          <p:cNvSpPr txBox="1"/>
          <p:nvPr/>
        </p:nvSpPr>
        <p:spPr>
          <a:xfrm>
            <a:off x="3108960" y="4617720"/>
            <a:ext cx="182880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30" name="Text 21"/>
          <p:cNvSpPr txBox="1"/>
          <p:nvPr/>
        </p:nvSpPr>
        <p:spPr>
          <a:xfrm>
            <a:off x="3108960" y="5440680"/>
            <a:ext cx="1828800" cy="41148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dependencias</a:t>
            </a:r>
            <a:endParaRPr lang="en-US" sz="1500" dirty="0"/>
          </a:p>
        </p:txBody>
      </p:sp>
      <p:sp>
        <p:nvSpPr>
          <p:cNvPr id="31" name="card-159"/>
          <p:cNvSpPr/>
          <p:nvPr/>
        </p:nvSpPr>
        <p:spPr>
          <a:xfrm>
            <a:off x="5303520" y="4480560"/>
            <a:ext cx="2194560" cy="1691640"/>
          </a:xfrm>
          <a:prstGeom prst="roundRect">
            <a:avLst>
              <a:gd name="adj" fmla="val 6486"/>
            </a:avLst>
          </a:prstGeom>
          <a:solidFill>
            <a:schemeClr val="accent6"/>
          </a:solidFill>
          <a:ln/>
        </p:spPr>
      </p:sp>
      <p:sp>
        <p:nvSpPr>
          <p:cNvPr id="32" name="Text 23"/>
          <p:cNvSpPr txBox="1"/>
          <p:nvPr/>
        </p:nvSpPr>
        <p:spPr>
          <a:xfrm>
            <a:off x="5486400" y="4617720"/>
            <a:ext cx="1828800" cy="82296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33" name="Text 24"/>
          <p:cNvSpPr txBox="1"/>
          <p:nvPr/>
        </p:nvSpPr>
        <p:spPr>
          <a:xfrm>
            <a:off x="5486400" y="5440680"/>
            <a:ext cx="1828800" cy="41148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por mes</a:t>
            </a:r>
            <a:endParaRPr lang="en-US" sz="1500" dirty="0"/>
          </a:p>
        </p:txBody>
      </p:sp>
      <p:sp>
        <p:nvSpPr>
          <p:cNvPr id="34" name="marco-celular-160"/>
          <p:cNvSpPr/>
          <p:nvPr/>
        </p:nvSpPr>
        <p:spPr>
          <a:xfrm>
            <a:off x="7754112" y="1444752"/>
            <a:ext cx="1944898" cy="4059936"/>
          </a:xfrm>
          <a:prstGeom prst="roundRect">
            <a:avLst>
              <a:gd name="adj" fmla="val 6582"/>
            </a:avLst>
          </a:prstGeom>
          <a:solidFill>
            <a:schemeClr val="tx1"/>
          </a:solidFill>
          <a:ln/>
        </p:spPr>
      </p:sp>
      <p:pic>
        <p:nvPicPr>
          <p:cNvPr id="35" name="captura-161" descr="/home/claude/danypizzas/docs/capturas/01-movil-inicio.png">    </p:cNvPr>
          <p:cNvPicPr>
            <a:picLocks noChangeAspect="1"/>
          </p:cNvPicPr>
          <p:nvPr/>
        </p:nvPicPr>
        <p:blipFill>
          <a:blip r:embed="rId8"/>
          <a:srcRect l="0" r="0" t="0" b="0"/>
          <a:stretch/>
        </p:blipFill>
        <p:spPr>
          <a:xfrm>
            <a:off x="7818120" y="1508760"/>
            <a:ext cx="1816882" cy="3931920"/>
          </a:xfrm>
          <a:prstGeom prst="rect">
            <a:avLst/>
          </a:prstGeom>
        </p:spPr>
      </p:pic>
      <p:sp>
        <p:nvSpPr>
          <p:cNvPr id="36" name="marco-celular-162"/>
          <p:cNvSpPr/>
          <p:nvPr/>
        </p:nvSpPr>
        <p:spPr>
          <a:xfrm>
            <a:off x="9738360" y="1444752"/>
            <a:ext cx="1944898" cy="4059936"/>
          </a:xfrm>
          <a:prstGeom prst="roundRect">
            <a:avLst>
              <a:gd name="adj" fmla="val 6582"/>
            </a:avLst>
          </a:prstGeom>
          <a:solidFill>
            <a:schemeClr val="tx1"/>
          </a:solidFill>
          <a:ln/>
        </p:spPr>
      </p:sp>
      <p:pic>
        <p:nvPicPr>
          <p:cNvPr id="37" name="captura-163" descr="/home/claude/danypizzas/docs/capturas/03-movil-confirmacion.png">    </p:cNvPr>
          <p:cNvPicPr>
            <a:picLocks noChangeAspect="1"/>
          </p:cNvPicPr>
          <p:nvPr/>
        </p:nvPicPr>
        <p:blipFill>
          <a:blip r:embed="rId9"/>
          <a:srcRect l="0" r="0" t="0" b="0"/>
          <a:stretch/>
        </p:blipFill>
        <p:spPr>
          <a:xfrm>
            <a:off x="9802368" y="1508760"/>
            <a:ext cx="1816882" cy="3931920"/>
          </a:xfrm>
          <a:prstGeom prst="rect">
            <a:avLst/>
          </a:prstGeom>
        </p:spPr>
      </p:pic>
      <p:sp>
        <p:nvSpPr>
          <p:cNvPr id="38" name="Text 27"/>
          <p:cNvSpPr txBox="1"/>
          <p:nvPr/>
        </p:nvSpPr>
        <p:spPr>
          <a:xfrm>
            <a:off x="7772400" y="5623560"/>
            <a:ext cx="3840480" cy="320040"/>
          </a:xfrm>
          <a:prstGeom prst="rect">
            <a:avLst/>
          </a:prstGeom>
          <a:noFill/>
          <a:ln/>
        </p:spPr>
        <p:txBody>
          <a:bodyPr wrap="square" lIns="0" tIns="0" rIns="0" bIns="0" rtlCol="0" anchor="t"/>
          <a:lstStyle/>
          <a:p>
            <a:pPr algn="ctr" indent="0" marL="0">
              <a:buNone/>
            </a:pPr>
            <a:r>
              <a:rPr lang="en-US" sz="1200" dirty="0">
                <a:solidFill>
                  <a:schemeClr val="accent4"/>
                </a:solidFill>
                <a:latin typeface="Calibri" pitchFamily="34" charset="0"/>
                <a:ea typeface="Calibri" pitchFamily="34" charset="-122"/>
                <a:cs typeface="Calibri" pitchFamily="34" charset="-120"/>
              </a:rPr>
              <a:t>Carta · Confirmación con N.º de pedido</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RESULTADOS</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Resultados por objetivo: antes y ahora</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822960"/>
                <a:gridCol w="2468880"/>
                <a:gridCol w="3657600"/>
                <a:gridCol w="4114800"/>
              </a:tblGrid>
              <a:tr h="475488">
                <a:tc>
                  <a:txBody>
                    <a:bodyPr/>
                    <a:lstStyle/>
                    <a:p>
                      <a:pPr indent="0" marL="0">
                        <a:buNone/>
                      </a:pP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Indicador</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Antes</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Ahora (07/10/2026)</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r>
              <a:tr h="475488">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OE1</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E83030"/>
                    </a:solidFill>
                  </a:tcPr>
                </a:tc>
                <a:tc>
                  <a:txBody>
                    <a:bodyPr/>
                    <a:lstStyle/>
                    <a:p>
                      <a:pPr indent="0" marL="0">
                        <a:buNone/>
                      </a:pPr>
                      <a:r>
                        <a:rPr lang="en-US" sz="1500" b="1" dirty="0">
                          <a:solidFill>
                            <a:srgbClr val="2B2420"/>
                          </a:solidFill>
                          <a:latin typeface="Calibri" pitchFamily="34" charset="0"/>
                          <a:ea typeface="Calibri" pitchFamily="34" charset="-122"/>
                          <a:cs typeface="Calibri" pitchFamily="34" charset="-120"/>
                        </a:rPr>
                        <a:t>Carta</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dirty="0">
                          <a:solidFill>
                            <a:srgbClr val="8A7F76"/>
                          </a:solidFill>
                          <a:latin typeface="Calibri" pitchFamily="34" charset="0"/>
                          <a:ea typeface="Calibri" pitchFamily="34" charset="-122"/>
                          <a:cs typeface="Calibri" pitchFamily="34" charset="-120"/>
                        </a:rPr>
                        <a:t>Imagen reenviada por chat</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b="1" dirty="0">
                          <a:solidFill>
                            <a:srgbClr val="1F6E5C"/>
                          </a:solidFill>
                          <a:latin typeface="Calibri" pitchFamily="34" charset="0"/>
                          <a:ea typeface="Calibri" pitchFamily="34" charset="-122"/>
                          <a:cs typeface="Calibri" pitchFamily="34" charset="-120"/>
                        </a:rPr>
                        <a:t>Sitio publicado con fotos y precios</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475488">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OE1</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E83030"/>
                    </a:solidFill>
                  </a:tcPr>
                </a:tc>
                <a:tc>
                  <a:txBody>
                    <a:bodyPr/>
                    <a:lstStyle/>
                    <a:p>
                      <a:pPr indent="0" marL="0">
                        <a:buNone/>
                      </a:pPr>
                      <a:r>
                        <a:rPr lang="en-US" sz="1500" b="1" dirty="0">
                          <a:solidFill>
                            <a:srgbClr val="2B2420"/>
                          </a:solidFill>
                          <a:latin typeface="Calibri" pitchFamily="34" charset="0"/>
                          <a:ea typeface="Calibri" pitchFamily="34" charset="-122"/>
                          <a:cs typeface="Calibri" pitchFamily="34" charset="-120"/>
                        </a:rPr>
                        <a:t>Datos del pedido</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dirty="0">
                          <a:solidFill>
                            <a:srgbClr val="8A7F76"/>
                          </a:solidFill>
                          <a:latin typeface="Calibri" pitchFamily="34" charset="0"/>
                          <a:ea typeface="Calibri" pitchFamily="34" charset="-122"/>
                          <a:cs typeface="Calibri" pitchFamily="34" charset="-120"/>
                        </a:rPr>
                        <a:t>Incompletos (1 de cada 10 con error)</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b="1" dirty="0">
                          <a:solidFill>
                            <a:srgbClr val="1F6E5C"/>
                          </a:solidFill>
                          <a:latin typeface="Calibri" pitchFamily="34" charset="0"/>
                          <a:ea typeface="Calibri" pitchFamily="34" charset="-122"/>
                          <a:cs typeface="Calibri" pitchFamily="34" charset="-120"/>
                        </a:rPr>
                        <a:t>100 % completos: no se envía sin ellos</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475488">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OE2</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309880"/>
                    </a:solidFill>
                  </a:tcPr>
                </a:tc>
                <a:tc>
                  <a:txBody>
                    <a:bodyPr/>
                    <a:lstStyle/>
                    <a:p>
                      <a:pPr indent="0" marL="0">
                        <a:buNone/>
                      </a:pPr>
                      <a:r>
                        <a:rPr lang="en-US" sz="1500" b="1" dirty="0">
                          <a:solidFill>
                            <a:srgbClr val="2B2420"/>
                          </a:solidFill>
                          <a:latin typeface="Calibri" pitchFamily="34" charset="0"/>
                          <a:ea typeface="Calibri" pitchFamily="34" charset="-122"/>
                          <a:cs typeface="Calibri" pitchFamily="34" charset="-120"/>
                        </a:rPr>
                        <a:t>Registro de pedidos</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dirty="0">
                          <a:solidFill>
                            <a:srgbClr val="8A7F76"/>
                          </a:solidFill>
                          <a:latin typeface="Calibri" pitchFamily="34" charset="0"/>
                          <a:ea typeface="Calibri" pitchFamily="34" charset="-122"/>
                          <a:cs typeface="Calibri" pitchFamily="34" charset="-120"/>
                        </a:rPr>
                        <a:t>No existía</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b="1" dirty="0">
                          <a:solidFill>
                            <a:srgbClr val="1F6E5C"/>
                          </a:solidFill>
                          <a:latin typeface="Calibri" pitchFamily="34" charset="0"/>
                          <a:ea typeface="Calibri" pitchFamily="34" charset="-122"/>
                          <a:cs typeface="Calibri" pitchFamily="34" charset="-120"/>
                        </a:rPr>
                        <a:t>Planilla mensual activa desde 06/10</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475488">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OE2</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309880"/>
                    </a:solidFill>
                  </a:tcPr>
                </a:tc>
                <a:tc>
                  <a:txBody>
                    <a:bodyPr/>
                    <a:lstStyle/>
                    <a:p>
                      <a:pPr indent="0" marL="0">
                        <a:buNone/>
                      </a:pPr>
                      <a:r>
                        <a:rPr lang="en-US" sz="1500" b="1" dirty="0">
                          <a:solidFill>
                            <a:srgbClr val="2B2420"/>
                          </a:solidFill>
                          <a:latin typeface="Calibri" pitchFamily="34" charset="0"/>
                          <a:ea typeface="Calibri" pitchFamily="34" charset="-122"/>
                          <a:cs typeface="Calibri" pitchFamily="34" charset="-120"/>
                        </a:rPr>
                        <a:t>Cambio de precios</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dirty="0">
                          <a:solidFill>
                            <a:srgbClr val="8A7F76"/>
                          </a:solidFill>
                          <a:latin typeface="Calibri" pitchFamily="34" charset="0"/>
                          <a:ea typeface="Calibri" pitchFamily="34" charset="-122"/>
                          <a:cs typeface="Calibri" pitchFamily="34" charset="-120"/>
                        </a:rPr>
                        <a:t>Reenviar la carta</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b="1" dirty="0">
                          <a:solidFill>
                            <a:srgbClr val="1F6E5C"/>
                          </a:solidFill>
                          <a:latin typeface="Calibri" pitchFamily="34" charset="0"/>
                          <a:ea typeface="Calibri" pitchFamily="34" charset="-122"/>
                          <a:cs typeface="Calibri" pitchFamily="34" charset="-120"/>
                        </a:rPr>
                        <a:t>Editar una celda</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475488">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OE3</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1F6E5C"/>
                    </a:solidFill>
                  </a:tcPr>
                </a:tc>
                <a:tc>
                  <a:txBody>
                    <a:bodyPr/>
                    <a:lstStyle/>
                    <a:p>
                      <a:pPr indent="0" marL="0">
                        <a:buNone/>
                      </a:pPr>
                      <a:r>
                        <a:rPr lang="en-US" sz="1500" b="1" dirty="0">
                          <a:solidFill>
                            <a:srgbClr val="2B2420"/>
                          </a:solidFill>
                          <a:latin typeface="Calibri" pitchFamily="34" charset="0"/>
                          <a:ea typeface="Calibri" pitchFamily="34" charset="-122"/>
                          <a:cs typeface="Calibri" pitchFamily="34" charset="-120"/>
                        </a:rPr>
                        <a:t>Costo y calidad</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dirty="0">
                          <a:solidFill>
                            <a:srgbClr val="8A7F76"/>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b="1" dirty="0">
                          <a:solidFill>
                            <a:srgbClr val="1F6E5C"/>
                          </a:solidFill>
                          <a:latin typeface="Calibri" pitchFamily="34" charset="0"/>
                          <a:ea typeface="Calibri" pitchFamily="34" charset="-122"/>
                          <a:cs typeface="Calibri" pitchFamily="34" charset="-120"/>
                        </a:rPr>
                        <a:t>$0 por mes · 44 pruebas en verde</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bl>
          </a:graphicData>
        </a:graphic>
      </p:graphicFrame>
      <p:sp>
        <p:nvSpPr>
          <p:cNvPr id="5" name="Text 2"/>
          <p:cNvSpPr txBox="1"/>
          <p:nvPr/>
        </p:nvSpPr>
        <p:spPr>
          <a:xfrm>
            <a:off x="548640" y="4526280"/>
            <a:ext cx="548640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Evidencia del uso real</a:t>
            </a:r>
            <a:endParaRPr lang="en-US" sz="1700" dirty="0"/>
          </a:p>
        </p:txBody>
      </p:sp>
      <p:sp>
        <p:nvSpPr>
          <p:cNvPr id="6" name="pendiente-164"/>
          <p:cNvSpPr/>
          <p:nvPr/>
        </p:nvSpPr>
        <p:spPr>
          <a:xfrm>
            <a:off x="548640" y="4937760"/>
            <a:ext cx="2606040" cy="1234440"/>
          </a:xfrm>
          <a:prstGeom prst="roundRect">
            <a:avLst>
              <a:gd name="adj" fmla="val 7407"/>
            </a:avLst>
          </a:prstGeom>
          <a:solidFill>
            <a:srgbClr val="FFF4F2"/>
          </a:solidFill>
          <a:ln w="19050">
            <a:solidFill>
              <a:srgbClr val="E83030"/>
            </a:solidFill>
            <a:prstDash val="dash"/>
          </a:ln>
        </p:spPr>
      </p:sp>
      <p:sp>
        <p:nvSpPr>
          <p:cNvPr id="7" name="Text 4"/>
          <p:cNvSpPr txBox="1"/>
          <p:nvPr/>
        </p:nvSpPr>
        <p:spPr>
          <a:xfrm>
            <a:off x="731520" y="5047488"/>
            <a:ext cx="2240280" cy="1014984"/>
          </a:xfrm>
          <a:prstGeom prst="rect">
            <a:avLst/>
          </a:prstGeom>
          <a:noFill/>
          <a:ln/>
        </p:spPr>
        <p:txBody>
          <a:bodyPr wrap="square" lIns="0" tIns="0" rIns="0" bIns="0" rtlCol="0" anchor="ctr"/>
          <a:lstStyle/>
          <a:p>
            <a:pPr indent="0" marL="0">
              <a:buNone/>
            </a:pPr>
            <a:r>
              <a:rPr lang="en-US" sz="1000" b="1" dirty="0">
                <a:solidFill>
                  <a:schemeClr val="accent3"/>
                </a:solidFill>
                <a:latin typeface="Calibri" pitchFamily="34" charset="0"/>
                <a:ea typeface="Calibri" pitchFamily="34" charset="-122"/>
                <a:cs typeface="Calibri" pitchFamily="34" charset="-120"/>
              </a:rPr>
              <a:t>PENDIENTE  </a:t>
            </a:r>
            <a:pPr indent="0" marL="0">
              <a:buNone/>
            </a:pPr>
            <a:r>
              <a:rPr lang="en-US" sz="1200" dirty="0">
                <a:solidFill>
                  <a:schemeClr val="accent3"/>
                </a:solidFill>
                <a:latin typeface="Calibri" pitchFamily="34" charset="0"/>
                <a:ea typeface="Calibri" pitchFamily="34" charset="-122"/>
                <a:cs typeface="Calibri" pitchFamily="34" charset="-120"/>
              </a:rPr>
              <a:t>Captura: confirmación en el sitio</a:t>
            </a:r>
            <a:endParaRPr lang="en-US" sz="1400" dirty="0"/>
          </a:p>
        </p:txBody>
      </p:sp>
      <p:sp>
        <p:nvSpPr>
          <p:cNvPr id="8" name="pendiente-165"/>
          <p:cNvSpPr/>
          <p:nvPr/>
        </p:nvSpPr>
        <p:spPr>
          <a:xfrm>
            <a:off x="3360420" y="4937760"/>
            <a:ext cx="2606040" cy="1234440"/>
          </a:xfrm>
          <a:prstGeom prst="roundRect">
            <a:avLst>
              <a:gd name="adj" fmla="val 7407"/>
            </a:avLst>
          </a:prstGeom>
          <a:solidFill>
            <a:srgbClr val="FFF4F2"/>
          </a:solidFill>
          <a:ln w="19050">
            <a:solidFill>
              <a:srgbClr val="E83030"/>
            </a:solidFill>
            <a:prstDash val="dash"/>
          </a:ln>
        </p:spPr>
      </p:sp>
      <p:sp>
        <p:nvSpPr>
          <p:cNvPr id="9" name="Text 6"/>
          <p:cNvSpPr txBox="1"/>
          <p:nvPr/>
        </p:nvSpPr>
        <p:spPr>
          <a:xfrm>
            <a:off x="3543300" y="5047488"/>
            <a:ext cx="2240280" cy="1014984"/>
          </a:xfrm>
          <a:prstGeom prst="rect">
            <a:avLst/>
          </a:prstGeom>
          <a:noFill/>
          <a:ln/>
        </p:spPr>
        <p:txBody>
          <a:bodyPr wrap="square" lIns="0" tIns="0" rIns="0" bIns="0" rtlCol="0" anchor="ctr"/>
          <a:lstStyle/>
          <a:p>
            <a:pPr indent="0" marL="0">
              <a:buNone/>
            </a:pPr>
            <a:r>
              <a:rPr lang="en-US" sz="1000" b="1" dirty="0">
                <a:solidFill>
                  <a:schemeClr val="accent3"/>
                </a:solidFill>
                <a:latin typeface="Calibri" pitchFamily="34" charset="0"/>
                <a:ea typeface="Calibri" pitchFamily="34" charset="-122"/>
                <a:cs typeface="Calibri" pitchFamily="34" charset="-120"/>
              </a:rPr>
              <a:t>PENDIENTE  </a:t>
            </a:r>
            <a:pPr indent="0" marL="0">
              <a:buNone/>
            </a:pPr>
            <a:r>
              <a:rPr lang="en-US" sz="1200" dirty="0">
                <a:solidFill>
                  <a:schemeClr val="accent3"/>
                </a:solidFill>
                <a:latin typeface="Calibri" pitchFamily="34" charset="0"/>
                <a:ea typeface="Calibri" pitchFamily="34" charset="-122"/>
                <a:cs typeface="Calibri" pitchFamily="34" charset="-120"/>
              </a:rPr>
              <a:t>Captura: mensaje en WhatsApp</a:t>
            </a:r>
            <a:endParaRPr lang="en-US" sz="1400" dirty="0"/>
          </a:p>
        </p:txBody>
      </p:sp>
      <p:sp>
        <p:nvSpPr>
          <p:cNvPr id="10" name="pendiente-166"/>
          <p:cNvSpPr/>
          <p:nvPr/>
        </p:nvSpPr>
        <p:spPr>
          <a:xfrm>
            <a:off x="6172200" y="4937760"/>
            <a:ext cx="2606040" cy="1234440"/>
          </a:xfrm>
          <a:prstGeom prst="roundRect">
            <a:avLst>
              <a:gd name="adj" fmla="val 7407"/>
            </a:avLst>
          </a:prstGeom>
          <a:solidFill>
            <a:srgbClr val="FFF4F2"/>
          </a:solidFill>
          <a:ln w="19050">
            <a:solidFill>
              <a:srgbClr val="E83030"/>
            </a:solidFill>
            <a:prstDash val="dash"/>
          </a:ln>
        </p:spPr>
      </p:sp>
      <p:sp>
        <p:nvSpPr>
          <p:cNvPr id="11" name="Text 8"/>
          <p:cNvSpPr txBox="1"/>
          <p:nvPr/>
        </p:nvSpPr>
        <p:spPr>
          <a:xfrm>
            <a:off x="6355080" y="5047488"/>
            <a:ext cx="2240280" cy="1014984"/>
          </a:xfrm>
          <a:prstGeom prst="rect">
            <a:avLst/>
          </a:prstGeom>
          <a:noFill/>
          <a:ln/>
        </p:spPr>
        <p:txBody>
          <a:bodyPr wrap="square" lIns="0" tIns="0" rIns="0" bIns="0" rtlCol="0" anchor="ctr"/>
          <a:lstStyle/>
          <a:p>
            <a:pPr indent="0" marL="0">
              <a:buNone/>
            </a:pPr>
            <a:r>
              <a:rPr lang="en-US" sz="1000" b="1" dirty="0">
                <a:solidFill>
                  <a:schemeClr val="accent3"/>
                </a:solidFill>
                <a:latin typeface="Calibri" pitchFamily="34" charset="0"/>
                <a:ea typeface="Calibri" pitchFamily="34" charset="-122"/>
                <a:cs typeface="Calibri" pitchFamily="34" charset="-120"/>
              </a:rPr>
              <a:t>PENDIENTE  </a:t>
            </a:r>
            <a:pPr indent="0" marL="0">
              <a:buNone/>
            </a:pPr>
            <a:r>
              <a:rPr lang="en-US" sz="1200" dirty="0">
                <a:solidFill>
                  <a:schemeClr val="accent3"/>
                </a:solidFill>
                <a:latin typeface="Calibri" pitchFamily="34" charset="0"/>
                <a:ea typeface="Calibri" pitchFamily="34" charset="-122"/>
                <a:cs typeface="Calibri" pitchFamily="34" charset="-120"/>
              </a:rPr>
              <a:t>Captura: fila en la planilla</a:t>
            </a:r>
            <a:endParaRPr lang="en-US" sz="1400" dirty="0"/>
          </a:p>
        </p:txBody>
      </p:sp>
      <p:sp>
        <p:nvSpPr>
          <p:cNvPr id="12" name="pendiente-167"/>
          <p:cNvSpPr/>
          <p:nvPr/>
        </p:nvSpPr>
        <p:spPr>
          <a:xfrm>
            <a:off x="8983980" y="4937760"/>
            <a:ext cx="2606040" cy="1234440"/>
          </a:xfrm>
          <a:prstGeom prst="roundRect">
            <a:avLst>
              <a:gd name="adj" fmla="val 7407"/>
            </a:avLst>
          </a:prstGeom>
          <a:solidFill>
            <a:srgbClr val="FFF4F2"/>
          </a:solidFill>
          <a:ln w="19050">
            <a:solidFill>
              <a:srgbClr val="E83030"/>
            </a:solidFill>
            <a:prstDash val="dash"/>
          </a:ln>
        </p:spPr>
      </p:sp>
      <p:sp>
        <p:nvSpPr>
          <p:cNvPr id="13" name="Text 10"/>
          <p:cNvSpPr txBox="1"/>
          <p:nvPr/>
        </p:nvSpPr>
        <p:spPr>
          <a:xfrm>
            <a:off x="9166860" y="5047488"/>
            <a:ext cx="2240280" cy="1014984"/>
          </a:xfrm>
          <a:prstGeom prst="rect">
            <a:avLst/>
          </a:prstGeom>
          <a:noFill/>
          <a:ln/>
        </p:spPr>
        <p:txBody>
          <a:bodyPr wrap="square" lIns="0" tIns="0" rIns="0" bIns="0" rtlCol="0" anchor="ctr"/>
          <a:lstStyle/>
          <a:p>
            <a:pPr indent="0" marL="0">
              <a:buNone/>
            </a:pPr>
            <a:r>
              <a:rPr lang="en-US" sz="1000" b="1" dirty="0">
                <a:solidFill>
                  <a:schemeClr val="accent3"/>
                </a:solidFill>
                <a:latin typeface="Calibri" pitchFamily="34" charset="0"/>
                <a:ea typeface="Calibri" pitchFamily="34" charset="-122"/>
                <a:cs typeface="Calibri" pitchFamily="34" charset="-120"/>
              </a:rPr>
              <a:t>PENDIENTE  </a:t>
            </a:r>
            <a:pPr indent="0" marL="0">
              <a:buNone/>
            </a:pPr>
            <a:r>
              <a:rPr lang="en-US" sz="1200" dirty="0">
                <a:solidFill>
                  <a:schemeClr val="accent3"/>
                </a:solidFill>
                <a:latin typeface="Calibri" pitchFamily="34" charset="0"/>
                <a:ea typeface="Calibri" pitchFamily="34" charset="-122"/>
                <a:cs typeface="Calibri" pitchFamily="34" charset="-120"/>
              </a:rPr>
              <a:t>Pedidos web hasta el 13/10</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CONCLUSIONES</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Conclusiones: del problema al resultado</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822960"/>
                <a:gridCol w="3291840"/>
                <a:gridCol w="3566160"/>
                <a:gridCol w="3383280"/>
              </a:tblGrid>
              <a:tr h="457200">
                <a:tc>
                  <a:txBody>
                    <a:bodyPr/>
                    <a:lstStyle/>
                    <a:p>
                      <a:pPr indent="0" marL="0">
                        <a:buNone/>
                      </a:pP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Problema</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Qué se hizo</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Conclusión</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2B2420"/>
                    </a:solidFill>
                  </a:tcPr>
                </a:tc>
              </a:tr>
              <a:tr h="96012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OE1</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E83030"/>
                    </a:solidFill>
                  </a:tcPr>
                </a:tc>
                <a:tc>
                  <a:txBody>
                    <a:bodyPr/>
                    <a:lstStyle/>
                    <a:p>
                      <a:pPr indent="0" marL="0">
                        <a:buNone/>
                      </a:pPr>
                      <a:r>
                        <a:rPr lang="en-US" sz="1500" dirty="0">
                          <a:solidFill>
                            <a:srgbClr val="2B2420"/>
                          </a:solidFill>
                          <a:latin typeface="Calibri" pitchFamily="34" charset="0"/>
                          <a:ea typeface="Calibri" pitchFamily="34" charset="-122"/>
                          <a:cs typeface="Calibri" pitchFamily="34" charset="-120"/>
                        </a:rPr>
                        <a:t>Pedidos dictados por chat, incompletos y con errores</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dirty="0">
                          <a:solidFill>
                            <a:srgbClr val="2B2420"/>
                          </a:solidFill>
                          <a:latin typeface="Calibri" pitchFamily="34" charset="0"/>
                          <a:ea typeface="Calibri" pitchFamily="34" charset="-122"/>
                          <a:cs typeface="Calibri" pitchFamily="34" charset="-120"/>
                        </a:rPr>
                        <a:t>Carta web, carrito, validación y recibo numerado a WhatsApp</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b="1" dirty="0">
                          <a:solidFill>
                            <a:srgbClr val="1F6E5C"/>
                          </a:solidFill>
                          <a:latin typeface="Calibri" pitchFamily="34" charset="0"/>
                          <a:ea typeface="Calibri" pitchFamily="34" charset="-122"/>
                          <a:cs typeface="Calibri" pitchFamily="34" charset="-120"/>
                        </a:rPr>
                        <a:t>Cumplido: el pedido llega completo sin cambiar de canal</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96012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OE2</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309880"/>
                    </a:solidFill>
                  </a:tcPr>
                </a:tc>
                <a:tc>
                  <a:txBody>
                    <a:bodyPr/>
                    <a:lstStyle/>
                    <a:p>
                      <a:pPr indent="0" marL="0">
                        <a:buNone/>
                      </a:pPr>
                      <a:r>
                        <a:rPr lang="en-US" sz="1500" dirty="0">
                          <a:solidFill>
                            <a:srgbClr val="2B2420"/>
                          </a:solidFill>
                          <a:latin typeface="Calibri" pitchFamily="34" charset="0"/>
                          <a:ea typeface="Calibri" pitchFamily="34" charset="-122"/>
                          <a:cs typeface="Calibri" pitchFamily="34" charset="-120"/>
                        </a:rPr>
                        <a:t>Sin registro ni datos para decidir</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dirty="0">
                          <a:solidFill>
                            <a:srgbClr val="2B2420"/>
                          </a:solidFill>
                          <a:latin typeface="Calibri" pitchFamily="34" charset="0"/>
                          <a:ea typeface="Calibri" pitchFamily="34" charset="-122"/>
                          <a:cs typeface="Calibri" pitchFamily="34" charset="-120"/>
                        </a:rPr>
                        <a:t>Planilla mensual automática y precios editables</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b="1" dirty="0">
                          <a:solidFill>
                            <a:srgbClr val="1F6E5C"/>
                          </a:solidFill>
                          <a:latin typeface="Calibri" pitchFamily="34" charset="0"/>
                          <a:ea typeface="Calibri" pitchFamily="34" charset="-122"/>
                          <a:cs typeface="Calibri" pitchFamily="34" charset="-120"/>
                        </a:rPr>
                        <a:t>Cumplido: el negocio ya registra y puede medir</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r h="96012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OE3</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solidFill>
                      <a:srgbClr val="1F6E5C"/>
                    </a:solidFill>
                  </a:tcPr>
                </a:tc>
                <a:tc>
                  <a:txBody>
                    <a:bodyPr/>
                    <a:lstStyle/>
                    <a:p>
                      <a:pPr indent="0" marL="0">
                        <a:buNone/>
                      </a:pPr>
                      <a:r>
                        <a:rPr lang="en-US" sz="1500" dirty="0">
                          <a:solidFill>
                            <a:srgbClr val="2B2420"/>
                          </a:solidFill>
                          <a:latin typeface="Calibri" pitchFamily="34" charset="0"/>
                          <a:ea typeface="Calibri" pitchFamily="34" charset="-122"/>
                          <a:cs typeface="Calibri" pitchFamily="34" charset="-120"/>
                        </a:rPr>
                        <a:t>Una sola persona, sin presupuesto para tecnología</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dirty="0">
                          <a:solidFill>
                            <a:srgbClr val="2B2420"/>
                          </a:solidFill>
                          <a:latin typeface="Calibri" pitchFamily="34" charset="0"/>
                          <a:ea typeface="Calibri" pitchFamily="34" charset="-122"/>
                          <a:cs typeface="Calibri" pitchFamily="34" charset="-120"/>
                        </a:rPr>
                        <a:t>Servicios gratuitos, HTTPS, protecciones y 44 pruebas</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c>
                  <a:txBody>
                    <a:bodyPr/>
                    <a:lstStyle/>
                    <a:p>
                      <a:pPr indent="0" marL="0">
                        <a:buNone/>
                      </a:pPr>
                      <a:r>
                        <a:rPr lang="en-US" sz="1500" b="1" dirty="0">
                          <a:solidFill>
                            <a:srgbClr val="1F6E5C"/>
                          </a:solidFill>
                          <a:latin typeface="Calibri" pitchFamily="34" charset="0"/>
                          <a:ea typeface="Calibri" pitchFamily="34" charset="-122"/>
                          <a:cs typeface="Calibri" pitchFamily="34" charset="-120"/>
                        </a:rPr>
                        <a:t>Cumplido: $0/mes, recupero en ≈ 4 meses</a:t>
                      </a:r>
                      <a:endParaRPr lang="en-US" sz="1500" dirty="0">
                        <a:latin typeface="Calibri" charset="0"/>
                        <a:ea typeface="Calibri" charset="0"/>
                        <a:cs typeface="Calibri" charset="0"/>
                      </a:endParaRPr>
                    </a:p>
                  </a:txBody>
                  <a:tcPr marL="91440" marR="91440" marT="45720" marB="45720" anchor="ctr">
                    <a:lnL w="12700" cap="flat" cmpd="sng" algn="ctr">
                      <a:solidFill>
                        <a:srgbClr val="E4DCD2"/>
                      </a:solidFill>
                      <a:prstDash val="solid"/>
                      <a:round/>
                      <a:headEnd type="none" w="med" len="med"/>
                      <a:tailEnd type="none" w="med" len="med"/>
                    </a:lnL>
                    <a:lnR w="12700" cap="flat" cmpd="sng" algn="ctr">
                      <a:solidFill>
                        <a:srgbClr val="E4DCD2"/>
                      </a:solidFill>
                      <a:prstDash val="solid"/>
                      <a:round/>
                      <a:headEnd type="none" w="med" len="med"/>
                      <a:tailEnd type="none" w="med" len="med"/>
                    </a:lnR>
                    <a:lnT w="12700" cap="flat" cmpd="sng" algn="ctr">
                      <a:solidFill>
                        <a:srgbClr val="E4DCD2"/>
                      </a:solidFill>
                      <a:prstDash val="solid"/>
                      <a:round/>
                      <a:headEnd type="none" w="med" len="med"/>
                      <a:tailEnd type="none" w="med" len="med"/>
                    </a:lnT>
                    <a:lnB w="12700" cap="flat" cmpd="sng" algn="ctr">
                      <a:solidFill>
                        <a:srgbClr val="E4DCD2"/>
                      </a:solidFill>
                      <a:prstDash val="solid"/>
                      <a:round/>
                      <a:headEnd type="none" w="med" len="med"/>
                      <a:tailEnd type="none" w="med" len="med"/>
                    </a:lnB>
                  </a:tcPr>
                </a:tc>
              </a:tr>
            </a:tbl>
          </a:graphicData>
        </a:graphic>
      </p:graphicFrame>
      <p:sp>
        <p:nvSpPr>
          <p:cNvPr id="5" name="card-168"/>
          <p:cNvSpPr/>
          <p:nvPr/>
        </p:nvSpPr>
        <p:spPr>
          <a:xfrm>
            <a:off x="548640" y="5120640"/>
            <a:ext cx="11064240" cy="1051560"/>
          </a:xfrm>
          <a:prstGeom prst="roundRect">
            <a:avLst>
              <a:gd name="adj" fmla="val 10435"/>
            </a:avLst>
          </a:prstGeom>
          <a:solidFill>
            <a:schemeClr val="tx1"/>
          </a:solidFill>
          <a:ln/>
        </p:spPr>
      </p:sp>
      <p:sp>
        <p:nvSpPr>
          <p:cNvPr id="6" name="Text 3"/>
          <p:cNvSpPr txBox="1"/>
          <p:nvPr/>
        </p:nvSpPr>
        <p:spPr>
          <a:xfrm>
            <a:off x="822960" y="5120640"/>
            <a:ext cx="10515600" cy="1051560"/>
          </a:xfrm>
          <a:prstGeom prst="rect">
            <a:avLst/>
          </a:prstGeom>
          <a:noFill/>
          <a:ln/>
        </p:spPr>
        <p:txBody>
          <a:bodyPr wrap="square" lIns="0" tIns="0" rIns="0" bIns="0" rtlCol="0" anchor="ctr"/>
          <a:lstStyle/>
          <a:p>
            <a:pPr indent="0" marL="0">
              <a:buNone/>
            </a:pPr>
            <a:r>
              <a:rPr lang="en-US" sz="1700" b="1" dirty="0">
                <a:solidFill>
                  <a:srgbClr val="F2B63D"/>
                </a:solidFill>
                <a:latin typeface="Calibri" pitchFamily="34" charset="0"/>
                <a:ea typeface="Calibri" pitchFamily="34" charset="-122"/>
                <a:cs typeface="Calibri" pitchFamily="34" charset="-120"/>
              </a:rPr>
              <a:t>Conclusión general: </a:t>
            </a:r>
            <a:pPr indent="0" marL="0">
              <a:buNone/>
            </a:pPr>
            <a:r>
              <a:rPr lang="en-US" sz="1700" dirty="0">
                <a:solidFill>
                  <a:schemeClr val="bg1"/>
                </a:solidFill>
                <a:latin typeface="Calibri" pitchFamily="34" charset="0"/>
                <a:ea typeface="Calibri" pitchFamily="34" charset="-122"/>
                <a:cs typeface="Calibri" pitchFamily="34" charset="-120"/>
              </a:rPr>
              <a:t>una solución chica, a la medida de un negocio de 3 personas, resuelve su cuello de botella y es económicamente conveniente.</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10896"/>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III. TRABAJO PRINCIPAL · RECOMENDACIONES</a:t>
            </a:r>
            <a:endParaRPr lang="en-US" sz="1200" dirty="0"/>
          </a:p>
        </p:txBody>
      </p:sp>
      <p:sp>
        <p:nvSpPr>
          <p:cNvPr id="3" name="Text 0"/>
          <p:cNvSpPr/>
          <p:nvPr>
            <p:ph idx="101" type="title" hasCustomPrompt="1"/>
          </p:nvPr>
        </p:nvSpPr>
        <p:spPr>
          <a:xfrm>
            <a:off x="548640" y="603504"/>
            <a:ext cx="11064240"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Recomendaciones por responsable</a:t>
            </a:r>
            <a:endParaRPr lang="en-US" sz="3200" dirty="0"/>
          </a:p>
        </p:txBody>
      </p:sp>
      <p:sp>
        <p:nvSpPr>
          <p:cNvPr id="4" name="card-169"/>
          <p:cNvSpPr/>
          <p:nvPr/>
        </p:nvSpPr>
        <p:spPr>
          <a:xfrm>
            <a:off x="548640" y="1463040"/>
            <a:ext cx="3474720" cy="4709160"/>
          </a:xfrm>
          <a:prstGeom prst="roundRect">
            <a:avLst>
              <a:gd name="adj" fmla="val 3158"/>
            </a:avLst>
          </a:prstGeom>
          <a:solidFill>
            <a:schemeClr val="accent6"/>
          </a:solidFill>
          <a:ln/>
        </p:spPr>
      </p:sp>
      <p:sp>
        <p:nvSpPr>
          <p:cNvPr id="5" name="icono-fondo-170"/>
          <p:cNvSpPr/>
          <p:nvPr/>
        </p:nvSpPr>
        <p:spPr>
          <a:xfrm>
            <a:off x="822960" y="1691640"/>
            <a:ext cx="685800" cy="685800"/>
          </a:xfrm>
          <a:prstGeom prst="ellipse">
            <a:avLst/>
          </a:prstGeom>
          <a:solidFill>
            <a:schemeClr val="accent1"/>
          </a:solidFill>
          <a:ln/>
        </p:spPr>
      </p:sp>
      <p:pic>
        <p:nvPicPr>
          <p:cNvPr id="6" name="icono-171" descr="preencoded.png">    </p:cNvPr>
          <p:cNvPicPr>
            <a:picLocks noChangeAspect="1"/>
          </p:cNvPicPr>
          <p:nvPr/>
        </p:nvPicPr>
        <p:blipFill>
          <a:blip r:embed="rId1"/>
          <a:stretch>
            <a:fillRect/>
          </a:stretch>
        </p:blipFill>
        <p:spPr>
          <a:xfrm>
            <a:off x="987552" y="1856232"/>
            <a:ext cx="356616" cy="356616"/>
          </a:xfrm>
          <a:prstGeom prst="rect">
            <a:avLst/>
          </a:prstGeom>
        </p:spPr>
      </p:pic>
      <p:sp>
        <p:nvSpPr>
          <p:cNvPr id="7" name="Text 4"/>
          <p:cNvSpPr txBox="1"/>
          <p:nvPr/>
        </p:nvSpPr>
        <p:spPr>
          <a:xfrm>
            <a:off x="1645920" y="1783080"/>
            <a:ext cx="2194560" cy="5029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Dueño</a:t>
            </a:r>
            <a:endParaRPr lang="en-US" sz="2000" dirty="0"/>
          </a:p>
        </p:txBody>
      </p:sp>
      <p:sp>
        <p:nvSpPr>
          <p:cNvPr id="8" name="Text 5"/>
          <p:cNvSpPr txBox="1"/>
          <p:nvPr/>
        </p:nvSpPr>
        <p:spPr>
          <a:xfrm>
            <a:off x="822960" y="2697480"/>
            <a:ext cx="2971800" cy="329184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latin typeface="Calibri" pitchFamily="34" charset="0"/>
                <a:ea typeface="Calibri" pitchFamily="34" charset="-122"/>
                <a:cs typeface="Calibri" pitchFamily="34" charset="-120"/>
              </a:rPr>
              <a:t>Difundir misión y valores</a:t>
            </a:r>
            <a:endParaRPr lang="en-US" sz="1800" dirty="0"/>
          </a:p>
          <a:p>
            <a:pPr marL="342900" indent="-342900">
              <a:spcAft>
                <a:spcPts val="1600"/>
              </a:spcAft>
              <a:buSzPct val="100000"/>
              <a:buChar char="•"/>
            </a:pPr>
            <a:r>
              <a:rPr lang="en-US" sz="1800" dirty="0">
                <a:solidFill>
                  <a:schemeClr val="tx1"/>
                </a:solidFill>
                <a:latin typeface="Calibri" pitchFamily="34" charset="0"/>
                <a:ea typeface="Calibri" pitchFamily="34" charset="-122"/>
                <a:cs typeface="Calibri" pitchFamily="34" charset="-120"/>
              </a:rPr>
              <a:t>Mantener precios al día</a:t>
            </a:r>
            <a:endParaRPr lang="en-US" sz="1800" dirty="0"/>
          </a:p>
          <a:p>
            <a:pPr marL="342900" indent="-342900">
              <a:spcAft>
                <a:spcPts val="1600"/>
              </a:spcAft>
              <a:buSzPct val="100000"/>
              <a:buChar char="•"/>
            </a:pPr>
            <a:r>
              <a:rPr lang="en-US" sz="1800" dirty="0">
                <a:solidFill>
                  <a:schemeClr val="tx1"/>
                </a:solidFill>
                <a:latin typeface="Calibri" pitchFamily="34" charset="0"/>
                <a:ea typeface="Calibri" pitchFamily="34" charset="-122"/>
                <a:cs typeface="Calibri" pitchFamily="34" charset="-120"/>
              </a:rPr>
              <a:t>Evaluar formalizarse al crecer</a:t>
            </a:r>
            <a:endParaRPr lang="en-US" sz="1800" dirty="0"/>
          </a:p>
        </p:txBody>
      </p:sp>
      <p:sp>
        <p:nvSpPr>
          <p:cNvPr id="9" name="card-172"/>
          <p:cNvSpPr/>
          <p:nvPr/>
        </p:nvSpPr>
        <p:spPr>
          <a:xfrm>
            <a:off x="4297680" y="1463040"/>
            <a:ext cx="3474720" cy="4709160"/>
          </a:xfrm>
          <a:prstGeom prst="roundRect">
            <a:avLst>
              <a:gd name="adj" fmla="val 3158"/>
            </a:avLst>
          </a:prstGeom>
          <a:solidFill>
            <a:schemeClr val="accent6"/>
          </a:solidFill>
          <a:ln/>
        </p:spPr>
      </p:sp>
      <p:sp>
        <p:nvSpPr>
          <p:cNvPr id="10" name="icono-fondo-173"/>
          <p:cNvSpPr/>
          <p:nvPr/>
        </p:nvSpPr>
        <p:spPr>
          <a:xfrm>
            <a:off x="4572000" y="1691640"/>
            <a:ext cx="685800" cy="685800"/>
          </a:xfrm>
          <a:prstGeom prst="ellipse">
            <a:avLst/>
          </a:prstGeom>
          <a:solidFill>
            <a:schemeClr val="accent2"/>
          </a:solidFill>
          <a:ln/>
        </p:spPr>
      </p:sp>
      <p:pic>
        <p:nvPicPr>
          <p:cNvPr id="11" name="icono-174" descr="preencoded.png">    </p:cNvPr>
          <p:cNvPicPr>
            <a:picLocks noChangeAspect="1"/>
          </p:cNvPicPr>
          <p:nvPr/>
        </p:nvPicPr>
        <p:blipFill>
          <a:blip r:embed="rId2"/>
          <a:stretch>
            <a:fillRect/>
          </a:stretch>
        </p:blipFill>
        <p:spPr>
          <a:xfrm>
            <a:off x="4736592" y="1856232"/>
            <a:ext cx="356616" cy="356616"/>
          </a:xfrm>
          <a:prstGeom prst="rect">
            <a:avLst/>
          </a:prstGeom>
        </p:spPr>
      </p:pic>
      <p:sp>
        <p:nvSpPr>
          <p:cNvPr id="12" name="Text 8"/>
          <p:cNvSpPr txBox="1"/>
          <p:nvPr/>
        </p:nvSpPr>
        <p:spPr>
          <a:xfrm>
            <a:off x="5394960" y="1783080"/>
            <a:ext cx="2194560" cy="5029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Atención al cliente</a:t>
            </a:r>
            <a:endParaRPr lang="en-US" sz="2000" dirty="0"/>
          </a:p>
        </p:txBody>
      </p:sp>
      <p:sp>
        <p:nvSpPr>
          <p:cNvPr id="13" name="Text 9"/>
          <p:cNvSpPr txBox="1"/>
          <p:nvPr/>
        </p:nvSpPr>
        <p:spPr>
          <a:xfrm>
            <a:off x="4572000" y="2697480"/>
            <a:ext cx="2971800" cy="329184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latin typeface="Calibri" pitchFamily="34" charset="0"/>
                <a:ea typeface="Calibri" pitchFamily="34" charset="-122"/>
                <a:cs typeface="Calibri" pitchFamily="34" charset="-120"/>
              </a:rPr>
              <a:t>Marcar estados en la planilla</a:t>
            </a:r>
            <a:endParaRPr lang="en-US" sz="1800" dirty="0"/>
          </a:p>
          <a:p>
            <a:pPr marL="342900" indent="-342900">
              <a:spcAft>
                <a:spcPts val="1600"/>
              </a:spcAft>
              <a:buSzPct val="100000"/>
              <a:buChar char="•"/>
            </a:pPr>
            <a:r>
              <a:rPr lang="en-US" sz="1800" dirty="0">
                <a:solidFill>
                  <a:schemeClr val="tx1"/>
                </a:solidFill>
                <a:latin typeface="Calibri" pitchFamily="34" charset="0"/>
                <a:ea typeface="Calibri" pitchFamily="34" charset="-122"/>
                <a:cs typeface="Calibri" pitchFamily="34" charset="-120"/>
              </a:rPr>
              <a:t>Anotar pedidos perdidos un mes</a:t>
            </a:r>
            <a:endParaRPr lang="en-US" sz="1800" dirty="0"/>
          </a:p>
          <a:p>
            <a:pPr marL="342900" indent="-342900">
              <a:spcAft>
                <a:spcPts val="1600"/>
              </a:spcAft>
              <a:buSzPct val="100000"/>
              <a:buChar char="•"/>
            </a:pPr>
            <a:r>
              <a:rPr lang="en-US" sz="1800" dirty="0">
                <a:solidFill>
                  <a:schemeClr val="tx1"/>
                </a:solidFill>
                <a:latin typeface="Calibri" pitchFamily="34" charset="0"/>
                <a:ea typeface="Calibri" pitchFamily="34" charset="-122"/>
                <a:cs typeface="Calibri" pitchFamily="34" charset="-120"/>
              </a:rPr>
              <a:t>Difundir el QR en cada entrega</a:t>
            </a:r>
            <a:endParaRPr lang="en-US" sz="1800" dirty="0"/>
          </a:p>
        </p:txBody>
      </p:sp>
      <p:sp>
        <p:nvSpPr>
          <p:cNvPr id="14" name="card-175"/>
          <p:cNvSpPr/>
          <p:nvPr/>
        </p:nvSpPr>
        <p:spPr>
          <a:xfrm>
            <a:off x="8046720" y="1463040"/>
            <a:ext cx="3474720" cy="4709160"/>
          </a:xfrm>
          <a:prstGeom prst="roundRect">
            <a:avLst>
              <a:gd name="adj" fmla="val 3158"/>
            </a:avLst>
          </a:prstGeom>
          <a:solidFill>
            <a:schemeClr val="accent6"/>
          </a:solidFill>
          <a:ln/>
        </p:spPr>
      </p:sp>
      <p:sp>
        <p:nvSpPr>
          <p:cNvPr id="15" name="icono-fondo-176"/>
          <p:cNvSpPr/>
          <p:nvPr/>
        </p:nvSpPr>
        <p:spPr>
          <a:xfrm>
            <a:off x="8321040" y="1691640"/>
            <a:ext cx="685800" cy="685800"/>
          </a:xfrm>
          <a:prstGeom prst="ellipse">
            <a:avLst/>
          </a:prstGeom>
          <a:solidFill>
            <a:schemeClr val="tx2"/>
          </a:solidFill>
          <a:ln/>
        </p:spPr>
      </p:sp>
      <p:pic>
        <p:nvPicPr>
          <p:cNvPr id="16" name="icono-177" descr="preencoded.png">    </p:cNvPr>
          <p:cNvPicPr>
            <a:picLocks noChangeAspect="1"/>
          </p:cNvPicPr>
          <p:nvPr/>
        </p:nvPicPr>
        <p:blipFill>
          <a:blip r:embed="rId3"/>
          <a:stretch>
            <a:fillRect/>
          </a:stretch>
        </p:blipFill>
        <p:spPr>
          <a:xfrm>
            <a:off x="8485632" y="1856232"/>
            <a:ext cx="356616" cy="356616"/>
          </a:xfrm>
          <a:prstGeom prst="rect">
            <a:avLst/>
          </a:prstGeom>
        </p:spPr>
      </p:pic>
      <p:sp>
        <p:nvSpPr>
          <p:cNvPr id="17" name="Text 12"/>
          <p:cNvSpPr txBox="1"/>
          <p:nvPr/>
        </p:nvSpPr>
        <p:spPr>
          <a:xfrm>
            <a:off x="9144000" y="1783080"/>
            <a:ext cx="2194560" cy="5029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Desarrollador</a:t>
            </a:r>
            <a:endParaRPr lang="en-US" sz="2000" dirty="0"/>
          </a:p>
        </p:txBody>
      </p:sp>
      <p:sp>
        <p:nvSpPr>
          <p:cNvPr id="18" name="Text 13"/>
          <p:cNvSpPr txBox="1"/>
          <p:nvPr/>
        </p:nvSpPr>
        <p:spPr>
          <a:xfrm>
            <a:off x="8321040" y="2697480"/>
            <a:ext cx="2971800" cy="329184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latin typeface="Calibri" pitchFamily="34" charset="0"/>
                <a:ea typeface="Calibri" pitchFamily="34" charset="-122"/>
                <a:cs typeface="Calibri" pitchFamily="34" charset="-120"/>
              </a:rPr>
              <a:t>Recalcular con datos reales</a:t>
            </a:r>
            <a:endParaRPr lang="en-US" sz="1800" dirty="0"/>
          </a:p>
          <a:p>
            <a:pPr marL="342900" indent="-342900">
              <a:spcAft>
                <a:spcPts val="1600"/>
              </a:spcAft>
              <a:buSzPct val="100000"/>
              <a:buChar char="•"/>
            </a:pPr>
            <a:r>
              <a:rPr lang="en-US" sz="1800" dirty="0">
                <a:solidFill>
                  <a:schemeClr val="tx1"/>
                </a:solidFill>
                <a:latin typeface="Calibri" pitchFamily="34" charset="0"/>
                <a:ea typeface="Calibri" pitchFamily="34" charset="-122"/>
                <a:cs typeface="Calibri" pitchFamily="34" charset="-120"/>
              </a:rPr>
              <a:t>Mantener las actualizaciones</a:t>
            </a:r>
            <a:endParaRPr lang="en-US" sz="1800" dirty="0"/>
          </a:p>
          <a:p>
            <a:pPr marL="342900" indent="-342900">
              <a:spcAft>
                <a:spcPts val="1600"/>
              </a:spcAft>
              <a:buSzPct val="100000"/>
              <a:buChar char="•"/>
            </a:pPr>
            <a:r>
              <a:rPr lang="en-US" sz="1800" dirty="0">
                <a:solidFill>
                  <a:schemeClr val="tx1"/>
                </a:solidFill>
                <a:latin typeface="Calibri" pitchFamily="34" charset="0"/>
                <a:ea typeface="Calibri" pitchFamily="34" charset="-122"/>
                <a:cs typeface="Calibri" pitchFamily="34" charset="-120"/>
              </a:rPr>
              <a:t>v2: aviso de estado al cliente</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822960" y="1828800"/>
            <a:ext cx="6400800" cy="109728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Gracias</a:t>
            </a:r>
            <a:endParaRPr lang="en-US" sz="6000" dirty="0"/>
          </a:p>
        </p:txBody>
      </p:sp>
      <p:sp>
        <p:nvSpPr>
          <p:cNvPr id="3" name="Text 1"/>
          <p:cNvSpPr txBox="1"/>
          <p:nvPr/>
        </p:nvSpPr>
        <p:spPr>
          <a:xfrm>
            <a:off x="822960" y="2926080"/>
            <a:ext cx="6400800" cy="731520"/>
          </a:xfrm>
          <a:prstGeom prst="rect">
            <a:avLst/>
          </a:prstGeom>
          <a:noFill/>
          <a:ln/>
        </p:spPr>
        <p:txBody>
          <a:bodyPr wrap="square" lIns="0" tIns="0" rIns="0" bIns="0" rtlCol="0" anchor="t"/>
          <a:lstStyle/>
          <a:p>
            <a:pPr indent="0" marL="0">
              <a:buNone/>
            </a:pPr>
            <a:r>
              <a:rPr lang="en-US" sz="2800" dirty="0">
                <a:solidFill>
                  <a:srgbClr val="F2B63D"/>
                </a:solidFill>
                <a:latin typeface="Calibri" pitchFamily="34" charset="0"/>
                <a:ea typeface="Calibri" pitchFamily="34" charset="-122"/>
                <a:cs typeface="Calibri" pitchFamily="34" charset="-120"/>
              </a:rPr>
              <a:t>¿Preguntas?</a:t>
            </a:r>
            <a:endParaRPr lang="en-US" sz="2800" dirty="0"/>
          </a:p>
        </p:txBody>
      </p:sp>
      <p:sp>
        <p:nvSpPr>
          <p:cNvPr id="4" name="Text 2"/>
          <p:cNvSpPr txBox="1"/>
          <p:nvPr/>
        </p:nvSpPr>
        <p:spPr>
          <a:xfrm>
            <a:off x="822960" y="4023360"/>
            <a:ext cx="6858000" cy="1188720"/>
          </a:xfrm>
          <a:prstGeom prst="rect">
            <a:avLst/>
          </a:prstGeom>
          <a:noFill/>
          <a:ln/>
        </p:spPr>
        <p:txBody>
          <a:bodyPr wrap="square" lIns="0" tIns="0" rIns="0" bIns="0" rtlCol="0" anchor="t"/>
          <a:lstStyle/>
          <a:p>
            <a:pPr indent="0" marL="0">
              <a:spcAft>
                <a:spcPts val="400"/>
              </a:spcAft>
              <a:buNone/>
            </a:pPr>
            <a:r>
              <a:rPr lang="en-US" sz="1600" b="1" dirty="0">
                <a:solidFill>
                  <a:schemeClr val="bg2"/>
                </a:solidFill>
                <a:latin typeface="Calibri" pitchFamily="34" charset="0"/>
                <a:ea typeface="Calibri" pitchFamily="34" charset="-122"/>
                <a:cs typeface="Calibri" pitchFamily="34" charset="-120"/>
              </a:rPr>
              <a:t>Sitio: </a:t>
            </a:r>
            <a:pPr indent="0" marL="0">
              <a:spcAft>
                <a:spcPts val="400"/>
              </a:spcAft>
              <a:buNone/>
            </a:pPr>
            <a:r>
              <a:rPr lang="en-US" sz="1600" dirty="0">
                <a:solidFill>
                  <a:schemeClr val="bg2"/>
                </a:solidFill>
                <a:latin typeface="Calibri" pitchFamily="34" charset="0"/>
                <a:ea typeface="Calibri" pitchFamily="34" charset="-122"/>
                <a:cs typeface="Calibri" pitchFamily="34" charset="-120"/>
              </a:rPr>
              <a:t>castromaximo.github.io/DanyPizzas</a:t>
            </a:r>
            <a:endParaRPr lang="en-US" sz="1600" dirty="0"/>
          </a:p>
          <a:p>
            <a:pPr indent="0" marL="0">
              <a:spcAft>
                <a:spcPts val="400"/>
              </a:spcAft>
              <a:buNone/>
            </a:pPr>
            <a:r>
              <a:rPr lang="en-US" sz="1600" b="1" dirty="0">
                <a:solidFill>
                  <a:schemeClr val="bg2"/>
                </a:solidFill>
                <a:latin typeface="Calibri" pitchFamily="34" charset="0"/>
                <a:ea typeface="Calibri" pitchFamily="34" charset="-122"/>
                <a:cs typeface="Calibri" pitchFamily="34" charset="-120"/>
              </a:rPr>
              <a:t>Código: </a:t>
            </a:r>
            <a:pPr indent="0" marL="0">
              <a:spcAft>
                <a:spcPts val="400"/>
              </a:spcAft>
              <a:buNone/>
            </a:pPr>
            <a:r>
              <a:rPr lang="en-US" sz="1600" dirty="0">
                <a:solidFill>
                  <a:schemeClr val="bg2"/>
                </a:solidFill>
                <a:latin typeface="Calibri" pitchFamily="34" charset="0"/>
                <a:ea typeface="Calibri" pitchFamily="34" charset="-122"/>
                <a:cs typeface="Calibri" pitchFamily="34" charset="-120"/>
              </a:rPr>
              <a:t>github.com/CastroMaximo/DanyPizzas</a:t>
            </a:r>
            <a:endParaRPr lang="en-US" sz="1600" dirty="0"/>
          </a:p>
          <a:p>
            <a:pPr indent="0" marL="0">
              <a:spcAft>
                <a:spcPts val="400"/>
              </a:spcAft>
              <a:buNone/>
            </a:pPr>
            <a:r>
              <a:rPr lang="en-US" sz="1600" b="1" dirty="0">
                <a:solidFill>
                  <a:schemeClr val="bg2"/>
                </a:solidFill>
                <a:latin typeface="Calibri" pitchFamily="34" charset="0"/>
                <a:ea typeface="Calibri" pitchFamily="34" charset="-122"/>
                <a:cs typeface="Calibri" pitchFamily="34" charset="-120"/>
              </a:rPr>
              <a:t>Instagram: </a:t>
            </a:r>
            <a:pPr indent="0" marL="0">
              <a:spcAft>
                <a:spcPts val="400"/>
              </a:spcAft>
              <a:buNone/>
            </a:pPr>
            <a:r>
              <a:rPr lang="en-US" sz="1600" dirty="0">
                <a:solidFill>
                  <a:schemeClr val="bg2"/>
                </a:solidFill>
                <a:latin typeface="Calibri" pitchFamily="34" charset="0"/>
                <a:ea typeface="Calibri" pitchFamily="34" charset="-122"/>
                <a:cs typeface="Calibri" pitchFamily="34" charset="-120"/>
              </a:rPr>
              <a:t>@dany.pizzeria</a:t>
            </a:r>
            <a:endParaRPr lang="en-US" sz="1600" dirty="0"/>
          </a:p>
        </p:txBody>
      </p:sp>
      <p:sp>
        <p:nvSpPr>
          <p:cNvPr id="5" name="qr-fondo"/>
          <p:cNvSpPr/>
          <p:nvPr/>
        </p:nvSpPr>
        <p:spPr>
          <a:xfrm>
            <a:off x="8138160" y="1463040"/>
            <a:ext cx="3291840" cy="3931920"/>
          </a:xfrm>
          <a:prstGeom prst="roundRect">
            <a:avLst>
              <a:gd name="adj" fmla="val 5556"/>
            </a:avLst>
          </a:prstGeom>
          <a:solidFill>
            <a:schemeClr val="bg1"/>
          </a:solidFill>
          <a:ln/>
        </p:spPr>
      </p:sp>
      <p:pic>
        <p:nvPicPr>
          <p:cNvPr id="6" name="qr-cierre" descr="/home/claude/danypizzas/docs/qr-sitio.png">    </p:cNvPr>
          <p:cNvPicPr>
            <a:picLocks noChangeAspect="1"/>
          </p:cNvPicPr>
          <p:nvPr/>
        </p:nvPicPr>
        <p:blipFill>
          <a:blip r:embed="rId1"/>
          <a:stretch>
            <a:fillRect/>
          </a:stretch>
        </p:blipFill>
        <p:spPr>
          <a:xfrm>
            <a:off x="8412480" y="1737360"/>
            <a:ext cx="2743200" cy="2743200"/>
          </a:xfrm>
          <a:prstGeom prst="rect">
            <a:avLst/>
          </a:prstGeom>
        </p:spPr>
      </p:pic>
      <p:sp>
        <p:nvSpPr>
          <p:cNvPr id="7" name="Text 4"/>
          <p:cNvSpPr txBox="1"/>
          <p:nvPr/>
        </p:nvSpPr>
        <p:spPr>
          <a:xfrm>
            <a:off x="8138160" y="4617720"/>
            <a:ext cx="3291840" cy="45720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Pedí desde tu celular</a:t>
            </a:r>
            <a:endParaRPr lang="en-US" sz="1600" dirty="0"/>
          </a:p>
        </p:txBody>
      </p:sp>
    </p:spTree>
  </p:cSld>
  <p:clrMapOvr>
    <a:masterClrMapping/>
  </p:clrMapOvr>
</p:sld>
</file>

<file path=ppt/theme/theme1.xml><?xml version="1.0" encoding="utf-8"?>
<a:theme xmlns:a="http://schemas.openxmlformats.org/drawingml/2006/main" name="Dany Pizzas">
  <a:themeElements>
    <a:clrScheme name="Dany Pizzas">
      <a:dk1>
        <a:srgbClr val="2B2420"/>
      </a:dk1>
      <a:lt1>
        <a:srgbClr val="FFFFFF"/>
      </a:lt1>
      <a:dk2>
        <a:srgbClr val="1F6E5C"/>
      </a:dk2>
      <a:lt2>
        <a:srgbClr val="F7EBDB"/>
      </a:lt2>
      <a:accent1>
        <a:srgbClr val="E83030"/>
      </a:accent1>
      <a:accent2>
        <a:srgbClr val="309880"/>
      </a:accent2>
      <a:accent3>
        <a:srgbClr val="B42323"/>
      </a:accent3>
      <a:accent4>
        <a:srgbClr val="8A7F76"/>
      </a:accent4>
      <a:accent5>
        <a:srgbClr val="F2B63D"/>
      </a:accent5>
      <a:accent6>
        <a:srgbClr val="FBF6F0"/>
      </a:accent6>
      <a:hlink>
        <a:srgbClr val="1F6E5C"/>
      </a:hlink>
      <a:folHlink>
        <a:srgbClr val="8A7F76"/>
      </a:folHlink>
    </a:clrScheme>
    <a:fontScheme name="Dany Pizz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Universidad Nacional de Moquegua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Dany Pizzas Web — Ingeniería de Software</dc:title>
  <dc:subject>PptxGenJS Presentation</dc:subject>
  <dc:creator>Máximo Daniel Castro</dc:creator>
  <cp:lastModifiedBy>Máximo Daniel Castro</cp:lastModifiedBy>
  <cp:revision>1</cp:revision>
  <dcterms:created xsi:type="dcterms:W3CDTF">2026-10-07T16:33:57Z</dcterms:created>
  <dcterms:modified xsi:type="dcterms:W3CDTF">2026-10-07T16:33:57Z</dcterms:modified>
</cp:coreProperties>
</file>