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6e700f2d-935d-e648-b967-c5e9bb01fdba}">
          <p14:sldIdLst>
            <p14:sldId id="256"/>
            <p14:sldId id="257"/>
          </p14:sldIdLst>
        </p14:section>
        <p14:section name="I. Curriculum vitae" id="{5f91c308-5a0e-17b4-adcd-9835cd00dcc6}">
          <p14:sldIdLst>
            <p14:sldId id="258"/>
          </p14:sldIdLst>
        </p14:section>
        <p14:section name="II. Memoria descriptiva" id="{54fa70bf-d2c0-a6e8-394c-24d3fef67435}">
          <p14:sldIdLst>
            <p14:sldId id="259"/>
            <p14:sldId id="260"/>
            <p14:sldId id="261"/>
          </p14:sldIdLst>
        </p14:section>
        <p14:section name="III. Trabajo principal" id="{51dd74d1-9aa2-040d-082f-0262b02aba4f}">
          <p14:sldIdLst>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Breve: carrera, año y experiencia. Mencionar que este es un proyecto real, no un ejercicio. [Completar con el 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propuse estas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Trabajé en cuatro incrementos semanales con un tablero Kanban, mostrando cada avance a la familia. El sitio se publicó el 6 de octubre.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tienen la evidencia de un pedido real: [mostrar capturas].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aprobar la misión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abrir DanyPizzas_Anexos.pptx: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home/claude/danypizzas/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foto-cv"/>
          <p:cNvSpPr/>
          <p:nvPr/>
        </p:nvSpPr>
        <p:spPr>
          <a:xfrm>
            <a:off x="731520" y="1645920"/>
            <a:ext cx="2377440" cy="2377440"/>
          </a:xfrm>
          <a:prstGeom prst="ellipse">
            <a:avLst/>
          </a:prstGeom>
          <a:solidFill>
            <a:schemeClr val="bg2"/>
          </a:solidFill>
          <a:ln w="19050">
            <a:solidFill>
              <a:srgbClr val="E83030"/>
            </a:solidFill>
            <a:prstDash val="dash"/>
          </a:ln>
        </p:spPr>
      </p:sp>
      <p:sp>
        <p:nvSpPr>
          <p:cNvPr id="5" name="Text 3"/>
          <p:cNvSpPr txBox="1"/>
          <p:nvPr/>
        </p:nvSpPr>
        <p:spPr>
          <a:xfrm>
            <a:off x="731520" y="2514600"/>
            <a:ext cx="2377440" cy="731520"/>
          </a:xfrm>
          <a:prstGeom prst="rect">
            <a:avLst/>
          </a:prstGeom>
          <a:noFill/>
          <a:ln/>
        </p:spPr>
        <p:txBody>
          <a:bodyPr wrap="square" lIns="0" tIns="0" rIns="0" bIns="0" rtlCol="0" anchor="t"/>
          <a:lstStyle/>
          <a:p>
            <a:pPr algn="ctr" indent="0" marL="0">
              <a:buNone/>
            </a:pPr>
            <a:r>
              <a:rPr lang="en-US" sz="1400" dirty="0">
                <a:solidFill>
                  <a:schemeClr val="accent4"/>
                </a:solidFill>
                <a:latin typeface="Calibri" pitchFamily="34" charset="0"/>
                <a:ea typeface="Calibri" pitchFamily="34" charset="-122"/>
                <a:cs typeface="Calibri" pitchFamily="34" charset="-120"/>
              </a:rPr>
              <a:t>Foto</a:t>
            </a:r>
            <a:endParaRPr lang="en-US" sz="1400" dirty="0"/>
          </a:p>
          <a:p>
            <a:pPr algn="ctr" indent="0" marL="0">
              <a:buNone/>
            </a:pPr>
            <a:r>
              <a:rPr lang="en-US" sz="1400" dirty="0">
                <a:solidFill>
                  <a:schemeClr val="accent4"/>
                </a:solidFill>
                <a:latin typeface="Calibri" pitchFamily="34" charset="0"/>
                <a:ea typeface="Calibri" pitchFamily="34" charset="-122"/>
                <a:cs typeface="Calibri" pitchFamily="34" charset="-120"/>
              </a:rPr>
              <a:t>(opcional)</a:t>
            </a:r>
            <a:endParaRPr lang="en-US" sz="1400" dirty="0"/>
          </a:p>
        </p:txBody>
      </p:sp>
      <p:sp>
        <p:nvSpPr>
          <p:cNvPr id="6" name="Text 4"/>
          <p:cNvSpPr txBox="1"/>
          <p:nvPr/>
        </p:nvSpPr>
        <p:spPr>
          <a:xfrm>
            <a:off x="3566160" y="1645920"/>
            <a:ext cx="7863840" cy="8229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Estudiante de Ingeniería de Sistemas</a:t>
            </a:r>
            <a:endParaRPr lang="en-US" sz="15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Moquegua · Escuela Profesional de Ingeniería de Sistemas e Informática</a:t>
            </a:r>
            <a:endParaRPr lang="en-US" sz="1500" dirty="0"/>
          </a:p>
        </p:txBody>
      </p:sp>
      <p:sp>
        <p:nvSpPr>
          <p:cNvPr id="7" name="card-10"/>
          <p:cNvSpPr/>
          <p:nvPr/>
        </p:nvSpPr>
        <p:spPr>
          <a:xfrm>
            <a:off x="3566160" y="2606040"/>
            <a:ext cx="3749040" cy="2148840"/>
          </a:xfrm>
          <a:prstGeom prst="roundRect">
            <a:avLst>
              <a:gd name="adj" fmla="val 5106"/>
            </a:avLst>
          </a:prstGeom>
          <a:solidFill>
            <a:schemeClr val="accent6"/>
          </a:solidFill>
          <a:ln/>
        </p:spPr>
      </p:sp>
      <p:sp>
        <p:nvSpPr>
          <p:cNvPr id="8" name="Text 6"/>
          <p:cNvSpPr txBox="1"/>
          <p:nvPr/>
        </p:nvSpPr>
        <p:spPr>
          <a:xfrm>
            <a:off x="3794760" y="2743200"/>
            <a:ext cx="329184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Proyecto destacado</a:t>
            </a:r>
            <a:endParaRPr lang="en-US" sz="1400" dirty="0"/>
          </a:p>
        </p:txBody>
      </p:sp>
      <p:sp>
        <p:nvSpPr>
          <p:cNvPr id="9" name="Text 7"/>
          <p:cNvSpPr txBox="1"/>
          <p:nvPr/>
        </p:nvSpPr>
        <p:spPr>
          <a:xfrm>
            <a:off x="3794760" y="3090672"/>
            <a:ext cx="3291840" cy="16002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Dany Pizzas Web (2026): sistema de pedidos publicado y en uso para un emprendimiento real.</a:t>
            </a:r>
            <a:endParaRPr lang="en-US" sz="1500" dirty="0"/>
          </a:p>
        </p:txBody>
      </p:sp>
      <p:sp>
        <p:nvSpPr>
          <p:cNvPr id="10" name="card-11"/>
          <p:cNvSpPr/>
          <p:nvPr/>
        </p:nvSpPr>
        <p:spPr>
          <a:xfrm>
            <a:off x="7589520" y="2606040"/>
            <a:ext cx="3840480" cy="2148840"/>
          </a:xfrm>
          <a:prstGeom prst="roundRect">
            <a:avLst>
              <a:gd name="adj" fmla="val 5106"/>
            </a:avLst>
          </a:prstGeom>
          <a:solidFill>
            <a:schemeClr val="accent6"/>
          </a:solidFill>
          <a:ln/>
        </p:spPr>
      </p:sp>
      <p:sp>
        <p:nvSpPr>
          <p:cNvPr id="11" name="Text 9"/>
          <p:cNvSpPr txBox="1"/>
          <p:nvPr/>
        </p:nvSpPr>
        <p:spPr>
          <a:xfrm>
            <a:off x="7818120" y="2743200"/>
            <a:ext cx="34747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Herramientas</a:t>
            </a:r>
            <a:endParaRPr lang="en-US" sz="1400" dirty="0"/>
          </a:p>
        </p:txBody>
      </p:sp>
      <p:sp>
        <p:nvSpPr>
          <p:cNvPr id="12" name="Text 10"/>
          <p:cNvSpPr txBox="1"/>
          <p:nvPr/>
        </p:nvSpPr>
        <p:spPr>
          <a:xfrm>
            <a:off x="7818120" y="3090672"/>
            <a:ext cx="3474720" cy="1600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GitHub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Google 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13" name="pendiente-12"/>
          <p:cNvSpPr/>
          <p:nvPr/>
        </p:nvSpPr>
        <p:spPr>
          <a:xfrm>
            <a:off x="731520" y="5029200"/>
            <a:ext cx="10698480" cy="1051560"/>
          </a:xfrm>
          <a:prstGeom prst="roundRect">
            <a:avLst>
              <a:gd name="adj" fmla="val 8696"/>
            </a:avLst>
          </a:prstGeom>
          <a:solidFill>
            <a:srgbClr val="FFF4F2"/>
          </a:solidFill>
          <a:ln w="19050">
            <a:solidFill>
              <a:srgbClr val="E83030"/>
            </a:solidFill>
            <a:prstDash val="dash"/>
          </a:ln>
        </p:spPr>
      </p:sp>
      <p:sp>
        <p:nvSpPr>
          <p:cNvPr id="14" name="Text 12"/>
          <p:cNvSpPr txBox="1"/>
          <p:nvPr/>
        </p:nvSpPr>
        <p:spPr>
          <a:xfrm>
            <a:off x="914400" y="5138928"/>
            <a:ext cx="10332720" cy="832104"/>
          </a:xfrm>
          <a:prstGeom prst="rect">
            <a:avLst/>
          </a:prstGeom>
          <a:noFill/>
          <a:ln/>
        </p:spPr>
        <p:txBody>
          <a:bodyPr wrap="square" lIns="0" tIns="0" rIns="0" bIns="0" rtlCol="0" anchor="ctr"/>
          <a:lstStyle/>
          <a:p>
            <a:pPr indent="0" marL="0">
              <a:buNone/>
            </a:pPr>
            <a:r>
              <a:rPr lang="en-US" sz="1200" b="1" dirty="0">
                <a:solidFill>
                  <a:schemeClr val="accent3"/>
                </a:solidFill>
                <a:latin typeface="Calibri" pitchFamily="34" charset="0"/>
                <a:ea typeface="Calibri" pitchFamily="34" charset="-122"/>
                <a:cs typeface="Calibri" pitchFamily="34" charset="-120"/>
              </a:rPr>
              <a:t>PENDIENTE  </a:t>
            </a:r>
            <a:pPr indent="0" marL="0">
              <a:buNone/>
            </a:pPr>
            <a:r>
              <a:rPr lang="en-US" sz="1400" dirty="0">
                <a:solidFill>
                  <a:schemeClr val="accent3"/>
                </a:solidFill>
                <a:latin typeface="Calibri" pitchFamily="34" charset="0"/>
                <a:ea typeface="Calibri" pitchFamily="34" charset="-122"/>
                <a:cs typeface="Calibri" pitchFamily="34" charset="-120"/>
              </a:rPr>
              <a:t>Completar con tu CV: año que cursás, formación previa, experiencia laboral, cursos o certificaciones, idiomas y datos de contacto.</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home/claude/danypizzas/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1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1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1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16"/>
          <p:cNvSpPr/>
          <p:nvPr/>
        </p:nvSpPr>
        <p:spPr>
          <a:xfrm>
            <a:off x="5303520" y="1508760"/>
            <a:ext cx="502920" cy="502920"/>
          </a:xfrm>
          <a:prstGeom prst="ellipse">
            <a:avLst/>
          </a:prstGeom>
          <a:solidFill>
            <a:schemeClr val="accent1"/>
          </a:solidFill>
          <a:ln/>
        </p:spPr>
      </p:sp>
      <p:pic>
        <p:nvPicPr>
          <p:cNvPr id="15" name="icono-1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18"/>
          <p:cNvSpPr/>
          <p:nvPr/>
        </p:nvSpPr>
        <p:spPr>
          <a:xfrm>
            <a:off x="8503920" y="1508760"/>
            <a:ext cx="502920" cy="502920"/>
          </a:xfrm>
          <a:prstGeom prst="ellipse">
            <a:avLst/>
          </a:prstGeom>
          <a:solidFill>
            <a:schemeClr val="accent2"/>
          </a:solidFill>
          <a:ln/>
        </p:spPr>
      </p:sp>
      <p:pic>
        <p:nvPicPr>
          <p:cNvPr id="19" name="icono-1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20"/>
          <p:cNvSpPr/>
          <p:nvPr/>
        </p:nvSpPr>
        <p:spPr>
          <a:xfrm>
            <a:off x="5303520" y="2560320"/>
            <a:ext cx="502920" cy="502920"/>
          </a:xfrm>
          <a:prstGeom prst="ellipse">
            <a:avLst/>
          </a:prstGeom>
          <a:solidFill>
            <a:schemeClr val="accent1"/>
          </a:solidFill>
          <a:ln/>
        </p:spPr>
      </p:sp>
      <p:pic>
        <p:nvPicPr>
          <p:cNvPr id="23" name="icono-2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22"/>
          <p:cNvSpPr/>
          <p:nvPr/>
        </p:nvSpPr>
        <p:spPr>
          <a:xfrm>
            <a:off x="8503920" y="2560320"/>
            <a:ext cx="502920" cy="502920"/>
          </a:xfrm>
          <a:prstGeom prst="ellipse">
            <a:avLst/>
          </a:prstGeom>
          <a:solidFill>
            <a:schemeClr val="accent2"/>
          </a:solidFill>
          <a:ln/>
        </p:spPr>
      </p:sp>
      <p:pic>
        <p:nvPicPr>
          <p:cNvPr id="27" name="icono-2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24"/>
          <p:cNvSpPr/>
          <p:nvPr/>
        </p:nvSpPr>
        <p:spPr>
          <a:xfrm>
            <a:off x="5303520" y="3703320"/>
            <a:ext cx="6309360" cy="2468880"/>
          </a:xfrm>
          <a:prstGeom prst="roundRect">
            <a:avLst>
              <a:gd name="adj" fmla="val 4444"/>
            </a:avLst>
          </a:prstGeom>
          <a:solidFill>
            <a:schemeClr val="bg2"/>
          </a:solidFill>
          <a:ln/>
        </p:spPr>
      </p:sp>
      <p:sp>
        <p:nvSpPr>
          <p:cNvPr id="31" name="etiqueta-25"/>
          <p:cNvSpPr/>
          <p:nvPr/>
        </p:nvSpPr>
        <p:spPr>
          <a:xfrm>
            <a:off x="8549640" y="3840480"/>
            <a:ext cx="2926080" cy="310896"/>
          </a:xfrm>
          <a:prstGeom prst="roundRect">
            <a:avLst>
              <a:gd name="adj" fmla="val 50000"/>
            </a:avLst>
          </a:prstGeom>
          <a:solidFill>
            <a:schemeClr val="bg1"/>
          </a:solidFill>
          <a:ln/>
        </p:spPr>
      </p:sp>
      <p:sp>
        <p:nvSpPr>
          <p:cNvPr id="32" name="Text 25"/>
          <p:cNvSpPr txBox="1"/>
          <p:nvPr/>
        </p:nvSpPr>
        <p:spPr>
          <a:xfrm>
            <a:off x="8549640" y="3840480"/>
            <a:ext cx="2926080" cy="310896"/>
          </a:xfrm>
          <a:prstGeom prst="rect">
            <a:avLst/>
          </a:prstGeom>
          <a:noFill/>
          <a:ln/>
        </p:spPr>
        <p:txBody>
          <a:bodyPr wrap="square" lIns="0" tIns="0" rIns="0" bIns="0" rtlCol="0" anchor="ctr"/>
          <a:lstStyle/>
          <a:p>
            <a:pPr algn="ctr" indent="0" marL="0">
              <a:buNone/>
            </a:pPr>
            <a:r>
              <a:rPr lang="en-US" sz="1100" b="1" dirty="0">
                <a:solidFill>
                  <a:schemeClr val="accent3"/>
                </a:solidFill>
                <a:latin typeface="Calibri" pitchFamily="34" charset="0"/>
                <a:ea typeface="Calibri" pitchFamily="34" charset="-122"/>
                <a:cs typeface="Calibri" pitchFamily="34" charset="-120"/>
              </a:rPr>
              <a:t>PROPUESTA · A APROBAR POR EL DUEÑO</a:t>
            </a:r>
            <a:endParaRPr lang="en-US" sz="1100" dirty="0"/>
          </a:p>
        </p:txBody>
      </p:sp>
      <p:sp>
        <p:nvSpPr>
          <p:cNvPr id="33" name="Text 26"/>
          <p:cNvSpPr txBox="1"/>
          <p:nvPr/>
        </p:nvSpPr>
        <p:spPr>
          <a:xfrm>
            <a:off x="5577840" y="4251960"/>
            <a:ext cx="5806440" cy="1828800"/>
          </a:xfrm>
          <a:prstGeom prst="rect">
            <a:avLst/>
          </a:prstGeom>
          <a:noFill/>
          <a:ln/>
        </p:spPr>
        <p:txBody>
          <a:bodyPr wrap="square" lIns="0" tIns="0" rIns="0" bIns="0" rtlCol="0" anchor="t"/>
          <a:lstStyle/>
          <a:p>
            <a:pPr indent="0" marL="0">
              <a:buNone/>
            </a:pPr>
            <a:r>
              <a:rPr lang="en-US" sz="1700" b="1" dirty="0">
                <a:solidFill>
                  <a:schemeClr val="accent3"/>
                </a:solidFill>
                <a:latin typeface="Calibri" pitchFamily="34" charset="0"/>
                <a:ea typeface="Calibri" pitchFamily="34" charset="-122"/>
                <a:cs typeface="Calibri" pitchFamily="34" charset="-120"/>
              </a:rPr>
              <a:t>Misión. </a:t>
            </a:r>
            <a:pPr indent="0" marL="0">
              <a:buNone/>
            </a:pPr>
            <a:r>
              <a:rPr lang="en-US" sz="17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7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700" dirty="0"/>
          </a:p>
          <a:p>
            <a:pPr indent="0" marL="0">
              <a:buNone/>
            </a:pPr>
            <a:r>
              <a:rPr lang="en-US" sz="1700" b="1" dirty="0">
                <a:solidFill>
                  <a:schemeClr val="tx2"/>
                </a:solidFill>
                <a:latin typeface="Calibri" pitchFamily="34" charset="0"/>
                <a:ea typeface="Calibri" pitchFamily="34" charset="-122"/>
                <a:cs typeface="Calibri" pitchFamily="34" charset="-120"/>
              </a:rPr>
              <a:t>Visión. </a:t>
            </a:r>
            <a:pPr indent="0" marL="0">
              <a:buNone/>
            </a:pPr>
            <a:r>
              <a:rPr lang="en-US" sz="17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26"/>
          <p:cNvSpPr/>
          <p:nvPr/>
        </p:nvSpPr>
        <p:spPr>
          <a:xfrm>
            <a:off x="3657600" y="2606040"/>
            <a:ext cx="0" cy="365760"/>
          </a:xfrm>
          <a:prstGeom prst="line">
            <a:avLst/>
          </a:prstGeom>
          <a:noFill/>
          <a:ln w="19050">
            <a:solidFill>
              <a:srgbClr val="8A7F76"/>
            </a:solidFill>
            <a:prstDash val="solid"/>
          </a:ln>
        </p:spPr>
      </p:sp>
      <p:sp>
        <p:nvSpPr>
          <p:cNvPr id="5" name="linea-27"/>
          <p:cNvSpPr/>
          <p:nvPr/>
        </p:nvSpPr>
        <p:spPr>
          <a:xfrm>
            <a:off x="1783080" y="2971800"/>
            <a:ext cx="3749040" cy="0"/>
          </a:xfrm>
          <a:prstGeom prst="line">
            <a:avLst/>
          </a:prstGeom>
          <a:noFill/>
          <a:ln w="19050">
            <a:solidFill>
              <a:srgbClr val="8A7F76"/>
            </a:solidFill>
            <a:prstDash val="solid"/>
          </a:ln>
        </p:spPr>
      </p:sp>
      <p:sp>
        <p:nvSpPr>
          <p:cNvPr id="6" name="linea-28"/>
          <p:cNvSpPr/>
          <p:nvPr/>
        </p:nvSpPr>
        <p:spPr>
          <a:xfrm>
            <a:off x="1783080" y="2971800"/>
            <a:ext cx="0" cy="320040"/>
          </a:xfrm>
          <a:prstGeom prst="line">
            <a:avLst/>
          </a:prstGeom>
          <a:noFill/>
          <a:ln w="19050">
            <a:solidFill>
              <a:srgbClr val="8A7F76"/>
            </a:solidFill>
            <a:prstDash val="solid"/>
          </a:ln>
        </p:spPr>
      </p:sp>
      <p:sp>
        <p:nvSpPr>
          <p:cNvPr id="7" name="linea-29"/>
          <p:cNvSpPr/>
          <p:nvPr/>
        </p:nvSpPr>
        <p:spPr>
          <a:xfrm>
            <a:off x="5532120" y="2971800"/>
            <a:ext cx="0" cy="320040"/>
          </a:xfrm>
          <a:prstGeom prst="line">
            <a:avLst/>
          </a:prstGeom>
          <a:noFill/>
          <a:ln w="19050">
            <a:solidFill>
              <a:srgbClr val="8A7F76"/>
            </a:solidFill>
            <a:prstDash val="solid"/>
          </a:ln>
        </p:spPr>
      </p:sp>
      <p:sp>
        <p:nvSpPr>
          <p:cNvPr id="8" name="linea-30"/>
          <p:cNvSpPr/>
          <p:nvPr/>
        </p:nvSpPr>
        <p:spPr>
          <a:xfrm>
            <a:off x="5532120" y="4572000"/>
            <a:ext cx="0" cy="411480"/>
          </a:xfrm>
          <a:prstGeom prst="line">
            <a:avLst/>
          </a:prstGeom>
          <a:noFill/>
          <a:ln w="19050">
            <a:solidFill>
              <a:srgbClr val="8A7F76"/>
            </a:solidFill>
            <a:prstDash val="solid"/>
          </a:ln>
        </p:spPr>
      </p:sp>
      <p:sp>
        <p:nvSpPr>
          <p:cNvPr id="9" name="org-3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3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3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3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3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36"/>
          <p:cNvSpPr/>
          <p:nvPr/>
        </p:nvSpPr>
        <p:spPr>
          <a:xfrm>
            <a:off x="7680960" y="2286000"/>
            <a:ext cx="502920" cy="502920"/>
          </a:xfrm>
          <a:prstGeom prst="ellipse">
            <a:avLst/>
          </a:prstGeom>
          <a:solidFill>
            <a:schemeClr val="accent2"/>
          </a:solidFill>
          <a:ln/>
        </p:spPr>
      </p:sp>
      <p:pic>
        <p:nvPicPr>
          <p:cNvPr id="24" name="icono-3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38"/>
          <p:cNvSpPr/>
          <p:nvPr/>
        </p:nvSpPr>
        <p:spPr>
          <a:xfrm>
            <a:off x="7680960" y="3227832"/>
            <a:ext cx="502920" cy="502920"/>
          </a:xfrm>
          <a:prstGeom prst="ellipse">
            <a:avLst/>
          </a:prstGeom>
          <a:solidFill>
            <a:schemeClr val="accent2"/>
          </a:solidFill>
          <a:ln/>
        </p:spPr>
      </p:sp>
      <p:pic>
        <p:nvPicPr>
          <p:cNvPr id="27" name="icono-3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40"/>
          <p:cNvSpPr/>
          <p:nvPr/>
        </p:nvSpPr>
        <p:spPr>
          <a:xfrm>
            <a:off x="7680960" y="4169664"/>
            <a:ext cx="502920" cy="502920"/>
          </a:xfrm>
          <a:prstGeom prst="ellipse">
            <a:avLst/>
          </a:prstGeom>
          <a:solidFill>
            <a:schemeClr val="accent1"/>
          </a:solidFill>
          <a:ln/>
        </p:spPr>
      </p:sp>
      <p:pic>
        <p:nvPicPr>
          <p:cNvPr id="30" name="icono-4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42"/>
          <p:cNvSpPr/>
          <p:nvPr/>
        </p:nvSpPr>
        <p:spPr>
          <a:xfrm>
            <a:off x="7680960" y="5111496"/>
            <a:ext cx="502920" cy="502920"/>
          </a:xfrm>
          <a:prstGeom prst="ellipse">
            <a:avLst/>
          </a:prstGeom>
          <a:solidFill>
            <a:schemeClr val="accent2"/>
          </a:solidFill>
          <a:ln/>
        </p:spPr>
      </p:sp>
      <p:pic>
        <p:nvPicPr>
          <p:cNvPr id="33" name="icono-4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44"/>
          <p:cNvSpPr/>
          <p:nvPr/>
        </p:nvSpPr>
        <p:spPr>
          <a:xfrm>
            <a:off x="548640" y="1463040"/>
            <a:ext cx="3520440" cy="2240280"/>
          </a:xfrm>
          <a:prstGeom prst="roundRect">
            <a:avLst>
              <a:gd name="adj" fmla="val 4898"/>
            </a:avLst>
          </a:prstGeom>
          <a:solidFill>
            <a:schemeClr val="accent6"/>
          </a:solidFill>
          <a:ln/>
        </p:spPr>
      </p:sp>
      <p:sp>
        <p:nvSpPr>
          <p:cNvPr id="5" name="letra-4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46"/>
          <p:cNvSpPr/>
          <p:nvPr/>
        </p:nvSpPr>
        <p:spPr>
          <a:xfrm>
            <a:off x="4251960" y="1463040"/>
            <a:ext cx="3520440" cy="2240280"/>
          </a:xfrm>
          <a:prstGeom prst="roundRect">
            <a:avLst>
              <a:gd name="adj" fmla="val 4898"/>
            </a:avLst>
          </a:prstGeom>
          <a:solidFill>
            <a:schemeClr val="accent6"/>
          </a:solidFill>
          <a:ln/>
        </p:spPr>
      </p:sp>
      <p:sp>
        <p:nvSpPr>
          <p:cNvPr id="10" name="letra-4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48"/>
          <p:cNvSpPr/>
          <p:nvPr/>
        </p:nvSpPr>
        <p:spPr>
          <a:xfrm>
            <a:off x="548640" y="3858768"/>
            <a:ext cx="3520440" cy="2240280"/>
          </a:xfrm>
          <a:prstGeom prst="roundRect">
            <a:avLst>
              <a:gd name="adj" fmla="val 4898"/>
            </a:avLst>
          </a:prstGeom>
          <a:solidFill>
            <a:schemeClr val="accent6"/>
          </a:solidFill>
          <a:ln/>
        </p:spPr>
      </p:sp>
      <p:sp>
        <p:nvSpPr>
          <p:cNvPr id="15" name="letra-4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50"/>
          <p:cNvSpPr/>
          <p:nvPr/>
        </p:nvSpPr>
        <p:spPr>
          <a:xfrm>
            <a:off x="4251960" y="3858768"/>
            <a:ext cx="3520440" cy="2240280"/>
          </a:xfrm>
          <a:prstGeom prst="roundRect">
            <a:avLst>
              <a:gd name="adj" fmla="val 4898"/>
            </a:avLst>
          </a:prstGeom>
          <a:solidFill>
            <a:schemeClr val="accent6"/>
          </a:solidFill>
          <a:ln/>
        </p:spPr>
      </p:sp>
      <p:sp>
        <p:nvSpPr>
          <p:cNvPr id="20" name="letra-5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5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5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5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5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5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5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5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5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6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6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6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63"/>
          <p:cNvSpPr/>
          <p:nvPr/>
        </p:nvSpPr>
        <p:spPr>
          <a:xfrm>
            <a:off x="2743200" y="1828800"/>
            <a:ext cx="1097280" cy="2011680"/>
          </a:xfrm>
          <a:prstGeom prst="line">
            <a:avLst/>
          </a:prstGeom>
          <a:noFill/>
          <a:ln w="25400">
            <a:solidFill>
              <a:srgbClr val="1F6E5C"/>
            </a:solidFill>
            <a:prstDash val="solid"/>
          </a:ln>
        </p:spPr>
      </p:sp>
      <p:sp>
        <p:nvSpPr>
          <p:cNvPr id="8" name="categoria-6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65"/>
          <p:cNvSpPr/>
          <p:nvPr/>
        </p:nvSpPr>
        <p:spPr>
          <a:xfrm>
            <a:off x="5394960" y="1828800"/>
            <a:ext cx="1097280" cy="2011680"/>
          </a:xfrm>
          <a:prstGeom prst="line">
            <a:avLst/>
          </a:prstGeom>
          <a:noFill/>
          <a:ln w="25400">
            <a:solidFill>
              <a:srgbClr val="1F6E5C"/>
            </a:solidFill>
            <a:prstDash val="solid"/>
          </a:ln>
        </p:spPr>
      </p:sp>
      <p:sp>
        <p:nvSpPr>
          <p:cNvPr id="14" name="categoria-6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67"/>
          <p:cNvSpPr/>
          <p:nvPr/>
        </p:nvSpPr>
        <p:spPr>
          <a:xfrm>
            <a:off x="8046720" y="1828800"/>
            <a:ext cx="1097280" cy="2011680"/>
          </a:xfrm>
          <a:prstGeom prst="line">
            <a:avLst/>
          </a:prstGeom>
          <a:noFill/>
          <a:ln w="25400">
            <a:solidFill>
              <a:srgbClr val="1F6E5C"/>
            </a:solidFill>
            <a:prstDash val="solid"/>
          </a:ln>
        </p:spPr>
      </p:sp>
      <p:sp>
        <p:nvSpPr>
          <p:cNvPr id="20" name="categoria-6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69"/>
          <p:cNvSpPr/>
          <p:nvPr/>
        </p:nvSpPr>
        <p:spPr>
          <a:xfrm flipV="1">
            <a:off x="2743200" y="3840480"/>
            <a:ext cx="1097280" cy="2011680"/>
          </a:xfrm>
          <a:prstGeom prst="line">
            <a:avLst/>
          </a:prstGeom>
          <a:noFill/>
          <a:ln w="25400">
            <a:solidFill>
              <a:srgbClr val="1F6E5C"/>
            </a:solidFill>
            <a:prstDash val="solid"/>
          </a:ln>
        </p:spPr>
      </p:sp>
      <p:sp>
        <p:nvSpPr>
          <p:cNvPr id="26" name="categoria-7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71"/>
          <p:cNvSpPr/>
          <p:nvPr/>
        </p:nvSpPr>
        <p:spPr>
          <a:xfrm flipV="1">
            <a:off x="5394960" y="3840480"/>
            <a:ext cx="1097280" cy="2011680"/>
          </a:xfrm>
          <a:prstGeom prst="line">
            <a:avLst/>
          </a:prstGeom>
          <a:noFill/>
          <a:ln w="25400">
            <a:solidFill>
              <a:srgbClr val="1F6E5C"/>
            </a:solidFill>
            <a:prstDash val="solid"/>
          </a:ln>
        </p:spPr>
      </p:sp>
      <p:sp>
        <p:nvSpPr>
          <p:cNvPr id="32" name="categoria-7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73"/>
          <p:cNvSpPr/>
          <p:nvPr/>
        </p:nvSpPr>
        <p:spPr>
          <a:xfrm flipV="1">
            <a:off x="8046720" y="3840480"/>
            <a:ext cx="1097280" cy="2011680"/>
          </a:xfrm>
          <a:prstGeom prst="line">
            <a:avLst/>
          </a:prstGeom>
          <a:noFill/>
          <a:ln w="25400">
            <a:solidFill>
              <a:srgbClr val="1F6E5C"/>
            </a:solidFill>
            <a:prstDash val="solid"/>
          </a:ln>
        </p:spPr>
      </p:sp>
      <p:sp>
        <p:nvSpPr>
          <p:cNvPr id="38" name="categoria-7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7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76"/>
          <p:cNvSpPr/>
          <p:nvPr/>
        </p:nvSpPr>
        <p:spPr>
          <a:xfrm>
            <a:off x="548640" y="3154680"/>
            <a:ext cx="3474720" cy="3017520"/>
          </a:xfrm>
          <a:prstGeom prst="roundRect">
            <a:avLst>
              <a:gd name="adj" fmla="val 3636"/>
            </a:avLst>
          </a:prstGeom>
          <a:solidFill>
            <a:schemeClr val="accent6"/>
          </a:solidFill>
          <a:ln/>
        </p:spPr>
      </p:sp>
      <p:sp>
        <p:nvSpPr>
          <p:cNvPr id="7" name="icono-fondo-77"/>
          <p:cNvSpPr/>
          <p:nvPr/>
        </p:nvSpPr>
        <p:spPr>
          <a:xfrm>
            <a:off x="822960" y="3429000"/>
            <a:ext cx="594360" cy="594360"/>
          </a:xfrm>
          <a:prstGeom prst="ellipse">
            <a:avLst/>
          </a:prstGeom>
          <a:solidFill>
            <a:schemeClr val="accent1"/>
          </a:solidFill>
          <a:ln/>
        </p:spPr>
      </p:sp>
      <p:pic>
        <p:nvPicPr>
          <p:cNvPr id="8" name="icono-7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79"/>
          <p:cNvSpPr/>
          <p:nvPr/>
        </p:nvSpPr>
        <p:spPr>
          <a:xfrm>
            <a:off x="4297680" y="3154680"/>
            <a:ext cx="3474720" cy="3017520"/>
          </a:xfrm>
          <a:prstGeom prst="roundRect">
            <a:avLst>
              <a:gd name="adj" fmla="val 3636"/>
            </a:avLst>
          </a:prstGeom>
          <a:solidFill>
            <a:schemeClr val="accent6"/>
          </a:solidFill>
          <a:ln/>
        </p:spPr>
      </p:sp>
      <p:sp>
        <p:nvSpPr>
          <p:cNvPr id="13" name="icono-fondo-80"/>
          <p:cNvSpPr/>
          <p:nvPr/>
        </p:nvSpPr>
        <p:spPr>
          <a:xfrm>
            <a:off x="4572000" y="3429000"/>
            <a:ext cx="594360" cy="594360"/>
          </a:xfrm>
          <a:prstGeom prst="ellipse">
            <a:avLst/>
          </a:prstGeom>
          <a:solidFill>
            <a:schemeClr val="accent2"/>
          </a:solidFill>
          <a:ln/>
        </p:spPr>
      </p:sp>
      <p:pic>
        <p:nvPicPr>
          <p:cNvPr id="14" name="icono-8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82"/>
          <p:cNvSpPr/>
          <p:nvPr/>
        </p:nvSpPr>
        <p:spPr>
          <a:xfrm>
            <a:off x="8046720" y="3154680"/>
            <a:ext cx="3474720" cy="3017520"/>
          </a:xfrm>
          <a:prstGeom prst="roundRect">
            <a:avLst>
              <a:gd name="adj" fmla="val 3636"/>
            </a:avLst>
          </a:prstGeom>
          <a:solidFill>
            <a:schemeClr val="accent6"/>
          </a:solidFill>
          <a:ln/>
        </p:spPr>
      </p:sp>
      <p:sp>
        <p:nvSpPr>
          <p:cNvPr id="19" name="icono-fondo-83"/>
          <p:cNvSpPr/>
          <p:nvPr/>
        </p:nvSpPr>
        <p:spPr>
          <a:xfrm>
            <a:off x="8321040" y="3429000"/>
            <a:ext cx="594360" cy="594360"/>
          </a:xfrm>
          <a:prstGeom prst="ellipse">
            <a:avLst/>
          </a:prstGeom>
          <a:solidFill>
            <a:schemeClr val="tx2"/>
          </a:solidFill>
          <a:ln/>
        </p:spPr>
      </p:sp>
      <p:pic>
        <p:nvPicPr>
          <p:cNvPr id="20" name="icono-8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8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8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720840"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1</a:t>
            </a:r>
            <a:endParaRPr lang="en-US" sz="1200" dirty="0"/>
          </a:p>
        </p:txBody>
      </p:sp>
      <p:sp>
        <p:nvSpPr>
          <p:cNvPr id="11" name="Text 9"/>
          <p:cNvSpPr txBox="1"/>
          <p:nvPr/>
        </p:nvSpPr>
        <p:spPr>
          <a:xfrm>
            <a:off x="7699248"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2</a:t>
            </a:r>
            <a:endParaRPr lang="en-US" sz="1200" dirty="0"/>
          </a:p>
        </p:txBody>
      </p:sp>
      <p:sp>
        <p:nvSpPr>
          <p:cNvPr id="12" name="Text 10"/>
          <p:cNvSpPr txBox="1"/>
          <p:nvPr/>
        </p:nvSpPr>
        <p:spPr>
          <a:xfrm>
            <a:off x="8677656"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3</a:t>
            </a:r>
            <a:endParaRPr lang="en-US" sz="1200" dirty="0"/>
          </a:p>
        </p:txBody>
      </p:sp>
      <p:sp>
        <p:nvSpPr>
          <p:cNvPr id="13" name="Text 11"/>
          <p:cNvSpPr txBox="1"/>
          <p:nvPr/>
        </p:nvSpPr>
        <p:spPr>
          <a:xfrm>
            <a:off x="9656064"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4</a:t>
            </a:r>
            <a:endParaRPr lang="en-US" sz="1200" dirty="0"/>
          </a:p>
        </p:txBody>
      </p:sp>
      <p:sp>
        <p:nvSpPr>
          <p:cNvPr id="14" name="Text 12"/>
          <p:cNvSpPr txBox="1"/>
          <p:nvPr/>
        </p:nvSpPr>
        <p:spPr>
          <a:xfrm>
            <a:off x="10634472"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06–13/10</a:t>
            </a:r>
            <a:endParaRPr lang="en-US" sz="1200" dirty="0"/>
          </a:p>
        </p:txBody>
      </p:sp>
      <p:sp>
        <p:nvSpPr>
          <p:cNvPr id="15" name="fila-87"/>
          <p:cNvSpPr/>
          <p:nvPr/>
        </p:nvSpPr>
        <p:spPr>
          <a:xfrm>
            <a:off x="4389120" y="1874520"/>
            <a:ext cx="7223760" cy="502920"/>
          </a:xfrm>
          <a:prstGeom prst="rect">
            <a:avLst/>
          </a:prstGeom>
          <a:solidFill>
            <a:schemeClr val="accent6"/>
          </a:solidFill>
          <a:ln/>
        </p:spPr>
      </p:sp>
      <p:sp>
        <p:nvSpPr>
          <p:cNvPr id="16" name="Text 14"/>
          <p:cNvSpPr txBox="1"/>
          <p:nvPr/>
        </p:nvSpPr>
        <p:spPr>
          <a:xfrm>
            <a:off x="4480560" y="187452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Análisis y diseño</a:t>
            </a:r>
            <a:endParaRPr lang="en-US" sz="1400" dirty="0"/>
          </a:p>
        </p:txBody>
      </p:sp>
      <p:sp>
        <p:nvSpPr>
          <p:cNvPr id="17" name="barra-88"/>
          <p:cNvSpPr/>
          <p:nvPr/>
        </p:nvSpPr>
        <p:spPr>
          <a:xfrm>
            <a:off x="6748272" y="1993392"/>
            <a:ext cx="1217066" cy="265176"/>
          </a:xfrm>
          <a:prstGeom prst="roundRect">
            <a:avLst>
              <a:gd name="adj" fmla="val 24138"/>
            </a:avLst>
          </a:prstGeom>
          <a:solidFill>
            <a:schemeClr val="accent4"/>
          </a:solidFill>
          <a:ln/>
        </p:spPr>
      </p:sp>
      <p:sp>
        <p:nvSpPr>
          <p:cNvPr id="18" name="Text 16"/>
          <p:cNvSpPr txBox="1"/>
          <p:nvPr/>
        </p:nvSpPr>
        <p:spPr>
          <a:xfrm>
            <a:off x="4480560" y="237744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1: carta</a:t>
            </a:r>
            <a:endParaRPr lang="en-US" sz="1400" dirty="0"/>
          </a:p>
        </p:txBody>
      </p:sp>
      <p:sp>
        <p:nvSpPr>
          <p:cNvPr id="19" name="barra-89"/>
          <p:cNvSpPr/>
          <p:nvPr/>
        </p:nvSpPr>
        <p:spPr>
          <a:xfrm>
            <a:off x="7726680" y="2496312"/>
            <a:ext cx="727862" cy="265176"/>
          </a:xfrm>
          <a:prstGeom prst="roundRect">
            <a:avLst>
              <a:gd name="adj" fmla="val 24138"/>
            </a:avLst>
          </a:prstGeom>
          <a:solidFill>
            <a:schemeClr val="accent1"/>
          </a:solidFill>
          <a:ln/>
        </p:spPr>
      </p:sp>
      <p:sp>
        <p:nvSpPr>
          <p:cNvPr id="20" name="fila-90"/>
          <p:cNvSpPr/>
          <p:nvPr/>
        </p:nvSpPr>
        <p:spPr>
          <a:xfrm>
            <a:off x="4389120" y="2880360"/>
            <a:ext cx="7223760" cy="502920"/>
          </a:xfrm>
          <a:prstGeom prst="rect">
            <a:avLst/>
          </a:prstGeom>
          <a:solidFill>
            <a:schemeClr val="accent6"/>
          </a:solidFill>
          <a:ln/>
        </p:spPr>
      </p:sp>
      <p:sp>
        <p:nvSpPr>
          <p:cNvPr id="21" name="Text 19"/>
          <p:cNvSpPr txBox="1"/>
          <p:nvPr/>
        </p:nvSpPr>
        <p:spPr>
          <a:xfrm>
            <a:off x="4480560" y="288036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2: carrito</a:t>
            </a:r>
            <a:endParaRPr lang="en-US" sz="1400" dirty="0"/>
          </a:p>
        </p:txBody>
      </p:sp>
      <p:sp>
        <p:nvSpPr>
          <p:cNvPr id="22" name="barra-91"/>
          <p:cNvSpPr/>
          <p:nvPr/>
        </p:nvSpPr>
        <p:spPr>
          <a:xfrm>
            <a:off x="8411566" y="2999232"/>
            <a:ext cx="727862" cy="265176"/>
          </a:xfrm>
          <a:prstGeom prst="roundRect">
            <a:avLst>
              <a:gd name="adj" fmla="val 24138"/>
            </a:avLst>
          </a:prstGeom>
          <a:solidFill>
            <a:schemeClr val="accent1"/>
          </a:solidFill>
          <a:ln/>
        </p:spPr>
      </p:sp>
      <p:sp>
        <p:nvSpPr>
          <p:cNvPr id="23" name="Text 21"/>
          <p:cNvSpPr txBox="1"/>
          <p:nvPr/>
        </p:nvSpPr>
        <p:spPr>
          <a:xfrm>
            <a:off x="4480560" y="338328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3: recibo y WhatsApp</a:t>
            </a:r>
            <a:endParaRPr lang="en-US" sz="1400" dirty="0"/>
          </a:p>
        </p:txBody>
      </p:sp>
      <p:sp>
        <p:nvSpPr>
          <p:cNvPr id="24" name="barra-92"/>
          <p:cNvSpPr/>
          <p:nvPr/>
        </p:nvSpPr>
        <p:spPr>
          <a:xfrm>
            <a:off x="9096451" y="3502152"/>
            <a:ext cx="727862" cy="265176"/>
          </a:xfrm>
          <a:prstGeom prst="roundRect">
            <a:avLst>
              <a:gd name="adj" fmla="val 24138"/>
            </a:avLst>
          </a:prstGeom>
          <a:solidFill>
            <a:schemeClr val="accent1"/>
          </a:solidFill>
          <a:ln/>
        </p:spPr>
      </p:sp>
      <p:sp>
        <p:nvSpPr>
          <p:cNvPr id="25" name="fila-93"/>
          <p:cNvSpPr/>
          <p:nvPr/>
        </p:nvSpPr>
        <p:spPr>
          <a:xfrm>
            <a:off x="4389120" y="3886200"/>
            <a:ext cx="7223760" cy="502920"/>
          </a:xfrm>
          <a:prstGeom prst="rect">
            <a:avLst/>
          </a:prstGeom>
          <a:solidFill>
            <a:schemeClr val="accent6"/>
          </a:solidFill>
          <a:ln/>
        </p:spPr>
      </p:sp>
      <p:sp>
        <p:nvSpPr>
          <p:cNvPr id="26" name="Text 24"/>
          <p:cNvSpPr txBox="1"/>
          <p:nvPr/>
        </p:nvSpPr>
        <p:spPr>
          <a:xfrm>
            <a:off x="4480560" y="388620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4: backend y planilla</a:t>
            </a:r>
            <a:endParaRPr lang="en-US" sz="1400" dirty="0"/>
          </a:p>
        </p:txBody>
      </p:sp>
      <p:sp>
        <p:nvSpPr>
          <p:cNvPr id="27" name="barra-94"/>
          <p:cNvSpPr/>
          <p:nvPr/>
        </p:nvSpPr>
        <p:spPr>
          <a:xfrm>
            <a:off x="9683496" y="4005072"/>
            <a:ext cx="874624" cy="265176"/>
          </a:xfrm>
          <a:prstGeom prst="roundRect">
            <a:avLst>
              <a:gd name="adj" fmla="val 24138"/>
            </a:avLst>
          </a:prstGeom>
          <a:solidFill>
            <a:schemeClr val="accent1"/>
          </a:solidFill>
          <a:ln/>
        </p:spPr>
      </p:sp>
      <p:sp>
        <p:nvSpPr>
          <p:cNvPr id="28" name="Text 26"/>
          <p:cNvSpPr txBox="1"/>
          <p:nvPr/>
        </p:nvSpPr>
        <p:spPr>
          <a:xfrm>
            <a:off x="4480560" y="438912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Pruebas y publicación</a:t>
            </a:r>
            <a:endParaRPr lang="en-US" sz="1400" dirty="0"/>
          </a:p>
        </p:txBody>
      </p:sp>
      <p:sp>
        <p:nvSpPr>
          <p:cNvPr id="29" name="barra-95"/>
          <p:cNvSpPr/>
          <p:nvPr/>
        </p:nvSpPr>
        <p:spPr>
          <a:xfrm>
            <a:off x="10172700" y="4507992"/>
            <a:ext cx="1021385" cy="265176"/>
          </a:xfrm>
          <a:prstGeom prst="roundRect">
            <a:avLst>
              <a:gd name="adj" fmla="val 24138"/>
            </a:avLst>
          </a:prstGeom>
          <a:solidFill>
            <a:schemeClr val="accent2"/>
          </a:solidFill>
          <a:ln/>
        </p:spPr>
      </p:sp>
      <p:sp>
        <p:nvSpPr>
          <p:cNvPr id="30" name="fila-96"/>
          <p:cNvSpPr/>
          <p:nvPr/>
        </p:nvSpPr>
        <p:spPr>
          <a:xfrm>
            <a:off x="4389120" y="4892040"/>
            <a:ext cx="7223760" cy="502920"/>
          </a:xfrm>
          <a:prstGeom prst="rect">
            <a:avLst/>
          </a:prstGeom>
          <a:solidFill>
            <a:schemeClr val="accent6"/>
          </a:solidFill>
          <a:ln/>
        </p:spPr>
      </p:sp>
      <p:sp>
        <p:nvSpPr>
          <p:cNvPr id="31" name="Text 29"/>
          <p:cNvSpPr txBox="1"/>
          <p:nvPr/>
        </p:nvSpPr>
        <p:spPr>
          <a:xfrm>
            <a:off x="4480560" y="489204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Evaluación y exposición</a:t>
            </a:r>
            <a:endParaRPr lang="en-US" sz="1400" dirty="0"/>
          </a:p>
        </p:txBody>
      </p:sp>
      <p:sp>
        <p:nvSpPr>
          <p:cNvPr id="32" name="barra-97"/>
          <p:cNvSpPr/>
          <p:nvPr/>
        </p:nvSpPr>
        <p:spPr>
          <a:xfrm>
            <a:off x="10759745" y="5010912"/>
            <a:ext cx="825703" cy="265176"/>
          </a:xfrm>
          <a:prstGeom prst="roundRect">
            <a:avLst>
              <a:gd name="adj" fmla="val 24138"/>
            </a:avLst>
          </a:prstGeom>
          <a:solidFill>
            <a:schemeClr val="tx2"/>
          </a:solidFill>
          <a:ln/>
        </p:spPr>
      </p:sp>
      <p:sp>
        <p:nvSpPr>
          <p:cNvPr id="33" name="hito-98"/>
          <p:cNvSpPr/>
          <p:nvPr/>
        </p:nvSpPr>
        <p:spPr>
          <a:xfrm>
            <a:off x="10634472" y="1828800"/>
            <a:ext cx="0" cy="3611880"/>
          </a:xfrm>
          <a:prstGeom prst="line">
            <a:avLst/>
          </a:prstGeom>
          <a:noFill/>
          <a:ln w="15875">
            <a:solidFill>
              <a:srgbClr val="2B2420"/>
            </a:solidFill>
            <a:prstDash val="dash"/>
          </a:ln>
        </p:spPr>
      </p:sp>
      <p:sp>
        <p:nvSpPr>
          <p:cNvPr id="34" name="hito-99"/>
          <p:cNvSpPr/>
          <p:nvPr/>
        </p:nvSpPr>
        <p:spPr>
          <a:xfrm>
            <a:off x="11612880" y="1828800"/>
            <a:ext cx="0" cy="3611880"/>
          </a:xfrm>
          <a:prstGeom prst="line">
            <a:avLst/>
          </a:prstGeom>
          <a:noFill/>
          <a:ln w="15875">
            <a:solidFill>
              <a:srgbClr val="2B2420"/>
            </a:solidFill>
            <a:prstDash val="dash"/>
          </a:ln>
        </p:spPr>
      </p:sp>
      <p:sp>
        <p:nvSpPr>
          <p:cNvPr id="35" name="Text 33"/>
          <p:cNvSpPr txBox="1"/>
          <p:nvPr/>
        </p:nvSpPr>
        <p:spPr>
          <a:xfrm>
            <a:off x="8897112" y="5486400"/>
            <a:ext cx="169164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36" name="Text 34"/>
          <p:cNvSpPr txBox="1"/>
          <p:nvPr/>
        </p:nvSpPr>
        <p:spPr>
          <a:xfrm>
            <a:off x="10424160" y="5486400"/>
            <a:ext cx="114300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Expo 13/10 ▲</a:t>
            </a:r>
            <a:endParaRPr lang="en-US" sz="1200" dirty="0"/>
          </a:p>
        </p:txBody>
      </p:sp>
      <p:sp>
        <p:nvSpPr>
          <p:cNvPr id="37" name="pendiente-100"/>
          <p:cNvSpPr/>
          <p:nvPr/>
        </p:nvSpPr>
        <p:spPr>
          <a:xfrm>
            <a:off x="4389120" y="5760720"/>
            <a:ext cx="7223760" cy="411480"/>
          </a:xfrm>
          <a:prstGeom prst="roundRect">
            <a:avLst>
              <a:gd name="adj" fmla="val 22222"/>
            </a:avLst>
          </a:prstGeom>
          <a:solidFill>
            <a:srgbClr val="FFF4F2"/>
          </a:solidFill>
          <a:ln w="19050">
            <a:solidFill>
              <a:srgbClr val="E83030"/>
            </a:solidFill>
            <a:prstDash val="dash"/>
          </a:ln>
        </p:spPr>
      </p:sp>
      <p:sp>
        <p:nvSpPr>
          <p:cNvPr id="38" name="Text 36"/>
          <p:cNvSpPr txBox="1"/>
          <p:nvPr/>
        </p:nvSpPr>
        <p:spPr>
          <a:xfrm>
            <a:off x="4572000" y="5870448"/>
            <a:ext cx="6858000" cy="19202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Fechas reales de las semanas 1 a 4.</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01"/>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02"/>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03"/>
          <p:cNvSpPr/>
          <p:nvPr/>
        </p:nvSpPr>
        <p:spPr>
          <a:xfrm>
            <a:off x="548640" y="1920240"/>
            <a:ext cx="548640" cy="548640"/>
          </a:xfrm>
          <a:prstGeom prst="ellipse">
            <a:avLst/>
          </a:prstGeom>
          <a:solidFill>
            <a:schemeClr val="accent1"/>
          </a:solidFill>
          <a:ln/>
        </p:spPr>
      </p:sp>
      <p:pic>
        <p:nvPicPr>
          <p:cNvPr id="6" name="icono-104"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05"/>
          <p:cNvSpPr/>
          <p:nvPr/>
        </p:nvSpPr>
        <p:spPr>
          <a:xfrm>
            <a:off x="548640" y="2788920"/>
            <a:ext cx="548640" cy="548640"/>
          </a:xfrm>
          <a:prstGeom prst="ellipse">
            <a:avLst/>
          </a:prstGeom>
          <a:solidFill>
            <a:schemeClr val="tx2"/>
          </a:solidFill>
          <a:ln/>
        </p:spPr>
      </p:sp>
      <p:pic>
        <p:nvPicPr>
          <p:cNvPr id="10" name="icono-106"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07"/>
          <p:cNvSpPr/>
          <p:nvPr/>
        </p:nvSpPr>
        <p:spPr>
          <a:xfrm>
            <a:off x="548640" y="3657600"/>
            <a:ext cx="548640" cy="548640"/>
          </a:xfrm>
          <a:prstGeom prst="ellipse">
            <a:avLst/>
          </a:prstGeom>
          <a:solidFill>
            <a:schemeClr val="accent2"/>
          </a:solidFill>
          <a:ln/>
        </p:spPr>
      </p:sp>
      <p:pic>
        <p:nvPicPr>
          <p:cNvPr id="14" name="icono-108"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09"/>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home/claude/danypizzas/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10"/>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11"/>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12"/>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13"/>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14"/>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15"/>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16"/>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17"/>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18"/>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19"/>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20"/>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21"/>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22"/>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23"/>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24"/>
          <p:cNvSpPr/>
          <p:nvPr/>
        </p:nvSpPr>
        <p:spPr>
          <a:xfrm>
            <a:off x="9784080" y="2926080"/>
            <a:ext cx="0" cy="822960"/>
          </a:xfrm>
          <a:prstGeom prst="line">
            <a:avLst/>
          </a:prstGeom>
          <a:noFill/>
          <a:ln w="22225">
            <a:solidFill>
              <a:srgbClr val="8A7F76"/>
            </a:solidFill>
            <a:prstDash val="solid"/>
            <a:tailEnd type="triangle"/>
          </a:ln>
        </p:spPr>
      </p:sp>
      <p:sp>
        <p:nvSpPr>
          <p:cNvPr id="30" name="flecha-125"/>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26"/>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27"/>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28"/>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29"/>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30"/>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31"/>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32"/>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33"/>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34"/>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35"/>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36"/>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37"/>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38"/>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39"/>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40"/>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41"/>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42"/>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43"/>
          <p:cNvSpPr/>
          <p:nvPr/>
        </p:nvSpPr>
        <p:spPr>
          <a:xfrm>
            <a:off x="1005840" y="1554480"/>
            <a:ext cx="685800" cy="685800"/>
          </a:xfrm>
          <a:prstGeom prst="ellipse">
            <a:avLst/>
          </a:prstGeom>
          <a:solidFill>
            <a:schemeClr val="accent2"/>
          </a:solidFill>
          <a:ln/>
        </p:spPr>
      </p:sp>
      <p:pic>
        <p:nvPicPr>
          <p:cNvPr id="5" name="icono-144"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45"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46"/>
          <p:cNvSpPr/>
          <p:nvPr/>
        </p:nvSpPr>
        <p:spPr>
          <a:xfrm>
            <a:off x="2788920" y="1554480"/>
            <a:ext cx="685800" cy="685800"/>
          </a:xfrm>
          <a:prstGeom prst="ellipse">
            <a:avLst/>
          </a:prstGeom>
          <a:solidFill>
            <a:schemeClr val="accent2"/>
          </a:solidFill>
          <a:ln/>
        </p:spPr>
      </p:sp>
      <p:pic>
        <p:nvPicPr>
          <p:cNvPr id="10" name="icono-147"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48"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49"/>
          <p:cNvSpPr/>
          <p:nvPr/>
        </p:nvSpPr>
        <p:spPr>
          <a:xfrm>
            <a:off x="4572000" y="1554480"/>
            <a:ext cx="685800" cy="685800"/>
          </a:xfrm>
          <a:prstGeom prst="ellipse">
            <a:avLst/>
          </a:prstGeom>
          <a:solidFill>
            <a:schemeClr val="accent1"/>
          </a:solidFill>
          <a:ln/>
        </p:spPr>
      </p:sp>
      <p:pic>
        <p:nvPicPr>
          <p:cNvPr id="15" name="icono-150"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51"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52"/>
          <p:cNvSpPr/>
          <p:nvPr/>
        </p:nvSpPr>
        <p:spPr>
          <a:xfrm>
            <a:off x="6355080" y="1554480"/>
            <a:ext cx="685800" cy="685800"/>
          </a:xfrm>
          <a:prstGeom prst="ellipse">
            <a:avLst/>
          </a:prstGeom>
          <a:solidFill>
            <a:schemeClr val="accent2"/>
          </a:solidFill>
          <a:ln/>
        </p:spPr>
      </p:sp>
      <p:pic>
        <p:nvPicPr>
          <p:cNvPr id="20" name="icono-153"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54"/>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55"/>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56"/>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57"/>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58"/>
          <p:cNvSpPr/>
          <p:nvPr/>
        </p:nvSpPr>
        <p:spPr>
          <a:xfrm>
            <a:off x="7754112" y="1444752"/>
            <a:ext cx="1944898" cy="4059936"/>
          </a:xfrm>
          <a:prstGeom prst="roundRect">
            <a:avLst>
              <a:gd name="adj" fmla="val 6582"/>
            </a:avLst>
          </a:prstGeom>
          <a:solidFill>
            <a:schemeClr val="tx1"/>
          </a:solidFill>
          <a:ln/>
        </p:spPr>
      </p:sp>
      <p:pic>
        <p:nvPicPr>
          <p:cNvPr id="35" name="captura-159" descr="/home/claude/danypizzas/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60"/>
          <p:cNvSpPr/>
          <p:nvPr/>
        </p:nvSpPr>
        <p:spPr>
          <a:xfrm>
            <a:off x="9738360" y="1444752"/>
            <a:ext cx="1944898" cy="4059936"/>
          </a:xfrm>
          <a:prstGeom prst="roundRect">
            <a:avLst>
              <a:gd name="adj" fmla="val 6582"/>
            </a:avLst>
          </a:prstGeom>
          <a:solidFill>
            <a:schemeClr val="tx1"/>
          </a:solidFill>
          <a:ln/>
        </p:spPr>
      </p:sp>
      <p:pic>
        <p:nvPicPr>
          <p:cNvPr id="37" name="captura-161" descr="/home/claude/danypizzas/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2468880"/>
                <a:gridCol w="3657600"/>
                <a:gridCol w="4114800"/>
              </a:tblGrid>
              <a:tr h="475488">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Indicador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Antes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Ahora (07/10/2026)</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Imagen reenviada por chat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Sitio publicado con fotos y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Datos del pedido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Incompletos (1 de cada 10 con error)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100 % completos: no se envía sin ellos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Registro de pedidos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No existía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Planilla mensual activa desde 06/10</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Cambio de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Reenviar la 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Editar una celda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Costo y calidad</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$0 por mes · 44 pruebas en verde</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del uso real</a:t>
            </a:r>
            <a:endParaRPr lang="en-US" sz="1700" dirty="0"/>
          </a:p>
        </p:txBody>
      </p:sp>
      <p:sp>
        <p:nvSpPr>
          <p:cNvPr id="6" name="pendiente-162"/>
          <p:cNvSpPr/>
          <p:nvPr/>
        </p:nvSpPr>
        <p:spPr>
          <a:xfrm>
            <a:off x="548640" y="4937760"/>
            <a:ext cx="2606040" cy="1234440"/>
          </a:xfrm>
          <a:prstGeom prst="roundRect">
            <a:avLst>
              <a:gd name="adj" fmla="val 7407"/>
            </a:avLst>
          </a:prstGeom>
          <a:solidFill>
            <a:srgbClr val="FFF4F2"/>
          </a:solidFill>
          <a:ln w="19050">
            <a:solidFill>
              <a:srgbClr val="E83030"/>
            </a:solidFill>
            <a:prstDash val="dash"/>
          </a:ln>
        </p:spPr>
      </p:sp>
      <p:sp>
        <p:nvSpPr>
          <p:cNvPr id="7" name="Text 4"/>
          <p:cNvSpPr txBox="1"/>
          <p:nvPr/>
        </p:nvSpPr>
        <p:spPr>
          <a:xfrm>
            <a:off x="73152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confirmación en el sitio</a:t>
            </a:r>
            <a:endParaRPr lang="en-US" sz="1400" dirty="0"/>
          </a:p>
        </p:txBody>
      </p:sp>
      <p:sp>
        <p:nvSpPr>
          <p:cNvPr id="8" name="pendiente-163"/>
          <p:cNvSpPr/>
          <p:nvPr/>
        </p:nvSpPr>
        <p:spPr>
          <a:xfrm>
            <a:off x="3360420" y="4937760"/>
            <a:ext cx="2606040" cy="1234440"/>
          </a:xfrm>
          <a:prstGeom prst="roundRect">
            <a:avLst>
              <a:gd name="adj" fmla="val 7407"/>
            </a:avLst>
          </a:prstGeom>
          <a:solidFill>
            <a:srgbClr val="FFF4F2"/>
          </a:solidFill>
          <a:ln w="19050">
            <a:solidFill>
              <a:srgbClr val="E83030"/>
            </a:solidFill>
            <a:prstDash val="dash"/>
          </a:ln>
        </p:spPr>
      </p:sp>
      <p:sp>
        <p:nvSpPr>
          <p:cNvPr id="9" name="Text 6"/>
          <p:cNvSpPr txBox="1"/>
          <p:nvPr/>
        </p:nvSpPr>
        <p:spPr>
          <a:xfrm>
            <a:off x="354330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mensaje en WhatsApp</a:t>
            </a:r>
            <a:endParaRPr lang="en-US" sz="1400" dirty="0"/>
          </a:p>
        </p:txBody>
      </p:sp>
      <p:sp>
        <p:nvSpPr>
          <p:cNvPr id="10" name="pendiente-164"/>
          <p:cNvSpPr/>
          <p:nvPr/>
        </p:nvSpPr>
        <p:spPr>
          <a:xfrm>
            <a:off x="6172200" y="4937760"/>
            <a:ext cx="2606040" cy="1234440"/>
          </a:xfrm>
          <a:prstGeom prst="roundRect">
            <a:avLst>
              <a:gd name="adj" fmla="val 7407"/>
            </a:avLst>
          </a:prstGeom>
          <a:solidFill>
            <a:srgbClr val="FFF4F2"/>
          </a:solidFill>
          <a:ln w="19050">
            <a:solidFill>
              <a:srgbClr val="E83030"/>
            </a:solidFill>
            <a:prstDash val="dash"/>
          </a:ln>
        </p:spPr>
      </p:sp>
      <p:sp>
        <p:nvSpPr>
          <p:cNvPr id="11" name="Text 8"/>
          <p:cNvSpPr txBox="1"/>
          <p:nvPr/>
        </p:nvSpPr>
        <p:spPr>
          <a:xfrm>
            <a:off x="635508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fila en la planilla</a:t>
            </a:r>
            <a:endParaRPr lang="en-US" sz="1400" dirty="0"/>
          </a:p>
        </p:txBody>
      </p:sp>
      <p:sp>
        <p:nvSpPr>
          <p:cNvPr id="12" name="pendiente-165"/>
          <p:cNvSpPr/>
          <p:nvPr/>
        </p:nvSpPr>
        <p:spPr>
          <a:xfrm>
            <a:off x="8983980" y="4937760"/>
            <a:ext cx="2606040" cy="1234440"/>
          </a:xfrm>
          <a:prstGeom prst="roundRect">
            <a:avLst>
              <a:gd name="adj" fmla="val 7407"/>
            </a:avLst>
          </a:prstGeom>
          <a:solidFill>
            <a:srgbClr val="FFF4F2"/>
          </a:solidFill>
          <a:ln w="19050">
            <a:solidFill>
              <a:srgbClr val="E83030"/>
            </a:solidFill>
            <a:prstDash val="dash"/>
          </a:ln>
        </p:spPr>
      </p:sp>
      <p:sp>
        <p:nvSpPr>
          <p:cNvPr id="13" name="Text 10"/>
          <p:cNvSpPr txBox="1"/>
          <p:nvPr/>
        </p:nvSpPr>
        <p:spPr>
          <a:xfrm>
            <a:off x="916686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Pedidos web hasta el 13/10</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66"/>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67"/>
          <p:cNvSpPr/>
          <p:nvPr/>
        </p:nvSpPr>
        <p:spPr>
          <a:xfrm>
            <a:off x="548640" y="1463040"/>
            <a:ext cx="3474720" cy="4709160"/>
          </a:xfrm>
          <a:prstGeom prst="roundRect">
            <a:avLst>
              <a:gd name="adj" fmla="val 3158"/>
            </a:avLst>
          </a:prstGeom>
          <a:solidFill>
            <a:schemeClr val="accent6"/>
          </a:solidFill>
          <a:ln/>
        </p:spPr>
      </p:sp>
      <p:sp>
        <p:nvSpPr>
          <p:cNvPr id="5" name="icono-fondo-168"/>
          <p:cNvSpPr/>
          <p:nvPr/>
        </p:nvSpPr>
        <p:spPr>
          <a:xfrm>
            <a:off x="822960" y="1691640"/>
            <a:ext cx="685800" cy="685800"/>
          </a:xfrm>
          <a:prstGeom prst="ellipse">
            <a:avLst/>
          </a:prstGeom>
          <a:solidFill>
            <a:schemeClr val="accent1"/>
          </a:solidFill>
          <a:ln/>
        </p:spPr>
      </p:sp>
      <p:pic>
        <p:nvPicPr>
          <p:cNvPr id="6" name="icono-169"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Aprobar misión y visión</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70"/>
          <p:cNvSpPr/>
          <p:nvPr/>
        </p:nvSpPr>
        <p:spPr>
          <a:xfrm>
            <a:off x="4297680" y="1463040"/>
            <a:ext cx="3474720" cy="4709160"/>
          </a:xfrm>
          <a:prstGeom prst="roundRect">
            <a:avLst>
              <a:gd name="adj" fmla="val 3158"/>
            </a:avLst>
          </a:prstGeom>
          <a:solidFill>
            <a:schemeClr val="accent6"/>
          </a:solidFill>
          <a:ln/>
        </p:spPr>
      </p:sp>
      <p:sp>
        <p:nvSpPr>
          <p:cNvPr id="10" name="icono-fondo-171"/>
          <p:cNvSpPr/>
          <p:nvPr/>
        </p:nvSpPr>
        <p:spPr>
          <a:xfrm>
            <a:off x="4572000" y="1691640"/>
            <a:ext cx="685800" cy="685800"/>
          </a:xfrm>
          <a:prstGeom prst="ellipse">
            <a:avLst/>
          </a:prstGeom>
          <a:solidFill>
            <a:schemeClr val="accent2"/>
          </a:solidFill>
          <a:ln/>
        </p:spPr>
      </p:sp>
      <p:pic>
        <p:nvPicPr>
          <p:cNvPr id="11" name="icono-172"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73"/>
          <p:cNvSpPr/>
          <p:nvPr/>
        </p:nvSpPr>
        <p:spPr>
          <a:xfrm>
            <a:off x="8046720" y="1463040"/>
            <a:ext cx="3474720" cy="4709160"/>
          </a:xfrm>
          <a:prstGeom prst="roundRect">
            <a:avLst>
              <a:gd name="adj" fmla="val 3158"/>
            </a:avLst>
          </a:prstGeom>
          <a:solidFill>
            <a:schemeClr val="accent6"/>
          </a:solidFill>
          <a:ln/>
        </p:spPr>
      </p:sp>
      <p:sp>
        <p:nvSpPr>
          <p:cNvPr id="15" name="icono-fondo-174"/>
          <p:cNvSpPr/>
          <p:nvPr/>
        </p:nvSpPr>
        <p:spPr>
          <a:xfrm>
            <a:off x="8321040" y="1691640"/>
            <a:ext cx="685800" cy="685800"/>
          </a:xfrm>
          <a:prstGeom prst="ellipse">
            <a:avLst/>
          </a:prstGeom>
          <a:solidFill>
            <a:schemeClr val="tx2"/>
          </a:solidFill>
          <a:ln/>
        </p:spPr>
      </p:sp>
      <p:pic>
        <p:nvPicPr>
          <p:cNvPr id="16" name="icono-175"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home/claude/danypizzas/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2026-10-07T15:09:02Z</dcterms:created>
  <dcterms:modified xsi:type="dcterms:W3CDTF">2026-10-07T15:09:02Z</dcterms:modified>
</cp:coreProperties>
</file>