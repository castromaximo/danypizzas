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ción" id="{b01fb826-ebff-7cb8-e4f9-eb9d1e9e1c41}">
          <p14:sldIdLst>
            <p14:sldId id="256"/>
            <p14:sldId id="257"/>
          </p14:sldIdLst>
        </p14:section>
        <p14:section name="I. Curriculum vitae" id="{ad394339-cbf4-0518-7bce-e1d2594ae99f}">
          <p14:sldIdLst>
            <p14:sldId id="258"/>
          </p14:sldIdLst>
        </p14:section>
        <p14:section name="II. Memoria descriptiva" id="{8917fc81-7ae6-00fa-2099-96fd16e4baae}">
          <p14:sldIdLst>
            <p14:sldId id="259"/>
            <p14:sldId id="260"/>
            <p14:sldId id="261"/>
          </p14:sldIdLst>
        </p14:section>
        <p14:section name="III. Trabajo principal" id="{f935fdf5-51f7-bce1-a112-1dc281a05bea}">
          <p14:sldIdLst>
            <p14:sldId id="262"/>
            <p14:sldId id="263"/>
            <p14:sldId id="264"/>
            <p14:sldId id="265"/>
            <p14:sldId id="266"/>
            <p14:sldId id="267"/>
            <p14:sldId id="268"/>
            <p14:sldId id="269"/>
            <p14:sldId id="270"/>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2B2420"/>
                </a:solidFill>
                <a:latin typeface="+mn-lt"/>
              </a:defRPr>
            </a:pPr>
            <a:r>
              <a:rPr sz="1400" b="0" i="0" u="none" strike="noStrike">
                <a:solidFill>
                  <a:srgbClr val="2B2420"/>
                </a:solidFill>
                <a:latin typeface="+mn-lt"/>
              </a:rPr>
              <a:t>Costo por macrofase (horas × $4.890)</a:t>
            </a:r>
          </a:p>
        </c:rich>
      </c:tx>
      <c:layout/>
      <c:overlay val="0"/>
    </c:title>
    <c:autoTitleDeleted val="0"/>
    <c:plotArea>
      <c:layout/>
      <c:barChart>
        <c:barDir val="bar"/>
        <c:grouping val="clustered"/>
        <c:varyColors val="0"/>
        <c:ser>
          <c:idx val="0"/>
          <c:order val="0"/>
          <c:tx>
            <c:strRef>
              <c:f>Sheet1!$B$1</c:f>
              <c:strCache>
                <c:ptCount val="1"/>
                <c:pt idx="0">
                  <c:v>Costo</c:v>
                </c:pt>
              </c:strCache>
            </c:strRef>
          </c:tx>
          <c:spPr>
            <a:solidFill>
              <a:srgbClr val="E83030"/>
            </a:solidFill>
            <a:effectLst/>
          </c:spPr>
          <c:invertIfNegative val="0"/>
          <c:dLbls>
            <c:numFmt formatCode="&quot;$&quot;#,##0" sourceLinked="0"/>
            <c:txPr>
              <a:bodyPr/>
              <a:lstStyle/>
              <a:p>
                <a:pPr>
                  <a:defRPr b="0" i="0" strike="noStrike" sz="1400" u="none">
                    <a:solidFill>
                      <a:srgbClr val="2B2420"/>
                    </a:solidFill>
                    <a:latin typeface="+mn-lt"/>
                  </a:defRPr>
                </a:pPr>
              </a:p>
            </c:txPr>
            <c:showLegendKey val="0"/>
            <c:showVal val="1"/>
            <c:showCatName val="0"/>
            <c:showSerName val="0"/>
            <c:showPercent val="0"/>
            <c:showBubbleSize val="0"/>
            <c:showLeaderLines val="0"/>
          </c:dLbls>
          <c:cat>
            <c:multiLvlStrRef>
              <c:f>Sheet1!$A$2:$A$6</c:f>
              <c:multiLvlStrCache>
                <c:ptCount val="5"/>
                <c:lvl>
                  <c:pt idx="0">
                    <c:v>Análisis</c:v>
                  </c:pt>
                  <c:pt idx="1">
                    <c:v>Diseño</c:v>
                  </c:pt>
                  <c:pt idx="2">
                    <c:v>Desarrollo</c:v>
                  </c:pt>
                  <c:pt idx="3">
                    <c:v>Pruebas</c:v>
                  </c:pt>
                  <c:pt idx="4">
                    <c:v>Despliegue</c:v>
                  </c:pt>
                </c:lvl>
              </c:multiLvlStrCache>
            </c:multiLvlStrRef>
          </c:cat>
          <c:val>
            <c:numRef>
              <c:f>Sheet1!$B$2:$B$6</c:f>
              <c:numCache>
                <c:formatCode>General</c:formatCode>
                <c:ptCount val="5"/>
                <c:pt idx="0">
                  <c:v>39120</c:v>
                </c:pt>
                <c:pt idx="1">
                  <c:v>39120</c:v>
                </c:pt>
                <c:pt idx="2">
                  <c:v>88020</c:v>
                </c:pt>
                <c:pt idx="3">
                  <c:v>39120</c:v>
                </c:pt>
                <c:pt idx="4">
                  <c:v>29340</c:v>
                </c:pt>
              </c:numCache>
            </c:numRef>
          </c:val>
        </c:ser>
        <c:dLbls>
          <c:numFmt formatCode="&quot;$&quot;#,##0" sourceLinked="0"/>
          <c:txPr>
            <a:bodyPr/>
            <a:lstStyle/>
            <a:p>
              <a:pPr>
                <a:defRPr b="0" i="0" strike="noStrike" sz="1400" u="none">
                  <a:solidFill>
                    <a:srgbClr val="2B2420"/>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2B2420"/>
                </a:solidFill>
                <a:latin typeface="+mn-lt"/>
              </a:defRPr>
            </a:pPr>
            <a:endParaRPr lang="en-US"/>
          </a:p>
        </c:txPr>
        <c:crossAx val="2094734552"/>
        <c:crosses val="autoZero"/>
        <c:auto val="1"/>
        <c:lblAlgn val="ctr"/>
        <c:noMultiLvlLbl val="1"/>
      </c:catAx>
      <c:valAx>
        <c:axId val="2094734552"/>
        <c:scaling>
          <c:orientation val="minMax"/>
          <c:max val="11500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0:20 (acumulado 0:20)
Buenos días. Mi nombre es Máximo Castro y les voy a presentar Dany Pizzas Web: un sistema de pedidos que desarrollé para un emprendimiento familiar real, que ya está publicado y funcionando.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0:20 (acumulado 0:40)
La exposición tiene tres partes: quién soy, cómo es la empresa y el trabajo principal, que va del problema hasta los resultados y conclusiones.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0:30 (acumulado 1:10)
Soy Máximo Castro, estudiante de tercer año de Ingeniería en Sistemas en la Universidad Nacional de Chilecito, en Argentina, y este semestre estoy de intercambio acá en Moquegua. Antes me recibí de técnico agrónomo. Lo que más me formó en programación es la competencia ICPC: mención honorable en la final sudamericana de 2024 y primer puesto provincial dos años seguidos. También fui asistente tecnológico en las jornadas de investigación del NOA. Y este proyecto no es un ejercicio: es un sistema real, publicado y en uso para un emprendimiento de mi ciudad.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0:40 (acumulado 1:50)
Dany Pizzas es un emprendimiento familiar e informal de Chilecito, que empezó en 2024. Trabaja solo con envío, de noche, y vende unos 50 pedidos por semana. Todo entra por WhatsApp. Como no tenían misión ni visión, las redacté con ellos y el dueño las aprobó el 7 de octubre, junto con cuatro valores: calidad casera, precio justo, trato cercano y cumplir con el horario de entrega.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0:40 (acumulado 2:30)
Son tres personas: el cocinero, que es el dueño; un ayudante; y una persona que atiende al cliente. El reparto es externo. Cocinan en la casa con un horno de 6 moldes. Retengan este dato: un solo celular y una sola persona reciben todos los pedidos.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0:50 (acumulado 3:20)
El FODA, validado por el negocio, muestra un producto fuerte y clientes que ya usan WhatsApp, pero pedidos informales y sin registro. Con EFI 2,45 y EFE 2,32 cae en el cuadrante V: conservar y mantener. Es decir, no hace falta cambiar el negocio, sino ordenar cómo vende. Ese es el proyecto. (Detalle de estrategias cruzadas: anexo A1.)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1:10 (acumulado 4:30)
Imaginen un sábado a las diez de la noche. Entran once pedidos. Una sola persona tiene que contestar qué gustos hay, cuánto sale cada uno, pedir la dirección, sumar a mano… [pausa] mientras tanto, otros diez clientes esperan. Algunos se cansan y le piden a otro. [pausa] Según el propio negocio: se pierden unas cuatro horas por semana en el chat, uno de cada diez pedidos sale con error, y se pierde más o menos un pedido por noche. Eso son casi 200 mil pesos de ganancia por mes que se van. Ese es el problema que vine a resolver.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0:45 (acumulado 5:15)
¿Por qué pasa esto? Agrupé 18 causas en seis categorías. Las más importantes: el pedido se dicta en mensajes sueltos y se suma a mano (método), una sola persona atiende todo (mano de obra) y no hay carta digital ni registro (tecnología). Fíjense que casi todas se pueden atacar con un sistema simple.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0:45 (acumulado 6:00)
De esas causas salen los objetivos. El general: que el cliente arme su pedido, que llegue un recibo numerado por WhatsApp y que todo quede registrado. Y tres específicos: ordenar la toma de pedidos, registrar y administrar, y que funcione seguro, confiable y sin costo. Cada uno ataca un grupo de causas, y al final les muestro el resultado de cada uno.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0:40 (acumulado 6:40)
El alcance es deliberadamente chico: lo mínimo que resuelve el problema. El pago en línea o una app quedan para una versión 2. El proyecto llevó dos semanas y 48 horas de trabajo. La primera semana fue de planificación: el Beat Chart con el enfoque y el método, el cuestionario al negocio, el diseño y un prototipo de la carta. La segunda fue de construcción, en incrementos cortos con un tablero Kanban y mostrando cada avance a la familia: el sitio se publicó el martes 6, el 7 validé el análisis con el negocio, y hasta el domingo 11 quedan el pedido real con la medición de uso y el ensayo. Todo termina antes de la exposición del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0:30 (acumulado 7:10)
La inversión son 48 horas de desarrollo, valorizadas a 2,5 veces la hora del salario mínimo: 234.720 pesos. El negocio no pone dinero, y el funcionamiento mensual cuesta cero porque uso los niveles gratuitos de GitHub y Google. (Reparto por fase estimado.)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0:50 (acumulado 8:00)
¿Conviene económicamente? Valoricé tres beneficios con los datos del negocio. El más grande no es ahorrar minutos sino recuperar pedidos perdidos. En el escenario base el VAN es de 583 mil pesos, la TIR de casi 27 % mensual, cada peso devuelve 2,71 y la inversión se recupera en unos 4 meses. El pesimista da negativo porque supone que todo sale mal al mismo tiempo. ¿Qué tan probable es eso? Para eso hice la simulación. (Supuestos: anexo A2; recupero por escenario: A3.)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0:50 (acumulado 8:50)
Simulé diez mil combinaciones de las 17 variables. En el 97,8 % de los casos el VAN es positivo, y la inversión se recupera en una mediana de 4,3 meses. Lo que más pesa es cuántos pedidos perdidos recupera la web: con recuperar uno cada tres o cuatro meses ya conviene. El riesgo real no es técnico, es que los clientes usen la web; por eso lo vamos a medir. (Sensibilidad completa: anexo A4.)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0:45 (acumulado 9:35)
La arquitectura es cliente-servidor mínima en capas. El sitio es estático, en GitHub Pages: interfaz, lógica y datos separados. Un backend en Google Apps Script asigna el número de pedido, recalcula el total para que nadie lo manipule y lo guarda en una planilla. El pedido sale por WhatsApp, el canal que el negocio ya usa. Y si Google falla, el pedido sale igual. (Casos de uso y secuencia: anexos A8 y A9.)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0:40 (acumulado 10:15)
Especifiqué 20 requisitos funcionales priorizados con MoSCoW y 15 no funcionales según ISO 25010, cada uno con una métrica. Por ejemplo: que un cliente nuevo pida sin ayuda en menos de dos minutos, o que funcione con costo cero. 18 de los 20 funcionales ya están verificados con pruebas automáticas.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0:45 (acumulado 11:00)
Para desarrollarlo usé Git y GitHub con integración continua: cada vez que subo un cambio corren 44 pruebas automáticas, y si una falla no se publica. Así me aseguro de que el total y el recibo nunca salgan mal. Acá ven la carta en el celular y la confirmación con el número de pedido. [Opcional: mostrar el sitio en vivo con el QR del final; si es de día, usar ?ahora=2026-10-13T22:00 para que figure abierto.]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0:50 (acumulado 11:50)
Los resultados, objetivo por objetivo, comparando antes y ahora. OE1: la carta dejó de ser una imagen reenviada y el pedido llega siempre completo. OE2: antes no había ningún registro, hoy hay una planilla mensual y los precios se cambian editando una celda. OE3: cuesta cero por mes y pasa 44 pruebas. Y acá está la evidencia de un pedido real, el DP-261010-001, de punta a punta: (1) el cliente confirma en el sitio y recibe su número; (2) el recibo llega armado al WhatsApp del negocio; (3) queda registrado solo en la planilla del mes, con el total recalculado por el servidor. El mismo número aparece en los tres lugares.
Si preguntan: la hora del recibo (13:16) es la de Argentina, la del negocio; WhatsApp muestra la hora de mi celular en Perú. El aviso de 'fuera de horario' aparece porque lo hice de día: el sitio deja pedir igual y avisa al negocio. En la planilla muestro solo esta fila porque las demás tienen datos de clientes.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0:45 (acumulado 12:35)
Para cerrar, conecto todo: cada problema tiene su objetivo, lo que hice y el resultado. Los tres objetivos se cumplieron. En resumen: una solución chica, a la medida de un negocio de tres personas, que resuelve su cuello de botella y además conviene económicamente.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0:25 (acumulado 13:00)
Y tres recomendaciones: al dueño, difundir la misión y los valores, y mantener los precios; a quien atiende, anotar los pedidos perdidos durante un mes para medir; y como desarrollador, recalcular la evaluación con esos datos reales y avanzar a una versión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0:10 (acumulado 13:10)
Muchas gracias. Pueden escanear el QR para probarlo. Quedo atento a sus preguntas. [Para responder, abrir DanyPizzas_Anexos.pptx: ver la lista en guion-y-preguntas.md]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ido">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10896"/>
          </a:xfrm>
          <a:prstGeom prst="rect">
            <a:avLst/>
          </a:prstGeom>
          <a:noFill/>
          <a:ln/>
        </p:spPr>
        <p:txBody>
          <a:bodyPr wrap="square" rtlCol="0"/>
          <a:lstStyle>
            <a:lvl1pPr indent="0" marL="0">
              <a:buNone/>
              <a:defRPr lang="en-US" sz="1200" b="1" spc="200" kern="0" dirty="0">
                <a:solidFill>
                  <a:schemeClr val="accent1"/>
                </a:solidFill>
                <a:latin typeface="Calibri" pitchFamily="34" charset="0"/>
                <a:ea typeface="Calibri" pitchFamily="34" charset="-122"/>
                <a:cs typeface="Calibri" pitchFamily="34" charset="-120"/>
              </a:defRPr>
            </a:lvl1pPr>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SECCIÓN</a:t>
            </a:r>
            <a:endParaRPr lang="en-US" sz="1200" dirty="0"/>
          </a:p>
        </p:txBody>
      </p:sp>
      <p:sp>
        <p:nvSpPr>
          <p:cNvPr id="3" name="Text 0"/>
          <p:cNvSpPr/>
          <p:nvPr>
            <p:ph idx="101" type="title" hasCustomPrompt="1"/>
          </p:nvPr>
        </p:nvSpPr>
        <p:spPr>
          <a:xfrm>
            <a:off x="548640" y="603504"/>
            <a:ext cx="11064240" cy="658368"/>
          </a:xfrm>
          <a:prstGeom prst="rect">
            <a:avLst/>
          </a:prstGeom>
          <a:noFill/>
          <a:ln/>
        </p:spPr>
        <p:txBody>
          <a:bodyPr wrap="square" rtlCol="0"/>
          <a:lstStyle>
            <a:lvl1pPr algn="l" indent="0" marL="0">
              <a:buNone/>
              <a:defRPr lang="en-US" sz="3200" b="1" dirty="0">
                <a:solidFill>
                  <a:schemeClr val="tx1"/>
                </a:solidFill>
                <a:latin typeface="Cambria" pitchFamily="34" charset="0"/>
                <a:ea typeface="Cambria" pitchFamily="34" charset="-122"/>
                <a:cs typeface="Cambria" pitchFamily="34" charset="-120"/>
              </a:defRPr>
            </a:lvl1pPr>
          </a:lstStyle>
          <a:p>
            <a:pPr algn="l" indent="0" marL="0">
              <a:buNone/>
            </a:pPr>
            <a:r>
              <a:rPr lang="en-US" sz="3200" b="1" dirty="0">
                <a:solidFill>
                  <a:schemeClr val="tx1"/>
                </a:solidFill>
                <a:latin typeface="Cambria" pitchFamily="34" charset="0"/>
                <a:ea typeface="Cambria" pitchFamily="34" charset="-122"/>
                <a:cs typeface="Cambria" pitchFamily="34" charset="-120"/>
              </a:rPr>
              <a:t>Título</a:t>
            </a:r>
            <a:endParaRPr lang="en-US" sz="3200" dirty="0"/>
          </a:p>
        </p:txBody>
      </p:sp>
      <p:sp>
        <p:nvSpPr>
          <p:cNvPr id="4" name="Text 0"/>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chemeClr val="accent4"/>
                </a:solidFill>
              </a:rPr>
              <a:t>Dany Pizzas Web · Ingeniería de Software · Comisión A</a:t>
            </a:r>
            <a:endParaRPr lang="en-US" sz="10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cion">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788920"/>
            <a:ext cx="10515600" cy="1005840"/>
          </a:xfrm>
          <a:prstGeom prst="rect">
            <a:avLst/>
          </a:prstGeom>
          <a:noFill/>
          <a:ln/>
        </p:spPr>
        <p:txBody>
          <a:bodyPr wrap="square" rtlCol="0"/>
          <a:lstStyle>
            <a:lvl1pPr algn="l" indent="0" marL="0">
              <a:buNone/>
              <a:defRPr lang="en-US" sz="4400" b="1" dirty="0">
                <a:solidFill>
                  <a:schemeClr val="bg1"/>
                </a:solidFill>
                <a:latin typeface="Cambria" pitchFamily="34" charset="0"/>
                <a:ea typeface="Cambria" pitchFamily="34" charset="-122"/>
                <a:cs typeface="Cambria" pitchFamily="34" charset="-120"/>
              </a:defRPr>
            </a:lvl1pPr>
          </a:lstStyle>
          <a:p>
            <a:pPr algn="l" indent="0" marL="0">
              <a:buNone/>
            </a:pPr>
            <a:r>
              <a:rPr lang="en-US" sz="4400" b="1" dirty="0">
                <a:solidFill>
                  <a:schemeClr val="bg1"/>
                </a:solidFill>
                <a:latin typeface="Cambria" pitchFamily="34" charset="0"/>
                <a:ea typeface="Cambria" pitchFamily="34" charset="-122"/>
                <a:cs typeface="Cambria" pitchFamily="34" charset="-120"/>
              </a:rPr>
              <a:t>Sección</a:t>
            </a:r>
            <a:endParaRPr lang="en-US" sz="4400" dirty="0"/>
          </a:p>
        </p:txBody>
      </p:sp>
      <p:sp>
        <p:nvSpPr>
          <p:cNvPr id="3" name="Text 0"/>
          <p:cNvSpPr/>
          <p:nvPr>
            <p:ph idx="101" type="body" hasCustomPrompt="1"/>
          </p:nvPr>
        </p:nvSpPr>
        <p:spPr>
          <a:xfrm>
            <a:off x="822960" y="3840480"/>
            <a:ext cx="10515600" cy="822960"/>
          </a:xfrm>
          <a:prstGeom prst="rect">
            <a:avLst/>
          </a:prstGeom>
          <a:noFill/>
          <a:ln/>
        </p:spPr>
        <p:txBody>
          <a:bodyPr wrap="square" rtlCol="0"/>
          <a:lstStyle>
            <a:lvl1pPr algn="l" indent="0" marL="0">
              <a:buNone/>
              <a:defRPr lang="en-US" sz="1800" dirty="0">
                <a:solidFill>
                  <a:schemeClr val="bg2"/>
                </a:solidFill>
                <a:latin typeface="Calibri" pitchFamily="34" charset="0"/>
                <a:ea typeface="Calibri" pitchFamily="34" charset="-122"/>
                <a:cs typeface="Calibri" pitchFamily="34" charset="-120"/>
              </a:defRPr>
            </a:lvl1pPr>
          </a:lstStyle>
          <a:p>
            <a:pPr algn="l" indent="0" marL="0">
              <a:buNone/>
            </a:pPr>
            <a:endParaRPr lang="en-US" sz="18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Oscuro">
    <p:bg>
      <p:bgPr>
        <a:solidFill>
          <a:schemeClr val="tx1"/>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2.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2.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2.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image" Target="../media/image-16-9.png"/><Relationship Id="rId10" Type="http://schemas.openxmlformats.org/officeDocument/2006/relationships/slideLayout" Target="../slideLayouts/slideLayout2.xml"/><Relationship Id="rId11"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2.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2.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4.xml"/><Relationship Id="rId3"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ogo-fondo"/>
          <p:cNvSpPr/>
          <p:nvPr/>
        </p:nvSpPr>
        <p:spPr>
          <a:xfrm>
            <a:off x="731520" y="1143000"/>
            <a:ext cx="4023360" cy="4297680"/>
          </a:xfrm>
          <a:prstGeom prst="roundRect">
            <a:avLst>
              <a:gd name="adj" fmla="val 5682"/>
            </a:avLst>
          </a:prstGeom>
          <a:solidFill>
            <a:schemeClr val="bg2"/>
          </a:solidFill>
          <a:ln/>
        </p:spPr>
      </p:sp>
      <p:pic>
        <p:nvPicPr>
          <p:cNvPr id="3" name="logo" descr="/tmp/claude-0/-home-claude/c096e975-9e6a-561f-aa0a-08cce324a4b6/scratchpad/repo/site/assets/img/logo.png">    </p:cNvPr>
          <p:cNvPicPr>
            <a:picLocks noChangeAspect="1"/>
          </p:cNvPicPr>
          <p:nvPr/>
        </p:nvPicPr>
        <p:blipFill>
          <a:blip r:embed="rId1"/>
          <a:stretch>
            <a:fillRect/>
          </a:stretch>
        </p:blipFill>
        <p:spPr>
          <a:xfrm>
            <a:off x="960120" y="1325880"/>
            <a:ext cx="3566160" cy="3803904"/>
          </a:xfrm>
          <a:prstGeom prst="rect">
            <a:avLst/>
          </a:prstGeom>
        </p:spPr>
      </p:pic>
      <p:sp>
        <p:nvSpPr>
          <p:cNvPr id="4" name="Text 1"/>
          <p:cNvSpPr txBox="1"/>
          <p:nvPr/>
        </p:nvSpPr>
        <p:spPr>
          <a:xfrm>
            <a:off x="5303520" y="1143000"/>
            <a:ext cx="6400800" cy="320040"/>
          </a:xfrm>
          <a:prstGeom prst="rect">
            <a:avLst/>
          </a:prstGeom>
          <a:noFill/>
          <a:ln/>
        </p:spPr>
        <p:txBody>
          <a:bodyPr wrap="square" lIns="0" tIns="0" rIns="0" bIns="0" rtlCol="0" anchor="t"/>
          <a:lstStyle/>
          <a:p>
            <a:pPr indent="0" marL="0">
              <a:buNone/>
            </a:pPr>
            <a:r>
              <a:rPr lang="en-US" sz="1300" b="1" spc="200" kern="0" dirty="0">
                <a:solidFill>
                  <a:srgbClr val="F2B63D"/>
                </a:solidFill>
                <a:latin typeface="Calibri" pitchFamily="34" charset="0"/>
                <a:ea typeface="Calibri" pitchFamily="34" charset="-122"/>
                <a:cs typeface="Calibri" pitchFamily="34" charset="-120"/>
              </a:rPr>
              <a:t>INGENIERÍA DE SOFTWARE · COMISIÓN A</a:t>
            </a:r>
            <a:endParaRPr lang="en-US" sz="1300" dirty="0"/>
          </a:p>
        </p:txBody>
      </p:sp>
      <p:sp>
        <p:nvSpPr>
          <p:cNvPr id="5" name="Text 2"/>
          <p:cNvSpPr txBox="1"/>
          <p:nvPr/>
        </p:nvSpPr>
        <p:spPr>
          <a:xfrm>
            <a:off x="5303520" y="1508760"/>
            <a:ext cx="6400800" cy="868680"/>
          </a:xfrm>
          <a:prstGeom prst="rect">
            <a:avLst/>
          </a:prstGeom>
          <a:noFill/>
          <a:ln/>
        </p:spPr>
        <p:txBody>
          <a:bodyPr wrap="square" lIns="0" tIns="0" rIns="0" bIns="0" rtlCol="0" anchor="t"/>
          <a:lstStyle/>
          <a:p>
            <a:pPr indent="0" marL="0">
              <a:buNone/>
            </a:pPr>
            <a:r>
              <a:rPr lang="en-US" sz="4800" b="1" dirty="0">
                <a:solidFill>
                  <a:schemeClr val="bg1"/>
                </a:solidFill>
                <a:latin typeface="Cambria" pitchFamily="34" charset="0"/>
                <a:ea typeface="Cambria" pitchFamily="34" charset="-122"/>
                <a:cs typeface="Cambria" pitchFamily="34" charset="-120"/>
              </a:rPr>
              <a:t>Dany Pizzas Web</a:t>
            </a:r>
            <a:endParaRPr lang="en-US" sz="4800" dirty="0"/>
          </a:p>
        </p:txBody>
      </p:sp>
      <p:sp>
        <p:nvSpPr>
          <p:cNvPr id="6" name="Text 3"/>
          <p:cNvSpPr txBox="1"/>
          <p:nvPr/>
        </p:nvSpPr>
        <p:spPr>
          <a:xfrm>
            <a:off x="5303520" y="2423160"/>
            <a:ext cx="6217920" cy="822960"/>
          </a:xfrm>
          <a:prstGeom prst="rect">
            <a:avLst/>
          </a:prstGeom>
          <a:noFill/>
          <a:ln/>
        </p:spPr>
        <p:txBody>
          <a:bodyPr wrap="square" lIns="0" tIns="0" rIns="0" bIns="0" rtlCol="0" anchor="t"/>
          <a:lstStyle/>
          <a:p>
            <a:pPr indent="0" marL="0">
              <a:buNone/>
            </a:pPr>
            <a:r>
              <a:rPr lang="en-US" sz="2000" dirty="0">
                <a:solidFill>
                  <a:schemeClr val="bg2"/>
                </a:solidFill>
                <a:latin typeface="Calibri" pitchFamily="34" charset="0"/>
                <a:ea typeface="Calibri" pitchFamily="34" charset="-122"/>
                <a:cs typeface="Calibri" pitchFamily="34" charset="-120"/>
              </a:rPr>
              <a:t>Sistema web de pedidos por WhatsApp para un emprendimiento familiar de pizzas</a:t>
            </a:r>
            <a:endParaRPr lang="en-US" sz="2000" dirty="0"/>
          </a:p>
        </p:txBody>
      </p:sp>
      <p:sp>
        <p:nvSpPr>
          <p:cNvPr id="7" name="Text 4"/>
          <p:cNvSpPr txBox="1"/>
          <p:nvPr/>
        </p:nvSpPr>
        <p:spPr>
          <a:xfrm>
            <a:off x="5303520" y="3520440"/>
            <a:ext cx="6400800" cy="1097280"/>
          </a:xfrm>
          <a:prstGeom prst="rect">
            <a:avLst/>
          </a:prstGeom>
          <a:noFill/>
          <a:ln/>
        </p:spPr>
        <p:txBody>
          <a:bodyPr wrap="square" lIns="0" tIns="0" rIns="0" bIns="0" rtlCol="0" anchor="t"/>
          <a:lstStyle/>
          <a:p>
            <a:pPr indent="0" marL="0">
              <a:spcAft>
                <a:spcPts val="200"/>
              </a:spcAft>
              <a:buNone/>
            </a:pPr>
            <a:r>
              <a:rPr lang="en-US" sz="1400" b="1" dirty="0">
                <a:solidFill>
                  <a:schemeClr val="bg1"/>
                </a:solidFill>
                <a:latin typeface="Calibri" pitchFamily="34" charset="0"/>
                <a:ea typeface="Calibri" pitchFamily="34" charset="-122"/>
                <a:cs typeface="Calibri" pitchFamily="34" charset="-120"/>
              </a:rPr>
              <a:t>Universidad Nacional de Moquegua</a:t>
            </a:r>
            <a:endParaRPr lang="en-US" sz="1400" dirty="0"/>
          </a:p>
          <a:p>
            <a:pPr indent="0" marL="0">
              <a:spcAft>
                <a:spcPts val="200"/>
              </a:spcAft>
              <a:buNone/>
            </a:pPr>
            <a:r>
              <a:rPr lang="en-US" sz="1400" dirty="0">
                <a:solidFill>
                  <a:schemeClr val="bg1"/>
                </a:solidFill>
                <a:latin typeface="Calibri" pitchFamily="34" charset="0"/>
                <a:ea typeface="Calibri" pitchFamily="34" charset="-122"/>
                <a:cs typeface="Calibri" pitchFamily="34" charset="-120"/>
              </a:rPr>
              <a:t>Facultad de Ingenierías</a:t>
            </a:r>
            <a:endParaRPr lang="en-US" sz="1400" dirty="0"/>
          </a:p>
          <a:p>
            <a:pPr indent="0" marL="0">
              <a:spcAft>
                <a:spcPts val="200"/>
              </a:spcAft>
              <a:buNone/>
            </a:pPr>
            <a:r>
              <a:rPr lang="en-US" sz="1400" dirty="0">
                <a:solidFill>
                  <a:schemeClr val="bg1"/>
                </a:solidFill>
                <a:latin typeface="Calibri" pitchFamily="34" charset="0"/>
                <a:ea typeface="Calibri" pitchFamily="34" charset="-122"/>
                <a:cs typeface="Calibri" pitchFamily="34" charset="-120"/>
              </a:rPr>
              <a:t>Escuela Profesional de Ingeniería de Sistemas e Informática</a:t>
            </a:r>
            <a:endParaRPr lang="en-US" sz="1400" dirty="0"/>
          </a:p>
          <a:p>
            <a:pPr indent="0" marL="0">
              <a:spcAft>
                <a:spcPts val="200"/>
              </a:spcAft>
              <a:buNone/>
            </a:pPr>
            <a:r>
              <a:rPr lang="en-US" sz="1400" dirty="0">
                <a:solidFill>
                  <a:schemeClr val="bg1"/>
                </a:solidFill>
                <a:latin typeface="Calibri" pitchFamily="34" charset="0"/>
                <a:ea typeface="Calibri" pitchFamily="34" charset="-122"/>
                <a:cs typeface="Calibri" pitchFamily="34" charset="-120"/>
              </a:rPr>
              <a:t>Carrera: Ingeniería de Sistemas · Asignatura: Ingeniería de Software</a:t>
            </a:r>
            <a:endParaRPr lang="en-US" sz="1400" dirty="0"/>
          </a:p>
        </p:txBody>
      </p:sp>
      <p:sp>
        <p:nvSpPr>
          <p:cNvPr id="8" name="Text 5"/>
          <p:cNvSpPr txBox="1"/>
          <p:nvPr/>
        </p:nvSpPr>
        <p:spPr>
          <a:xfrm>
            <a:off x="5303520" y="4800600"/>
            <a:ext cx="6400800" cy="914400"/>
          </a:xfrm>
          <a:prstGeom prst="rect">
            <a:avLst/>
          </a:prstGeom>
          <a:noFill/>
          <a:ln/>
        </p:spPr>
        <p:txBody>
          <a:bodyPr wrap="square" lIns="0" tIns="0" rIns="0" bIns="0" rtlCol="0" anchor="t"/>
          <a:lstStyle/>
          <a:p>
            <a:pPr indent="0" marL="0">
              <a:spcAft>
                <a:spcPts val="200"/>
              </a:spcAft>
              <a:buNone/>
            </a:pPr>
            <a:r>
              <a:rPr lang="en-US" sz="1400" b="1" dirty="0">
                <a:solidFill>
                  <a:srgbClr val="F2B63D"/>
                </a:solidFill>
                <a:latin typeface="Calibri" pitchFamily="34" charset="0"/>
                <a:ea typeface="Calibri" pitchFamily="34" charset="-122"/>
                <a:cs typeface="Calibri" pitchFamily="34" charset="-120"/>
              </a:rPr>
              <a:t>Estudiante: </a:t>
            </a:r>
            <a:pPr indent="0" marL="0">
              <a:spcAft>
                <a:spcPts val="200"/>
              </a:spcAft>
              <a:buNone/>
            </a:pPr>
            <a:r>
              <a:rPr lang="en-US" sz="1400" dirty="0">
                <a:solidFill>
                  <a:schemeClr val="bg1"/>
                </a:solidFill>
                <a:latin typeface="Calibri" pitchFamily="34" charset="0"/>
                <a:ea typeface="Calibri" pitchFamily="34" charset="-122"/>
                <a:cs typeface="Calibri" pitchFamily="34" charset="-120"/>
              </a:rPr>
              <a:t>Máximo Daniel Castro</a:t>
            </a:r>
            <a:endParaRPr lang="en-US" sz="1400" dirty="0"/>
          </a:p>
          <a:p>
            <a:pPr indent="0" marL="0">
              <a:spcAft>
                <a:spcPts val="200"/>
              </a:spcAft>
              <a:buNone/>
            </a:pPr>
            <a:r>
              <a:rPr lang="en-US" sz="1400" b="1" dirty="0">
                <a:solidFill>
                  <a:srgbClr val="F2B63D"/>
                </a:solidFill>
                <a:latin typeface="Calibri" pitchFamily="34" charset="0"/>
                <a:ea typeface="Calibri" pitchFamily="34" charset="-122"/>
                <a:cs typeface="Calibri" pitchFamily="34" charset="-120"/>
              </a:rPr>
              <a:t>Docente: </a:t>
            </a:r>
            <a:pPr indent="0" marL="0">
              <a:spcAft>
                <a:spcPts val="200"/>
              </a:spcAft>
              <a:buNone/>
            </a:pPr>
            <a:r>
              <a:rPr lang="en-US" sz="1400" dirty="0">
                <a:solidFill>
                  <a:schemeClr val="bg1"/>
                </a:solidFill>
                <a:latin typeface="Calibri" pitchFamily="34" charset="0"/>
                <a:ea typeface="Calibri" pitchFamily="34" charset="-122"/>
                <a:cs typeface="Calibri" pitchFamily="34" charset="-120"/>
              </a:rPr>
              <a:t>Dr. Alexander Morales Gonzales</a:t>
            </a:r>
            <a:endParaRPr lang="en-US" sz="1400" dirty="0"/>
          </a:p>
          <a:p>
            <a:pPr indent="0" marL="0">
              <a:spcAft>
                <a:spcPts val="200"/>
              </a:spcAft>
              <a:buNone/>
            </a:pPr>
            <a:r>
              <a:rPr lang="en-US" sz="1400" dirty="0">
                <a:solidFill>
                  <a:schemeClr val="bg2"/>
                </a:solidFill>
                <a:latin typeface="Calibri" pitchFamily="34" charset="0"/>
                <a:ea typeface="Calibri" pitchFamily="34" charset="-122"/>
                <a:cs typeface="Calibri" pitchFamily="34" charset="-120"/>
              </a:rPr>
              <a:t>13 de octubre de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10896"/>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INTRODUCCIÓN</a:t>
            </a:r>
            <a:endParaRPr lang="en-US" sz="1200" dirty="0"/>
          </a:p>
        </p:txBody>
      </p:sp>
      <p:sp>
        <p:nvSpPr>
          <p:cNvPr id="3" name="Text 0"/>
          <p:cNvSpPr/>
          <p:nvPr>
            <p:ph idx="101" type="title" hasCustomPrompt="1"/>
          </p:nvPr>
        </p:nvSpPr>
        <p:spPr>
          <a:xfrm>
            <a:off x="548640" y="603504"/>
            <a:ext cx="11064240" cy="658368"/>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Esquema de la presentación</a:t>
            </a:r>
            <a:endParaRPr lang="en-US" sz="3200" dirty="0"/>
          </a:p>
        </p:txBody>
      </p:sp>
      <p:sp>
        <p:nvSpPr>
          <p:cNvPr id="4" name="card-1"/>
          <p:cNvSpPr/>
          <p:nvPr/>
        </p:nvSpPr>
        <p:spPr>
          <a:xfrm>
            <a:off x="548640" y="1600200"/>
            <a:ext cx="3474720" cy="4206240"/>
          </a:xfrm>
          <a:prstGeom prst="roundRect">
            <a:avLst>
              <a:gd name="adj" fmla="val 3158"/>
            </a:avLst>
          </a:prstGeom>
          <a:solidFill>
            <a:schemeClr val="accent6"/>
          </a:solidFill>
          <a:ln/>
        </p:spPr>
      </p:sp>
      <p:sp>
        <p:nvSpPr>
          <p:cNvPr id="5" name="icono-fondo-2"/>
          <p:cNvSpPr/>
          <p:nvPr/>
        </p:nvSpPr>
        <p:spPr>
          <a:xfrm>
            <a:off x="868680" y="1965960"/>
            <a:ext cx="731520" cy="731520"/>
          </a:xfrm>
          <a:prstGeom prst="ellipse">
            <a:avLst/>
          </a:prstGeom>
          <a:solidFill>
            <a:schemeClr val="accent2"/>
          </a:solidFill>
          <a:ln/>
        </p:spPr>
      </p:sp>
      <p:pic>
        <p:nvPicPr>
          <p:cNvPr id="6" name="icono-3" descr="preencoded.png">    </p:cNvPr>
          <p:cNvPicPr>
            <a:picLocks noChangeAspect="1"/>
          </p:cNvPicPr>
          <p:nvPr/>
        </p:nvPicPr>
        <p:blipFill>
          <a:blip r:embed="rId1"/>
          <a:stretch>
            <a:fillRect/>
          </a:stretch>
        </p:blipFill>
        <p:spPr>
          <a:xfrm>
            <a:off x="1044245" y="2141525"/>
            <a:ext cx="380390" cy="380390"/>
          </a:xfrm>
          <a:prstGeom prst="rect">
            <a:avLst/>
          </a:prstGeom>
        </p:spPr>
      </p:pic>
      <p:sp>
        <p:nvSpPr>
          <p:cNvPr id="7" name="Text 4"/>
          <p:cNvSpPr txBox="1"/>
          <p:nvPr/>
        </p:nvSpPr>
        <p:spPr>
          <a:xfrm>
            <a:off x="2880360" y="1874520"/>
            <a:ext cx="868680" cy="822960"/>
          </a:xfrm>
          <a:prstGeom prst="rect">
            <a:avLst/>
          </a:prstGeom>
          <a:noFill/>
          <a:ln/>
        </p:spPr>
        <p:txBody>
          <a:bodyPr wrap="square" lIns="0" tIns="0" rIns="0" bIns="0" rtlCol="0" anchor="t"/>
          <a:lstStyle/>
          <a:p>
            <a:pPr algn="r" indent="0" marL="0">
              <a:buNone/>
            </a:pPr>
            <a:r>
              <a:rPr lang="en-US" sz="4000" b="1" dirty="0">
                <a:solidFill>
                  <a:schemeClr val="accent2"/>
                </a:solidFill>
                <a:latin typeface="Cambria" pitchFamily="34" charset="0"/>
                <a:ea typeface="Cambria" pitchFamily="34" charset="-122"/>
                <a:cs typeface="Cambria" pitchFamily="34" charset="-120"/>
              </a:rPr>
              <a:t>I</a:t>
            </a:r>
            <a:endParaRPr lang="en-US" sz="4000" dirty="0"/>
          </a:p>
        </p:txBody>
      </p:sp>
      <p:sp>
        <p:nvSpPr>
          <p:cNvPr id="8" name="Text 5"/>
          <p:cNvSpPr txBox="1"/>
          <p:nvPr/>
        </p:nvSpPr>
        <p:spPr>
          <a:xfrm>
            <a:off x="868680" y="2971800"/>
            <a:ext cx="2834640" cy="45720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Curriculum vitae</a:t>
            </a:r>
            <a:endParaRPr lang="en-US" sz="2200" dirty="0"/>
          </a:p>
        </p:txBody>
      </p:sp>
      <p:sp>
        <p:nvSpPr>
          <p:cNvPr id="9" name="Text 6"/>
          <p:cNvSpPr txBox="1"/>
          <p:nvPr/>
        </p:nvSpPr>
        <p:spPr>
          <a:xfrm>
            <a:off x="868680" y="3520440"/>
            <a:ext cx="2834640" cy="2011680"/>
          </a:xfrm>
          <a:prstGeom prst="rect">
            <a:avLst/>
          </a:prstGeom>
          <a:noFill/>
          <a:ln/>
        </p:spPr>
        <p:txBody>
          <a:bodyPr wrap="square" lIns="0" tIns="0" rIns="0" bIns="0" rtlCol="0" anchor="t"/>
          <a:lstStyle/>
          <a:p>
            <a:pPr indent="0" marL="0">
              <a:buNone/>
            </a:pPr>
            <a:r>
              <a:rPr lang="en-US" sz="1600" dirty="0">
                <a:solidFill>
                  <a:schemeClr val="tx1"/>
                </a:solidFill>
                <a:latin typeface="Calibri" pitchFamily="34" charset="0"/>
                <a:ea typeface="Calibri" pitchFamily="34" charset="-122"/>
                <a:cs typeface="Calibri" pitchFamily="34" charset="-120"/>
              </a:rPr>
              <a:t>Quién presenta</a:t>
            </a:r>
            <a:endParaRPr lang="en-US" sz="1600" dirty="0"/>
          </a:p>
        </p:txBody>
      </p:sp>
      <p:sp>
        <p:nvSpPr>
          <p:cNvPr id="10" name="card-4"/>
          <p:cNvSpPr/>
          <p:nvPr/>
        </p:nvSpPr>
        <p:spPr>
          <a:xfrm>
            <a:off x="4297680" y="1600200"/>
            <a:ext cx="3474720" cy="4206240"/>
          </a:xfrm>
          <a:prstGeom prst="roundRect">
            <a:avLst>
              <a:gd name="adj" fmla="val 3158"/>
            </a:avLst>
          </a:prstGeom>
          <a:solidFill>
            <a:schemeClr val="accent6"/>
          </a:solidFill>
          <a:ln/>
        </p:spPr>
      </p:sp>
      <p:sp>
        <p:nvSpPr>
          <p:cNvPr id="11" name="icono-fondo-5"/>
          <p:cNvSpPr/>
          <p:nvPr/>
        </p:nvSpPr>
        <p:spPr>
          <a:xfrm>
            <a:off x="4617720" y="1965960"/>
            <a:ext cx="731520" cy="731520"/>
          </a:xfrm>
          <a:prstGeom prst="ellipse">
            <a:avLst/>
          </a:prstGeom>
          <a:solidFill>
            <a:schemeClr val="accent2"/>
          </a:solidFill>
          <a:ln/>
        </p:spPr>
      </p:sp>
      <p:pic>
        <p:nvPicPr>
          <p:cNvPr id="12" name="icono-6" descr="preencoded.png">    </p:cNvPr>
          <p:cNvPicPr>
            <a:picLocks noChangeAspect="1"/>
          </p:cNvPicPr>
          <p:nvPr/>
        </p:nvPicPr>
        <p:blipFill>
          <a:blip r:embed="rId2"/>
          <a:stretch>
            <a:fillRect/>
          </a:stretch>
        </p:blipFill>
        <p:spPr>
          <a:xfrm>
            <a:off x="4793285" y="2141525"/>
            <a:ext cx="380390" cy="380390"/>
          </a:xfrm>
          <a:prstGeom prst="rect">
            <a:avLst/>
          </a:prstGeom>
        </p:spPr>
      </p:pic>
      <p:sp>
        <p:nvSpPr>
          <p:cNvPr id="13" name="Text 9"/>
          <p:cNvSpPr txBox="1"/>
          <p:nvPr/>
        </p:nvSpPr>
        <p:spPr>
          <a:xfrm>
            <a:off x="6629400" y="1874520"/>
            <a:ext cx="868680" cy="822960"/>
          </a:xfrm>
          <a:prstGeom prst="rect">
            <a:avLst/>
          </a:prstGeom>
          <a:noFill/>
          <a:ln/>
        </p:spPr>
        <p:txBody>
          <a:bodyPr wrap="square" lIns="0" tIns="0" rIns="0" bIns="0" rtlCol="0" anchor="t"/>
          <a:lstStyle/>
          <a:p>
            <a:pPr algn="r" indent="0" marL="0">
              <a:buNone/>
            </a:pPr>
            <a:r>
              <a:rPr lang="en-US" sz="4000" b="1" dirty="0">
                <a:solidFill>
                  <a:schemeClr val="accent2"/>
                </a:solidFill>
                <a:latin typeface="Cambria" pitchFamily="34" charset="0"/>
                <a:ea typeface="Cambria" pitchFamily="34" charset="-122"/>
                <a:cs typeface="Cambria" pitchFamily="34" charset="-120"/>
              </a:rPr>
              <a:t>II</a:t>
            </a:r>
            <a:endParaRPr lang="en-US" sz="4000" dirty="0"/>
          </a:p>
        </p:txBody>
      </p:sp>
      <p:sp>
        <p:nvSpPr>
          <p:cNvPr id="14" name="Text 10"/>
          <p:cNvSpPr txBox="1"/>
          <p:nvPr/>
        </p:nvSpPr>
        <p:spPr>
          <a:xfrm>
            <a:off x="4617720" y="2971800"/>
            <a:ext cx="2834640" cy="45720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Memoria descriptiva</a:t>
            </a:r>
            <a:endParaRPr lang="en-US" sz="2200" dirty="0"/>
          </a:p>
        </p:txBody>
      </p:sp>
      <p:sp>
        <p:nvSpPr>
          <p:cNvPr id="15" name="Text 11"/>
          <p:cNvSpPr txBox="1"/>
          <p:nvPr/>
        </p:nvSpPr>
        <p:spPr>
          <a:xfrm>
            <a:off x="4617720" y="3520440"/>
            <a:ext cx="2834640" cy="2011680"/>
          </a:xfrm>
          <a:prstGeom prst="rect">
            <a:avLst/>
          </a:prstGeom>
          <a:noFill/>
          <a:ln/>
        </p:spPr>
        <p:txBody>
          <a:bodyPr wrap="square" lIns="0" tIns="0" rIns="0" bIns="0" rtlCol="0" anchor="t"/>
          <a:lstStyle/>
          <a:p>
            <a:pPr indent="0" marL="0">
              <a:buNone/>
            </a:pPr>
            <a:r>
              <a:rPr lang="en-US" sz="1600" dirty="0">
                <a:solidFill>
                  <a:schemeClr val="tx1"/>
                </a:solidFill>
                <a:latin typeface="Calibri" pitchFamily="34" charset="0"/>
                <a:ea typeface="Calibri" pitchFamily="34" charset="-122"/>
                <a:cs typeface="Calibri" pitchFamily="34" charset="-120"/>
              </a:rPr>
              <a:t>La empresa, su organización y su diagnóstico estratégico</a:t>
            </a:r>
            <a:endParaRPr lang="en-US" sz="1600" dirty="0"/>
          </a:p>
        </p:txBody>
      </p:sp>
      <p:sp>
        <p:nvSpPr>
          <p:cNvPr id="16" name="card-7"/>
          <p:cNvSpPr/>
          <p:nvPr/>
        </p:nvSpPr>
        <p:spPr>
          <a:xfrm>
            <a:off x="8046720" y="1600200"/>
            <a:ext cx="3474720" cy="4206240"/>
          </a:xfrm>
          <a:prstGeom prst="roundRect">
            <a:avLst>
              <a:gd name="adj" fmla="val 3158"/>
            </a:avLst>
          </a:prstGeom>
          <a:solidFill>
            <a:schemeClr val="accent6"/>
          </a:solidFill>
          <a:ln/>
        </p:spPr>
      </p:sp>
      <p:sp>
        <p:nvSpPr>
          <p:cNvPr id="17" name="icono-fondo-8"/>
          <p:cNvSpPr/>
          <p:nvPr/>
        </p:nvSpPr>
        <p:spPr>
          <a:xfrm>
            <a:off x="8366760" y="1965960"/>
            <a:ext cx="731520" cy="731520"/>
          </a:xfrm>
          <a:prstGeom prst="ellipse">
            <a:avLst/>
          </a:prstGeom>
          <a:solidFill>
            <a:schemeClr val="accent1"/>
          </a:solidFill>
          <a:ln/>
        </p:spPr>
      </p:sp>
      <p:pic>
        <p:nvPicPr>
          <p:cNvPr id="18" name="icono-9" descr="preencoded.png">    </p:cNvPr>
          <p:cNvPicPr>
            <a:picLocks noChangeAspect="1"/>
          </p:cNvPicPr>
          <p:nvPr/>
        </p:nvPicPr>
        <p:blipFill>
          <a:blip r:embed="rId3"/>
          <a:stretch>
            <a:fillRect/>
          </a:stretch>
        </p:blipFill>
        <p:spPr>
          <a:xfrm>
            <a:off x="8542325" y="2141525"/>
            <a:ext cx="380390" cy="380390"/>
          </a:xfrm>
          <a:prstGeom prst="rect">
            <a:avLst/>
          </a:prstGeom>
        </p:spPr>
      </p:pic>
      <p:sp>
        <p:nvSpPr>
          <p:cNvPr id="19" name="Text 14"/>
          <p:cNvSpPr txBox="1"/>
          <p:nvPr/>
        </p:nvSpPr>
        <p:spPr>
          <a:xfrm>
            <a:off x="10378440" y="1874520"/>
            <a:ext cx="868680" cy="822960"/>
          </a:xfrm>
          <a:prstGeom prst="rect">
            <a:avLst/>
          </a:prstGeom>
          <a:noFill/>
          <a:ln/>
        </p:spPr>
        <p:txBody>
          <a:bodyPr wrap="square" lIns="0" tIns="0" rIns="0" bIns="0" rtlCol="0" anchor="t"/>
          <a:lstStyle/>
          <a:p>
            <a:pPr algn="r" indent="0" marL="0">
              <a:buNone/>
            </a:pPr>
            <a:r>
              <a:rPr lang="en-US" sz="4000" b="1" dirty="0">
                <a:solidFill>
                  <a:schemeClr val="accent1"/>
                </a:solidFill>
                <a:latin typeface="Cambria" pitchFamily="34" charset="0"/>
                <a:ea typeface="Cambria" pitchFamily="34" charset="-122"/>
                <a:cs typeface="Cambria" pitchFamily="34" charset="-120"/>
              </a:rPr>
              <a:t>III</a:t>
            </a:r>
            <a:endParaRPr lang="en-US" sz="4000" dirty="0"/>
          </a:p>
        </p:txBody>
      </p:sp>
      <p:sp>
        <p:nvSpPr>
          <p:cNvPr id="20" name="Text 15"/>
          <p:cNvSpPr txBox="1"/>
          <p:nvPr/>
        </p:nvSpPr>
        <p:spPr>
          <a:xfrm>
            <a:off x="8366760" y="2971800"/>
            <a:ext cx="2834640" cy="45720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Trabajo principal</a:t>
            </a:r>
            <a:endParaRPr lang="en-US" sz="2200" dirty="0"/>
          </a:p>
        </p:txBody>
      </p:sp>
      <p:sp>
        <p:nvSpPr>
          <p:cNvPr id="21" name="Text 16"/>
          <p:cNvSpPr txBox="1"/>
          <p:nvPr/>
        </p:nvSpPr>
        <p:spPr>
          <a:xfrm>
            <a:off x="8366760" y="3520440"/>
            <a:ext cx="2834640" cy="2011680"/>
          </a:xfrm>
          <a:prstGeom prst="rect">
            <a:avLst/>
          </a:prstGeom>
          <a:noFill/>
          <a:ln/>
        </p:spPr>
        <p:txBody>
          <a:bodyPr wrap="square" lIns="0" tIns="0" rIns="0" bIns="0" rtlCol="0" anchor="t"/>
          <a:lstStyle/>
          <a:p>
            <a:pPr indent="0" marL="0">
              <a:buNone/>
            </a:pPr>
            <a:r>
              <a:rPr lang="en-US" sz="1600" dirty="0">
                <a:solidFill>
                  <a:schemeClr val="tx1"/>
                </a:solidFill>
                <a:latin typeface="Calibri" pitchFamily="34" charset="0"/>
                <a:ea typeface="Calibri" pitchFamily="34" charset="-122"/>
                <a:cs typeface="Calibri" pitchFamily="34" charset="-120"/>
              </a:rPr>
              <a:t>Problema, objetivos, plan, evaluación económica, diseño, desarrollo, resultados y conclusiones</a:t>
            </a:r>
            <a:endParaRPr lang="en-US" sz="16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10896"/>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I. CURRICULUM VITAE</a:t>
            </a:r>
            <a:endParaRPr lang="en-US" sz="1200" dirty="0"/>
          </a:p>
        </p:txBody>
      </p:sp>
      <p:sp>
        <p:nvSpPr>
          <p:cNvPr id="3" name="Text 0"/>
          <p:cNvSpPr/>
          <p:nvPr>
            <p:ph idx="101" type="title" hasCustomPrompt="1"/>
          </p:nvPr>
        </p:nvSpPr>
        <p:spPr>
          <a:xfrm>
            <a:off x="548640" y="603504"/>
            <a:ext cx="11064240" cy="658368"/>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Máximo Daniel Castro</a:t>
            </a:r>
            <a:endParaRPr lang="en-US" sz="3200" dirty="0"/>
          </a:p>
        </p:txBody>
      </p:sp>
      <p:sp>
        <p:nvSpPr>
          <p:cNvPr id="4" name="Text 2"/>
          <p:cNvSpPr txBox="1"/>
          <p:nvPr/>
        </p:nvSpPr>
        <p:spPr>
          <a:xfrm>
            <a:off x="548640" y="1463040"/>
            <a:ext cx="11064240" cy="868680"/>
          </a:xfrm>
          <a:prstGeom prst="rect">
            <a:avLst/>
          </a:prstGeom>
          <a:noFill/>
          <a:ln/>
        </p:spPr>
        <p:txBody>
          <a:bodyPr wrap="square" lIns="0" tIns="0" rIns="0" bIns="0" rtlCol="0" anchor="t"/>
          <a:lstStyle/>
          <a:p>
            <a:pPr indent="0" marL="0">
              <a:buNone/>
            </a:pPr>
            <a:r>
              <a:rPr lang="en-US" sz="2000" b="1" dirty="0">
                <a:solidFill>
                  <a:schemeClr val="tx1"/>
                </a:solidFill>
                <a:latin typeface="Calibri" pitchFamily="34" charset="0"/>
                <a:ea typeface="Calibri" pitchFamily="34" charset="-122"/>
                <a:cs typeface="Calibri" pitchFamily="34" charset="-120"/>
              </a:rPr>
              <a:t>Estudiante de Ingeniería en Sistemas · 3.er año</a:t>
            </a:r>
            <a:endParaRPr lang="en-US" sz="1400" dirty="0"/>
          </a:p>
          <a:p>
            <a:pPr indent="0" marL="0">
              <a:buNone/>
            </a:pPr>
            <a:r>
              <a:rPr lang="en-US" sz="1500" dirty="0">
                <a:solidFill>
                  <a:schemeClr val="accent4"/>
                </a:solidFill>
                <a:latin typeface="Calibri" pitchFamily="34" charset="0"/>
                <a:ea typeface="Calibri" pitchFamily="34" charset="-122"/>
                <a:cs typeface="Calibri" pitchFamily="34" charset="-120"/>
              </a:rPr>
              <a:t>Universidad Nacional de Chilecito (UNdeC), Argentina  ·  De intercambio en la Universidad Nacional de Moquegua, Perú</a:t>
            </a:r>
            <a:endParaRPr lang="en-US" sz="1400" dirty="0"/>
          </a:p>
        </p:txBody>
      </p:sp>
      <p:sp>
        <p:nvSpPr>
          <p:cNvPr id="5" name="card-10"/>
          <p:cNvSpPr/>
          <p:nvPr/>
        </p:nvSpPr>
        <p:spPr>
          <a:xfrm>
            <a:off x="548640" y="2560320"/>
            <a:ext cx="4480560" cy="2697480"/>
          </a:xfrm>
          <a:prstGeom prst="roundRect">
            <a:avLst>
              <a:gd name="adj" fmla="val 4068"/>
            </a:avLst>
          </a:prstGeom>
          <a:solidFill>
            <a:schemeClr val="accent6"/>
          </a:solidFill>
          <a:ln/>
        </p:spPr>
      </p:sp>
      <p:sp>
        <p:nvSpPr>
          <p:cNvPr id="6" name="icono-fondo-11"/>
          <p:cNvSpPr/>
          <p:nvPr/>
        </p:nvSpPr>
        <p:spPr>
          <a:xfrm>
            <a:off x="777240" y="2788920"/>
            <a:ext cx="502920" cy="502920"/>
          </a:xfrm>
          <a:prstGeom prst="ellipse">
            <a:avLst/>
          </a:prstGeom>
          <a:solidFill>
            <a:schemeClr val="accent1"/>
          </a:solidFill>
          <a:ln/>
        </p:spPr>
      </p:sp>
      <p:pic>
        <p:nvPicPr>
          <p:cNvPr id="7" name="icono-12" descr="preencoded.png">    </p:cNvPr>
          <p:cNvPicPr>
            <a:picLocks noChangeAspect="1"/>
          </p:cNvPicPr>
          <p:nvPr/>
        </p:nvPicPr>
        <p:blipFill>
          <a:blip r:embed="rId1"/>
          <a:stretch>
            <a:fillRect/>
          </a:stretch>
        </p:blipFill>
        <p:spPr>
          <a:xfrm>
            <a:off x="897941" y="2909621"/>
            <a:ext cx="261518" cy="261518"/>
          </a:xfrm>
          <a:prstGeom prst="rect">
            <a:avLst/>
          </a:prstGeom>
        </p:spPr>
      </p:pic>
      <p:sp>
        <p:nvSpPr>
          <p:cNvPr id="8" name="Text 5"/>
          <p:cNvSpPr txBox="1"/>
          <p:nvPr/>
        </p:nvSpPr>
        <p:spPr>
          <a:xfrm>
            <a:off x="1417320" y="2862072"/>
            <a:ext cx="3474720" cy="365760"/>
          </a:xfrm>
          <a:prstGeom prst="rect">
            <a:avLst/>
          </a:prstGeom>
          <a:noFill/>
          <a:ln/>
        </p:spPr>
        <p:txBody>
          <a:bodyPr wrap="square" lIns="0" tIns="0" rIns="0" bIns="0" rtlCol="0" anchor="t"/>
          <a:lstStyle/>
          <a:p>
            <a:pPr indent="0" marL="0">
              <a:buNone/>
            </a:pPr>
            <a:r>
              <a:rPr lang="en-US" sz="1500" b="1" dirty="0">
                <a:solidFill>
                  <a:schemeClr val="accent1"/>
                </a:solidFill>
                <a:latin typeface="Calibri" pitchFamily="34" charset="0"/>
                <a:ea typeface="Calibri" pitchFamily="34" charset="-122"/>
                <a:cs typeface="Calibri" pitchFamily="34" charset="-120"/>
              </a:rPr>
              <a:t>Programación competitiva (ICPC)</a:t>
            </a:r>
            <a:endParaRPr lang="en-US" sz="1500" dirty="0"/>
          </a:p>
        </p:txBody>
      </p:sp>
      <p:sp>
        <p:nvSpPr>
          <p:cNvPr id="9" name="Text 6"/>
          <p:cNvSpPr txBox="1"/>
          <p:nvPr/>
        </p:nvSpPr>
        <p:spPr>
          <a:xfrm>
            <a:off x="777240" y="3474720"/>
            <a:ext cx="4069080" cy="16459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Mención Honorable · Final Sudamérica Sur 2024 (Buenos Aires)</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1.er puesto provincial · Torneo Argentino de Programación 2024 y 2025</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Final Sudamérica Sur 2025 (Santa Fe), representando a la UNdeC</a:t>
            </a:r>
            <a:endParaRPr lang="en-US" sz="1400" dirty="0"/>
          </a:p>
        </p:txBody>
      </p:sp>
      <p:sp>
        <p:nvSpPr>
          <p:cNvPr id="10" name="card-13"/>
          <p:cNvSpPr/>
          <p:nvPr/>
        </p:nvSpPr>
        <p:spPr>
          <a:xfrm>
            <a:off x="5212080" y="2560320"/>
            <a:ext cx="3108960" cy="2697480"/>
          </a:xfrm>
          <a:prstGeom prst="roundRect">
            <a:avLst>
              <a:gd name="adj" fmla="val 4068"/>
            </a:avLst>
          </a:prstGeom>
          <a:solidFill>
            <a:schemeClr val="accent6"/>
          </a:solidFill>
          <a:ln/>
        </p:spPr>
      </p:sp>
      <p:sp>
        <p:nvSpPr>
          <p:cNvPr id="11" name="icono-fondo-14"/>
          <p:cNvSpPr/>
          <p:nvPr/>
        </p:nvSpPr>
        <p:spPr>
          <a:xfrm>
            <a:off x="5440680" y="2788920"/>
            <a:ext cx="502920" cy="502920"/>
          </a:xfrm>
          <a:prstGeom prst="ellipse">
            <a:avLst/>
          </a:prstGeom>
          <a:solidFill>
            <a:schemeClr val="accent2"/>
          </a:solidFill>
          <a:ln/>
        </p:spPr>
      </p:sp>
      <p:pic>
        <p:nvPicPr>
          <p:cNvPr id="12" name="icono-15" descr="preencoded.png">    </p:cNvPr>
          <p:cNvPicPr>
            <a:picLocks noChangeAspect="1"/>
          </p:cNvPicPr>
          <p:nvPr/>
        </p:nvPicPr>
        <p:blipFill>
          <a:blip r:embed="rId2"/>
          <a:stretch>
            <a:fillRect/>
          </a:stretch>
        </p:blipFill>
        <p:spPr>
          <a:xfrm>
            <a:off x="5561381" y="2909621"/>
            <a:ext cx="261518" cy="261518"/>
          </a:xfrm>
          <a:prstGeom prst="rect">
            <a:avLst/>
          </a:prstGeom>
        </p:spPr>
      </p:pic>
      <p:sp>
        <p:nvSpPr>
          <p:cNvPr id="13" name="Text 9"/>
          <p:cNvSpPr txBox="1"/>
          <p:nvPr/>
        </p:nvSpPr>
        <p:spPr>
          <a:xfrm>
            <a:off x="6080760" y="2862072"/>
            <a:ext cx="2148840" cy="365760"/>
          </a:xfrm>
          <a:prstGeom prst="rect">
            <a:avLst/>
          </a:prstGeom>
          <a:noFill/>
          <a:ln/>
        </p:spPr>
        <p:txBody>
          <a:bodyPr wrap="square" lIns="0" tIns="0" rIns="0" bIns="0" rtlCol="0" anchor="t"/>
          <a:lstStyle/>
          <a:p>
            <a:pPr indent="0" marL="0">
              <a:buNone/>
            </a:pPr>
            <a:r>
              <a:rPr lang="en-US" sz="1500" b="1" dirty="0">
                <a:solidFill>
                  <a:schemeClr val="tx2"/>
                </a:solidFill>
                <a:latin typeface="Calibri" pitchFamily="34" charset="0"/>
                <a:ea typeface="Calibri" pitchFamily="34" charset="-122"/>
                <a:cs typeface="Calibri" pitchFamily="34" charset="-120"/>
              </a:rPr>
              <a:t>Proyecto destacado</a:t>
            </a:r>
            <a:endParaRPr lang="en-US" sz="1500" dirty="0"/>
          </a:p>
        </p:txBody>
      </p:sp>
      <p:sp>
        <p:nvSpPr>
          <p:cNvPr id="14" name="Text 10"/>
          <p:cNvSpPr txBox="1"/>
          <p:nvPr/>
        </p:nvSpPr>
        <p:spPr>
          <a:xfrm>
            <a:off x="5440680" y="3474720"/>
            <a:ext cx="2697480" cy="164592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Dany Pizzas Web (2026): sistema de pedidos publicado y en uso para un emprendimiento real de Chilecito.</a:t>
            </a:r>
            <a:endParaRPr lang="en-US" sz="1400" dirty="0"/>
          </a:p>
        </p:txBody>
      </p:sp>
      <p:sp>
        <p:nvSpPr>
          <p:cNvPr id="15" name="card-16"/>
          <p:cNvSpPr/>
          <p:nvPr/>
        </p:nvSpPr>
        <p:spPr>
          <a:xfrm>
            <a:off x="8503920" y="2560320"/>
            <a:ext cx="3108960" cy="2697480"/>
          </a:xfrm>
          <a:prstGeom prst="roundRect">
            <a:avLst>
              <a:gd name="adj" fmla="val 4068"/>
            </a:avLst>
          </a:prstGeom>
          <a:solidFill>
            <a:schemeClr val="accent6"/>
          </a:solidFill>
          <a:ln/>
        </p:spPr>
      </p:sp>
      <p:sp>
        <p:nvSpPr>
          <p:cNvPr id="16" name="icono-fondo-17"/>
          <p:cNvSpPr/>
          <p:nvPr/>
        </p:nvSpPr>
        <p:spPr>
          <a:xfrm>
            <a:off x="8732520" y="2788920"/>
            <a:ext cx="502920" cy="502920"/>
          </a:xfrm>
          <a:prstGeom prst="ellipse">
            <a:avLst/>
          </a:prstGeom>
          <a:solidFill>
            <a:schemeClr val="accent2"/>
          </a:solidFill>
          <a:ln/>
        </p:spPr>
      </p:sp>
      <p:pic>
        <p:nvPicPr>
          <p:cNvPr id="17" name="icono-18" descr="preencoded.png">    </p:cNvPr>
          <p:cNvPicPr>
            <a:picLocks noChangeAspect="1"/>
          </p:cNvPicPr>
          <p:nvPr/>
        </p:nvPicPr>
        <p:blipFill>
          <a:blip r:embed="rId3"/>
          <a:stretch>
            <a:fillRect/>
          </a:stretch>
        </p:blipFill>
        <p:spPr>
          <a:xfrm>
            <a:off x="8853221" y="2909621"/>
            <a:ext cx="261518" cy="261518"/>
          </a:xfrm>
          <a:prstGeom prst="rect">
            <a:avLst/>
          </a:prstGeom>
        </p:spPr>
      </p:pic>
      <p:sp>
        <p:nvSpPr>
          <p:cNvPr id="18" name="Text 13"/>
          <p:cNvSpPr txBox="1"/>
          <p:nvPr/>
        </p:nvSpPr>
        <p:spPr>
          <a:xfrm>
            <a:off x="9372600" y="2862072"/>
            <a:ext cx="2148840" cy="365760"/>
          </a:xfrm>
          <a:prstGeom prst="rect">
            <a:avLst/>
          </a:prstGeom>
          <a:noFill/>
          <a:ln/>
        </p:spPr>
        <p:txBody>
          <a:bodyPr wrap="square" lIns="0" tIns="0" rIns="0" bIns="0" rtlCol="0" anchor="t"/>
          <a:lstStyle/>
          <a:p>
            <a:pPr indent="0" marL="0">
              <a:buNone/>
            </a:pPr>
            <a:r>
              <a:rPr lang="en-US" sz="1500" b="1" dirty="0">
                <a:solidFill>
                  <a:schemeClr val="tx2"/>
                </a:solidFill>
                <a:latin typeface="Calibri" pitchFamily="34" charset="0"/>
                <a:ea typeface="Calibri" pitchFamily="34" charset="-122"/>
                <a:cs typeface="Calibri" pitchFamily="34" charset="-120"/>
              </a:rPr>
              <a:t>Herramientas</a:t>
            </a:r>
            <a:endParaRPr lang="en-US" sz="1500" dirty="0"/>
          </a:p>
        </p:txBody>
      </p:sp>
      <p:sp>
        <p:nvSpPr>
          <p:cNvPr id="19" name="Text 14"/>
          <p:cNvSpPr txBox="1"/>
          <p:nvPr/>
        </p:nvSpPr>
        <p:spPr>
          <a:xfrm>
            <a:off x="8732520" y="3474720"/>
            <a:ext cx="2743200" cy="164592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latin typeface="Calibri" pitchFamily="34" charset="0"/>
                <a:ea typeface="Calibri" pitchFamily="34" charset="-122"/>
                <a:cs typeface="Calibri" pitchFamily="34" charset="-120"/>
              </a:rPr>
              <a:t>HTML, CSS y JavaScript</a:t>
            </a:r>
            <a:endParaRPr lang="en-US" sz="1400" dirty="0"/>
          </a:p>
          <a:p>
            <a:pPr marL="342900" indent="-342900">
              <a:spcAft>
                <a:spcPts val="400"/>
              </a:spcAft>
              <a:buSzPct val="100000"/>
              <a:buChar char="•"/>
            </a:pPr>
            <a:r>
              <a:rPr lang="en-US" sz="1400" dirty="0">
                <a:solidFill>
                  <a:schemeClr val="tx1"/>
                </a:solidFill>
                <a:latin typeface="Calibri" pitchFamily="34" charset="0"/>
                <a:ea typeface="Calibri" pitchFamily="34" charset="-122"/>
                <a:cs typeface="Calibri" pitchFamily="34" charset="-120"/>
              </a:rPr>
              <a:t>Git, GitHub y Actions</a:t>
            </a:r>
            <a:endParaRPr lang="en-US" sz="1400" dirty="0"/>
          </a:p>
          <a:p>
            <a:pPr marL="342900" indent="-342900">
              <a:spcAft>
                <a:spcPts val="400"/>
              </a:spcAft>
              <a:buSzPct val="100000"/>
              <a:buChar char="•"/>
            </a:pPr>
            <a:r>
              <a:rPr lang="en-US" sz="1400" dirty="0">
                <a:solidFill>
                  <a:schemeClr val="tx1"/>
                </a:solidFill>
                <a:latin typeface="Calibri" pitchFamily="34" charset="0"/>
                <a:ea typeface="Calibri" pitchFamily="34" charset="-122"/>
                <a:cs typeface="Calibri" pitchFamily="34" charset="-120"/>
              </a:rPr>
              <a:t>Apps Script y Sheets</a:t>
            </a:r>
            <a:endParaRPr lang="en-US" sz="1400" dirty="0"/>
          </a:p>
          <a:p>
            <a:pPr marL="342900" indent="-342900">
              <a:spcAft>
                <a:spcPts val="400"/>
              </a:spcAft>
              <a:buSzPct val="100000"/>
              <a:buChar char="•"/>
            </a:pPr>
            <a:r>
              <a:rPr lang="en-US" sz="1400" dirty="0">
                <a:solidFill>
                  <a:schemeClr val="tx1"/>
                </a:solidFill>
                <a:latin typeface="Calibri" pitchFamily="34" charset="0"/>
                <a:ea typeface="Calibri" pitchFamily="34" charset="-122"/>
                <a:cs typeface="Calibri" pitchFamily="34" charset="-120"/>
              </a:rPr>
              <a:t>Linux Ubuntu y VS Code</a:t>
            </a:r>
            <a:endParaRPr lang="en-US" sz="1400" dirty="0"/>
          </a:p>
        </p:txBody>
      </p:sp>
      <p:sp>
        <p:nvSpPr>
          <p:cNvPr id="20" name="icono-fondo-19"/>
          <p:cNvSpPr/>
          <p:nvPr/>
        </p:nvSpPr>
        <p:spPr>
          <a:xfrm>
            <a:off x="548640" y="5596128"/>
            <a:ext cx="384048" cy="384048"/>
          </a:xfrm>
          <a:prstGeom prst="ellipse">
            <a:avLst/>
          </a:prstGeom>
          <a:solidFill>
            <a:schemeClr val="accent4"/>
          </a:solidFill>
          <a:ln/>
        </p:spPr>
      </p:sp>
      <p:pic>
        <p:nvPicPr>
          <p:cNvPr id="21" name="icono-20" descr="preencoded.png">    </p:cNvPr>
          <p:cNvPicPr>
            <a:picLocks noChangeAspect="1"/>
          </p:cNvPicPr>
          <p:nvPr/>
        </p:nvPicPr>
        <p:blipFill>
          <a:blip r:embed="rId4"/>
          <a:stretch>
            <a:fillRect/>
          </a:stretch>
        </p:blipFill>
        <p:spPr>
          <a:xfrm>
            <a:off x="640812" y="5688300"/>
            <a:ext cx="199705" cy="199705"/>
          </a:xfrm>
          <a:prstGeom prst="rect">
            <a:avLst/>
          </a:prstGeom>
        </p:spPr>
      </p:pic>
      <p:sp>
        <p:nvSpPr>
          <p:cNvPr id="22" name="Text 16"/>
          <p:cNvSpPr txBox="1"/>
          <p:nvPr/>
        </p:nvSpPr>
        <p:spPr>
          <a:xfrm>
            <a:off x="1051560" y="5596128"/>
            <a:ext cx="4754880" cy="384048"/>
          </a:xfrm>
          <a:prstGeom prst="rect">
            <a:avLst/>
          </a:prstGeom>
          <a:noFill/>
          <a:ln/>
        </p:spPr>
        <p:txBody>
          <a:bodyPr wrap="square" lIns="0" tIns="0" rIns="0" bIns="0" rtlCol="0" anchor="ctr"/>
          <a:lstStyle/>
          <a:p>
            <a:pPr indent="0" marL="0">
              <a:buNone/>
            </a:pPr>
            <a:r>
              <a:rPr lang="en-US" sz="1400" b="1" dirty="0">
                <a:solidFill>
                  <a:schemeClr val="tx1"/>
                </a:solidFill>
                <a:latin typeface="Calibri" pitchFamily="34" charset="0"/>
                <a:ea typeface="Calibri" pitchFamily="34" charset="-122"/>
                <a:cs typeface="Calibri" pitchFamily="34" charset="-120"/>
              </a:rPr>
              <a:t>Formación previa: </a:t>
            </a:r>
            <a:pPr indent="0" marL="0">
              <a:buNone/>
            </a:pPr>
            <a:r>
              <a:rPr lang="en-US" sz="1400" dirty="0">
                <a:solidFill>
                  <a:schemeClr val="tx1"/>
                </a:solidFill>
                <a:latin typeface="Calibri" pitchFamily="34" charset="0"/>
                <a:ea typeface="Calibri" pitchFamily="34" charset="-122"/>
                <a:cs typeface="Calibri" pitchFamily="34" charset="-120"/>
              </a:rPr>
              <a:t>Técnico Agrónomo (2023)</a:t>
            </a:r>
            <a:endParaRPr lang="en-US" sz="1400" dirty="0"/>
          </a:p>
        </p:txBody>
      </p:sp>
      <p:sp>
        <p:nvSpPr>
          <p:cNvPr id="23" name="icono-fondo-21"/>
          <p:cNvSpPr/>
          <p:nvPr/>
        </p:nvSpPr>
        <p:spPr>
          <a:xfrm>
            <a:off x="6035040" y="5596128"/>
            <a:ext cx="384048" cy="384048"/>
          </a:xfrm>
          <a:prstGeom prst="ellipse">
            <a:avLst/>
          </a:prstGeom>
          <a:solidFill>
            <a:schemeClr val="accent4"/>
          </a:solidFill>
          <a:ln/>
        </p:spPr>
      </p:sp>
      <p:pic>
        <p:nvPicPr>
          <p:cNvPr id="24" name="icono-22" descr="preencoded.png">    </p:cNvPr>
          <p:cNvPicPr>
            <a:picLocks noChangeAspect="1"/>
          </p:cNvPicPr>
          <p:nvPr/>
        </p:nvPicPr>
        <p:blipFill>
          <a:blip r:embed="rId5"/>
          <a:stretch>
            <a:fillRect/>
          </a:stretch>
        </p:blipFill>
        <p:spPr>
          <a:xfrm>
            <a:off x="6127212" y="5688300"/>
            <a:ext cx="199705" cy="199705"/>
          </a:xfrm>
          <a:prstGeom prst="rect">
            <a:avLst/>
          </a:prstGeom>
        </p:spPr>
      </p:pic>
      <p:sp>
        <p:nvSpPr>
          <p:cNvPr id="25" name="Text 18"/>
          <p:cNvSpPr txBox="1"/>
          <p:nvPr/>
        </p:nvSpPr>
        <p:spPr>
          <a:xfrm>
            <a:off x="6537960" y="5596128"/>
            <a:ext cx="5029200" cy="384048"/>
          </a:xfrm>
          <a:prstGeom prst="rect">
            <a:avLst/>
          </a:prstGeom>
          <a:noFill/>
          <a:ln/>
        </p:spPr>
        <p:txBody>
          <a:bodyPr wrap="square" lIns="0" tIns="0" rIns="0" bIns="0" rtlCol="0" anchor="ctr"/>
          <a:lstStyle/>
          <a:p>
            <a:pPr indent="0" marL="0">
              <a:buNone/>
            </a:pPr>
            <a:r>
              <a:rPr lang="en-US" sz="1400" dirty="0">
                <a:solidFill>
                  <a:schemeClr val="tx1"/>
                </a:solidFill>
                <a:latin typeface="Calibri" pitchFamily="34" charset="0"/>
                <a:ea typeface="Calibri" pitchFamily="34" charset="-122"/>
                <a:cs typeface="Calibri" pitchFamily="34" charset="-120"/>
              </a:rPr>
              <a:t>maximodanielcastro2004@gmail.com</a:t>
            </a:r>
            <a:endParaRPr lang="en-US" sz="14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10896"/>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II. MEMORIA DESCRIPTIVA</a:t>
            </a:r>
            <a:endParaRPr lang="en-US" sz="1200" dirty="0"/>
          </a:p>
        </p:txBody>
      </p:sp>
      <p:sp>
        <p:nvSpPr>
          <p:cNvPr id="3" name="Text 0"/>
          <p:cNvSpPr/>
          <p:nvPr>
            <p:ph idx="101" type="title" hasCustomPrompt="1"/>
          </p:nvPr>
        </p:nvSpPr>
        <p:spPr>
          <a:xfrm>
            <a:off x="548640" y="603504"/>
            <a:ext cx="11064240" cy="658368"/>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La empresa: Dany Pizzas</a:t>
            </a:r>
            <a:endParaRPr lang="en-US" sz="3200" dirty="0"/>
          </a:p>
        </p:txBody>
      </p:sp>
      <p:pic>
        <p:nvPicPr>
          <p:cNvPr id="4" name="foto-pizza" descr="/tmp/claude-0/-home-claude/c096e975-9e6a-561f-aa0a-08cce324a4b6/scratchpad/repo/site/assets/img/napolitana.jpg">    </p:cNvPr>
          <p:cNvPicPr>
            <a:picLocks noChangeAspect="1"/>
          </p:cNvPicPr>
          <p:nvPr/>
        </p:nvPicPr>
        <p:blipFill>
          <a:blip r:embed="rId1"/>
          <a:stretch>
            <a:fillRect/>
          </a:stretch>
        </p:blipFill>
        <p:spPr>
          <a:xfrm>
            <a:off x="548640" y="1463040"/>
            <a:ext cx="4389120" cy="2743200"/>
          </a:xfrm>
          <a:prstGeom prst="rect">
            <a:avLst/>
          </a:prstGeom>
        </p:spPr>
      </p:pic>
      <p:sp>
        <p:nvSpPr>
          <p:cNvPr id="5" name="card-23"/>
          <p:cNvSpPr/>
          <p:nvPr/>
        </p:nvSpPr>
        <p:spPr>
          <a:xfrm>
            <a:off x="548640" y="4389120"/>
            <a:ext cx="1371600" cy="1783080"/>
          </a:xfrm>
          <a:prstGeom prst="roundRect">
            <a:avLst>
              <a:gd name="adj" fmla="val 8000"/>
            </a:avLst>
          </a:prstGeom>
          <a:solidFill>
            <a:schemeClr val="accent6"/>
          </a:solidFill>
          <a:ln/>
        </p:spPr>
      </p:sp>
      <p:sp>
        <p:nvSpPr>
          <p:cNvPr id="6" name="Text 3"/>
          <p:cNvSpPr txBox="1"/>
          <p:nvPr/>
        </p:nvSpPr>
        <p:spPr>
          <a:xfrm>
            <a:off x="640080" y="4572000"/>
            <a:ext cx="1188720" cy="640080"/>
          </a:xfrm>
          <a:prstGeom prst="rect">
            <a:avLst/>
          </a:prstGeom>
          <a:noFill/>
          <a:ln/>
        </p:spPr>
        <p:txBody>
          <a:bodyPr wrap="square" lIns="0" tIns="0" rIns="0" bIns="0" rtlCol="0" anchor="t"/>
          <a:lstStyle/>
          <a:p>
            <a:pPr algn="ctr" indent="0" marL="0">
              <a:buNone/>
            </a:pPr>
            <a:r>
              <a:rPr lang="en-US" sz="2600" b="1" dirty="0">
                <a:solidFill>
                  <a:schemeClr val="accent1"/>
                </a:solidFill>
                <a:latin typeface="Cambria" pitchFamily="34" charset="0"/>
                <a:ea typeface="Cambria" pitchFamily="34" charset="-122"/>
                <a:cs typeface="Cambria" pitchFamily="34" charset="-120"/>
              </a:rPr>
              <a:t>7</a:t>
            </a:r>
            <a:endParaRPr lang="en-US" sz="2600" dirty="0"/>
          </a:p>
        </p:txBody>
      </p:sp>
      <p:sp>
        <p:nvSpPr>
          <p:cNvPr id="7" name="Text 4"/>
          <p:cNvSpPr txBox="1"/>
          <p:nvPr/>
        </p:nvSpPr>
        <p:spPr>
          <a:xfrm>
            <a:off x="640080" y="5257800"/>
            <a:ext cx="1188720" cy="731520"/>
          </a:xfrm>
          <a:prstGeom prst="rect">
            <a:avLst/>
          </a:prstGeom>
          <a:noFill/>
          <a:ln/>
        </p:spPr>
        <p:txBody>
          <a:bodyPr wrap="square" lIns="0" tIns="0" rIns="0" bIns="0" rtlCol="0" anchor="t"/>
          <a:lstStyle/>
          <a:p>
            <a:pPr algn="ctr" indent="0" marL="0">
              <a:buNone/>
            </a:pPr>
            <a:r>
              <a:rPr lang="en-US" sz="1300" dirty="0">
                <a:solidFill>
                  <a:schemeClr val="accent4"/>
                </a:solidFill>
                <a:latin typeface="Calibri" pitchFamily="34" charset="0"/>
                <a:ea typeface="Calibri" pitchFamily="34" charset="-122"/>
                <a:cs typeface="Calibri" pitchFamily="34" charset="-120"/>
              </a:rPr>
              <a:t>variedades</a:t>
            </a:r>
            <a:endParaRPr lang="en-US" sz="1300" dirty="0"/>
          </a:p>
        </p:txBody>
      </p:sp>
      <p:sp>
        <p:nvSpPr>
          <p:cNvPr id="8" name="card-24"/>
          <p:cNvSpPr/>
          <p:nvPr/>
        </p:nvSpPr>
        <p:spPr>
          <a:xfrm>
            <a:off x="2057400" y="4389120"/>
            <a:ext cx="1371600" cy="1783080"/>
          </a:xfrm>
          <a:prstGeom prst="roundRect">
            <a:avLst>
              <a:gd name="adj" fmla="val 8000"/>
            </a:avLst>
          </a:prstGeom>
          <a:solidFill>
            <a:schemeClr val="accent6"/>
          </a:solidFill>
          <a:ln/>
        </p:spPr>
      </p:sp>
      <p:sp>
        <p:nvSpPr>
          <p:cNvPr id="9" name="Text 6"/>
          <p:cNvSpPr txBox="1"/>
          <p:nvPr/>
        </p:nvSpPr>
        <p:spPr>
          <a:xfrm>
            <a:off x="2148840" y="4572000"/>
            <a:ext cx="1188720" cy="640080"/>
          </a:xfrm>
          <a:prstGeom prst="rect">
            <a:avLst/>
          </a:prstGeom>
          <a:noFill/>
          <a:ln/>
        </p:spPr>
        <p:txBody>
          <a:bodyPr wrap="square" lIns="0" tIns="0" rIns="0" bIns="0" rtlCol="0" anchor="t"/>
          <a:lstStyle/>
          <a:p>
            <a:pPr algn="ctr" indent="0" marL="0">
              <a:buNone/>
            </a:pPr>
            <a:r>
              <a:rPr lang="en-US" sz="2600" b="1" dirty="0">
                <a:solidFill>
                  <a:schemeClr val="accent1"/>
                </a:solidFill>
                <a:latin typeface="Cambria" pitchFamily="34" charset="0"/>
                <a:ea typeface="Cambria" pitchFamily="34" charset="-122"/>
                <a:cs typeface="Cambria" pitchFamily="34" charset="-120"/>
              </a:rPr>
              <a:t>≈ 50</a:t>
            </a:r>
            <a:endParaRPr lang="en-US" sz="2600" dirty="0"/>
          </a:p>
        </p:txBody>
      </p:sp>
      <p:sp>
        <p:nvSpPr>
          <p:cNvPr id="10" name="Text 7"/>
          <p:cNvSpPr txBox="1"/>
          <p:nvPr/>
        </p:nvSpPr>
        <p:spPr>
          <a:xfrm>
            <a:off x="2148840" y="5257800"/>
            <a:ext cx="1188720" cy="731520"/>
          </a:xfrm>
          <a:prstGeom prst="rect">
            <a:avLst/>
          </a:prstGeom>
          <a:noFill/>
          <a:ln/>
        </p:spPr>
        <p:txBody>
          <a:bodyPr wrap="square" lIns="0" tIns="0" rIns="0" bIns="0" rtlCol="0" anchor="t"/>
          <a:lstStyle/>
          <a:p>
            <a:pPr algn="ctr" indent="0" marL="0">
              <a:buNone/>
            </a:pPr>
            <a:r>
              <a:rPr lang="en-US" sz="1300" dirty="0">
                <a:solidFill>
                  <a:schemeClr val="accent4"/>
                </a:solidFill>
                <a:latin typeface="Calibri" pitchFamily="34" charset="0"/>
                <a:ea typeface="Calibri" pitchFamily="34" charset="-122"/>
                <a:cs typeface="Calibri" pitchFamily="34" charset="-120"/>
              </a:rPr>
              <a:t>pedidos/semana</a:t>
            </a:r>
            <a:endParaRPr lang="en-US" sz="1300" dirty="0"/>
          </a:p>
        </p:txBody>
      </p:sp>
      <p:sp>
        <p:nvSpPr>
          <p:cNvPr id="11" name="card-25"/>
          <p:cNvSpPr/>
          <p:nvPr/>
        </p:nvSpPr>
        <p:spPr>
          <a:xfrm>
            <a:off x="3566160" y="4389120"/>
            <a:ext cx="1371600" cy="1783080"/>
          </a:xfrm>
          <a:prstGeom prst="roundRect">
            <a:avLst>
              <a:gd name="adj" fmla="val 8000"/>
            </a:avLst>
          </a:prstGeom>
          <a:solidFill>
            <a:schemeClr val="accent6"/>
          </a:solidFill>
          <a:ln/>
        </p:spPr>
      </p:sp>
      <p:sp>
        <p:nvSpPr>
          <p:cNvPr id="12" name="Text 9"/>
          <p:cNvSpPr txBox="1"/>
          <p:nvPr/>
        </p:nvSpPr>
        <p:spPr>
          <a:xfrm>
            <a:off x="3657600" y="4572000"/>
            <a:ext cx="1188720" cy="640080"/>
          </a:xfrm>
          <a:prstGeom prst="rect">
            <a:avLst/>
          </a:prstGeom>
          <a:noFill/>
          <a:ln/>
        </p:spPr>
        <p:txBody>
          <a:bodyPr wrap="square" lIns="0" tIns="0" rIns="0" bIns="0" rtlCol="0" anchor="t"/>
          <a:lstStyle/>
          <a:p>
            <a:pPr algn="ctr" indent="0" marL="0">
              <a:buNone/>
            </a:pPr>
            <a:r>
              <a:rPr lang="en-US" sz="2600" b="1" dirty="0">
                <a:solidFill>
                  <a:schemeClr val="accent1"/>
                </a:solidFill>
                <a:latin typeface="Cambria" pitchFamily="34" charset="0"/>
                <a:ea typeface="Cambria" pitchFamily="34" charset="-122"/>
                <a:cs typeface="Cambria" pitchFamily="34" charset="-120"/>
              </a:rPr>
              <a:t>2024</a:t>
            </a:r>
            <a:endParaRPr lang="en-US" sz="2600" dirty="0"/>
          </a:p>
        </p:txBody>
      </p:sp>
      <p:sp>
        <p:nvSpPr>
          <p:cNvPr id="13" name="Text 10"/>
          <p:cNvSpPr txBox="1"/>
          <p:nvPr/>
        </p:nvSpPr>
        <p:spPr>
          <a:xfrm>
            <a:off x="3657600" y="5257800"/>
            <a:ext cx="1188720" cy="731520"/>
          </a:xfrm>
          <a:prstGeom prst="rect">
            <a:avLst/>
          </a:prstGeom>
          <a:noFill/>
          <a:ln/>
        </p:spPr>
        <p:txBody>
          <a:bodyPr wrap="square" lIns="0" tIns="0" rIns="0" bIns="0" rtlCol="0" anchor="t"/>
          <a:lstStyle/>
          <a:p>
            <a:pPr algn="ctr" indent="0" marL="0">
              <a:buNone/>
            </a:pPr>
            <a:r>
              <a:rPr lang="en-US" sz="1300" dirty="0">
                <a:solidFill>
                  <a:schemeClr val="accent4"/>
                </a:solidFill>
                <a:latin typeface="Calibri" pitchFamily="34" charset="0"/>
                <a:ea typeface="Calibri" pitchFamily="34" charset="-122"/>
                <a:cs typeface="Calibri" pitchFamily="34" charset="-120"/>
              </a:rPr>
              <a:t>año de inicio</a:t>
            </a:r>
            <a:endParaRPr lang="en-US" sz="1300" dirty="0"/>
          </a:p>
        </p:txBody>
      </p:sp>
      <p:sp>
        <p:nvSpPr>
          <p:cNvPr id="14" name="icono-fondo-26"/>
          <p:cNvSpPr/>
          <p:nvPr/>
        </p:nvSpPr>
        <p:spPr>
          <a:xfrm>
            <a:off x="5303520" y="1508760"/>
            <a:ext cx="502920" cy="502920"/>
          </a:xfrm>
          <a:prstGeom prst="ellipse">
            <a:avLst/>
          </a:prstGeom>
          <a:solidFill>
            <a:schemeClr val="accent1"/>
          </a:solidFill>
          <a:ln/>
        </p:spPr>
      </p:sp>
      <p:pic>
        <p:nvPicPr>
          <p:cNvPr id="15" name="icono-27" descr="preencoded.png">    </p:cNvPr>
          <p:cNvPicPr>
            <a:picLocks noChangeAspect="1"/>
          </p:cNvPicPr>
          <p:nvPr/>
        </p:nvPicPr>
        <p:blipFill>
          <a:blip r:embed="rId2"/>
          <a:stretch>
            <a:fillRect/>
          </a:stretch>
        </p:blipFill>
        <p:spPr>
          <a:xfrm>
            <a:off x="5424221" y="1629461"/>
            <a:ext cx="261518" cy="261518"/>
          </a:xfrm>
          <a:prstGeom prst="rect">
            <a:avLst/>
          </a:prstGeom>
        </p:spPr>
      </p:pic>
      <p:sp>
        <p:nvSpPr>
          <p:cNvPr id="16" name="Text 12"/>
          <p:cNvSpPr txBox="1"/>
          <p:nvPr/>
        </p:nvSpPr>
        <p:spPr>
          <a:xfrm>
            <a:off x="5943600" y="1463040"/>
            <a:ext cx="2468880" cy="274320"/>
          </a:xfrm>
          <a:prstGeom prst="rect">
            <a:avLst/>
          </a:prstGeom>
          <a:noFill/>
          <a:ln/>
        </p:spPr>
        <p:txBody>
          <a:bodyPr wrap="square" lIns="0" tIns="0" rIns="0" bIns="0" rtlCol="0" anchor="t"/>
          <a:lstStyle/>
          <a:p>
            <a:pPr indent="0" marL="0">
              <a:buNone/>
            </a:pPr>
            <a:r>
              <a:rPr lang="en-US" sz="1200" b="1" dirty="0">
                <a:solidFill>
                  <a:schemeClr val="accent4"/>
                </a:solidFill>
                <a:latin typeface="Calibri" pitchFamily="34" charset="0"/>
                <a:ea typeface="Calibri" pitchFamily="34" charset="-122"/>
                <a:cs typeface="Calibri" pitchFamily="34" charset="-120"/>
              </a:rPr>
              <a:t>Ubicación</a:t>
            </a:r>
            <a:endParaRPr lang="en-US" sz="1200" dirty="0"/>
          </a:p>
        </p:txBody>
      </p:sp>
      <p:sp>
        <p:nvSpPr>
          <p:cNvPr id="17" name="Text 13"/>
          <p:cNvSpPr txBox="1"/>
          <p:nvPr/>
        </p:nvSpPr>
        <p:spPr>
          <a:xfrm>
            <a:off x="5943600" y="1755648"/>
            <a:ext cx="2514600" cy="54864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Chilecito, La Rioja, Argentina</a:t>
            </a:r>
            <a:endParaRPr lang="en-US" sz="1500" dirty="0"/>
          </a:p>
        </p:txBody>
      </p:sp>
      <p:sp>
        <p:nvSpPr>
          <p:cNvPr id="18" name="icono-fondo-28"/>
          <p:cNvSpPr/>
          <p:nvPr/>
        </p:nvSpPr>
        <p:spPr>
          <a:xfrm>
            <a:off x="8503920" y="1508760"/>
            <a:ext cx="502920" cy="502920"/>
          </a:xfrm>
          <a:prstGeom prst="ellipse">
            <a:avLst/>
          </a:prstGeom>
          <a:solidFill>
            <a:schemeClr val="accent2"/>
          </a:solidFill>
          <a:ln/>
        </p:spPr>
      </p:sp>
      <p:pic>
        <p:nvPicPr>
          <p:cNvPr id="19" name="icono-29" descr="preencoded.png">    </p:cNvPr>
          <p:cNvPicPr>
            <a:picLocks noChangeAspect="1"/>
          </p:cNvPicPr>
          <p:nvPr/>
        </p:nvPicPr>
        <p:blipFill>
          <a:blip r:embed="rId3"/>
          <a:stretch>
            <a:fillRect/>
          </a:stretch>
        </p:blipFill>
        <p:spPr>
          <a:xfrm>
            <a:off x="8624621" y="1629461"/>
            <a:ext cx="261518" cy="261518"/>
          </a:xfrm>
          <a:prstGeom prst="rect">
            <a:avLst/>
          </a:prstGeom>
        </p:spPr>
      </p:pic>
      <p:sp>
        <p:nvSpPr>
          <p:cNvPr id="20" name="Text 15"/>
          <p:cNvSpPr txBox="1"/>
          <p:nvPr/>
        </p:nvSpPr>
        <p:spPr>
          <a:xfrm>
            <a:off x="9144000" y="1463040"/>
            <a:ext cx="2468880" cy="274320"/>
          </a:xfrm>
          <a:prstGeom prst="rect">
            <a:avLst/>
          </a:prstGeom>
          <a:noFill/>
          <a:ln/>
        </p:spPr>
        <p:txBody>
          <a:bodyPr wrap="square" lIns="0" tIns="0" rIns="0" bIns="0" rtlCol="0" anchor="t"/>
          <a:lstStyle/>
          <a:p>
            <a:pPr indent="0" marL="0">
              <a:buNone/>
            </a:pPr>
            <a:r>
              <a:rPr lang="en-US" sz="1200" b="1" dirty="0">
                <a:solidFill>
                  <a:schemeClr val="accent4"/>
                </a:solidFill>
                <a:latin typeface="Calibri" pitchFamily="34" charset="0"/>
                <a:ea typeface="Calibri" pitchFamily="34" charset="-122"/>
                <a:cs typeface="Calibri" pitchFamily="34" charset="-120"/>
              </a:rPr>
              <a:t>Modalidad</a:t>
            </a:r>
            <a:endParaRPr lang="en-US" sz="1200" dirty="0"/>
          </a:p>
        </p:txBody>
      </p:sp>
      <p:sp>
        <p:nvSpPr>
          <p:cNvPr id="21" name="Text 16"/>
          <p:cNvSpPr txBox="1"/>
          <p:nvPr/>
        </p:nvSpPr>
        <p:spPr>
          <a:xfrm>
            <a:off x="9144000" y="1755648"/>
            <a:ext cx="2514600" cy="54864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Solo envío a domicilio</a:t>
            </a:r>
            <a:endParaRPr lang="en-US" sz="1500" dirty="0"/>
          </a:p>
        </p:txBody>
      </p:sp>
      <p:sp>
        <p:nvSpPr>
          <p:cNvPr id="22" name="icono-fondo-30"/>
          <p:cNvSpPr/>
          <p:nvPr/>
        </p:nvSpPr>
        <p:spPr>
          <a:xfrm>
            <a:off x="5303520" y="2560320"/>
            <a:ext cx="502920" cy="502920"/>
          </a:xfrm>
          <a:prstGeom prst="ellipse">
            <a:avLst/>
          </a:prstGeom>
          <a:solidFill>
            <a:schemeClr val="accent1"/>
          </a:solidFill>
          <a:ln/>
        </p:spPr>
      </p:sp>
      <p:pic>
        <p:nvPicPr>
          <p:cNvPr id="23" name="icono-31" descr="preencoded.png">    </p:cNvPr>
          <p:cNvPicPr>
            <a:picLocks noChangeAspect="1"/>
          </p:cNvPicPr>
          <p:nvPr/>
        </p:nvPicPr>
        <p:blipFill>
          <a:blip r:embed="rId4"/>
          <a:stretch>
            <a:fillRect/>
          </a:stretch>
        </p:blipFill>
        <p:spPr>
          <a:xfrm>
            <a:off x="5424221" y="2681021"/>
            <a:ext cx="261518" cy="261518"/>
          </a:xfrm>
          <a:prstGeom prst="rect">
            <a:avLst/>
          </a:prstGeom>
        </p:spPr>
      </p:pic>
      <p:sp>
        <p:nvSpPr>
          <p:cNvPr id="24" name="Text 18"/>
          <p:cNvSpPr txBox="1"/>
          <p:nvPr/>
        </p:nvSpPr>
        <p:spPr>
          <a:xfrm>
            <a:off x="5943600" y="2514600"/>
            <a:ext cx="2468880" cy="274320"/>
          </a:xfrm>
          <a:prstGeom prst="rect">
            <a:avLst/>
          </a:prstGeom>
          <a:noFill/>
          <a:ln/>
        </p:spPr>
        <p:txBody>
          <a:bodyPr wrap="square" lIns="0" tIns="0" rIns="0" bIns="0" rtlCol="0" anchor="t"/>
          <a:lstStyle/>
          <a:p>
            <a:pPr indent="0" marL="0">
              <a:buNone/>
            </a:pPr>
            <a:r>
              <a:rPr lang="en-US" sz="1200" b="1" dirty="0">
                <a:solidFill>
                  <a:schemeClr val="accent4"/>
                </a:solidFill>
                <a:latin typeface="Calibri" pitchFamily="34" charset="0"/>
                <a:ea typeface="Calibri" pitchFamily="34" charset="-122"/>
                <a:cs typeface="Calibri" pitchFamily="34" charset="-120"/>
              </a:rPr>
              <a:t>Horario</a:t>
            </a:r>
            <a:endParaRPr lang="en-US" sz="1200" dirty="0"/>
          </a:p>
        </p:txBody>
      </p:sp>
      <p:sp>
        <p:nvSpPr>
          <p:cNvPr id="25" name="Text 19"/>
          <p:cNvSpPr txBox="1"/>
          <p:nvPr/>
        </p:nvSpPr>
        <p:spPr>
          <a:xfrm>
            <a:off x="5943600" y="2807208"/>
            <a:ext cx="2514600" cy="54864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Mar a dom, 21:00 a 00:30</a:t>
            </a:r>
            <a:endParaRPr lang="en-US" sz="1500" dirty="0"/>
          </a:p>
        </p:txBody>
      </p:sp>
      <p:sp>
        <p:nvSpPr>
          <p:cNvPr id="26" name="icono-fondo-32"/>
          <p:cNvSpPr/>
          <p:nvPr/>
        </p:nvSpPr>
        <p:spPr>
          <a:xfrm>
            <a:off x="8503920" y="2560320"/>
            <a:ext cx="502920" cy="502920"/>
          </a:xfrm>
          <a:prstGeom prst="ellipse">
            <a:avLst/>
          </a:prstGeom>
          <a:solidFill>
            <a:schemeClr val="accent2"/>
          </a:solidFill>
          <a:ln/>
        </p:spPr>
      </p:sp>
      <p:pic>
        <p:nvPicPr>
          <p:cNvPr id="27" name="icono-33" descr="preencoded.png">    </p:cNvPr>
          <p:cNvPicPr>
            <a:picLocks noChangeAspect="1"/>
          </p:cNvPicPr>
          <p:nvPr/>
        </p:nvPicPr>
        <p:blipFill>
          <a:blip r:embed="rId5"/>
          <a:stretch>
            <a:fillRect/>
          </a:stretch>
        </p:blipFill>
        <p:spPr>
          <a:xfrm>
            <a:off x="8624621" y="2681021"/>
            <a:ext cx="261518" cy="261518"/>
          </a:xfrm>
          <a:prstGeom prst="rect">
            <a:avLst/>
          </a:prstGeom>
        </p:spPr>
      </p:pic>
      <p:sp>
        <p:nvSpPr>
          <p:cNvPr id="28" name="Text 21"/>
          <p:cNvSpPr txBox="1"/>
          <p:nvPr/>
        </p:nvSpPr>
        <p:spPr>
          <a:xfrm>
            <a:off x="9144000" y="2514600"/>
            <a:ext cx="2468880" cy="274320"/>
          </a:xfrm>
          <a:prstGeom prst="rect">
            <a:avLst/>
          </a:prstGeom>
          <a:noFill/>
          <a:ln/>
        </p:spPr>
        <p:txBody>
          <a:bodyPr wrap="square" lIns="0" tIns="0" rIns="0" bIns="0" rtlCol="0" anchor="t"/>
          <a:lstStyle/>
          <a:p>
            <a:pPr indent="0" marL="0">
              <a:buNone/>
            </a:pPr>
            <a:r>
              <a:rPr lang="en-US" sz="1200" b="1" dirty="0">
                <a:solidFill>
                  <a:schemeClr val="accent4"/>
                </a:solidFill>
                <a:latin typeface="Calibri" pitchFamily="34" charset="0"/>
                <a:ea typeface="Calibri" pitchFamily="34" charset="-122"/>
                <a:cs typeface="Calibri" pitchFamily="34" charset="-120"/>
              </a:rPr>
              <a:t>Canal de venta</a:t>
            </a:r>
            <a:endParaRPr lang="en-US" sz="1200" dirty="0"/>
          </a:p>
        </p:txBody>
      </p:sp>
      <p:sp>
        <p:nvSpPr>
          <p:cNvPr id="29" name="Text 22"/>
          <p:cNvSpPr txBox="1"/>
          <p:nvPr/>
        </p:nvSpPr>
        <p:spPr>
          <a:xfrm>
            <a:off x="9144000" y="2807208"/>
            <a:ext cx="2514600" cy="54864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WhatsApp e Instagram</a:t>
            </a:r>
            <a:endParaRPr lang="en-US" sz="1500" dirty="0"/>
          </a:p>
        </p:txBody>
      </p:sp>
      <p:sp>
        <p:nvSpPr>
          <p:cNvPr id="30" name="card-34"/>
          <p:cNvSpPr/>
          <p:nvPr/>
        </p:nvSpPr>
        <p:spPr>
          <a:xfrm>
            <a:off x="5303520" y="3703320"/>
            <a:ext cx="6309360" cy="2468880"/>
          </a:xfrm>
          <a:prstGeom prst="roundRect">
            <a:avLst>
              <a:gd name="adj" fmla="val 4444"/>
            </a:avLst>
          </a:prstGeom>
          <a:solidFill>
            <a:schemeClr val="bg2"/>
          </a:solidFill>
          <a:ln/>
        </p:spPr>
      </p:sp>
      <p:sp>
        <p:nvSpPr>
          <p:cNvPr id="31" name="etiqueta-35"/>
          <p:cNvSpPr/>
          <p:nvPr/>
        </p:nvSpPr>
        <p:spPr>
          <a:xfrm>
            <a:off x="8686800" y="3840480"/>
            <a:ext cx="2788920" cy="310896"/>
          </a:xfrm>
          <a:prstGeom prst="roundRect">
            <a:avLst>
              <a:gd name="adj" fmla="val 50000"/>
            </a:avLst>
          </a:prstGeom>
          <a:solidFill>
            <a:schemeClr val="tx2"/>
          </a:solidFill>
          <a:ln/>
        </p:spPr>
      </p:sp>
      <p:sp>
        <p:nvSpPr>
          <p:cNvPr id="32" name="Text 25"/>
          <p:cNvSpPr txBox="1"/>
          <p:nvPr/>
        </p:nvSpPr>
        <p:spPr>
          <a:xfrm>
            <a:off x="8686800" y="3840480"/>
            <a:ext cx="2788920" cy="310896"/>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APROBADAS POR EL DUEÑO · 07/10</a:t>
            </a:r>
            <a:endParaRPr lang="en-US" sz="1100" dirty="0"/>
          </a:p>
        </p:txBody>
      </p:sp>
      <p:sp>
        <p:nvSpPr>
          <p:cNvPr id="33" name="Text 26"/>
          <p:cNvSpPr txBox="1"/>
          <p:nvPr/>
        </p:nvSpPr>
        <p:spPr>
          <a:xfrm>
            <a:off x="5577840" y="4206240"/>
            <a:ext cx="5806440" cy="1920240"/>
          </a:xfrm>
          <a:prstGeom prst="rect">
            <a:avLst/>
          </a:prstGeom>
          <a:noFill/>
          <a:ln/>
        </p:spPr>
        <p:txBody>
          <a:bodyPr wrap="square" lIns="0" tIns="0" rIns="0" bIns="0" rtlCol="0" anchor="t"/>
          <a:lstStyle/>
          <a:p>
            <a:pPr indent="0" marL="0">
              <a:buNone/>
            </a:pPr>
            <a:r>
              <a:rPr lang="en-US" sz="1500" b="1" dirty="0">
                <a:solidFill>
                  <a:schemeClr val="accent3"/>
                </a:solidFill>
                <a:latin typeface="Calibri" pitchFamily="34" charset="0"/>
                <a:ea typeface="Calibri" pitchFamily="34" charset="-122"/>
                <a:cs typeface="Calibri" pitchFamily="34" charset="-120"/>
              </a:rPr>
              <a:t>Misión. </a:t>
            </a:r>
            <a:pPr indent="0" marL="0">
              <a:buNone/>
            </a:pPr>
            <a:r>
              <a:rPr lang="en-US" sz="1500" dirty="0">
                <a:solidFill>
                  <a:schemeClr val="tx1"/>
                </a:solidFill>
                <a:latin typeface="Calibri" pitchFamily="34" charset="0"/>
                <a:ea typeface="Calibri" pitchFamily="34" charset="-122"/>
                <a:cs typeface="Calibri" pitchFamily="34" charset="-120"/>
              </a:rPr>
              <a:t>Llevar a las casas de Chilecito pizzas caseras y a buen precio, con un pedido simple y una atención cercana.</a:t>
            </a:r>
            <a:endParaRPr lang="en-US" sz="1500" dirty="0"/>
          </a:p>
          <a:p>
            <a:pPr indent="0" marL="0">
              <a:buNone/>
            </a:pPr>
            <a:r>
              <a:rPr lang="en-US" sz="600" dirty="0">
                <a:solidFill>
                  <a:schemeClr val="tx1"/>
                </a:solidFill>
                <a:latin typeface="Calibri" pitchFamily="34" charset="0"/>
                <a:ea typeface="Calibri" pitchFamily="34" charset="-122"/>
                <a:cs typeface="Calibri" pitchFamily="34" charset="-120"/>
              </a:rPr>
              <a:t> </a:t>
            </a:r>
            <a:endParaRPr lang="en-US" sz="1500" dirty="0"/>
          </a:p>
          <a:p>
            <a:pPr indent="0" marL="0">
              <a:buNone/>
            </a:pPr>
            <a:r>
              <a:rPr lang="en-US" sz="1500" b="1" dirty="0">
                <a:solidFill>
                  <a:schemeClr val="tx2"/>
                </a:solidFill>
                <a:latin typeface="Calibri" pitchFamily="34" charset="0"/>
                <a:ea typeface="Calibri" pitchFamily="34" charset="-122"/>
                <a:cs typeface="Calibri" pitchFamily="34" charset="-120"/>
              </a:rPr>
              <a:t>Visión. </a:t>
            </a:r>
            <a:pPr indent="0" marL="0">
              <a:buNone/>
            </a:pPr>
            <a:r>
              <a:rPr lang="en-US" sz="1500" dirty="0">
                <a:solidFill>
                  <a:schemeClr val="tx1"/>
                </a:solidFill>
                <a:latin typeface="Calibri" pitchFamily="34" charset="0"/>
                <a:ea typeface="Calibri" pitchFamily="34" charset="-122"/>
                <a:cs typeface="Calibri" pitchFamily="34" charset="-120"/>
              </a:rPr>
              <a:t>Ser para 2028 la pizzería de envío de referencia en Chilecito, creciendo de forma ordenada y formalizándose.</a:t>
            </a:r>
            <a:endParaRPr lang="en-US" sz="1500" dirty="0"/>
          </a:p>
          <a:p>
            <a:pPr indent="0" marL="0">
              <a:buNone/>
            </a:pPr>
            <a:r>
              <a:rPr lang="en-US" sz="600" dirty="0">
                <a:solidFill>
                  <a:schemeClr val="tx1"/>
                </a:solidFill>
                <a:latin typeface="Calibri" pitchFamily="34" charset="0"/>
                <a:ea typeface="Calibri" pitchFamily="34" charset="-122"/>
                <a:cs typeface="Calibri" pitchFamily="34" charset="-120"/>
              </a:rPr>
              <a:t> </a:t>
            </a:r>
            <a:endParaRPr lang="en-US" sz="1500" dirty="0"/>
          </a:p>
          <a:p>
            <a:pPr indent="0" marL="0">
              <a:buNone/>
            </a:pPr>
            <a:r>
              <a:rPr lang="en-US" sz="1500" b="1" dirty="0">
                <a:solidFill>
                  <a:schemeClr val="tx1"/>
                </a:solidFill>
                <a:latin typeface="Calibri" pitchFamily="34" charset="0"/>
                <a:ea typeface="Calibri" pitchFamily="34" charset="-122"/>
                <a:cs typeface="Calibri" pitchFamily="34" charset="-120"/>
              </a:rPr>
              <a:t>Valores. </a:t>
            </a:r>
            <a:pPr indent="0" marL="0">
              <a:buNone/>
            </a:pPr>
            <a:r>
              <a:rPr lang="en-US" sz="1500" dirty="0">
                <a:solidFill>
                  <a:schemeClr val="tx1"/>
                </a:solidFill>
                <a:latin typeface="Calibri" pitchFamily="34" charset="0"/>
                <a:ea typeface="Calibri" pitchFamily="34" charset="-122"/>
                <a:cs typeface="Calibri" pitchFamily="34" charset="-120"/>
              </a:rPr>
              <a:t>Calidad casera · Precio justo · Trato cercano · Cumplimiento del horario.</a:t>
            </a:r>
            <a:endParaRPr lang="en-US" sz="15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10896"/>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II. MEMORIA DESCRIPTIVA</a:t>
            </a:r>
            <a:endParaRPr lang="en-US" sz="1200" dirty="0"/>
          </a:p>
        </p:txBody>
      </p:sp>
      <p:sp>
        <p:nvSpPr>
          <p:cNvPr id="3" name="Text 0"/>
          <p:cNvSpPr/>
          <p:nvPr>
            <p:ph idx="101" type="title" hasCustomPrompt="1"/>
          </p:nvPr>
        </p:nvSpPr>
        <p:spPr>
          <a:xfrm>
            <a:off x="548640" y="603504"/>
            <a:ext cx="11064240" cy="658368"/>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Organización e infraestructura</a:t>
            </a:r>
            <a:endParaRPr lang="en-US" sz="3200" dirty="0"/>
          </a:p>
        </p:txBody>
      </p:sp>
      <p:sp>
        <p:nvSpPr>
          <p:cNvPr id="4" name="linea-36"/>
          <p:cNvSpPr/>
          <p:nvPr/>
        </p:nvSpPr>
        <p:spPr>
          <a:xfrm>
            <a:off x="3657600" y="2606040"/>
            <a:ext cx="0" cy="365760"/>
          </a:xfrm>
          <a:prstGeom prst="line">
            <a:avLst/>
          </a:prstGeom>
          <a:noFill/>
          <a:ln w="19050">
            <a:solidFill>
              <a:srgbClr val="8A7F76"/>
            </a:solidFill>
            <a:prstDash val="solid"/>
          </a:ln>
        </p:spPr>
      </p:sp>
      <p:sp>
        <p:nvSpPr>
          <p:cNvPr id="5" name="linea-37"/>
          <p:cNvSpPr/>
          <p:nvPr/>
        </p:nvSpPr>
        <p:spPr>
          <a:xfrm>
            <a:off x="1783080" y="2971800"/>
            <a:ext cx="3749040" cy="0"/>
          </a:xfrm>
          <a:prstGeom prst="line">
            <a:avLst/>
          </a:prstGeom>
          <a:noFill/>
          <a:ln w="19050">
            <a:solidFill>
              <a:srgbClr val="8A7F76"/>
            </a:solidFill>
            <a:prstDash val="solid"/>
          </a:ln>
        </p:spPr>
      </p:sp>
      <p:sp>
        <p:nvSpPr>
          <p:cNvPr id="6" name="linea-38"/>
          <p:cNvSpPr/>
          <p:nvPr/>
        </p:nvSpPr>
        <p:spPr>
          <a:xfrm>
            <a:off x="1783080" y="2971800"/>
            <a:ext cx="0" cy="320040"/>
          </a:xfrm>
          <a:prstGeom prst="line">
            <a:avLst/>
          </a:prstGeom>
          <a:noFill/>
          <a:ln w="19050">
            <a:solidFill>
              <a:srgbClr val="8A7F76"/>
            </a:solidFill>
            <a:prstDash val="solid"/>
          </a:ln>
        </p:spPr>
      </p:sp>
      <p:sp>
        <p:nvSpPr>
          <p:cNvPr id="7" name="linea-39"/>
          <p:cNvSpPr/>
          <p:nvPr/>
        </p:nvSpPr>
        <p:spPr>
          <a:xfrm>
            <a:off x="5532120" y="2971800"/>
            <a:ext cx="0" cy="320040"/>
          </a:xfrm>
          <a:prstGeom prst="line">
            <a:avLst/>
          </a:prstGeom>
          <a:noFill/>
          <a:ln w="19050">
            <a:solidFill>
              <a:srgbClr val="8A7F76"/>
            </a:solidFill>
            <a:prstDash val="solid"/>
          </a:ln>
        </p:spPr>
      </p:sp>
      <p:sp>
        <p:nvSpPr>
          <p:cNvPr id="8" name="linea-40"/>
          <p:cNvSpPr/>
          <p:nvPr/>
        </p:nvSpPr>
        <p:spPr>
          <a:xfrm>
            <a:off x="5532120" y="4572000"/>
            <a:ext cx="0" cy="411480"/>
          </a:xfrm>
          <a:prstGeom prst="line">
            <a:avLst/>
          </a:prstGeom>
          <a:noFill/>
          <a:ln w="19050">
            <a:solidFill>
              <a:srgbClr val="8A7F76"/>
            </a:solidFill>
            <a:prstDash val="solid"/>
          </a:ln>
        </p:spPr>
      </p:sp>
      <p:sp>
        <p:nvSpPr>
          <p:cNvPr id="9" name="org-41"/>
          <p:cNvSpPr/>
          <p:nvPr/>
        </p:nvSpPr>
        <p:spPr>
          <a:xfrm>
            <a:off x="2103120" y="1508760"/>
            <a:ext cx="3108960" cy="1097280"/>
          </a:xfrm>
          <a:prstGeom prst="roundRect">
            <a:avLst>
              <a:gd name="adj" fmla="val 10000"/>
            </a:avLst>
          </a:prstGeom>
          <a:solidFill>
            <a:schemeClr val="accent1"/>
          </a:solidFill>
          <a:ln/>
        </p:spPr>
      </p:sp>
      <p:sp>
        <p:nvSpPr>
          <p:cNvPr id="10" name="Text 8"/>
          <p:cNvSpPr txBox="1"/>
          <p:nvPr/>
        </p:nvSpPr>
        <p:spPr>
          <a:xfrm>
            <a:off x="2286000" y="1645920"/>
            <a:ext cx="2743200" cy="365760"/>
          </a:xfrm>
          <a:prstGeom prst="rect">
            <a:avLst/>
          </a:prstGeom>
          <a:noFill/>
          <a:ln/>
        </p:spPr>
        <p:txBody>
          <a:bodyPr wrap="square" lIns="0" tIns="0" rIns="0" bIns="0" rtlCol="0" anchor="t"/>
          <a:lstStyle/>
          <a:p>
            <a:pPr indent="0" marL="0">
              <a:buNone/>
            </a:pPr>
            <a:r>
              <a:rPr lang="en-US" sz="1600" b="1" dirty="0">
                <a:solidFill>
                  <a:schemeClr val="bg1"/>
                </a:solidFill>
                <a:latin typeface="Calibri" pitchFamily="34" charset="0"/>
                <a:ea typeface="Calibri" pitchFamily="34" charset="-122"/>
                <a:cs typeface="Calibri" pitchFamily="34" charset="-120"/>
              </a:rPr>
              <a:t>Cocinero (dueño)</a:t>
            </a:r>
            <a:endParaRPr lang="en-US" sz="1600" dirty="0"/>
          </a:p>
        </p:txBody>
      </p:sp>
      <p:sp>
        <p:nvSpPr>
          <p:cNvPr id="11" name="Text 9"/>
          <p:cNvSpPr txBox="1"/>
          <p:nvPr/>
        </p:nvSpPr>
        <p:spPr>
          <a:xfrm>
            <a:off x="2286000" y="2057400"/>
            <a:ext cx="2743200" cy="457200"/>
          </a:xfrm>
          <a:prstGeom prst="rect">
            <a:avLst/>
          </a:prstGeom>
          <a:noFill/>
          <a:ln/>
        </p:spPr>
        <p:txBody>
          <a:bodyPr wrap="square" lIns="0" tIns="0" rIns="0" bIns="0" rtlCol="0" anchor="t"/>
          <a:lstStyle/>
          <a:p>
            <a:pPr indent="0" marL="0">
              <a:buNone/>
            </a:pPr>
            <a:r>
              <a:rPr lang="en-US" sz="1400" dirty="0">
                <a:solidFill>
                  <a:schemeClr val="bg1"/>
                </a:solidFill>
                <a:latin typeface="Calibri" pitchFamily="34" charset="0"/>
                <a:ea typeface="Calibri" pitchFamily="34" charset="-122"/>
                <a:cs typeface="Calibri" pitchFamily="34" charset="-120"/>
              </a:rPr>
              <a:t>Elabora y fija carta y precios</a:t>
            </a:r>
            <a:endParaRPr lang="en-US" sz="1400" dirty="0"/>
          </a:p>
        </p:txBody>
      </p:sp>
      <p:sp>
        <p:nvSpPr>
          <p:cNvPr id="12" name="org-42"/>
          <p:cNvSpPr/>
          <p:nvPr/>
        </p:nvSpPr>
        <p:spPr>
          <a:xfrm>
            <a:off x="548640" y="3291840"/>
            <a:ext cx="2468880" cy="1280160"/>
          </a:xfrm>
          <a:prstGeom prst="roundRect">
            <a:avLst>
              <a:gd name="adj" fmla="val 8571"/>
            </a:avLst>
          </a:prstGeom>
          <a:solidFill>
            <a:schemeClr val="accent2"/>
          </a:solidFill>
          <a:ln/>
        </p:spPr>
      </p:sp>
      <p:sp>
        <p:nvSpPr>
          <p:cNvPr id="13" name="Text 11"/>
          <p:cNvSpPr txBox="1"/>
          <p:nvPr/>
        </p:nvSpPr>
        <p:spPr>
          <a:xfrm>
            <a:off x="731520" y="3429000"/>
            <a:ext cx="2103120" cy="365760"/>
          </a:xfrm>
          <a:prstGeom prst="rect">
            <a:avLst/>
          </a:prstGeom>
          <a:noFill/>
          <a:ln/>
        </p:spPr>
        <p:txBody>
          <a:bodyPr wrap="square" lIns="0" tIns="0" rIns="0" bIns="0" rtlCol="0" anchor="t"/>
          <a:lstStyle/>
          <a:p>
            <a:pPr indent="0" marL="0">
              <a:buNone/>
            </a:pPr>
            <a:r>
              <a:rPr lang="en-US" sz="1600" b="1" dirty="0">
                <a:solidFill>
                  <a:schemeClr val="bg1"/>
                </a:solidFill>
                <a:latin typeface="Calibri" pitchFamily="34" charset="0"/>
                <a:ea typeface="Calibri" pitchFamily="34" charset="-122"/>
                <a:cs typeface="Calibri" pitchFamily="34" charset="-120"/>
              </a:rPr>
              <a:t>Ayudante</a:t>
            </a:r>
            <a:endParaRPr lang="en-US" sz="1600" dirty="0"/>
          </a:p>
        </p:txBody>
      </p:sp>
      <p:sp>
        <p:nvSpPr>
          <p:cNvPr id="14" name="Text 12"/>
          <p:cNvSpPr txBox="1"/>
          <p:nvPr/>
        </p:nvSpPr>
        <p:spPr>
          <a:xfrm>
            <a:off x="731520" y="3840480"/>
            <a:ext cx="2103120" cy="640080"/>
          </a:xfrm>
          <a:prstGeom prst="rect">
            <a:avLst/>
          </a:prstGeom>
          <a:noFill/>
          <a:ln/>
        </p:spPr>
        <p:txBody>
          <a:bodyPr wrap="square" lIns="0" tIns="0" rIns="0" bIns="0" rtlCol="0" anchor="t"/>
          <a:lstStyle/>
          <a:p>
            <a:pPr indent="0" marL="0">
              <a:buNone/>
            </a:pPr>
            <a:r>
              <a:rPr lang="en-US" sz="1400" dirty="0">
                <a:solidFill>
                  <a:schemeClr val="bg1"/>
                </a:solidFill>
                <a:latin typeface="Calibri" pitchFamily="34" charset="0"/>
                <a:ea typeface="Calibri" pitchFamily="34" charset="-122"/>
                <a:cs typeface="Calibri" pitchFamily="34" charset="-120"/>
              </a:rPr>
              <a:t>Masas, horneado y empaque</a:t>
            </a:r>
            <a:endParaRPr lang="en-US" sz="1400" dirty="0"/>
          </a:p>
        </p:txBody>
      </p:sp>
      <p:sp>
        <p:nvSpPr>
          <p:cNvPr id="15" name="org-43"/>
          <p:cNvSpPr/>
          <p:nvPr/>
        </p:nvSpPr>
        <p:spPr>
          <a:xfrm>
            <a:off x="4114800" y="3291840"/>
            <a:ext cx="2834640" cy="1280160"/>
          </a:xfrm>
          <a:prstGeom prst="roundRect">
            <a:avLst>
              <a:gd name="adj" fmla="val 8571"/>
            </a:avLst>
          </a:prstGeom>
          <a:solidFill>
            <a:schemeClr val="accent2"/>
          </a:solidFill>
          <a:ln/>
        </p:spPr>
      </p:sp>
      <p:sp>
        <p:nvSpPr>
          <p:cNvPr id="16" name="Text 14"/>
          <p:cNvSpPr txBox="1"/>
          <p:nvPr/>
        </p:nvSpPr>
        <p:spPr>
          <a:xfrm>
            <a:off x="4297680" y="3429000"/>
            <a:ext cx="2468880" cy="365760"/>
          </a:xfrm>
          <a:prstGeom prst="rect">
            <a:avLst/>
          </a:prstGeom>
          <a:noFill/>
          <a:ln/>
        </p:spPr>
        <p:txBody>
          <a:bodyPr wrap="square" lIns="0" tIns="0" rIns="0" bIns="0" rtlCol="0" anchor="t"/>
          <a:lstStyle/>
          <a:p>
            <a:pPr indent="0" marL="0">
              <a:buNone/>
            </a:pPr>
            <a:r>
              <a:rPr lang="en-US" sz="1600" b="1" dirty="0">
                <a:solidFill>
                  <a:schemeClr val="bg1"/>
                </a:solidFill>
                <a:latin typeface="Calibri" pitchFamily="34" charset="0"/>
                <a:ea typeface="Calibri" pitchFamily="34" charset="-122"/>
                <a:cs typeface="Calibri" pitchFamily="34" charset="-120"/>
              </a:rPr>
              <a:t>Atención al cliente</a:t>
            </a:r>
            <a:endParaRPr lang="en-US" sz="1600" dirty="0"/>
          </a:p>
        </p:txBody>
      </p:sp>
      <p:sp>
        <p:nvSpPr>
          <p:cNvPr id="17" name="Text 15"/>
          <p:cNvSpPr txBox="1"/>
          <p:nvPr/>
        </p:nvSpPr>
        <p:spPr>
          <a:xfrm>
            <a:off x="4297680" y="3840480"/>
            <a:ext cx="2468880" cy="640080"/>
          </a:xfrm>
          <a:prstGeom prst="rect">
            <a:avLst/>
          </a:prstGeom>
          <a:noFill/>
          <a:ln/>
        </p:spPr>
        <p:txBody>
          <a:bodyPr wrap="square" lIns="0" tIns="0" rIns="0" bIns="0" rtlCol="0" anchor="t"/>
          <a:lstStyle/>
          <a:p>
            <a:pPr indent="0" marL="0">
              <a:buNone/>
            </a:pPr>
            <a:r>
              <a:rPr lang="en-US" sz="1400" dirty="0">
                <a:solidFill>
                  <a:schemeClr val="bg1"/>
                </a:solidFill>
                <a:latin typeface="Calibri" pitchFamily="34" charset="0"/>
                <a:ea typeface="Calibri" pitchFamily="34" charset="-122"/>
                <a:cs typeface="Calibri" pitchFamily="34" charset="-120"/>
              </a:rPr>
              <a:t>Atiende WhatsApp, cobra y coordina</a:t>
            </a:r>
            <a:endParaRPr lang="en-US" sz="1400" dirty="0"/>
          </a:p>
        </p:txBody>
      </p:sp>
      <p:sp>
        <p:nvSpPr>
          <p:cNvPr id="18" name="org-44"/>
          <p:cNvSpPr/>
          <p:nvPr/>
        </p:nvSpPr>
        <p:spPr>
          <a:xfrm>
            <a:off x="4114800" y="4983480"/>
            <a:ext cx="2834640" cy="1188720"/>
          </a:xfrm>
          <a:prstGeom prst="roundRect">
            <a:avLst>
              <a:gd name="adj" fmla="val 9231"/>
            </a:avLst>
          </a:prstGeom>
          <a:solidFill>
            <a:schemeClr val="accent6"/>
          </a:solidFill>
          <a:ln w="15875">
            <a:solidFill>
              <a:srgbClr val="8A7F76"/>
            </a:solidFill>
            <a:prstDash val="dash"/>
          </a:ln>
        </p:spPr>
      </p:sp>
      <p:sp>
        <p:nvSpPr>
          <p:cNvPr id="19" name="Text 17"/>
          <p:cNvSpPr txBox="1"/>
          <p:nvPr/>
        </p:nvSpPr>
        <p:spPr>
          <a:xfrm>
            <a:off x="4297680" y="5120640"/>
            <a:ext cx="2468880" cy="365760"/>
          </a:xfrm>
          <a:prstGeom prst="rect">
            <a:avLst/>
          </a:prstGeom>
          <a:noFill/>
          <a:ln/>
        </p:spPr>
        <p:txBody>
          <a:bodyPr wrap="square" lIns="0" tIns="0" rIns="0" bIns="0" rtlCol="0" anchor="t"/>
          <a:lstStyle/>
          <a:p>
            <a:pPr indent="0" marL="0">
              <a:buNone/>
            </a:pPr>
            <a:r>
              <a:rPr lang="en-US" sz="1600" b="1" dirty="0">
                <a:solidFill>
                  <a:schemeClr val="tx1"/>
                </a:solidFill>
                <a:latin typeface="Calibri" pitchFamily="34" charset="0"/>
                <a:ea typeface="Calibri" pitchFamily="34" charset="-122"/>
                <a:cs typeface="Calibri" pitchFamily="34" charset="-120"/>
              </a:rPr>
              <a:t>Repartidor (externo)</a:t>
            </a:r>
            <a:endParaRPr lang="en-US" sz="1600" dirty="0"/>
          </a:p>
        </p:txBody>
      </p:sp>
      <p:sp>
        <p:nvSpPr>
          <p:cNvPr id="20" name="Text 18"/>
          <p:cNvSpPr txBox="1"/>
          <p:nvPr/>
        </p:nvSpPr>
        <p:spPr>
          <a:xfrm>
            <a:off x="4297680" y="5532120"/>
            <a:ext cx="2468880" cy="54864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Cobra el envío al cliente</a:t>
            </a:r>
            <a:endParaRPr lang="en-US" sz="1400" dirty="0"/>
          </a:p>
        </p:txBody>
      </p:sp>
      <p:sp>
        <p:nvSpPr>
          <p:cNvPr id="21" name="card-45"/>
          <p:cNvSpPr/>
          <p:nvPr/>
        </p:nvSpPr>
        <p:spPr>
          <a:xfrm>
            <a:off x="7406640" y="1508760"/>
            <a:ext cx="4206240" cy="4663440"/>
          </a:xfrm>
          <a:prstGeom prst="roundRect">
            <a:avLst>
              <a:gd name="adj" fmla="val 2609"/>
            </a:avLst>
          </a:prstGeom>
          <a:solidFill>
            <a:schemeClr val="accent6"/>
          </a:solidFill>
          <a:ln/>
        </p:spPr>
      </p:sp>
      <p:sp>
        <p:nvSpPr>
          <p:cNvPr id="22" name="Text 20"/>
          <p:cNvSpPr txBox="1"/>
          <p:nvPr/>
        </p:nvSpPr>
        <p:spPr>
          <a:xfrm>
            <a:off x="7680960" y="1691640"/>
            <a:ext cx="3657600" cy="41148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Infraestructura</a:t>
            </a:r>
            <a:endParaRPr lang="en-US" sz="2000" dirty="0"/>
          </a:p>
        </p:txBody>
      </p:sp>
      <p:sp>
        <p:nvSpPr>
          <p:cNvPr id="23" name="icono-fondo-46"/>
          <p:cNvSpPr/>
          <p:nvPr/>
        </p:nvSpPr>
        <p:spPr>
          <a:xfrm>
            <a:off x="7680960" y="2286000"/>
            <a:ext cx="502920" cy="502920"/>
          </a:xfrm>
          <a:prstGeom prst="ellipse">
            <a:avLst/>
          </a:prstGeom>
          <a:solidFill>
            <a:schemeClr val="accent2"/>
          </a:solidFill>
          <a:ln/>
        </p:spPr>
      </p:sp>
      <p:pic>
        <p:nvPicPr>
          <p:cNvPr id="24" name="icono-47" descr="preencoded.png">    </p:cNvPr>
          <p:cNvPicPr>
            <a:picLocks noChangeAspect="1"/>
          </p:cNvPicPr>
          <p:nvPr/>
        </p:nvPicPr>
        <p:blipFill>
          <a:blip r:embed="rId1"/>
          <a:stretch>
            <a:fillRect/>
          </a:stretch>
        </p:blipFill>
        <p:spPr>
          <a:xfrm>
            <a:off x="7801661" y="2406701"/>
            <a:ext cx="261518" cy="261518"/>
          </a:xfrm>
          <a:prstGeom prst="rect">
            <a:avLst/>
          </a:prstGeom>
        </p:spPr>
      </p:pic>
      <p:sp>
        <p:nvSpPr>
          <p:cNvPr id="25" name="Text 22"/>
          <p:cNvSpPr txBox="1"/>
          <p:nvPr/>
        </p:nvSpPr>
        <p:spPr>
          <a:xfrm>
            <a:off x="8366760" y="2240280"/>
            <a:ext cx="3063240" cy="685800"/>
          </a:xfrm>
          <a:prstGeom prst="rect">
            <a:avLst/>
          </a:prstGeom>
          <a:noFill/>
          <a:ln/>
        </p:spPr>
        <p:txBody>
          <a:bodyPr wrap="square" lIns="0" tIns="0" rIns="0" bIns="0" rtlCol="0" anchor="ctr"/>
          <a:lstStyle/>
          <a:p>
            <a:pPr indent="0" marL="0">
              <a:buNone/>
            </a:pPr>
            <a:r>
              <a:rPr lang="en-US" sz="1500" dirty="0">
                <a:solidFill>
                  <a:schemeClr val="tx1"/>
                </a:solidFill>
                <a:latin typeface="Calibri" pitchFamily="34" charset="0"/>
                <a:ea typeface="Calibri" pitchFamily="34" charset="-122"/>
                <a:cs typeface="Calibri" pitchFamily="34" charset="-120"/>
              </a:rPr>
              <a:t>Cocina de la vivienda familiar</a:t>
            </a:r>
            <a:endParaRPr lang="en-US" sz="1500" dirty="0"/>
          </a:p>
        </p:txBody>
      </p:sp>
      <p:sp>
        <p:nvSpPr>
          <p:cNvPr id="26" name="icono-fondo-48"/>
          <p:cNvSpPr/>
          <p:nvPr/>
        </p:nvSpPr>
        <p:spPr>
          <a:xfrm>
            <a:off x="7680960" y="3227832"/>
            <a:ext cx="502920" cy="502920"/>
          </a:xfrm>
          <a:prstGeom prst="ellipse">
            <a:avLst/>
          </a:prstGeom>
          <a:solidFill>
            <a:schemeClr val="accent2"/>
          </a:solidFill>
          <a:ln/>
        </p:spPr>
      </p:sp>
      <p:pic>
        <p:nvPicPr>
          <p:cNvPr id="27" name="icono-49" descr="preencoded.png">    </p:cNvPr>
          <p:cNvPicPr>
            <a:picLocks noChangeAspect="1"/>
          </p:cNvPicPr>
          <p:nvPr/>
        </p:nvPicPr>
        <p:blipFill>
          <a:blip r:embed="rId2"/>
          <a:stretch>
            <a:fillRect/>
          </a:stretch>
        </p:blipFill>
        <p:spPr>
          <a:xfrm>
            <a:off x="7801661" y="3348533"/>
            <a:ext cx="261518" cy="261518"/>
          </a:xfrm>
          <a:prstGeom prst="rect">
            <a:avLst/>
          </a:prstGeom>
        </p:spPr>
      </p:pic>
      <p:sp>
        <p:nvSpPr>
          <p:cNvPr id="28" name="Text 24"/>
          <p:cNvSpPr txBox="1"/>
          <p:nvPr/>
        </p:nvSpPr>
        <p:spPr>
          <a:xfrm>
            <a:off x="8366760" y="3182112"/>
            <a:ext cx="3063240" cy="685800"/>
          </a:xfrm>
          <a:prstGeom prst="rect">
            <a:avLst/>
          </a:prstGeom>
          <a:noFill/>
          <a:ln/>
        </p:spPr>
        <p:txBody>
          <a:bodyPr wrap="square" lIns="0" tIns="0" rIns="0" bIns="0" rtlCol="0" anchor="ctr"/>
          <a:lstStyle/>
          <a:p>
            <a:pPr indent="0" marL="0">
              <a:buNone/>
            </a:pPr>
            <a:r>
              <a:rPr lang="en-US" sz="1500" dirty="0">
                <a:solidFill>
                  <a:schemeClr val="tx1"/>
                </a:solidFill>
                <a:latin typeface="Calibri" pitchFamily="34" charset="0"/>
                <a:ea typeface="Calibri" pitchFamily="34" charset="-122"/>
                <a:cs typeface="Calibri" pitchFamily="34" charset="-120"/>
              </a:rPr>
              <a:t>Horno pizzero de 6 moldes: una noche fuerte son 4 tandas</a:t>
            </a:r>
            <a:endParaRPr lang="en-US" sz="1500" dirty="0"/>
          </a:p>
        </p:txBody>
      </p:sp>
      <p:sp>
        <p:nvSpPr>
          <p:cNvPr id="29" name="icono-fondo-50"/>
          <p:cNvSpPr/>
          <p:nvPr/>
        </p:nvSpPr>
        <p:spPr>
          <a:xfrm>
            <a:off x="7680960" y="4169664"/>
            <a:ext cx="502920" cy="502920"/>
          </a:xfrm>
          <a:prstGeom prst="ellipse">
            <a:avLst/>
          </a:prstGeom>
          <a:solidFill>
            <a:schemeClr val="accent1"/>
          </a:solidFill>
          <a:ln/>
        </p:spPr>
      </p:sp>
      <p:pic>
        <p:nvPicPr>
          <p:cNvPr id="30" name="icono-51" descr="preencoded.png">    </p:cNvPr>
          <p:cNvPicPr>
            <a:picLocks noChangeAspect="1"/>
          </p:cNvPicPr>
          <p:nvPr/>
        </p:nvPicPr>
        <p:blipFill>
          <a:blip r:embed="rId3"/>
          <a:stretch>
            <a:fillRect/>
          </a:stretch>
        </p:blipFill>
        <p:spPr>
          <a:xfrm>
            <a:off x="7801661" y="4290365"/>
            <a:ext cx="261518" cy="261518"/>
          </a:xfrm>
          <a:prstGeom prst="rect">
            <a:avLst/>
          </a:prstGeom>
        </p:spPr>
      </p:pic>
      <p:sp>
        <p:nvSpPr>
          <p:cNvPr id="31" name="Text 26"/>
          <p:cNvSpPr txBox="1"/>
          <p:nvPr/>
        </p:nvSpPr>
        <p:spPr>
          <a:xfrm>
            <a:off x="8366760" y="4123944"/>
            <a:ext cx="3063240" cy="685800"/>
          </a:xfrm>
          <a:prstGeom prst="rect">
            <a:avLst/>
          </a:prstGeom>
          <a:noFill/>
          <a:ln/>
        </p:spPr>
        <p:txBody>
          <a:bodyPr wrap="square" lIns="0" tIns="0" rIns="0" bIns="0" rtlCol="0" anchor="ctr"/>
          <a:lstStyle/>
          <a:p>
            <a:pPr indent="0" marL="0">
              <a:buNone/>
            </a:pPr>
            <a:r>
              <a:rPr lang="en-US" sz="1500" dirty="0">
                <a:solidFill>
                  <a:schemeClr val="tx1"/>
                </a:solidFill>
                <a:latin typeface="Calibri" pitchFamily="34" charset="0"/>
                <a:ea typeface="Calibri" pitchFamily="34" charset="-122"/>
                <a:cs typeface="Calibri" pitchFamily="34" charset="-120"/>
              </a:rPr>
              <a:t>Un solo celular recibe todos los pedidos</a:t>
            </a:r>
            <a:endParaRPr lang="en-US" sz="1500" dirty="0"/>
          </a:p>
        </p:txBody>
      </p:sp>
      <p:sp>
        <p:nvSpPr>
          <p:cNvPr id="32" name="icono-fondo-52"/>
          <p:cNvSpPr/>
          <p:nvPr/>
        </p:nvSpPr>
        <p:spPr>
          <a:xfrm>
            <a:off x="7680960" y="5111496"/>
            <a:ext cx="502920" cy="502920"/>
          </a:xfrm>
          <a:prstGeom prst="ellipse">
            <a:avLst/>
          </a:prstGeom>
          <a:solidFill>
            <a:schemeClr val="accent2"/>
          </a:solidFill>
          <a:ln/>
        </p:spPr>
      </p:sp>
      <p:pic>
        <p:nvPicPr>
          <p:cNvPr id="33" name="icono-53" descr="preencoded.png">    </p:cNvPr>
          <p:cNvPicPr>
            <a:picLocks noChangeAspect="1"/>
          </p:cNvPicPr>
          <p:nvPr/>
        </p:nvPicPr>
        <p:blipFill>
          <a:blip r:embed="rId4"/>
          <a:stretch>
            <a:fillRect/>
          </a:stretch>
        </p:blipFill>
        <p:spPr>
          <a:xfrm>
            <a:off x="7801661" y="5232197"/>
            <a:ext cx="261518" cy="261518"/>
          </a:xfrm>
          <a:prstGeom prst="rect">
            <a:avLst/>
          </a:prstGeom>
        </p:spPr>
      </p:pic>
      <p:sp>
        <p:nvSpPr>
          <p:cNvPr id="34" name="Text 28"/>
          <p:cNvSpPr txBox="1"/>
          <p:nvPr/>
        </p:nvSpPr>
        <p:spPr>
          <a:xfrm>
            <a:off x="8366760" y="5065776"/>
            <a:ext cx="3063240" cy="685800"/>
          </a:xfrm>
          <a:prstGeom prst="rect">
            <a:avLst/>
          </a:prstGeom>
          <a:noFill/>
          <a:ln/>
        </p:spPr>
        <p:txBody>
          <a:bodyPr wrap="square" lIns="0" tIns="0" rIns="0" bIns="0" rtlCol="0" anchor="ctr"/>
          <a:lstStyle/>
          <a:p>
            <a:pPr indent="0" marL="0">
              <a:buNone/>
            </a:pPr>
            <a:r>
              <a:rPr lang="en-US" sz="1500" dirty="0">
                <a:solidFill>
                  <a:schemeClr val="tx1"/>
                </a:solidFill>
                <a:latin typeface="Calibri" pitchFamily="34" charset="0"/>
                <a:ea typeface="Calibri" pitchFamily="34" charset="-122"/>
                <a:cs typeface="Calibri" pitchFamily="34" charset="-120"/>
              </a:rPr>
              <a:t>Tecnología nueva: $0 (servicios gratuitos)</a:t>
            </a:r>
            <a:endParaRPr lang="en-US" sz="15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10896"/>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II. MEMORIA DESCRIPTIVA</a:t>
            </a:r>
            <a:endParaRPr lang="en-US" sz="1200" dirty="0"/>
          </a:p>
        </p:txBody>
      </p:sp>
      <p:sp>
        <p:nvSpPr>
          <p:cNvPr id="3" name="Text 0"/>
          <p:cNvSpPr/>
          <p:nvPr>
            <p:ph idx="101" type="title" hasCustomPrompt="1"/>
          </p:nvPr>
        </p:nvSpPr>
        <p:spPr>
          <a:xfrm>
            <a:off x="548640" y="603504"/>
            <a:ext cx="11064240" cy="658368"/>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FODA y posición estratégica</a:t>
            </a:r>
            <a:endParaRPr lang="en-US" sz="3200" dirty="0"/>
          </a:p>
        </p:txBody>
      </p:sp>
      <p:sp>
        <p:nvSpPr>
          <p:cNvPr id="4" name="card-54"/>
          <p:cNvSpPr/>
          <p:nvPr/>
        </p:nvSpPr>
        <p:spPr>
          <a:xfrm>
            <a:off x="548640" y="1463040"/>
            <a:ext cx="3520440" cy="2240280"/>
          </a:xfrm>
          <a:prstGeom prst="roundRect">
            <a:avLst>
              <a:gd name="adj" fmla="val 4898"/>
            </a:avLst>
          </a:prstGeom>
          <a:solidFill>
            <a:schemeClr val="accent6"/>
          </a:solidFill>
          <a:ln/>
        </p:spPr>
      </p:sp>
      <p:sp>
        <p:nvSpPr>
          <p:cNvPr id="5" name="letra-55"/>
          <p:cNvSpPr/>
          <p:nvPr/>
        </p:nvSpPr>
        <p:spPr>
          <a:xfrm>
            <a:off x="777240" y="1645920"/>
            <a:ext cx="502920" cy="502920"/>
          </a:xfrm>
          <a:prstGeom prst="ellipse">
            <a:avLst/>
          </a:prstGeom>
          <a:solidFill>
            <a:schemeClr val="accent2"/>
          </a:solidFill>
          <a:ln/>
        </p:spPr>
      </p:sp>
      <p:sp>
        <p:nvSpPr>
          <p:cNvPr id="6" name="Text 4"/>
          <p:cNvSpPr txBox="1"/>
          <p:nvPr/>
        </p:nvSpPr>
        <p:spPr>
          <a:xfrm>
            <a:off x="777240" y="1645920"/>
            <a:ext cx="502920" cy="502920"/>
          </a:xfrm>
          <a:prstGeom prst="rect">
            <a:avLst/>
          </a:prstGeom>
          <a:noFill/>
          <a:ln/>
        </p:spPr>
        <p:txBody>
          <a:bodyPr wrap="square" lIns="0" tIns="0" rIns="0" bIns="0" rtlCol="0" anchor="ctr"/>
          <a:lstStyle/>
          <a:p>
            <a:pPr algn="ctr" indent="0" marL="0">
              <a:buNone/>
            </a:pPr>
            <a:r>
              <a:rPr lang="en-US" sz="2000" b="1" dirty="0">
                <a:solidFill>
                  <a:schemeClr val="bg1"/>
                </a:solidFill>
                <a:latin typeface="Cambria" pitchFamily="34" charset="0"/>
                <a:ea typeface="Cambria" pitchFamily="34" charset="-122"/>
                <a:cs typeface="Cambria" pitchFamily="34" charset="-120"/>
              </a:rPr>
              <a:t>F</a:t>
            </a:r>
            <a:endParaRPr lang="en-US" sz="2000" dirty="0"/>
          </a:p>
        </p:txBody>
      </p:sp>
      <p:sp>
        <p:nvSpPr>
          <p:cNvPr id="7" name="Text 5"/>
          <p:cNvSpPr txBox="1"/>
          <p:nvPr/>
        </p:nvSpPr>
        <p:spPr>
          <a:xfrm>
            <a:off x="1417320" y="1664208"/>
            <a:ext cx="2468880" cy="457200"/>
          </a:xfrm>
          <a:prstGeom prst="rect">
            <a:avLst/>
          </a:prstGeom>
          <a:noFill/>
          <a:ln/>
        </p:spPr>
        <p:txBody>
          <a:bodyPr wrap="square" lIns="0" tIns="0" rIns="0" bIns="0" rtlCol="0" anchor="t"/>
          <a:lstStyle/>
          <a:p>
            <a:pPr indent="0" marL="0">
              <a:buNone/>
            </a:pPr>
            <a:r>
              <a:rPr lang="en-US" sz="1900" b="1" dirty="0">
                <a:solidFill>
                  <a:schemeClr val="tx1"/>
                </a:solidFill>
                <a:latin typeface="Cambria" pitchFamily="34" charset="0"/>
                <a:ea typeface="Cambria" pitchFamily="34" charset="-122"/>
                <a:cs typeface="Cambria" pitchFamily="34" charset="-120"/>
              </a:rPr>
              <a:t>Fortalezas</a:t>
            </a:r>
            <a:endParaRPr lang="en-US" sz="1900" dirty="0"/>
          </a:p>
        </p:txBody>
      </p:sp>
      <p:sp>
        <p:nvSpPr>
          <p:cNvPr id="8" name="Text 6"/>
          <p:cNvSpPr txBox="1"/>
          <p:nvPr/>
        </p:nvSpPr>
        <p:spPr>
          <a:xfrm>
            <a:off x="822960" y="2286000"/>
            <a:ext cx="3063240" cy="132588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latin typeface="Calibri" pitchFamily="34" charset="0"/>
                <a:ea typeface="Calibri" pitchFamily="34" charset="-122"/>
                <a:cs typeface="Calibri" pitchFamily="34" charset="-120"/>
              </a:rPr>
              <a:t>Producto propio, 7 variedades</a:t>
            </a:r>
            <a:endParaRPr lang="en-US" sz="1400" dirty="0"/>
          </a:p>
          <a:p>
            <a:pPr marL="342900" indent="-342900">
              <a:spcAft>
                <a:spcPts val="400"/>
              </a:spcAft>
              <a:buSzPct val="100000"/>
              <a:buChar char="•"/>
            </a:pPr>
            <a:r>
              <a:rPr lang="en-US" sz="1400" dirty="0">
                <a:solidFill>
                  <a:schemeClr val="tx1"/>
                </a:solidFill>
                <a:latin typeface="Calibri" pitchFamily="34" charset="0"/>
                <a:ea typeface="Calibri" pitchFamily="34" charset="-122"/>
                <a:cs typeface="Calibri" pitchFamily="34" charset="-120"/>
              </a:rPr>
              <a:t>Clientes que ya piden por WhatsApp</a:t>
            </a:r>
            <a:endParaRPr lang="en-US" sz="1400" dirty="0"/>
          </a:p>
          <a:p>
            <a:pPr marL="342900" indent="-342900">
              <a:spcAft>
                <a:spcPts val="400"/>
              </a:spcAft>
              <a:buSzPct val="100000"/>
              <a:buChar char="•"/>
            </a:pPr>
            <a:r>
              <a:rPr lang="en-US" sz="1400" dirty="0">
                <a:solidFill>
                  <a:schemeClr val="tx1"/>
                </a:solidFill>
                <a:latin typeface="Calibri" pitchFamily="34" charset="0"/>
                <a:ea typeface="Calibri" pitchFamily="34" charset="-122"/>
                <a:cs typeface="Calibri" pitchFamily="34" charset="-120"/>
              </a:rPr>
              <a:t>Cobro digital incorporado</a:t>
            </a:r>
            <a:endParaRPr lang="en-US" sz="1400" dirty="0"/>
          </a:p>
        </p:txBody>
      </p:sp>
      <p:sp>
        <p:nvSpPr>
          <p:cNvPr id="9" name="card-56"/>
          <p:cNvSpPr/>
          <p:nvPr/>
        </p:nvSpPr>
        <p:spPr>
          <a:xfrm>
            <a:off x="4251960" y="1463040"/>
            <a:ext cx="3520440" cy="2240280"/>
          </a:xfrm>
          <a:prstGeom prst="roundRect">
            <a:avLst>
              <a:gd name="adj" fmla="val 4898"/>
            </a:avLst>
          </a:prstGeom>
          <a:solidFill>
            <a:schemeClr val="accent6"/>
          </a:solidFill>
          <a:ln/>
        </p:spPr>
      </p:sp>
      <p:sp>
        <p:nvSpPr>
          <p:cNvPr id="10" name="letra-57"/>
          <p:cNvSpPr/>
          <p:nvPr/>
        </p:nvSpPr>
        <p:spPr>
          <a:xfrm>
            <a:off x="4480560" y="1645920"/>
            <a:ext cx="502920" cy="502920"/>
          </a:xfrm>
          <a:prstGeom prst="ellipse">
            <a:avLst/>
          </a:prstGeom>
          <a:solidFill>
            <a:schemeClr val="tx2"/>
          </a:solidFill>
          <a:ln/>
        </p:spPr>
      </p:sp>
      <p:sp>
        <p:nvSpPr>
          <p:cNvPr id="11" name="Text 9"/>
          <p:cNvSpPr txBox="1"/>
          <p:nvPr/>
        </p:nvSpPr>
        <p:spPr>
          <a:xfrm>
            <a:off x="4480560" y="1645920"/>
            <a:ext cx="502920" cy="502920"/>
          </a:xfrm>
          <a:prstGeom prst="rect">
            <a:avLst/>
          </a:prstGeom>
          <a:noFill/>
          <a:ln/>
        </p:spPr>
        <p:txBody>
          <a:bodyPr wrap="square" lIns="0" tIns="0" rIns="0" bIns="0" rtlCol="0" anchor="ctr"/>
          <a:lstStyle/>
          <a:p>
            <a:pPr algn="ctr" indent="0" marL="0">
              <a:buNone/>
            </a:pPr>
            <a:r>
              <a:rPr lang="en-US" sz="2000" b="1" dirty="0">
                <a:solidFill>
                  <a:schemeClr val="bg1"/>
                </a:solidFill>
                <a:latin typeface="Cambria" pitchFamily="34" charset="0"/>
                <a:ea typeface="Cambria" pitchFamily="34" charset="-122"/>
                <a:cs typeface="Cambria" pitchFamily="34" charset="-120"/>
              </a:rPr>
              <a:t>O</a:t>
            </a:r>
            <a:endParaRPr lang="en-US" sz="2000" dirty="0"/>
          </a:p>
        </p:txBody>
      </p:sp>
      <p:sp>
        <p:nvSpPr>
          <p:cNvPr id="12" name="Text 10"/>
          <p:cNvSpPr txBox="1"/>
          <p:nvPr/>
        </p:nvSpPr>
        <p:spPr>
          <a:xfrm>
            <a:off x="5120640" y="1664208"/>
            <a:ext cx="2468880" cy="457200"/>
          </a:xfrm>
          <a:prstGeom prst="rect">
            <a:avLst/>
          </a:prstGeom>
          <a:noFill/>
          <a:ln/>
        </p:spPr>
        <p:txBody>
          <a:bodyPr wrap="square" lIns="0" tIns="0" rIns="0" bIns="0" rtlCol="0" anchor="t"/>
          <a:lstStyle/>
          <a:p>
            <a:pPr indent="0" marL="0">
              <a:buNone/>
            </a:pPr>
            <a:r>
              <a:rPr lang="en-US" sz="1900" b="1" dirty="0">
                <a:solidFill>
                  <a:schemeClr val="tx1"/>
                </a:solidFill>
                <a:latin typeface="Cambria" pitchFamily="34" charset="0"/>
                <a:ea typeface="Cambria" pitchFamily="34" charset="-122"/>
                <a:cs typeface="Cambria" pitchFamily="34" charset="-120"/>
              </a:rPr>
              <a:t>Oportunidades</a:t>
            </a:r>
            <a:endParaRPr lang="en-US" sz="1900" dirty="0"/>
          </a:p>
        </p:txBody>
      </p:sp>
      <p:sp>
        <p:nvSpPr>
          <p:cNvPr id="13" name="Text 11"/>
          <p:cNvSpPr txBox="1"/>
          <p:nvPr/>
        </p:nvSpPr>
        <p:spPr>
          <a:xfrm>
            <a:off x="4526280" y="2286000"/>
            <a:ext cx="3063240" cy="132588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latin typeface="Calibri" pitchFamily="34" charset="0"/>
                <a:ea typeface="Calibri" pitchFamily="34" charset="-122"/>
                <a:cs typeface="Calibri" pitchFamily="34" charset="-120"/>
              </a:rPr>
              <a:t>Uso masivo de celular y WhatsApp</a:t>
            </a:r>
            <a:endParaRPr lang="en-US" sz="1400" dirty="0"/>
          </a:p>
          <a:p>
            <a:pPr marL="342900" indent="-342900">
              <a:spcAft>
                <a:spcPts val="400"/>
              </a:spcAft>
              <a:buSzPct val="100000"/>
              <a:buChar char="•"/>
            </a:pPr>
            <a:r>
              <a:rPr lang="en-US" sz="1400" dirty="0">
                <a:solidFill>
                  <a:schemeClr val="tx1"/>
                </a:solidFill>
                <a:latin typeface="Calibri" pitchFamily="34" charset="0"/>
                <a:ea typeface="Calibri" pitchFamily="34" charset="-122"/>
                <a:cs typeface="Calibri" pitchFamily="34" charset="-120"/>
              </a:rPr>
              <a:t>Herramientas web gratuitas</a:t>
            </a:r>
            <a:endParaRPr lang="en-US" sz="1400" dirty="0"/>
          </a:p>
          <a:p>
            <a:pPr marL="342900" indent="-342900">
              <a:spcAft>
                <a:spcPts val="400"/>
              </a:spcAft>
              <a:buSzPct val="100000"/>
              <a:buChar char="•"/>
            </a:pPr>
            <a:r>
              <a:rPr lang="en-US" sz="1400" dirty="0">
                <a:solidFill>
                  <a:schemeClr val="tx1"/>
                </a:solidFill>
                <a:latin typeface="Calibri" pitchFamily="34" charset="0"/>
                <a:ea typeface="Calibri" pitchFamily="34" charset="-122"/>
                <a:cs typeface="Calibri" pitchFamily="34" charset="-120"/>
              </a:rPr>
              <a:t>Difusión por Instagram y QR</a:t>
            </a:r>
            <a:endParaRPr lang="en-US" sz="1400" dirty="0"/>
          </a:p>
        </p:txBody>
      </p:sp>
      <p:sp>
        <p:nvSpPr>
          <p:cNvPr id="14" name="card-58"/>
          <p:cNvSpPr/>
          <p:nvPr/>
        </p:nvSpPr>
        <p:spPr>
          <a:xfrm>
            <a:off x="548640" y="3858768"/>
            <a:ext cx="3520440" cy="2240280"/>
          </a:xfrm>
          <a:prstGeom prst="roundRect">
            <a:avLst>
              <a:gd name="adj" fmla="val 4898"/>
            </a:avLst>
          </a:prstGeom>
          <a:solidFill>
            <a:schemeClr val="accent6"/>
          </a:solidFill>
          <a:ln/>
        </p:spPr>
      </p:sp>
      <p:sp>
        <p:nvSpPr>
          <p:cNvPr id="15" name="letra-59"/>
          <p:cNvSpPr/>
          <p:nvPr/>
        </p:nvSpPr>
        <p:spPr>
          <a:xfrm>
            <a:off x="777240" y="4041648"/>
            <a:ext cx="502920" cy="502920"/>
          </a:xfrm>
          <a:prstGeom prst="ellipse">
            <a:avLst/>
          </a:prstGeom>
          <a:solidFill>
            <a:schemeClr val="accent1"/>
          </a:solidFill>
          <a:ln/>
        </p:spPr>
      </p:sp>
      <p:sp>
        <p:nvSpPr>
          <p:cNvPr id="16" name="Text 14"/>
          <p:cNvSpPr txBox="1"/>
          <p:nvPr/>
        </p:nvSpPr>
        <p:spPr>
          <a:xfrm>
            <a:off x="777240" y="4041648"/>
            <a:ext cx="502920" cy="502920"/>
          </a:xfrm>
          <a:prstGeom prst="rect">
            <a:avLst/>
          </a:prstGeom>
          <a:noFill/>
          <a:ln/>
        </p:spPr>
        <p:txBody>
          <a:bodyPr wrap="square" lIns="0" tIns="0" rIns="0" bIns="0" rtlCol="0" anchor="ctr"/>
          <a:lstStyle/>
          <a:p>
            <a:pPr algn="ctr" indent="0" marL="0">
              <a:buNone/>
            </a:pPr>
            <a:r>
              <a:rPr lang="en-US" sz="2000" b="1" dirty="0">
                <a:solidFill>
                  <a:schemeClr val="bg1"/>
                </a:solidFill>
                <a:latin typeface="Cambria" pitchFamily="34" charset="0"/>
                <a:ea typeface="Cambria" pitchFamily="34" charset="-122"/>
                <a:cs typeface="Cambria" pitchFamily="34" charset="-120"/>
              </a:rPr>
              <a:t>D</a:t>
            </a:r>
            <a:endParaRPr lang="en-US" sz="2000" dirty="0"/>
          </a:p>
        </p:txBody>
      </p:sp>
      <p:sp>
        <p:nvSpPr>
          <p:cNvPr id="17" name="Text 15"/>
          <p:cNvSpPr txBox="1"/>
          <p:nvPr/>
        </p:nvSpPr>
        <p:spPr>
          <a:xfrm>
            <a:off x="1417320" y="4059936"/>
            <a:ext cx="2468880" cy="457200"/>
          </a:xfrm>
          <a:prstGeom prst="rect">
            <a:avLst/>
          </a:prstGeom>
          <a:noFill/>
          <a:ln/>
        </p:spPr>
        <p:txBody>
          <a:bodyPr wrap="square" lIns="0" tIns="0" rIns="0" bIns="0" rtlCol="0" anchor="t"/>
          <a:lstStyle/>
          <a:p>
            <a:pPr indent="0" marL="0">
              <a:buNone/>
            </a:pPr>
            <a:r>
              <a:rPr lang="en-US" sz="1900" b="1" dirty="0">
                <a:solidFill>
                  <a:schemeClr val="tx1"/>
                </a:solidFill>
                <a:latin typeface="Cambria" pitchFamily="34" charset="0"/>
                <a:ea typeface="Cambria" pitchFamily="34" charset="-122"/>
                <a:cs typeface="Cambria" pitchFamily="34" charset="-120"/>
              </a:rPr>
              <a:t>Debilidades</a:t>
            </a:r>
            <a:endParaRPr lang="en-US" sz="1900" dirty="0"/>
          </a:p>
        </p:txBody>
      </p:sp>
      <p:sp>
        <p:nvSpPr>
          <p:cNvPr id="18" name="Text 16"/>
          <p:cNvSpPr txBox="1"/>
          <p:nvPr/>
        </p:nvSpPr>
        <p:spPr>
          <a:xfrm>
            <a:off x="822960" y="4681728"/>
            <a:ext cx="3063240" cy="132588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latin typeface="Calibri" pitchFamily="34" charset="0"/>
                <a:ea typeface="Calibri" pitchFamily="34" charset="-122"/>
                <a:cs typeface="Calibri" pitchFamily="34" charset="-120"/>
              </a:rPr>
              <a:t>Pedidos informales, sin registro</a:t>
            </a:r>
            <a:endParaRPr lang="en-US" sz="1400" dirty="0"/>
          </a:p>
          <a:p>
            <a:pPr marL="342900" indent="-342900">
              <a:spcAft>
                <a:spcPts val="400"/>
              </a:spcAft>
              <a:buSzPct val="100000"/>
              <a:buChar char="•"/>
            </a:pPr>
            <a:r>
              <a:rPr lang="en-US" sz="1400" dirty="0">
                <a:solidFill>
                  <a:schemeClr val="tx1"/>
                </a:solidFill>
                <a:latin typeface="Calibri" pitchFamily="34" charset="0"/>
                <a:ea typeface="Calibri" pitchFamily="34" charset="-122"/>
                <a:cs typeface="Calibri" pitchFamily="34" charset="-120"/>
              </a:rPr>
              <a:t>Sin carta digital</a:t>
            </a:r>
            <a:endParaRPr lang="en-US" sz="1400" dirty="0"/>
          </a:p>
          <a:p>
            <a:pPr marL="342900" indent="-342900">
              <a:spcAft>
                <a:spcPts val="400"/>
              </a:spcAft>
              <a:buSzPct val="100000"/>
              <a:buChar char="•"/>
            </a:pPr>
            <a:r>
              <a:rPr lang="en-US" sz="1400" dirty="0">
                <a:solidFill>
                  <a:schemeClr val="tx1"/>
                </a:solidFill>
                <a:latin typeface="Calibri" pitchFamily="34" charset="0"/>
                <a:ea typeface="Calibri" pitchFamily="34" charset="-122"/>
                <a:cs typeface="Calibri" pitchFamily="34" charset="-120"/>
              </a:rPr>
              <a:t>Una sola persona atiende</a:t>
            </a:r>
            <a:endParaRPr lang="en-US" sz="1400" dirty="0"/>
          </a:p>
        </p:txBody>
      </p:sp>
      <p:sp>
        <p:nvSpPr>
          <p:cNvPr id="19" name="card-60"/>
          <p:cNvSpPr/>
          <p:nvPr/>
        </p:nvSpPr>
        <p:spPr>
          <a:xfrm>
            <a:off x="4251960" y="3858768"/>
            <a:ext cx="3520440" cy="2240280"/>
          </a:xfrm>
          <a:prstGeom prst="roundRect">
            <a:avLst>
              <a:gd name="adj" fmla="val 4898"/>
            </a:avLst>
          </a:prstGeom>
          <a:solidFill>
            <a:schemeClr val="accent6"/>
          </a:solidFill>
          <a:ln/>
        </p:spPr>
      </p:sp>
      <p:sp>
        <p:nvSpPr>
          <p:cNvPr id="20" name="letra-61"/>
          <p:cNvSpPr/>
          <p:nvPr/>
        </p:nvSpPr>
        <p:spPr>
          <a:xfrm>
            <a:off x="4480560" y="4041648"/>
            <a:ext cx="502920" cy="502920"/>
          </a:xfrm>
          <a:prstGeom prst="ellipse">
            <a:avLst/>
          </a:prstGeom>
          <a:solidFill>
            <a:schemeClr val="accent3"/>
          </a:solidFill>
          <a:ln/>
        </p:spPr>
      </p:sp>
      <p:sp>
        <p:nvSpPr>
          <p:cNvPr id="21" name="Text 19"/>
          <p:cNvSpPr txBox="1"/>
          <p:nvPr/>
        </p:nvSpPr>
        <p:spPr>
          <a:xfrm>
            <a:off x="4480560" y="4041648"/>
            <a:ext cx="502920" cy="502920"/>
          </a:xfrm>
          <a:prstGeom prst="rect">
            <a:avLst/>
          </a:prstGeom>
          <a:noFill/>
          <a:ln/>
        </p:spPr>
        <p:txBody>
          <a:bodyPr wrap="square" lIns="0" tIns="0" rIns="0" bIns="0" rtlCol="0" anchor="ctr"/>
          <a:lstStyle/>
          <a:p>
            <a:pPr algn="ctr" indent="0" marL="0">
              <a:buNone/>
            </a:pPr>
            <a:r>
              <a:rPr lang="en-US" sz="2000" b="1" dirty="0">
                <a:solidFill>
                  <a:schemeClr val="bg1"/>
                </a:solidFill>
                <a:latin typeface="Cambria" pitchFamily="34" charset="0"/>
                <a:ea typeface="Cambria" pitchFamily="34" charset="-122"/>
                <a:cs typeface="Cambria" pitchFamily="34" charset="-120"/>
              </a:rPr>
              <a:t>A</a:t>
            </a:r>
            <a:endParaRPr lang="en-US" sz="2000" dirty="0"/>
          </a:p>
        </p:txBody>
      </p:sp>
      <p:sp>
        <p:nvSpPr>
          <p:cNvPr id="22" name="Text 20"/>
          <p:cNvSpPr txBox="1"/>
          <p:nvPr/>
        </p:nvSpPr>
        <p:spPr>
          <a:xfrm>
            <a:off x="5120640" y="4059936"/>
            <a:ext cx="2468880" cy="457200"/>
          </a:xfrm>
          <a:prstGeom prst="rect">
            <a:avLst/>
          </a:prstGeom>
          <a:noFill/>
          <a:ln/>
        </p:spPr>
        <p:txBody>
          <a:bodyPr wrap="square" lIns="0" tIns="0" rIns="0" bIns="0" rtlCol="0" anchor="t"/>
          <a:lstStyle/>
          <a:p>
            <a:pPr indent="0" marL="0">
              <a:buNone/>
            </a:pPr>
            <a:r>
              <a:rPr lang="en-US" sz="1900" b="1" dirty="0">
                <a:solidFill>
                  <a:schemeClr val="tx1"/>
                </a:solidFill>
                <a:latin typeface="Cambria" pitchFamily="34" charset="0"/>
                <a:ea typeface="Cambria" pitchFamily="34" charset="-122"/>
                <a:cs typeface="Cambria" pitchFamily="34" charset="-120"/>
              </a:rPr>
              <a:t>Amenazas</a:t>
            </a:r>
            <a:endParaRPr lang="en-US" sz="1900" dirty="0"/>
          </a:p>
        </p:txBody>
      </p:sp>
      <p:sp>
        <p:nvSpPr>
          <p:cNvPr id="23" name="Text 21"/>
          <p:cNvSpPr txBox="1"/>
          <p:nvPr/>
        </p:nvSpPr>
        <p:spPr>
          <a:xfrm>
            <a:off x="4526280" y="4681728"/>
            <a:ext cx="3063240" cy="132588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latin typeface="Calibri" pitchFamily="34" charset="0"/>
                <a:ea typeface="Calibri" pitchFamily="34" charset="-122"/>
                <a:cs typeface="Calibri" pitchFamily="34" charset="-120"/>
              </a:rPr>
              <a:t>Competencia y apps de delivery</a:t>
            </a:r>
            <a:endParaRPr lang="en-US" sz="1400" dirty="0"/>
          </a:p>
          <a:p>
            <a:pPr marL="342900" indent="-342900">
              <a:spcAft>
                <a:spcPts val="400"/>
              </a:spcAft>
              <a:buSzPct val="100000"/>
              <a:buChar char="•"/>
            </a:pPr>
            <a:r>
              <a:rPr lang="en-US" sz="1400" dirty="0">
                <a:solidFill>
                  <a:schemeClr val="tx1"/>
                </a:solidFill>
                <a:latin typeface="Calibri" pitchFamily="34" charset="0"/>
                <a:ea typeface="Calibri" pitchFamily="34" charset="-122"/>
                <a:cs typeface="Calibri" pitchFamily="34" charset="-120"/>
              </a:rPr>
              <a:t>Inflación de insumos</a:t>
            </a:r>
            <a:endParaRPr lang="en-US" sz="1400" dirty="0"/>
          </a:p>
          <a:p>
            <a:pPr marL="342900" indent="-342900">
              <a:spcAft>
                <a:spcPts val="400"/>
              </a:spcAft>
              <a:buSzPct val="100000"/>
              <a:buChar char="•"/>
            </a:pPr>
            <a:r>
              <a:rPr lang="en-US" sz="1400" dirty="0">
                <a:solidFill>
                  <a:schemeClr val="tx1"/>
                </a:solidFill>
                <a:latin typeface="Calibri" pitchFamily="34" charset="0"/>
                <a:ea typeface="Calibri" pitchFamily="34" charset="-122"/>
                <a:cs typeface="Calibri" pitchFamily="34" charset="-120"/>
              </a:rPr>
              <a:t>Dependencia de terceros</a:t>
            </a:r>
            <a:endParaRPr lang="en-US" sz="1400" dirty="0"/>
          </a:p>
        </p:txBody>
      </p:sp>
      <p:sp>
        <p:nvSpPr>
          <p:cNvPr id="24" name="card-62"/>
          <p:cNvSpPr/>
          <p:nvPr/>
        </p:nvSpPr>
        <p:spPr>
          <a:xfrm>
            <a:off x="8183880" y="1463040"/>
            <a:ext cx="3429000" cy="4709160"/>
          </a:xfrm>
          <a:prstGeom prst="roundRect">
            <a:avLst>
              <a:gd name="adj" fmla="val 3200"/>
            </a:avLst>
          </a:prstGeom>
          <a:solidFill>
            <a:schemeClr val="tx1"/>
          </a:solidFill>
          <a:ln/>
        </p:spPr>
      </p:sp>
      <p:sp>
        <p:nvSpPr>
          <p:cNvPr id="25" name="Text 23"/>
          <p:cNvSpPr txBox="1"/>
          <p:nvPr/>
        </p:nvSpPr>
        <p:spPr>
          <a:xfrm>
            <a:off x="8412480" y="1645920"/>
            <a:ext cx="3017520" cy="365760"/>
          </a:xfrm>
          <a:prstGeom prst="rect">
            <a:avLst/>
          </a:prstGeom>
          <a:noFill/>
          <a:ln/>
        </p:spPr>
        <p:txBody>
          <a:bodyPr wrap="square" lIns="0" tIns="0" rIns="0" bIns="0" rtlCol="0" anchor="t"/>
          <a:lstStyle/>
          <a:p>
            <a:pPr indent="0" marL="0">
              <a:buNone/>
            </a:pPr>
            <a:r>
              <a:rPr lang="en-US" sz="1400" b="1" dirty="0">
                <a:solidFill>
                  <a:srgbClr val="F2B63D"/>
                </a:solidFill>
                <a:latin typeface="Calibri" pitchFamily="34" charset="0"/>
                <a:ea typeface="Calibri" pitchFamily="34" charset="-122"/>
                <a:cs typeface="Calibri" pitchFamily="34" charset="-120"/>
              </a:rPr>
              <a:t>Matriz interna-externa</a:t>
            </a:r>
            <a:endParaRPr lang="en-US" sz="1400" dirty="0"/>
          </a:p>
        </p:txBody>
      </p:sp>
      <p:sp>
        <p:nvSpPr>
          <p:cNvPr id="26" name="Text 24"/>
          <p:cNvSpPr txBox="1"/>
          <p:nvPr/>
        </p:nvSpPr>
        <p:spPr>
          <a:xfrm>
            <a:off x="8412480" y="2057400"/>
            <a:ext cx="3017520" cy="685800"/>
          </a:xfrm>
          <a:prstGeom prst="rect">
            <a:avLst/>
          </a:prstGeom>
          <a:noFill/>
          <a:ln/>
        </p:spPr>
        <p:txBody>
          <a:bodyPr wrap="square" lIns="0" tIns="0" rIns="0" bIns="0" rtlCol="0" anchor="t"/>
          <a:lstStyle/>
          <a:p>
            <a:pPr indent="0" marL="0">
              <a:buNone/>
            </a:pPr>
            <a:r>
              <a:rPr lang="en-US" sz="1600" dirty="0">
                <a:solidFill>
                  <a:schemeClr val="bg2"/>
                </a:solidFill>
                <a:latin typeface="Calibri" pitchFamily="34" charset="0"/>
                <a:ea typeface="Calibri" pitchFamily="34" charset="-122"/>
                <a:cs typeface="Calibri" pitchFamily="34" charset="-120"/>
              </a:rPr>
              <a:t>EFI </a:t>
            </a:r>
            <a:pPr indent="0" marL="0">
              <a:buNone/>
            </a:pPr>
            <a:r>
              <a:rPr lang="en-US" sz="3600" b="1" dirty="0">
                <a:solidFill>
                  <a:schemeClr val="bg1"/>
                </a:solidFill>
                <a:latin typeface="Cambria" pitchFamily="34" charset="0"/>
                <a:ea typeface="Cambria" pitchFamily="34" charset="-122"/>
                <a:cs typeface="Cambria" pitchFamily="34" charset="-120"/>
              </a:rPr>
              <a:t>2,45</a:t>
            </a:r>
            <a:endParaRPr lang="en-US" sz="1400" dirty="0"/>
          </a:p>
        </p:txBody>
      </p:sp>
      <p:sp>
        <p:nvSpPr>
          <p:cNvPr id="27" name="Text 25"/>
          <p:cNvSpPr txBox="1"/>
          <p:nvPr/>
        </p:nvSpPr>
        <p:spPr>
          <a:xfrm>
            <a:off x="8412480" y="2743200"/>
            <a:ext cx="3017520" cy="685800"/>
          </a:xfrm>
          <a:prstGeom prst="rect">
            <a:avLst/>
          </a:prstGeom>
          <a:noFill/>
          <a:ln/>
        </p:spPr>
        <p:txBody>
          <a:bodyPr wrap="square" lIns="0" tIns="0" rIns="0" bIns="0" rtlCol="0" anchor="t"/>
          <a:lstStyle/>
          <a:p>
            <a:pPr indent="0" marL="0">
              <a:buNone/>
            </a:pPr>
            <a:r>
              <a:rPr lang="en-US" sz="1600" dirty="0">
                <a:solidFill>
                  <a:schemeClr val="bg2"/>
                </a:solidFill>
                <a:latin typeface="Calibri" pitchFamily="34" charset="0"/>
                <a:ea typeface="Calibri" pitchFamily="34" charset="-122"/>
                <a:cs typeface="Calibri" pitchFamily="34" charset="-120"/>
              </a:rPr>
              <a:t>EFE </a:t>
            </a:r>
            <a:pPr indent="0" marL="0">
              <a:buNone/>
            </a:pPr>
            <a:r>
              <a:rPr lang="en-US" sz="3600" b="1" dirty="0">
                <a:solidFill>
                  <a:schemeClr val="bg1"/>
                </a:solidFill>
                <a:latin typeface="Cambria" pitchFamily="34" charset="0"/>
                <a:ea typeface="Cambria" pitchFamily="34" charset="-122"/>
                <a:cs typeface="Cambria" pitchFamily="34" charset="-120"/>
              </a:rPr>
              <a:t>2,32</a:t>
            </a:r>
            <a:endParaRPr lang="en-US" sz="1400" dirty="0"/>
          </a:p>
        </p:txBody>
      </p:sp>
      <p:sp>
        <p:nvSpPr>
          <p:cNvPr id="28" name="cuadrante"/>
          <p:cNvSpPr/>
          <p:nvPr/>
        </p:nvSpPr>
        <p:spPr>
          <a:xfrm>
            <a:off x="8412480" y="3611880"/>
            <a:ext cx="2971800" cy="685800"/>
          </a:xfrm>
          <a:prstGeom prst="roundRect">
            <a:avLst>
              <a:gd name="adj" fmla="val 13333"/>
            </a:avLst>
          </a:prstGeom>
          <a:solidFill>
            <a:schemeClr val="accent1"/>
          </a:solidFill>
          <a:ln/>
        </p:spPr>
      </p:sp>
      <p:sp>
        <p:nvSpPr>
          <p:cNvPr id="29" name="Text 27"/>
          <p:cNvSpPr txBox="1"/>
          <p:nvPr/>
        </p:nvSpPr>
        <p:spPr>
          <a:xfrm>
            <a:off x="8503920" y="3611880"/>
            <a:ext cx="2788920" cy="6858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Cuadrante V: conservar y mantener</a:t>
            </a:r>
            <a:endParaRPr lang="en-US" sz="1500" dirty="0"/>
          </a:p>
        </p:txBody>
      </p:sp>
      <p:sp>
        <p:nvSpPr>
          <p:cNvPr id="30" name="Text 28"/>
          <p:cNvSpPr txBox="1"/>
          <p:nvPr/>
        </p:nvSpPr>
        <p:spPr>
          <a:xfrm>
            <a:off x="8412480" y="4480560"/>
            <a:ext cx="3017520" cy="1554480"/>
          </a:xfrm>
          <a:prstGeom prst="rect">
            <a:avLst/>
          </a:prstGeom>
          <a:noFill/>
          <a:ln/>
        </p:spPr>
        <p:txBody>
          <a:bodyPr wrap="square" lIns="0" tIns="0" rIns="0" bIns="0" rtlCol="0" anchor="t"/>
          <a:lstStyle/>
          <a:p>
            <a:pPr indent="0" marL="0">
              <a:buNone/>
            </a:pPr>
            <a:r>
              <a:rPr lang="en-US" sz="1400" dirty="0">
                <a:solidFill>
                  <a:schemeClr val="bg2"/>
                </a:solidFill>
                <a:latin typeface="Calibri" pitchFamily="34" charset="0"/>
                <a:ea typeface="Calibri" pitchFamily="34" charset="-122"/>
                <a:cs typeface="Calibri" pitchFamily="34" charset="-120"/>
              </a:rPr>
              <a:t>Estrategia: mejorar cómo se vende lo que ya existe. El sistema web hace eso, sin cambiar producto ni canal.</a:t>
            </a:r>
            <a:endParaRPr lang="en-US" sz="14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10896"/>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III. TRABAJO PRINCIPAL · PROBLEMA</a:t>
            </a:r>
            <a:endParaRPr lang="en-US" sz="1200" dirty="0"/>
          </a:p>
        </p:txBody>
      </p:sp>
      <p:sp>
        <p:nvSpPr>
          <p:cNvPr id="3" name="Text 0"/>
          <p:cNvSpPr/>
          <p:nvPr>
            <p:ph idx="101" type="title" hasCustomPrompt="1"/>
          </p:nvPr>
        </p:nvSpPr>
        <p:spPr>
          <a:xfrm>
            <a:off x="548640" y="603504"/>
            <a:ext cx="11064240" cy="658368"/>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Sábado, 22:00: once pedidos y una sola persona</a:t>
            </a:r>
            <a:endParaRPr lang="en-US" sz="3200" dirty="0"/>
          </a:p>
        </p:txBody>
      </p:sp>
      <p:sp>
        <p:nvSpPr>
          <p:cNvPr id="4" name="celular"/>
          <p:cNvSpPr/>
          <p:nvPr/>
        </p:nvSpPr>
        <p:spPr>
          <a:xfrm>
            <a:off x="731520" y="1417320"/>
            <a:ext cx="3383280" cy="4846320"/>
          </a:xfrm>
          <a:prstGeom prst="roundRect">
            <a:avLst>
              <a:gd name="adj" fmla="val 8108"/>
            </a:avLst>
          </a:prstGeom>
          <a:solidFill>
            <a:schemeClr val="tx1"/>
          </a:solidFill>
          <a:ln/>
        </p:spPr>
      </p:sp>
      <p:sp>
        <p:nvSpPr>
          <p:cNvPr id="5" name="pantalla"/>
          <p:cNvSpPr/>
          <p:nvPr/>
        </p:nvSpPr>
        <p:spPr>
          <a:xfrm>
            <a:off x="868680" y="1600200"/>
            <a:ext cx="3108960" cy="4526280"/>
          </a:xfrm>
          <a:prstGeom prst="roundRect">
            <a:avLst>
              <a:gd name="adj" fmla="val 5294"/>
            </a:avLst>
          </a:prstGeom>
          <a:solidFill>
            <a:srgbClr val="ECE5DD"/>
          </a:solidFill>
          <a:ln/>
        </p:spPr>
      </p:sp>
      <p:sp>
        <p:nvSpPr>
          <p:cNvPr id="6" name="mensaje-63"/>
          <p:cNvSpPr/>
          <p:nvPr/>
        </p:nvSpPr>
        <p:spPr>
          <a:xfrm>
            <a:off x="1005840" y="1737360"/>
            <a:ext cx="2331720" cy="457200"/>
          </a:xfrm>
          <a:prstGeom prst="roundRect">
            <a:avLst>
              <a:gd name="adj" fmla="val 16000"/>
            </a:avLst>
          </a:prstGeom>
          <a:solidFill>
            <a:srgbClr val="FFFFFF"/>
          </a:solidFill>
          <a:ln/>
        </p:spPr>
      </p:sp>
      <p:sp>
        <p:nvSpPr>
          <p:cNvPr id="7" name="Text 5"/>
          <p:cNvSpPr txBox="1"/>
          <p:nvPr/>
        </p:nvSpPr>
        <p:spPr>
          <a:xfrm>
            <a:off x="1097280" y="1737360"/>
            <a:ext cx="2148840" cy="45720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Hola! qué gustos tienen?</a:t>
            </a:r>
            <a:endParaRPr lang="en-US" sz="1200" dirty="0"/>
          </a:p>
        </p:txBody>
      </p:sp>
      <p:sp>
        <p:nvSpPr>
          <p:cNvPr id="8" name="mensaje-64"/>
          <p:cNvSpPr/>
          <p:nvPr/>
        </p:nvSpPr>
        <p:spPr>
          <a:xfrm>
            <a:off x="1508760" y="2322576"/>
            <a:ext cx="2331720" cy="457200"/>
          </a:xfrm>
          <a:prstGeom prst="roundRect">
            <a:avLst>
              <a:gd name="adj" fmla="val 16000"/>
            </a:avLst>
          </a:prstGeom>
          <a:solidFill>
            <a:srgbClr val="D9FDD3"/>
          </a:solidFill>
          <a:ln/>
        </p:spPr>
      </p:sp>
      <p:sp>
        <p:nvSpPr>
          <p:cNvPr id="9" name="Text 7"/>
          <p:cNvSpPr txBox="1"/>
          <p:nvPr/>
        </p:nvSpPr>
        <p:spPr>
          <a:xfrm>
            <a:off x="1600200" y="2322576"/>
            <a:ext cx="2148840" cy="45720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Muzza, fugazzeta, napo, especial…</a:t>
            </a:r>
            <a:endParaRPr lang="en-US" sz="1200" dirty="0"/>
          </a:p>
        </p:txBody>
      </p:sp>
      <p:sp>
        <p:nvSpPr>
          <p:cNvPr id="10" name="mensaje-65"/>
          <p:cNvSpPr/>
          <p:nvPr/>
        </p:nvSpPr>
        <p:spPr>
          <a:xfrm>
            <a:off x="1005840" y="2907792"/>
            <a:ext cx="2331720" cy="457200"/>
          </a:xfrm>
          <a:prstGeom prst="roundRect">
            <a:avLst>
              <a:gd name="adj" fmla="val 16000"/>
            </a:avLst>
          </a:prstGeom>
          <a:solidFill>
            <a:srgbClr val="FFFFFF"/>
          </a:solidFill>
          <a:ln/>
        </p:spPr>
      </p:sp>
      <p:sp>
        <p:nvSpPr>
          <p:cNvPr id="11" name="Text 9"/>
          <p:cNvSpPr txBox="1"/>
          <p:nvPr/>
        </p:nvSpPr>
        <p:spPr>
          <a:xfrm>
            <a:off x="1097280" y="2907792"/>
            <a:ext cx="2148840" cy="45720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cuánto sale la napo?</a:t>
            </a:r>
            <a:endParaRPr lang="en-US" sz="1200" dirty="0"/>
          </a:p>
        </p:txBody>
      </p:sp>
      <p:sp>
        <p:nvSpPr>
          <p:cNvPr id="12" name="mensaje-66"/>
          <p:cNvSpPr/>
          <p:nvPr/>
        </p:nvSpPr>
        <p:spPr>
          <a:xfrm>
            <a:off x="1005840" y="3493008"/>
            <a:ext cx="2331720" cy="457200"/>
          </a:xfrm>
          <a:prstGeom prst="roundRect">
            <a:avLst>
              <a:gd name="adj" fmla="val 16000"/>
            </a:avLst>
          </a:prstGeom>
          <a:solidFill>
            <a:srgbClr val="FFFFFF"/>
          </a:solidFill>
          <a:ln/>
        </p:spPr>
      </p:sp>
      <p:sp>
        <p:nvSpPr>
          <p:cNvPr id="13" name="Text 11"/>
          <p:cNvSpPr txBox="1"/>
          <p:nvPr/>
        </p:nvSpPr>
        <p:spPr>
          <a:xfrm>
            <a:off x="1097280" y="3493008"/>
            <a:ext cx="2148840" cy="45720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dame una muzza y media fuga</a:t>
            </a:r>
            <a:endParaRPr lang="en-US" sz="1200" dirty="0"/>
          </a:p>
        </p:txBody>
      </p:sp>
      <p:sp>
        <p:nvSpPr>
          <p:cNvPr id="14" name="mensaje-67"/>
          <p:cNvSpPr/>
          <p:nvPr/>
        </p:nvSpPr>
        <p:spPr>
          <a:xfrm>
            <a:off x="1508760" y="4078224"/>
            <a:ext cx="2331720" cy="457200"/>
          </a:xfrm>
          <a:prstGeom prst="roundRect">
            <a:avLst>
              <a:gd name="adj" fmla="val 16000"/>
            </a:avLst>
          </a:prstGeom>
          <a:solidFill>
            <a:srgbClr val="D9FDD3"/>
          </a:solidFill>
          <a:ln/>
        </p:spPr>
      </p:sp>
      <p:sp>
        <p:nvSpPr>
          <p:cNvPr id="15" name="Text 13"/>
          <p:cNvSpPr txBox="1"/>
          <p:nvPr/>
        </p:nvSpPr>
        <p:spPr>
          <a:xfrm>
            <a:off x="1600200" y="4078224"/>
            <a:ext cx="2148840" cy="45720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¿Dirección?</a:t>
            </a:r>
            <a:endParaRPr lang="en-US" sz="1200" dirty="0"/>
          </a:p>
        </p:txBody>
      </p:sp>
      <p:sp>
        <p:nvSpPr>
          <p:cNvPr id="16" name="mensaje-68"/>
          <p:cNvSpPr/>
          <p:nvPr/>
        </p:nvSpPr>
        <p:spPr>
          <a:xfrm>
            <a:off x="1005840" y="4663440"/>
            <a:ext cx="2331720" cy="457200"/>
          </a:xfrm>
          <a:prstGeom prst="roundRect">
            <a:avLst>
              <a:gd name="adj" fmla="val 16000"/>
            </a:avLst>
          </a:prstGeom>
          <a:solidFill>
            <a:srgbClr val="FFFFFF"/>
          </a:solidFill>
          <a:ln/>
        </p:spPr>
      </p:sp>
      <p:sp>
        <p:nvSpPr>
          <p:cNvPr id="17" name="Text 15"/>
          <p:cNvSpPr txBox="1"/>
          <p:nvPr/>
        </p:nvSpPr>
        <p:spPr>
          <a:xfrm>
            <a:off x="1097280" y="4663440"/>
            <a:ext cx="2148840" cy="45720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por el hospital 😅</a:t>
            </a:r>
            <a:endParaRPr lang="en-US" sz="1200" dirty="0"/>
          </a:p>
        </p:txBody>
      </p:sp>
      <p:sp>
        <p:nvSpPr>
          <p:cNvPr id="18" name="mensaje-69"/>
          <p:cNvSpPr/>
          <p:nvPr/>
        </p:nvSpPr>
        <p:spPr>
          <a:xfrm>
            <a:off x="1508760" y="5248656"/>
            <a:ext cx="2331720" cy="457200"/>
          </a:xfrm>
          <a:prstGeom prst="roundRect">
            <a:avLst>
              <a:gd name="adj" fmla="val 16000"/>
            </a:avLst>
          </a:prstGeom>
          <a:solidFill>
            <a:srgbClr val="D9FDD3"/>
          </a:solidFill>
          <a:ln/>
        </p:spPr>
      </p:sp>
      <p:sp>
        <p:nvSpPr>
          <p:cNvPr id="19" name="Text 17"/>
          <p:cNvSpPr txBox="1"/>
          <p:nvPr/>
        </p:nvSpPr>
        <p:spPr>
          <a:xfrm>
            <a:off x="1600200" y="5248656"/>
            <a:ext cx="2148840" cy="45720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Son $14.000… ¿o eran $13.500?</a:t>
            </a:r>
            <a:endParaRPr lang="en-US" sz="1200" dirty="0"/>
          </a:p>
        </p:txBody>
      </p:sp>
      <p:sp>
        <p:nvSpPr>
          <p:cNvPr id="20" name="Text 18"/>
          <p:cNvSpPr txBox="1"/>
          <p:nvPr/>
        </p:nvSpPr>
        <p:spPr>
          <a:xfrm>
            <a:off x="868680" y="5806440"/>
            <a:ext cx="3108960" cy="274320"/>
          </a:xfrm>
          <a:prstGeom prst="rect">
            <a:avLst/>
          </a:prstGeom>
          <a:noFill/>
          <a:ln/>
        </p:spPr>
        <p:txBody>
          <a:bodyPr wrap="square" lIns="0" tIns="0" rIns="0" bIns="0" rtlCol="0" anchor="t"/>
          <a:lstStyle/>
          <a:p>
            <a:pPr algn="ctr" indent="0" marL="0">
              <a:buNone/>
            </a:pPr>
            <a:r>
              <a:rPr lang="en-US" sz="1200" b="1" dirty="0">
                <a:solidFill>
                  <a:schemeClr val="accent3"/>
                </a:solidFill>
                <a:latin typeface="Calibri" pitchFamily="34" charset="0"/>
                <a:ea typeface="Calibri" pitchFamily="34" charset="-122"/>
                <a:cs typeface="Calibri" pitchFamily="34" charset="-120"/>
              </a:rPr>
              <a:t>… y 10 chats más esperando</a:t>
            </a:r>
            <a:endParaRPr lang="en-US" sz="1200" dirty="0"/>
          </a:p>
        </p:txBody>
      </p:sp>
      <p:sp>
        <p:nvSpPr>
          <p:cNvPr id="21" name="card-70"/>
          <p:cNvSpPr/>
          <p:nvPr/>
        </p:nvSpPr>
        <p:spPr>
          <a:xfrm>
            <a:off x="4572000" y="1463040"/>
            <a:ext cx="7040880" cy="1261872"/>
          </a:xfrm>
          <a:prstGeom prst="roundRect">
            <a:avLst>
              <a:gd name="adj" fmla="val 8696"/>
            </a:avLst>
          </a:prstGeom>
          <a:solidFill>
            <a:schemeClr val="accent6"/>
          </a:solidFill>
          <a:ln/>
        </p:spPr>
      </p:sp>
      <p:sp>
        <p:nvSpPr>
          <p:cNvPr id="22" name="Text 20"/>
          <p:cNvSpPr txBox="1"/>
          <p:nvPr/>
        </p:nvSpPr>
        <p:spPr>
          <a:xfrm>
            <a:off x="4800600" y="1463040"/>
            <a:ext cx="2468880" cy="1261872"/>
          </a:xfrm>
          <a:prstGeom prst="rect">
            <a:avLst/>
          </a:prstGeom>
          <a:noFill/>
          <a:ln/>
        </p:spPr>
        <p:txBody>
          <a:bodyPr wrap="square" lIns="0" tIns="0" rIns="0" bIns="0" rtlCol="0" anchor="ctr"/>
          <a:lstStyle/>
          <a:p>
            <a:pPr indent="0" marL="0">
              <a:buNone/>
            </a:pPr>
            <a:r>
              <a:rPr lang="en-US" sz="3600" b="1" dirty="0">
                <a:solidFill>
                  <a:schemeClr val="tx2"/>
                </a:solidFill>
                <a:latin typeface="Cambria" pitchFamily="34" charset="0"/>
                <a:ea typeface="Cambria" pitchFamily="34" charset="-122"/>
                <a:cs typeface="Cambria" pitchFamily="34" charset="-120"/>
              </a:rPr>
              <a:t>≈ 4 h</a:t>
            </a:r>
            <a:endParaRPr lang="en-US" sz="3600" dirty="0"/>
          </a:p>
        </p:txBody>
      </p:sp>
      <p:sp>
        <p:nvSpPr>
          <p:cNvPr id="23" name="Text 21"/>
          <p:cNvSpPr txBox="1"/>
          <p:nvPr/>
        </p:nvSpPr>
        <p:spPr>
          <a:xfrm>
            <a:off x="7360920" y="1463040"/>
            <a:ext cx="4114800" cy="1261872"/>
          </a:xfrm>
          <a:prstGeom prst="rect">
            <a:avLst/>
          </a:prstGeom>
          <a:noFill/>
          <a:ln/>
        </p:spPr>
        <p:txBody>
          <a:bodyPr wrap="square" lIns="0" tIns="0" rIns="0" bIns="0" rtlCol="0" anchor="ctr"/>
          <a:lstStyle/>
          <a:p>
            <a:pPr indent="0" marL="0">
              <a:buNone/>
            </a:pPr>
            <a:r>
              <a:rPr lang="en-US" sz="1700" b="1" dirty="0">
                <a:solidFill>
                  <a:schemeClr val="tx1"/>
                </a:solidFill>
                <a:latin typeface="Calibri" pitchFamily="34" charset="0"/>
                <a:ea typeface="Calibri" pitchFamily="34" charset="-122"/>
                <a:cs typeface="Calibri" pitchFamily="34" charset="-120"/>
              </a:rPr>
              <a:t>por semana respondiendo el chat</a:t>
            </a:r>
            <a:endParaRPr lang="en-US" sz="1400" dirty="0"/>
          </a:p>
          <a:p>
            <a:pPr indent="0" marL="0">
              <a:buNone/>
            </a:pPr>
            <a:r>
              <a:rPr lang="en-US" sz="1300" dirty="0">
                <a:solidFill>
                  <a:schemeClr val="accent4"/>
                </a:solidFill>
                <a:latin typeface="Calibri" pitchFamily="34" charset="0"/>
                <a:ea typeface="Calibri" pitchFamily="34" charset="-122"/>
                <a:cs typeface="Calibri" pitchFamily="34" charset="-120"/>
              </a:rPr>
              <a:t>50 pedidos × 2 a 10 minutos cada uno</a:t>
            </a:r>
            <a:endParaRPr lang="en-US" sz="1400" dirty="0"/>
          </a:p>
        </p:txBody>
      </p:sp>
      <p:sp>
        <p:nvSpPr>
          <p:cNvPr id="24" name="card-71"/>
          <p:cNvSpPr/>
          <p:nvPr/>
        </p:nvSpPr>
        <p:spPr>
          <a:xfrm>
            <a:off x="4572000" y="2880360"/>
            <a:ext cx="7040880" cy="1261872"/>
          </a:xfrm>
          <a:prstGeom prst="roundRect">
            <a:avLst>
              <a:gd name="adj" fmla="val 8696"/>
            </a:avLst>
          </a:prstGeom>
          <a:solidFill>
            <a:schemeClr val="accent6"/>
          </a:solidFill>
          <a:ln/>
        </p:spPr>
      </p:sp>
      <p:sp>
        <p:nvSpPr>
          <p:cNvPr id="25" name="Text 23"/>
          <p:cNvSpPr txBox="1"/>
          <p:nvPr/>
        </p:nvSpPr>
        <p:spPr>
          <a:xfrm>
            <a:off x="4800600" y="2880360"/>
            <a:ext cx="2468880" cy="1261872"/>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5</a:t>
            </a:r>
            <a:endParaRPr lang="en-US" sz="3600" dirty="0"/>
          </a:p>
        </p:txBody>
      </p:sp>
      <p:sp>
        <p:nvSpPr>
          <p:cNvPr id="26" name="Text 24"/>
          <p:cNvSpPr txBox="1"/>
          <p:nvPr/>
        </p:nvSpPr>
        <p:spPr>
          <a:xfrm>
            <a:off x="7360920" y="2880360"/>
            <a:ext cx="4114800" cy="1261872"/>
          </a:xfrm>
          <a:prstGeom prst="rect">
            <a:avLst/>
          </a:prstGeom>
          <a:noFill/>
          <a:ln/>
        </p:spPr>
        <p:txBody>
          <a:bodyPr wrap="square" lIns="0" tIns="0" rIns="0" bIns="0" rtlCol="0" anchor="ctr"/>
          <a:lstStyle/>
          <a:p>
            <a:pPr indent="0" marL="0">
              <a:buNone/>
            </a:pPr>
            <a:r>
              <a:rPr lang="en-US" sz="1700" b="1" dirty="0">
                <a:solidFill>
                  <a:schemeClr val="tx1"/>
                </a:solidFill>
                <a:latin typeface="Calibri" pitchFamily="34" charset="0"/>
                <a:ea typeface="Calibri" pitchFamily="34" charset="-122"/>
                <a:cs typeface="Calibri" pitchFamily="34" charset="-120"/>
              </a:rPr>
              <a:t>pedidos con error por semana</a:t>
            </a:r>
            <a:endParaRPr lang="en-US" sz="1400" dirty="0"/>
          </a:p>
          <a:p>
            <a:pPr indent="0" marL="0">
              <a:buNone/>
            </a:pPr>
            <a:r>
              <a:rPr lang="en-US" sz="1300" dirty="0">
                <a:solidFill>
                  <a:schemeClr val="accent4"/>
                </a:solidFill>
                <a:latin typeface="Calibri" pitchFamily="34" charset="0"/>
                <a:ea typeface="Calibri" pitchFamily="34" charset="-122"/>
                <a:cs typeface="Calibri" pitchFamily="34" charset="-120"/>
              </a:rPr>
              <a:t>gusto, dirección o total equivocados (1 de cada 10)</a:t>
            </a:r>
            <a:endParaRPr lang="en-US" sz="1400" dirty="0"/>
          </a:p>
        </p:txBody>
      </p:sp>
      <p:sp>
        <p:nvSpPr>
          <p:cNvPr id="27" name="card-72"/>
          <p:cNvSpPr/>
          <p:nvPr/>
        </p:nvSpPr>
        <p:spPr>
          <a:xfrm>
            <a:off x="4572000" y="4297680"/>
            <a:ext cx="7040880" cy="1261872"/>
          </a:xfrm>
          <a:prstGeom prst="roundRect">
            <a:avLst>
              <a:gd name="adj" fmla="val 8696"/>
            </a:avLst>
          </a:prstGeom>
          <a:solidFill>
            <a:schemeClr val="bg2"/>
          </a:solidFill>
          <a:ln/>
        </p:spPr>
      </p:sp>
      <p:sp>
        <p:nvSpPr>
          <p:cNvPr id="28" name="Text 26"/>
          <p:cNvSpPr txBox="1"/>
          <p:nvPr/>
        </p:nvSpPr>
        <p:spPr>
          <a:xfrm>
            <a:off x="4800600" y="4297680"/>
            <a:ext cx="2468880" cy="1261872"/>
          </a:xfrm>
          <a:prstGeom prst="rect">
            <a:avLst/>
          </a:prstGeom>
          <a:noFill/>
          <a:ln/>
        </p:spPr>
        <p:txBody>
          <a:bodyPr wrap="square" lIns="0" tIns="0" rIns="0" bIns="0" rtlCol="0" anchor="ctr"/>
          <a:lstStyle/>
          <a:p>
            <a:pPr indent="0" marL="0">
              <a:buNone/>
            </a:pPr>
            <a:r>
              <a:rPr lang="en-US" sz="3000" b="1" dirty="0">
                <a:solidFill>
                  <a:schemeClr val="accent3"/>
                </a:solidFill>
                <a:latin typeface="Cambria" pitchFamily="34" charset="0"/>
                <a:ea typeface="Cambria" pitchFamily="34" charset="-122"/>
                <a:cs typeface="Cambria" pitchFamily="34" charset="-120"/>
              </a:rPr>
              <a:t>$197.600</a:t>
            </a:r>
            <a:endParaRPr lang="en-US" sz="3000" dirty="0"/>
          </a:p>
        </p:txBody>
      </p:sp>
      <p:sp>
        <p:nvSpPr>
          <p:cNvPr id="29" name="Text 27"/>
          <p:cNvSpPr txBox="1"/>
          <p:nvPr/>
        </p:nvSpPr>
        <p:spPr>
          <a:xfrm>
            <a:off x="7360920" y="4297680"/>
            <a:ext cx="4114800" cy="1261872"/>
          </a:xfrm>
          <a:prstGeom prst="rect">
            <a:avLst/>
          </a:prstGeom>
          <a:noFill/>
          <a:ln/>
        </p:spPr>
        <p:txBody>
          <a:bodyPr wrap="square" lIns="0" tIns="0" rIns="0" bIns="0" rtlCol="0" anchor="ctr"/>
          <a:lstStyle/>
          <a:p>
            <a:pPr indent="0" marL="0">
              <a:buNone/>
            </a:pPr>
            <a:r>
              <a:rPr lang="en-US" sz="1700" b="1" dirty="0">
                <a:solidFill>
                  <a:schemeClr val="tx1"/>
                </a:solidFill>
                <a:latin typeface="Calibri" pitchFamily="34" charset="0"/>
                <a:ea typeface="Calibri" pitchFamily="34" charset="-122"/>
                <a:cs typeface="Calibri" pitchFamily="34" charset="-120"/>
              </a:rPr>
              <a:t>de ganancia que se pierde por mes</a:t>
            </a:r>
            <a:endParaRPr lang="en-US" sz="1400" dirty="0"/>
          </a:p>
          <a:p>
            <a:pPr indent="0" marL="0">
              <a:buNone/>
            </a:pPr>
            <a:r>
              <a:rPr lang="en-US" sz="1300" dirty="0">
                <a:solidFill>
                  <a:schemeClr val="accent4"/>
                </a:solidFill>
                <a:latin typeface="Calibri" pitchFamily="34" charset="0"/>
                <a:ea typeface="Calibri" pitchFamily="34" charset="-122"/>
                <a:cs typeface="Calibri" pitchFamily="34" charset="-120"/>
              </a:rPr>
              <a:t>≈ 1 pedido perdido por noche por no contestar a tiempo</a:t>
            </a:r>
            <a:endParaRPr lang="en-US" sz="1400" dirty="0"/>
          </a:p>
        </p:txBody>
      </p:sp>
      <p:sp>
        <p:nvSpPr>
          <p:cNvPr id="30" name="Text 28"/>
          <p:cNvSpPr txBox="1"/>
          <p:nvPr/>
        </p:nvSpPr>
        <p:spPr>
          <a:xfrm>
            <a:off x="4572000" y="5806440"/>
            <a:ext cx="7040880" cy="411480"/>
          </a:xfrm>
          <a:prstGeom prst="rect">
            <a:avLst/>
          </a:prstGeom>
          <a:noFill/>
          <a:ln/>
        </p:spPr>
        <p:txBody>
          <a:bodyPr wrap="square" lIns="0" tIns="0" rIns="0" bIns="0" rtlCol="0" anchor="t"/>
          <a:lstStyle/>
          <a:p>
            <a:pPr indent="0" marL="0">
              <a:buNone/>
            </a:pPr>
            <a:r>
              <a:rPr lang="en-US" sz="1100" dirty="0">
                <a:solidFill>
                  <a:schemeClr val="accent4"/>
                </a:solidFill>
                <a:latin typeface="Calibri" pitchFamily="34" charset="0"/>
                <a:ea typeface="Calibri" pitchFamily="34" charset="-122"/>
                <a:cs typeface="Calibri" pitchFamily="34" charset="-120"/>
              </a:rPr>
              <a:t>Datos del propio negocio. Pérdida: 6 pedidos/semana × 2 pizzas × $3.800 de ganancia × 4,33 semanas.</a:t>
            </a:r>
            <a:endParaRPr lang="en-US" sz="11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10896"/>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III. TRABAJO PRINCIPAL · PROBLEMA</a:t>
            </a:r>
            <a:endParaRPr lang="en-US" sz="1200" dirty="0"/>
          </a:p>
        </p:txBody>
      </p:sp>
      <p:sp>
        <p:nvSpPr>
          <p:cNvPr id="3" name="Text 0"/>
          <p:cNvSpPr/>
          <p:nvPr>
            <p:ph idx="101" type="title" hasCustomPrompt="1"/>
          </p:nvPr>
        </p:nvSpPr>
        <p:spPr>
          <a:xfrm>
            <a:off x="548640" y="603504"/>
            <a:ext cx="11064240" cy="658368"/>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Causas del problema (diagrama de Ishikawa)</a:t>
            </a:r>
            <a:endParaRPr lang="en-US" sz="3200" dirty="0"/>
          </a:p>
        </p:txBody>
      </p:sp>
      <p:sp>
        <p:nvSpPr>
          <p:cNvPr id="4" name="espina"/>
          <p:cNvSpPr/>
          <p:nvPr/>
        </p:nvSpPr>
        <p:spPr>
          <a:xfrm>
            <a:off x="548640" y="3840480"/>
            <a:ext cx="9006840" cy="0"/>
          </a:xfrm>
          <a:prstGeom prst="line">
            <a:avLst/>
          </a:prstGeom>
          <a:noFill/>
          <a:ln w="38100">
            <a:solidFill>
              <a:srgbClr val="2B2420"/>
            </a:solidFill>
            <a:prstDash val="solid"/>
            <a:tailEnd type="triangle"/>
          </a:ln>
        </p:spPr>
      </p:sp>
      <p:sp>
        <p:nvSpPr>
          <p:cNvPr id="5" name="efecto"/>
          <p:cNvSpPr/>
          <p:nvPr/>
        </p:nvSpPr>
        <p:spPr>
          <a:xfrm>
            <a:off x="9601200" y="3017520"/>
            <a:ext cx="2011680" cy="1645920"/>
          </a:xfrm>
          <a:prstGeom prst="roundRect">
            <a:avLst>
              <a:gd name="adj" fmla="val 6667"/>
            </a:avLst>
          </a:prstGeom>
          <a:solidFill>
            <a:schemeClr val="accent1"/>
          </a:solidFill>
          <a:ln/>
        </p:spPr>
      </p:sp>
      <p:sp>
        <p:nvSpPr>
          <p:cNvPr id="6" name="Text 4"/>
          <p:cNvSpPr txBox="1"/>
          <p:nvPr/>
        </p:nvSpPr>
        <p:spPr>
          <a:xfrm>
            <a:off x="9710928" y="3017520"/>
            <a:ext cx="1792224" cy="164592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Pedidos lentos, incompletos, con errores y sin registro</a:t>
            </a:r>
            <a:endParaRPr lang="en-US" sz="1500" dirty="0"/>
          </a:p>
        </p:txBody>
      </p:sp>
      <p:sp>
        <p:nvSpPr>
          <p:cNvPr id="7" name="hueso-73"/>
          <p:cNvSpPr/>
          <p:nvPr/>
        </p:nvSpPr>
        <p:spPr>
          <a:xfrm>
            <a:off x="2743200" y="1828800"/>
            <a:ext cx="1097280" cy="2011680"/>
          </a:xfrm>
          <a:prstGeom prst="line">
            <a:avLst/>
          </a:prstGeom>
          <a:noFill/>
          <a:ln w="25400">
            <a:solidFill>
              <a:srgbClr val="1F6E5C"/>
            </a:solidFill>
            <a:prstDash val="solid"/>
          </a:ln>
        </p:spPr>
      </p:sp>
      <p:sp>
        <p:nvSpPr>
          <p:cNvPr id="8" name="categoria-74"/>
          <p:cNvSpPr/>
          <p:nvPr/>
        </p:nvSpPr>
        <p:spPr>
          <a:xfrm>
            <a:off x="1828800" y="1389888"/>
            <a:ext cx="1828800" cy="384048"/>
          </a:xfrm>
          <a:prstGeom prst="roundRect">
            <a:avLst>
              <a:gd name="adj" fmla="val 19048"/>
            </a:avLst>
          </a:prstGeom>
          <a:solidFill>
            <a:schemeClr val="tx2"/>
          </a:solidFill>
          <a:ln/>
        </p:spPr>
      </p:sp>
      <p:sp>
        <p:nvSpPr>
          <p:cNvPr id="9" name="Text 7"/>
          <p:cNvSpPr txBox="1"/>
          <p:nvPr/>
        </p:nvSpPr>
        <p:spPr>
          <a:xfrm>
            <a:off x="1828800" y="1389888"/>
            <a:ext cx="1828800" cy="38404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MÉTODO</a:t>
            </a:r>
            <a:endParaRPr lang="en-US" sz="1300" dirty="0"/>
          </a:p>
        </p:txBody>
      </p:sp>
      <p:sp>
        <p:nvSpPr>
          <p:cNvPr id="10" name="Text 8"/>
          <p:cNvSpPr txBox="1"/>
          <p:nvPr/>
        </p:nvSpPr>
        <p:spPr>
          <a:xfrm>
            <a:off x="569422" y="2103120"/>
            <a:ext cx="2331720" cy="365760"/>
          </a:xfrm>
          <a:prstGeom prst="rect">
            <a:avLst/>
          </a:prstGeom>
          <a:noFill/>
          <a:ln/>
        </p:spPr>
        <p:txBody>
          <a:bodyPr wrap="square" lIns="0" tIns="0" rIns="0" bIns="0" rtlCol="0" anchor="ctr"/>
          <a:lstStyle/>
          <a:p>
            <a:pPr algn="r" indent="0" marL="0">
              <a:buNone/>
            </a:pPr>
            <a:r>
              <a:rPr lang="en-US" sz="1400" dirty="0">
                <a:solidFill>
                  <a:schemeClr val="tx1"/>
                </a:solidFill>
                <a:latin typeface="Calibri" pitchFamily="34" charset="0"/>
                <a:ea typeface="Calibri" pitchFamily="34" charset="-122"/>
                <a:cs typeface="Calibri" pitchFamily="34" charset="-120"/>
              </a:rPr>
              <a:t>Pedido en mensajes sueltos</a:t>
            </a:r>
            <a:endParaRPr lang="en-US" sz="1400" dirty="0"/>
          </a:p>
        </p:txBody>
      </p:sp>
      <p:sp>
        <p:nvSpPr>
          <p:cNvPr id="11" name="Text 9"/>
          <p:cNvSpPr txBox="1"/>
          <p:nvPr/>
        </p:nvSpPr>
        <p:spPr>
          <a:xfrm>
            <a:off x="868680" y="2651760"/>
            <a:ext cx="2331720" cy="365760"/>
          </a:xfrm>
          <a:prstGeom prst="rect">
            <a:avLst/>
          </a:prstGeom>
          <a:noFill/>
          <a:ln/>
        </p:spPr>
        <p:txBody>
          <a:bodyPr wrap="square" lIns="0" tIns="0" rIns="0" bIns="0" rtlCol="0" anchor="ctr"/>
          <a:lstStyle/>
          <a:p>
            <a:pPr algn="r" indent="0" marL="0">
              <a:buNone/>
            </a:pPr>
            <a:r>
              <a:rPr lang="en-US" sz="1400" dirty="0">
                <a:solidFill>
                  <a:schemeClr val="tx1"/>
                </a:solidFill>
                <a:latin typeface="Calibri" pitchFamily="34" charset="0"/>
                <a:ea typeface="Calibri" pitchFamily="34" charset="-122"/>
                <a:cs typeface="Calibri" pitchFamily="34" charset="-120"/>
              </a:rPr>
              <a:t>Sin formato de recibo</a:t>
            </a:r>
            <a:endParaRPr lang="en-US" sz="1400" dirty="0"/>
          </a:p>
        </p:txBody>
      </p:sp>
      <p:sp>
        <p:nvSpPr>
          <p:cNvPr id="12" name="Text 10"/>
          <p:cNvSpPr txBox="1"/>
          <p:nvPr/>
        </p:nvSpPr>
        <p:spPr>
          <a:xfrm>
            <a:off x="1167938" y="3200400"/>
            <a:ext cx="2331720" cy="365760"/>
          </a:xfrm>
          <a:prstGeom prst="rect">
            <a:avLst/>
          </a:prstGeom>
          <a:noFill/>
          <a:ln/>
        </p:spPr>
        <p:txBody>
          <a:bodyPr wrap="square" lIns="0" tIns="0" rIns="0" bIns="0" rtlCol="0" anchor="ctr"/>
          <a:lstStyle/>
          <a:p>
            <a:pPr algn="r" indent="0" marL="0">
              <a:buNone/>
            </a:pPr>
            <a:r>
              <a:rPr lang="en-US" sz="1400" dirty="0">
                <a:solidFill>
                  <a:schemeClr val="tx1"/>
                </a:solidFill>
                <a:latin typeface="Calibri" pitchFamily="34" charset="0"/>
                <a:ea typeface="Calibri" pitchFamily="34" charset="-122"/>
                <a:cs typeface="Calibri" pitchFamily="34" charset="-120"/>
              </a:rPr>
              <a:t>Total sumado a mano</a:t>
            </a:r>
            <a:endParaRPr lang="en-US" sz="1400" dirty="0"/>
          </a:p>
        </p:txBody>
      </p:sp>
      <p:sp>
        <p:nvSpPr>
          <p:cNvPr id="13" name="hueso-75"/>
          <p:cNvSpPr/>
          <p:nvPr/>
        </p:nvSpPr>
        <p:spPr>
          <a:xfrm>
            <a:off x="5394960" y="1828800"/>
            <a:ext cx="1097280" cy="2011680"/>
          </a:xfrm>
          <a:prstGeom prst="line">
            <a:avLst/>
          </a:prstGeom>
          <a:noFill/>
          <a:ln w="25400">
            <a:solidFill>
              <a:srgbClr val="1F6E5C"/>
            </a:solidFill>
            <a:prstDash val="solid"/>
          </a:ln>
        </p:spPr>
      </p:sp>
      <p:sp>
        <p:nvSpPr>
          <p:cNvPr id="14" name="categoria-76"/>
          <p:cNvSpPr/>
          <p:nvPr/>
        </p:nvSpPr>
        <p:spPr>
          <a:xfrm>
            <a:off x="4480560" y="1389888"/>
            <a:ext cx="1828800" cy="384048"/>
          </a:xfrm>
          <a:prstGeom prst="roundRect">
            <a:avLst>
              <a:gd name="adj" fmla="val 19048"/>
            </a:avLst>
          </a:prstGeom>
          <a:solidFill>
            <a:schemeClr val="tx2"/>
          </a:solidFill>
          <a:ln/>
        </p:spPr>
      </p:sp>
      <p:sp>
        <p:nvSpPr>
          <p:cNvPr id="15" name="Text 13"/>
          <p:cNvSpPr txBox="1"/>
          <p:nvPr/>
        </p:nvSpPr>
        <p:spPr>
          <a:xfrm>
            <a:off x="4480560" y="1389888"/>
            <a:ext cx="1828800" cy="38404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MANO DE OBRA</a:t>
            </a:r>
            <a:endParaRPr lang="en-US" sz="1300" dirty="0"/>
          </a:p>
        </p:txBody>
      </p:sp>
      <p:sp>
        <p:nvSpPr>
          <p:cNvPr id="16" name="Text 14"/>
          <p:cNvSpPr txBox="1"/>
          <p:nvPr/>
        </p:nvSpPr>
        <p:spPr>
          <a:xfrm>
            <a:off x="3221182" y="2103120"/>
            <a:ext cx="2331720" cy="365760"/>
          </a:xfrm>
          <a:prstGeom prst="rect">
            <a:avLst/>
          </a:prstGeom>
          <a:noFill/>
          <a:ln/>
        </p:spPr>
        <p:txBody>
          <a:bodyPr wrap="square" lIns="0" tIns="0" rIns="0" bIns="0" rtlCol="0" anchor="ctr"/>
          <a:lstStyle/>
          <a:p>
            <a:pPr algn="r" indent="0" marL="0">
              <a:buNone/>
            </a:pPr>
            <a:r>
              <a:rPr lang="en-US" sz="1400" dirty="0">
                <a:solidFill>
                  <a:schemeClr val="tx1"/>
                </a:solidFill>
                <a:latin typeface="Calibri" pitchFamily="34" charset="0"/>
                <a:ea typeface="Calibri" pitchFamily="34" charset="-122"/>
                <a:cs typeface="Calibri" pitchFamily="34" charset="-120"/>
              </a:rPr>
              <a:t>Una persona atiende todo</a:t>
            </a:r>
            <a:endParaRPr lang="en-US" sz="1400" dirty="0"/>
          </a:p>
        </p:txBody>
      </p:sp>
      <p:sp>
        <p:nvSpPr>
          <p:cNvPr id="17" name="Text 15"/>
          <p:cNvSpPr txBox="1"/>
          <p:nvPr/>
        </p:nvSpPr>
        <p:spPr>
          <a:xfrm>
            <a:off x="3520440" y="2651760"/>
            <a:ext cx="2331720" cy="365760"/>
          </a:xfrm>
          <a:prstGeom prst="rect">
            <a:avLst/>
          </a:prstGeom>
          <a:noFill/>
          <a:ln/>
        </p:spPr>
        <p:txBody>
          <a:bodyPr wrap="square" lIns="0" tIns="0" rIns="0" bIns="0" rtlCol="0" anchor="ctr"/>
          <a:lstStyle/>
          <a:p>
            <a:pPr algn="r" indent="0" marL="0">
              <a:buNone/>
            </a:pPr>
            <a:r>
              <a:rPr lang="en-US" sz="1400" dirty="0">
                <a:solidFill>
                  <a:schemeClr val="tx1"/>
                </a:solidFill>
                <a:latin typeface="Calibri" pitchFamily="34" charset="0"/>
                <a:ea typeface="Calibri" pitchFamily="34" charset="-122"/>
                <a:cs typeface="Calibri" pitchFamily="34" charset="-120"/>
              </a:rPr>
              <a:t>Chat compite con la cocina</a:t>
            </a:r>
            <a:endParaRPr lang="en-US" sz="1400" dirty="0"/>
          </a:p>
        </p:txBody>
      </p:sp>
      <p:sp>
        <p:nvSpPr>
          <p:cNvPr id="18" name="Text 16"/>
          <p:cNvSpPr txBox="1"/>
          <p:nvPr/>
        </p:nvSpPr>
        <p:spPr>
          <a:xfrm>
            <a:off x="3819698" y="3200400"/>
            <a:ext cx="2331720" cy="365760"/>
          </a:xfrm>
          <a:prstGeom prst="rect">
            <a:avLst/>
          </a:prstGeom>
          <a:noFill/>
          <a:ln/>
        </p:spPr>
        <p:txBody>
          <a:bodyPr wrap="square" lIns="0" tIns="0" rIns="0" bIns="0" rtlCol="0" anchor="ctr"/>
          <a:lstStyle/>
          <a:p>
            <a:pPr algn="r" indent="0" marL="0">
              <a:buNone/>
            </a:pPr>
            <a:r>
              <a:rPr lang="en-US" sz="1400" dirty="0">
                <a:solidFill>
                  <a:schemeClr val="tx1"/>
                </a:solidFill>
                <a:latin typeface="Calibri" pitchFamily="34" charset="0"/>
                <a:ea typeface="Calibri" pitchFamily="34" charset="-122"/>
                <a:cs typeface="Calibri" pitchFamily="34" charset="-120"/>
              </a:rPr>
              <a:t>Saber técnico en uno solo</a:t>
            </a:r>
            <a:endParaRPr lang="en-US" sz="1400" dirty="0"/>
          </a:p>
        </p:txBody>
      </p:sp>
      <p:sp>
        <p:nvSpPr>
          <p:cNvPr id="19" name="hueso-77"/>
          <p:cNvSpPr/>
          <p:nvPr/>
        </p:nvSpPr>
        <p:spPr>
          <a:xfrm>
            <a:off x="8046720" y="1828800"/>
            <a:ext cx="1097280" cy="2011680"/>
          </a:xfrm>
          <a:prstGeom prst="line">
            <a:avLst/>
          </a:prstGeom>
          <a:noFill/>
          <a:ln w="25400">
            <a:solidFill>
              <a:srgbClr val="1F6E5C"/>
            </a:solidFill>
            <a:prstDash val="solid"/>
          </a:ln>
        </p:spPr>
      </p:sp>
      <p:sp>
        <p:nvSpPr>
          <p:cNvPr id="20" name="categoria-78"/>
          <p:cNvSpPr/>
          <p:nvPr/>
        </p:nvSpPr>
        <p:spPr>
          <a:xfrm>
            <a:off x="7132320" y="1389888"/>
            <a:ext cx="1828800" cy="384048"/>
          </a:xfrm>
          <a:prstGeom prst="roundRect">
            <a:avLst>
              <a:gd name="adj" fmla="val 19048"/>
            </a:avLst>
          </a:prstGeom>
          <a:solidFill>
            <a:schemeClr val="tx2"/>
          </a:solidFill>
          <a:ln/>
        </p:spPr>
      </p:sp>
      <p:sp>
        <p:nvSpPr>
          <p:cNvPr id="21" name="Text 19"/>
          <p:cNvSpPr txBox="1"/>
          <p:nvPr/>
        </p:nvSpPr>
        <p:spPr>
          <a:xfrm>
            <a:off x="7132320" y="1389888"/>
            <a:ext cx="1828800" cy="38404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MEDICIÓN</a:t>
            </a:r>
            <a:endParaRPr lang="en-US" sz="1300" dirty="0"/>
          </a:p>
        </p:txBody>
      </p:sp>
      <p:sp>
        <p:nvSpPr>
          <p:cNvPr id="22" name="Text 20"/>
          <p:cNvSpPr txBox="1"/>
          <p:nvPr/>
        </p:nvSpPr>
        <p:spPr>
          <a:xfrm>
            <a:off x="5872942" y="2103120"/>
            <a:ext cx="2331720" cy="365760"/>
          </a:xfrm>
          <a:prstGeom prst="rect">
            <a:avLst/>
          </a:prstGeom>
          <a:noFill/>
          <a:ln/>
        </p:spPr>
        <p:txBody>
          <a:bodyPr wrap="square" lIns="0" tIns="0" rIns="0" bIns="0" rtlCol="0" anchor="ctr"/>
          <a:lstStyle/>
          <a:p>
            <a:pPr algn="r" indent="0" marL="0">
              <a:buNone/>
            </a:pPr>
            <a:r>
              <a:rPr lang="en-US" sz="1400" dirty="0">
                <a:solidFill>
                  <a:schemeClr val="tx1"/>
                </a:solidFill>
                <a:latin typeface="Calibri" pitchFamily="34" charset="0"/>
                <a:ea typeface="Calibri" pitchFamily="34" charset="-122"/>
                <a:cs typeface="Calibri" pitchFamily="34" charset="-120"/>
              </a:rPr>
              <a:t>No se cuentan pedidos</a:t>
            </a:r>
            <a:endParaRPr lang="en-US" sz="1400" dirty="0"/>
          </a:p>
        </p:txBody>
      </p:sp>
      <p:sp>
        <p:nvSpPr>
          <p:cNvPr id="23" name="Text 21"/>
          <p:cNvSpPr txBox="1"/>
          <p:nvPr/>
        </p:nvSpPr>
        <p:spPr>
          <a:xfrm>
            <a:off x="6172200" y="2651760"/>
            <a:ext cx="2331720" cy="365760"/>
          </a:xfrm>
          <a:prstGeom prst="rect">
            <a:avLst/>
          </a:prstGeom>
          <a:noFill/>
          <a:ln/>
        </p:spPr>
        <p:txBody>
          <a:bodyPr wrap="square" lIns="0" tIns="0" rIns="0" bIns="0" rtlCol="0" anchor="ctr"/>
          <a:lstStyle/>
          <a:p>
            <a:pPr algn="r" indent="0" marL="0">
              <a:buNone/>
            </a:pPr>
            <a:r>
              <a:rPr lang="en-US" sz="1400" dirty="0">
                <a:solidFill>
                  <a:schemeClr val="tx1"/>
                </a:solidFill>
                <a:latin typeface="Calibri" pitchFamily="34" charset="0"/>
                <a:ea typeface="Calibri" pitchFamily="34" charset="-122"/>
                <a:cs typeface="Calibri" pitchFamily="34" charset="-120"/>
              </a:rPr>
              <a:t>No se miden errores</a:t>
            </a:r>
            <a:endParaRPr lang="en-US" sz="1400" dirty="0"/>
          </a:p>
        </p:txBody>
      </p:sp>
      <p:sp>
        <p:nvSpPr>
          <p:cNvPr id="24" name="Text 22"/>
          <p:cNvSpPr txBox="1"/>
          <p:nvPr/>
        </p:nvSpPr>
        <p:spPr>
          <a:xfrm>
            <a:off x="6471458" y="3200400"/>
            <a:ext cx="2331720" cy="365760"/>
          </a:xfrm>
          <a:prstGeom prst="rect">
            <a:avLst/>
          </a:prstGeom>
          <a:noFill/>
          <a:ln/>
        </p:spPr>
        <p:txBody>
          <a:bodyPr wrap="square" lIns="0" tIns="0" rIns="0" bIns="0" rtlCol="0" anchor="ctr"/>
          <a:lstStyle/>
          <a:p>
            <a:pPr algn="r" indent="0" marL="0">
              <a:buNone/>
            </a:pPr>
            <a:r>
              <a:rPr lang="en-US" sz="1400" dirty="0">
                <a:solidFill>
                  <a:schemeClr val="tx1"/>
                </a:solidFill>
                <a:latin typeface="Calibri" pitchFamily="34" charset="0"/>
                <a:ea typeface="Calibri" pitchFamily="34" charset="-122"/>
                <a:cs typeface="Calibri" pitchFamily="34" charset="-120"/>
              </a:rPr>
              <a:t>Sin datos de ventas</a:t>
            </a:r>
            <a:endParaRPr lang="en-US" sz="1400" dirty="0"/>
          </a:p>
        </p:txBody>
      </p:sp>
      <p:sp>
        <p:nvSpPr>
          <p:cNvPr id="25" name="hueso-79"/>
          <p:cNvSpPr/>
          <p:nvPr/>
        </p:nvSpPr>
        <p:spPr>
          <a:xfrm flipV="1">
            <a:off x="2743200" y="3840480"/>
            <a:ext cx="1097280" cy="2011680"/>
          </a:xfrm>
          <a:prstGeom prst="line">
            <a:avLst/>
          </a:prstGeom>
          <a:noFill/>
          <a:ln w="25400">
            <a:solidFill>
              <a:srgbClr val="1F6E5C"/>
            </a:solidFill>
            <a:prstDash val="solid"/>
          </a:ln>
        </p:spPr>
      </p:sp>
      <p:sp>
        <p:nvSpPr>
          <p:cNvPr id="26" name="categoria-80"/>
          <p:cNvSpPr/>
          <p:nvPr/>
        </p:nvSpPr>
        <p:spPr>
          <a:xfrm>
            <a:off x="1828800" y="5870448"/>
            <a:ext cx="1828800" cy="384048"/>
          </a:xfrm>
          <a:prstGeom prst="roundRect">
            <a:avLst>
              <a:gd name="adj" fmla="val 19048"/>
            </a:avLst>
          </a:prstGeom>
          <a:solidFill>
            <a:schemeClr val="tx2"/>
          </a:solidFill>
          <a:ln/>
        </p:spPr>
      </p:sp>
      <p:sp>
        <p:nvSpPr>
          <p:cNvPr id="27" name="Text 25"/>
          <p:cNvSpPr txBox="1"/>
          <p:nvPr/>
        </p:nvSpPr>
        <p:spPr>
          <a:xfrm>
            <a:off x="1828800" y="5870448"/>
            <a:ext cx="1828800" cy="38404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TECNOLOGÍA</a:t>
            </a:r>
            <a:endParaRPr lang="en-US" sz="1300" dirty="0"/>
          </a:p>
        </p:txBody>
      </p:sp>
      <p:sp>
        <p:nvSpPr>
          <p:cNvPr id="28" name="Text 26"/>
          <p:cNvSpPr txBox="1"/>
          <p:nvPr/>
        </p:nvSpPr>
        <p:spPr>
          <a:xfrm>
            <a:off x="1167938" y="4114800"/>
            <a:ext cx="2331720" cy="365760"/>
          </a:xfrm>
          <a:prstGeom prst="rect">
            <a:avLst/>
          </a:prstGeom>
          <a:noFill/>
          <a:ln/>
        </p:spPr>
        <p:txBody>
          <a:bodyPr wrap="square" lIns="0" tIns="0" rIns="0" bIns="0" rtlCol="0" anchor="ctr"/>
          <a:lstStyle/>
          <a:p>
            <a:pPr algn="r" indent="0" marL="0">
              <a:buNone/>
            </a:pPr>
            <a:r>
              <a:rPr lang="en-US" sz="1400" dirty="0">
                <a:solidFill>
                  <a:schemeClr val="tx1"/>
                </a:solidFill>
                <a:latin typeface="Calibri" pitchFamily="34" charset="0"/>
                <a:ea typeface="Calibri" pitchFamily="34" charset="-122"/>
                <a:cs typeface="Calibri" pitchFamily="34" charset="-120"/>
              </a:rPr>
              <a:t>Sin carta digital</a:t>
            </a:r>
            <a:endParaRPr lang="en-US" sz="1400" dirty="0"/>
          </a:p>
        </p:txBody>
      </p:sp>
      <p:sp>
        <p:nvSpPr>
          <p:cNvPr id="29" name="Text 27"/>
          <p:cNvSpPr txBox="1"/>
          <p:nvPr/>
        </p:nvSpPr>
        <p:spPr>
          <a:xfrm>
            <a:off x="868680" y="4663440"/>
            <a:ext cx="2331720" cy="365760"/>
          </a:xfrm>
          <a:prstGeom prst="rect">
            <a:avLst/>
          </a:prstGeom>
          <a:noFill/>
          <a:ln/>
        </p:spPr>
        <p:txBody>
          <a:bodyPr wrap="square" lIns="0" tIns="0" rIns="0" bIns="0" rtlCol="0" anchor="ctr"/>
          <a:lstStyle/>
          <a:p>
            <a:pPr algn="r" indent="0" marL="0">
              <a:buNone/>
            </a:pPr>
            <a:r>
              <a:rPr lang="en-US" sz="1400" dirty="0">
                <a:solidFill>
                  <a:schemeClr val="tx1"/>
                </a:solidFill>
                <a:latin typeface="Calibri" pitchFamily="34" charset="0"/>
                <a:ea typeface="Calibri" pitchFamily="34" charset="-122"/>
                <a:cs typeface="Calibri" pitchFamily="34" charset="-120"/>
              </a:rPr>
              <a:t>Un solo celular</a:t>
            </a:r>
            <a:endParaRPr lang="en-US" sz="1400" dirty="0"/>
          </a:p>
        </p:txBody>
      </p:sp>
      <p:sp>
        <p:nvSpPr>
          <p:cNvPr id="30" name="Text 28"/>
          <p:cNvSpPr txBox="1"/>
          <p:nvPr/>
        </p:nvSpPr>
        <p:spPr>
          <a:xfrm>
            <a:off x="569422" y="5212080"/>
            <a:ext cx="2331720" cy="365760"/>
          </a:xfrm>
          <a:prstGeom prst="rect">
            <a:avLst/>
          </a:prstGeom>
          <a:noFill/>
          <a:ln/>
        </p:spPr>
        <p:txBody>
          <a:bodyPr wrap="square" lIns="0" tIns="0" rIns="0" bIns="0" rtlCol="0" anchor="ctr"/>
          <a:lstStyle/>
          <a:p>
            <a:pPr algn="r" indent="0" marL="0">
              <a:buNone/>
            </a:pPr>
            <a:r>
              <a:rPr lang="en-US" sz="1400" dirty="0">
                <a:solidFill>
                  <a:schemeClr val="tx1"/>
                </a:solidFill>
                <a:latin typeface="Calibri" pitchFamily="34" charset="0"/>
                <a:ea typeface="Calibri" pitchFamily="34" charset="-122"/>
                <a:cs typeface="Calibri" pitchFamily="34" charset="-120"/>
              </a:rPr>
              <a:t>Sin registro digital</a:t>
            </a:r>
            <a:endParaRPr lang="en-US" sz="1400" dirty="0"/>
          </a:p>
        </p:txBody>
      </p:sp>
      <p:sp>
        <p:nvSpPr>
          <p:cNvPr id="31" name="hueso-81"/>
          <p:cNvSpPr/>
          <p:nvPr/>
        </p:nvSpPr>
        <p:spPr>
          <a:xfrm flipV="1">
            <a:off x="5394960" y="3840480"/>
            <a:ext cx="1097280" cy="2011680"/>
          </a:xfrm>
          <a:prstGeom prst="line">
            <a:avLst/>
          </a:prstGeom>
          <a:noFill/>
          <a:ln w="25400">
            <a:solidFill>
              <a:srgbClr val="1F6E5C"/>
            </a:solidFill>
            <a:prstDash val="solid"/>
          </a:ln>
        </p:spPr>
      </p:sp>
      <p:sp>
        <p:nvSpPr>
          <p:cNvPr id="32" name="categoria-82"/>
          <p:cNvSpPr/>
          <p:nvPr/>
        </p:nvSpPr>
        <p:spPr>
          <a:xfrm>
            <a:off x="4480560" y="5870448"/>
            <a:ext cx="1828800" cy="384048"/>
          </a:xfrm>
          <a:prstGeom prst="roundRect">
            <a:avLst>
              <a:gd name="adj" fmla="val 19048"/>
            </a:avLst>
          </a:prstGeom>
          <a:solidFill>
            <a:schemeClr val="tx2"/>
          </a:solidFill>
          <a:ln/>
        </p:spPr>
      </p:sp>
      <p:sp>
        <p:nvSpPr>
          <p:cNvPr id="33" name="Text 31"/>
          <p:cNvSpPr txBox="1"/>
          <p:nvPr/>
        </p:nvSpPr>
        <p:spPr>
          <a:xfrm>
            <a:off x="4480560" y="5870448"/>
            <a:ext cx="1828800" cy="38404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INFORMACIÓN</a:t>
            </a:r>
            <a:endParaRPr lang="en-US" sz="1300" dirty="0"/>
          </a:p>
        </p:txBody>
      </p:sp>
      <p:sp>
        <p:nvSpPr>
          <p:cNvPr id="34" name="Text 32"/>
          <p:cNvSpPr txBox="1"/>
          <p:nvPr/>
        </p:nvSpPr>
        <p:spPr>
          <a:xfrm>
            <a:off x="3819698" y="4114800"/>
            <a:ext cx="2331720" cy="365760"/>
          </a:xfrm>
          <a:prstGeom prst="rect">
            <a:avLst/>
          </a:prstGeom>
          <a:noFill/>
          <a:ln/>
        </p:spPr>
        <p:txBody>
          <a:bodyPr wrap="square" lIns="0" tIns="0" rIns="0" bIns="0" rtlCol="0" anchor="ctr"/>
          <a:lstStyle/>
          <a:p>
            <a:pPr algn="r" indent="0" marL="0">
              <a:buNone/>
            </a:pPr>
            <a:r>
              <a:rPr lang="en-US" sz="1400" dirty="0">
                <a:solidFill>
                  <a:schemeClr val="tx1"/>
                </a:solidFill>
                <a:latin typeface="Calibri" pitchFamily="34" charset="0"/>
                <a:ea typeface="Calibri" pitchFamily="34" charset="-122"/>
                <a:cs typeface="Calibri" pitchFamily="34" charset="-120"/>
              </a:rPr>
              <a:t>Carta reenviada en imagen</a:t>
            </a:r>
            <a:endParaRPr lang="en-US" sz="1400" dirty="0"/>
          </a:p>
        </p:txBody>
      </p:sp>
      <p:sp>
        <p:nvSpPr>
          <p:cNvPr id="35" name="Text 33"/>
          <p:cNvSpPr txBox="1"/>
          <p:nvPr/>
        </p:nvSpPr>
        <p:spPr>
          <a:xfrm>
            <a:off x="3520440" y="4663440"/>
            <a:ext cx="2331720" cy="365760"/>
          </a:xfrm>
          <a:prstGeom prst="rect">
            <a:avLst/>
          </a:prstGeom>
          <a:noFill/>
          <a:ln/>
        </p:spPr>
        <p:txBody>
          <a:bodyPr wrap="square" lIns="0" tIns="0" rIns="0" bIns="0" rtlCol="0" anchor="ctr"/>
          <a:lstStyle/>
          <a:p>
            <a:pPr algn="r" indent="0" marL="0">
              <a:buNone/>
            </a:pPr>
            <a:r>
              <a:rPr lang="en-US" sz="1400" dirty="0">
                <a:solidFill>
                  <a:schemeClr val="tx1"/>
                </a:solidFill>
                <a:latin typeface="Calibri" pitchFamily="34" charset="0"/>
                <a:ea typeface="Calibri" pitchFamily="34" charset="-122"/>
                <a:cs typeface="Calibri" pitchFamily="34" charset="-120"/>
              </a:rPr>
              <a:t>Precios desactualizados</a:t>
            </a:r>
            <a:endParaRPr lang="en-US" sz="1400" dirty="0"/>
          </a:p>
        </p:txBody>
      </p:sp>
      <p:sp>
        <p:nvSpPr>
          <p:cNvPr id="36" name="Text 34"/>
          <p:cNvSpPr txBox="1"/>
          <p:nvPr/>
        </p:nvSpPr>
        <p:spPr>
          <a:xfrm>
            <a:off x="3221182" y="5212080"/>
            <a:ext cx="2331720" cy="365760"/>
          </a:xfrm>
          <a:prstGeom prst="rect">
            <a:avLst/>
          </a:prstGeom>
          <a:noFill/>
          <a:ln/>
        </p:spPr>
        <p:txBody>
          <a:bodyPr wrap="square" lIns="0" tIns="0" rIns="0" bIns="0" rtlCol="0" anchor="ctr"/>
          <a:lstStyle/>
          <a:p>
            <a:pPr algn="r" indent="0" marL="0">
              <a:buNone/>
            </a:pPr>
            <a:r>
              <a:rPr lang="en-US" sz="1400" dirty="0">
                <a:solidFill>
                  <a:schemeClr val="tx1"/>
                </a:solidFill>
                <a:latin typeface="Calibri" pitchFamily="34" charset="0"/>
                <a:ea typeface="Calibri" pitchFamily="34" charset="-122"/>
                <a:cs typeface="Calibri" pitchFamily="34" charset="-120"/>
              </a:rPr>
              <a:t>Faltan datos de entrega</a:t>
            </a:r>
            <a:endParaRPr lang="en-US" sz="1400" dirty="0"/>
          </a:p>
        </p:txBody>
      </p:sp>
      <p:sp>
        <p:nvSpPr>
          <p:cNvPr id="37" name="hueso-83"/>
          <p:cNvSpPr/>
          <p:nvPr/>
        </p:nvSpPr>
        <p:spPr>
          <a:xfrm flipV="1">
            <a:off x="8046720" y="3840480"/>
            <a:ext cx="1097280" cy="2011680"/>
          </a:xfrm>
          <a:prstGeom prst="line">
            <a:avLst/>
          </a:prstGeom>
          <a:noFill/>
          <a:ln w="25400">
            <a:solidFill>
              <a:srgbClr val="1F6E5C"/>
            </a:solidFill>
            <a:prstDash val="solid"/>
          </a:ln>
        </p:spPr>
      </p:sp>
      <p:sp>
        <p:nvSpPr>
          <p:cNvPr id="38" name="categoria-84"/>
          <p:cNvSpPr/>
          <p:nvPr/>
        </p:nvSpPr>
        <p:spPr>
          <a:xfrm>
            <a:off x="7132320" y="5870448"/>
            <a:ext cx="1828800" cy="384048"/>
          </a:xfrm>
          <a:prstGeom prst="roundRect">
            <a:avLst>
              <a:gd name="adj" fmla="val 19048"/>
            </a:avLst>
          </a:prstGeom>
          <a:solidFill>
            <a:schemeClr val="tx2"/>
          </a:solidFill>
          <a:ln/>
        </p:spPr>
      </p:sp>
      <p:sp>
        <p:nvSpPr>
          <p:cNvPr id="39" name="Text 37"/>
          <p:cNvSpPr txBox="1"/>
          <p:nvPr/>
        </p:nvSpPr>
        <p:spPr>
          <a:xfrm>
            <a:off x="7132320" y="5870448"/>
            <a:ext cx="1828800" cy="38404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ENTORNO</a:t>
            </a:r>
            <a:endParaRPr lang="en-US" sz="1300" dirty="0"/>
          </a:p>
        </p:txBody>
      </p:sp>
      <p:sp>
        <p:nvSpPr>
          <p:cNvPr id="40" name="Text 38"/>
          <p:cNvSpPr txBox="1"/>
          <p:nvPr/>
        </p:nvSpPr>
        <p:spPr>
          <a:xfrm>
            <a:off x="6471458" y="4114800"/>
            <a:ext cx="2331720" cy="365760"/>
          </a:xfrm>
          <a:prstGeom prst="rect">
            <a:avLst/>
          </a:prstGeom>
          <a:noFill/>
          <a:ln/>
        </p:spPr>
        <p:txBody>
          <a:bodyPr wrap="square" lIns="0" tIns="0" rIns="0" bIns="0" rtlCol="0" anchor="ctr"/>
          <a:lstStyle/>
          <a:p>
            <a:pPr algn="r" indent="0" marL="0">
              <a:buNone/>
            </a:pPr>
            <a:r>
              <a:rPr lang="en-US" sz="1400" dirty="0">
                <a:solidFill>
                  <a:schemeClr val="tx1"/>
                </a:solidFill>
                <a:latin typeface="Calibri" pitchFamily="34" charset="0"/>
                <a:ea typeface="Calibri" pitchFamily="34" charset="-122"/>
                <a:cs typeface="Calibri" pitchFamily="34" charset="-120"/>
              </a:rPr>
              <a:t>Clientes esperan rapidez</a:t>
            </a:r>
            <a:endParaRPr lang="en-US" sz="1400" dirty="0"/>
          </a:p>
        </p:txBody>
      </p:sp>
      <p:sp>
        <p:nvSpPr>
          <p:cNvPr id="41" name="Text 39"/>
          <p:cNvSpPr txBox="1"/>
          <p:nvPr/>
        </p:nvSpPr>
        <p:spPr>
          <a:xfrm>
            <a:off x="6172200" y="4663440"/>
            <a:ext cx="2331720" cy="365760"/>
          </a:xfrm>
          <a:prstGeom prst="rect">
            <a:avLst/>
          </a:prstGeom>
          <a:noFill/>
          <a:ln/>
        </p:spPr>
        <p:txBody>
          <a:bodyPr wrap="square" lIns="0" tIns="0" rIns="0" bIns="0" rtlCol="0" anchor="ctr"/>
          <a:lstStyle/>
          <a:p>
            <a:pPr algn="r" indent="0" marL="0">
              <a:buNone/>
            </a:pPr>
            <a:r>
              <a:rPr lang="en-US" sz="1400" dirty="0">
                <a:solidFill>
                  <a:schemeClr val="tx1"/>
                </a:solidFill>
                <a:latin typeface="Calibri" pitchFamily="34" charset="0"/>
                <a:ea typeface="Calibri" pitchFamily="34" charset="-122"/>
                <a:cs typeface="Calibri" pitchFamily="34" charset="-120"/>
              </a:rPr>
              <a:t>Competencia y apps</a:t>
            </a:r>
            <a:endParaRPr lang="en-US" sz="1400" dirty="0"/>
          </a:p>
        </p:txBody>
      </p:sp>
      <p:sp>
        <p:nvSpPr>
          <p:cNvPr id="42" name="Text 40"/>
          <p:cNvSpPr txBox="1"/>
          <p:nvPr/>
        </p:nvSpPr>
        <p:spPr>
          <a:xfrm>
            <a:off x="5872942" y="5212080"/>
            <a:ext cx="2331720" cy="365760"/>
          </a:xfrm>
          <a:prstGeom prst="rect">
            <a:avLst/>
          </a:prstGeom>
          <a:noFill/>
          <a:ln/>
        </p:spPr>
        <p:txBody>
          <a:bodyPr wrap="square" lIns="0" tIns="0" rIns="0" bIns="0" rtlCol="0" anchor="ctr"/>
          <a:lstStyle/>
          <a:p>
            <a:pPr algn="r" indent="0" marL="0">
              <a:buNone/>
            </a:pPr>
            <a:r>
              <a:rPr lang="en-US" sz="1400" dirty="0">
                <a:solidFill>
                  <a:schemeClr val="tx1"/>
                </a:solidFill>
                <a:latin typeface="Calibri" pitchFamily="34" charset="0"/>
                <a:ea typeface="Calibri" pitchFamily="34" charset="-122"/>
                <a:cs typeface="Calibri" pitchFamily="34" charset="-120"/>
              </a:rPr>
              <a:t>Picos de fin de semana</a:t>
            </a:r>
            <a:endParaRPr lang="en-US" sz="14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10896"/>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III. TRABAJO PRINCIPAL · OBJETIVOS</a:t>
            </a:r>
            <a:endParaRPr lang="en-US" sz="1200" dirty="0"/>
          </a:p>
        </p:txBody>
      </p:sp>
      <p:sp>
        <p:nvSpPr>
          <p:cNvPr id="3" name="Text 0"/>
          <p:cNvSpPr/>
          <p:nvPr>
            <p:ph idx="101" type="title" hasCustomPrompt="1"/>
          </p:nvPr>
        </p:nvSpPr>
        <p:spPr>
          <a:xfrm>
            <a:off x="548640" y="603504"/>
            <a:ext cx="11064240" cy="658368"/>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Objetivos del proyecto</a:t>
            </a:r>
            <a:endParaRPr lang="en-US" sz="3200" dirty="0"/>
          </a:p>
        </p:txBody>
      </p:sp>
      <p:sp>
        <p:nvSpPr>
          <p:cNvPr id="4" name="card-85"/>
          <p:cNvSpPr/>
          <p:nvPr/>
        </p:nvSpPr>
        <p:spPr>
          <a:xfrm>
            <a:off x="548640" y="1463040"/>
            <a:ext cx="11064240" cy="1417320"/>
          </a:xfrm>
          <a:prstGeom prst="roundRect">
            <a:avLst>
              <a:gd name="adj" fmla="val 7742"/>
            </a:avLst>
          </a:prstGeom>
          <a:solidFill>
            <a:schemeClr val="tx1"/>
          </a:solidFill>
          <a:ln/>
        </p:spPr>
      </p:sp>
      <p:sp>
        <p:nvSpPr>
          <p:cNvPr id="5" name="Text 3"/>
          <p:cNvSpPr txBox="1"/>
          <p:nvPr/>
        </p:nvSpPr>
        <p:spPr>
          <a:xfrm>
            <a:off x="822960" y="1463040"/>
            <a:ext cx="10515600" cy="1417320"/>
          </a:xfrm>
          <a:prstGeom prst="rect">
            <a:avLst/>
          </a:prstGeom>
          <a:noFill/>
          <a:ln/>
        </p:spPr>
        <p:txBody>
          <a:bodyPr wrap="square" lIns="0" tIns="0" rIns="0" bIns="0" rtlCol="0" anchor="ctr"/>
          <a:lstStyle/>
          <a:p>
            <a:pPr indent="0" marL="0">
              <a:buNone/>
            </a:pPr>
            <a:r>
              <a:rPr lang="en-US" sz="1700" b="1" dirty="0">
                <a:solidFill>
                  <a:srgbClr val="F2B63D"/>
                </a:solidFill>
                <a:latin typeface="Calibri" pitchFamily="34" charset="0"/>
                <a:ea typeface="Calibri" pitchFamily="34" charset="-122"/>
                <a:cs typeface="Calibri" pitchFamily="34" charset="-120"/>
              </a:rPr>
              <a:t>Objetivo general. </a:t>
            </a:r>
            <a:pPr indent="0" marL="0">
              <a:buNone/>
            </a:pPr>
            <a:r>
              <a:rPr lang="en-US" sz="1700" dirty="0">
                <a:solidFill>
                  <a:schemeClr val="bg1"/>
                </a:solidFill>
                <a:latin typeface="Calibri" pitchFamily="34" charset="0"/>
                <a:ea typeface="Calibri" pitchFamily="34" charset="-122"/>
                <a:cs typeface="Calibri" pitchFamily="34" charset="-120"/>
              </a:rPr>
              <a:t>Implementar un sistema web en el que el cliente arme su pedido, se genere un recibo numerado que llegue por WhatsApp y cada pedido quede registrado, para reducir demoras, errores y pedidos perdidos.</a:t>
            </a:r>
            <a:endParaRPr lang="en-US" sz="1700" dirty="0"/>
          </a:p>
        </p:txBody>
      </p:sp>
      <p:sp>
        <p:nvSpPr>
          <p:cNvPr id="6" name="card-86"/>
          <p:cNvSpPr/>
          <p:nvPr/>
        </p:nvSpPr>
        <p:spPr>
          <a:xfrm>
            <a:off x="548640" y="3154680"/>
            <a:ext cx="3474720" cy="3017520"/>
          </a:xfrm>
          <a:prstGeom prst="roundRect">
            <a:avLst>
              <a:gd name="adj" fmla="val 3636"/>
            </a:avLst>
          </a:prstGeom>
          <a:solidFill>
            <a:schemeClr val="accent6"/>
          </a:solidFill>
          <a:ln/>
        </p:spPr>
      </p:sp>
      <p:sp>
        <p:nvSpPr>
          <p:cNvPr id="7" name="icono-fondo-87"/>
          <p:cNvSpPr/>
          <p:nvPr/>
        </p:nvSpPr>
        <p:spPr>
          <a:xfrm>
            <a:off x="822960" y="3429000"/>
            <a:ext cx="594360" cy="594360"/>
          </a:xfrm>
          <a:prstGeom prst="ellipse">
            <a:avLst/>
          </a:prstGeom>
          <a:solidFill>
            <a:schemeClr val="accent1"/>
          </a:solidFill>
          <a:ln/>
        </p:spPr>
      </p:sp>
      <p:pic>
        <p:nvPicPr>
          <p:cNvPr id="8" name="icono-88" descr="preencoded.png">    </p:cNvPr>
          <p:cNvPicPr>
            <a:picLocks noChangeAspect="1"/>
          </p:cNvPicPr>
          <p:nvPr/>
        </p:nvPicPr>
        <p:blipFill>
          <a:blip r:embed="rId1"/>
          <a:stretch>
            <a:fillRect/>
          </a:stretch>
        </p:blipFill>
        <p:spPr>
          <a:xfrm>
            <a:off x="965606" y="3571646"/>
            <a:ext cx="309067" cy="309067"/>
          </a:xfrm>
          <a:prstGeom prst="rect">
            <a:avLst/>
          </a:prstGeom>
        </p:spPr>
      </p:pic>
      <p:sp>
        <p:nvSpPr>
          <p:cNvPr id="9" name="Text 6"/>
          <p:cNvSpPr txBox="1"/>
          <p:nvPr/>
        </p:nvSpPr>
        <p:spPr>
          <a:xfrm>
            <a:off x="1554480" y="3474720"/>
            <a:ext cx="2194560" cy="502920"/>
          </a:xfrm>
          <a:prstGeom prst="rect">
            <a:avLst/>
          </a:prstGeom>
          <a:noFill/>
          <a:ln/>
        </p:spPr>
        <p:txBody>
          <a:bodyPr wrap="square" lIns="0" tIns="0" rIns="0" bIns="0" rtlCol="0" anchor="t"/>
          <a:lstStyle/>
          <a:p>
            <a:pPr indent="0" marL="0">
              <a:buNone/>
            </a:pPr>
            <a:r>
              <a:rPr lang="en-US" sz="2600" b="1" dirty="0">
                <a:solidFill>
                  <a:schemeClr val="accent1"/>
                </a:solidFill>
                <a:latin typeface="Cambria" pitchFamily="34" charset="0"/>
                <a:ea typeface="Cambria" pitchFamily="34" charset="-122"/>
                <a:cs typeface="Cambria" pitchFamily="34" charset="-120"/>
              </a:rPr>
              <a:t>OE1</a:t>
            </a:r>
            <a:endParaRPr lang="en-US" sz="2600" dirty="0"/>
          </a:p>
        </p:txBody>
      </p:sp>
      <p:sp>
        <p:nvSpPr>
          <p:cNvPr id="10" name="Text 7"/>
          <p:cNvSpPr txBox="1"/>
          <p:nvPr/>
        </p:nvSpPr>
        <p:spPr>
          <a:xfrm>
            <a:off x="822960" y="4206240"/>
            <a:ext cx="2926080" cy="1005840"/>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Ordenar la toma de pedidos</a:t>
            </a:r>
            <a:endParaRPr lang="en-US" sz="1800" dirty="0"/>
          </a:p>
        </p:txBody>
      </p:sp>
      <p:sp>
        <p:nvSpPr>
          <p:cNvPr id="11" name="Text 8"/>
          <p:cNvSpPr txBox="1"/>
          <p:nvPr/>
        </p:nvSpPr>
        <p:spPr>
          <a:xfrm>
            <a:off x="822960" y="5394960"/>
            <a:ext cx="2926080" cy="594360"/>
          </a:xfrm>
          <a:prstGeom prst="rect">
            <a:avLst/>
          </a:prstGeom>
          <a:noFill/>
          <a:ln/>
        </p:spPr>
        <p:txBody>
          <a:bodyPr wrap="square" lIns="0" tIns="0" rIns="0" bIns="0" rtlCol="0" anchor="t"/>
          <a:lstStyle/>
          <a:p>
            <a:pPr indent="0" marL="0">
              <a:buNone/>
            </a:pPr>
            <a:r>
              <a:rPr lang="en-US" sz="1300" dirty="0">
                <a:solidFill>
                  <a:schemeClr val="accent4"/>
                </a:solidFill>
                <a:latin typeface="Calibri" pitchFamily="34" charset="0"/>
                <a:ea typeface="Calibri" pitchFamily="34" charset="-122"/>
                <a:cs typeface="Calibri" pitchFamily="34" charset="-120"/>
              </a:rPr>
              <a:t>Ataca: método, información y mano de obra</a:t>
            </a:r>
            <a:endParaRPr lang="en-US" sz="1300" dirty="0"/>
          </a:p>
        </p:txBody>
      </p:sp>
      <p:sp>
        <p:nvSpPr>
          <p:cNvPr id="12" name="card-89"/>
          <p:cNvSpPr/>
          <p:nvPr/>
        </p:nvSpPr>
        <p:spPr>
          <a:xfrm>
            <a:off x="4297680" y="3154680"/>
            <a:ext cx="3474720" cy="3017520"/>
          </a:xfrm>
          <a:prstGeom prst="roundRect">
            <a:avLst>
              <a:gd name="adj" fmla="val 3636"/>
            </a:avLst>
          </a:prstGeom>
          <a:solidFill>
            <a:schemeClr val="accent6"/>
          </a:solidFill>
          <a:ln/>
        </p:spPr>
      </p:sp>
      <p:sp>
        <p:nvSpPr>
          <p:cNvPr id="13" name="icono-fondo-90"/>
          <p:cNvSpPr/>
          <p:nvPr/>
        </p:nvSpPr>
        <p:spPr>
          <a:xfrm>
            <a:off x="4572000" y="3429000"/>
            <a:ext cx="594360" cy="594360"/>
          </a:xfrm>
          <a:prstGeom prst="ellipse">
            <a:avLst/>
          </a:prstGeom>
          <a:solidFill>
            <a:schemeClr val="accent2"/>
          </a:solidFill>
          <a:ln/>
        </p:spPr>
      </p:sp>
      <p:pic>
        <p:nvPicPr>
          <p:cNvPr id="14" name="icono-91" descr="preencoded.png">    </p:cNvPr>
          <p:cNvPicPr>
            <a:picLocks noChangeAspect="1"/>
          </p:cNvPicPr>
          <p:nvPr/>
        </p:nvPicPr>
        <p:blipFill>
          <a:blip r:embed="rId2"/>
          <a:stretch>
            <a:fillRect/>
          </a:stretch>
        </p:blipFill>
        <p:spPr>
          <a:xfrm>
            <a:off x="4714646" y="3571646"/>
            <a:ext cx="309067" cy="309067"/>
          </a:xfrm>
          <a:prstGeom prst="rect">
            <a:avLst/>
          </a:prstGeom>
        </p:spPr>
      </p:pic>
      <p:sp>
        <p:nvSpPr>
          <p:cNvPr id="15" name="Text 11"/>
          <p:cNvSpPr txBox="1"/>
          <p:nvPr/>
        </p:nvSpPr>
        <p:spPr>
          <a:xfrm>
            <a:off x="5303520" y="3474720"/>
            <a:ext cx="2194560" cy="502920"/>
          </a:xfrm>
          <a:prstGeom prst="rect">
            <a:avLst/>
          </a:prstGeom>
          <a:noFill/>
          <a:ln/>
        </p:spPr>
        <p:txBody>
          <a:bodyPr wrap="square" lIns="0" tIns="0" rIns="0" bIns="0" rtlCol="0" anchor="t"/>
          <a:lstStyle/>
          <a:p>
            <a:pPr indent="0" marL="0">
              <a:buNone/>
            </a:pPr>
            <a:r>
              <a:rPr lang="en-US" sz="2600" b="1" dirty="0">
                <a:solidFill>
                  <a:schemeClr val="accent2"/>
                </a:solidFill>
                <a:latin typeface="Cambria" pitchFamily="34" charset="0"/>
                <a:ea typeface="Cambria" pitchFamily="34" charset="-122"/>
                <a:cs typeface="Cambria" pitchFamily="34" charset="-120"/>
              </a:rPr>
              <a:t>OE2</a:t>
            </a:r>
            <a:endParaRPr lang="en-US" sz="2600" dirty="0"/>
          </a:p>
        </p:txBody>
      </p:sp>
      <p:sp>
        <p:nvSpPr>
          <p:cNvPr id="16" name="Text 12"/>
          <p:cNvSpPr txBox="1"/>
          <p:nvPr/>
        </p:nvSpPr>
        <p:spPr>
          <a:xfrm>
            <a:off x="4572000" y="4206240"/>
            <a:ext cx="2926080" cy="1005840"/>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Registrar los pedidos y facilitar la administración</a:t>
            </a:r>
            <a:endParaRPr lang="en-US" sz="1800" dirty="0"/>
          </a:p>
        </p:txBody>
      </p:sp>
      <p:sp>
        <p:nvSpPr>
          <p:cNvPr id="17" name="Text 13"/>
          <p:cNvSpPr txBox="1"/>
          <p:nvPr/>
        </p:nvSpPr>
        <p:spPr>
          <a:xfrm>
            <a:off x="4572000" y="5394960"/>
            <a:ext cx="2926080" cy="594360"/>
          </a:xfrm>
          <a:prstGeom prst="rect">
            <a:avLst/>
          </a:prstGeom>
          <a:noFill/>
          <a:ln/>
        </p:spPr>
        <p:txBody>
          <a:bodyPr wrap="square" lIns="0" tIns="0" rIns="0" bIns="0" rtlCol="0" anchor="t"/>
          <a:lstStyle/>
          <a:p>
            <a:pPr indent="0" marL="0">
              <a:buNone/>
            </a:pPr>
            <a:r>
              <a:rPr lang="en-US" sz="1300" dirty="0">
                <a:solidFill>
                  <a:schemeClr val="accent4"/>
                </a:solidFill>
                <a:latin typeface="Calibri" pitchFamily="34" charset="0"/>
                <a:ea typeface="Calibri" pitchFamily="34" charset="-122"/>
                <a:cs typeface="Calibri" pitchFamily="34" charset="-120"/>
              </a:rPr>
              <a:t>Ataca: medición y tecnología</a:t>
            </a:r>
            <a:endParaRPr lang="en-US" sz="1300" dirty="0"/>
          </a:p>
        </p:txBody>
      </p:sp>
      <p:sp>
        <p:nvSpPr>
          <p:cNvPr id="18" name="card-92"/>
          <p:cNvSpPr/>
          <p:nvPr/>
        </p:nvSpPr>
        <p:spPr>
          <a:xfrm>
            <a:off x="8046720" y="3154680"/>
            <a:ext cx="3474720" cy="3017520"/>
          </a:xfrm>
          <a:prstGeom prst="roundRect">
            <a:avLst>
              <a:gd name="adj" fmla="val 3636"/>
            </a:avLst>
          </a:prstGeom>
          <a:solidFill>
            <a:schemeClr val="accent6"/>
          </a:solidFill>
          <a:ln/>
        </p:spPr>
      </p:sp>
      <p:sp>
        <p:nvSpPr>
          <p:cNvPr id="19" name="icono-fondo-93"/>
          <p:cNvSpPr/>
          <p:nvPr/>
        </p:nvSpPr>
        <p:spPr>
          <a:xfrm>
            <a:off x="8321040" y="3429000"/>
            <a:ext cx="594360" cy="594360"/>
          </a:xfrm>
          <a:prstGeom prst="ellipse">
            <a:avLst/>
          </a:prstGeom>
          <a:solidFill>
            <a:schemeClr val="tx2"/>
          </a:solidFill>
          <a:ln/>
        </p:spPr>
      </p:sp>
      <p:pic>
        <p:nvPicPr>
          <p:cNvPr id="20" name="icono-94" descr="preencoded.png">    </p:cNvPr>
          <p:cNvPicPr>
            <a:picLocks noChangeAspect="1"/>
          </p:cNvPicPr>
          <p:nvPr/>
        </p:nvPicPr>
        <p:blipFill>
          <a:blip r:embed="rId3"/>
          <a:stretch>
            <a:fillRect/>
          </a:stretch>
        </p:blipFill>
        <p:spPr>
          <a:xfrm>
            <a:off x="8463686" y="3571646"/>
            <a:ext cx="309067" cy="309067"/>
          </a:xfrm>
          <a:prstGeom prst="rect">
            <a:avLst/>
          </a:prstGeom>
        </p:spPr>
      </p:pic>
      <p:sp>
        <p:nvSpPr>
          <p:cNvPr id="21" name="Text 16"/>
          <p:cNvSpPr txBox="1"/>
          <p:nvPr/>
        </p:nvSpPr>
        <p:spPr>
          <a:xfrm>
            <a:off x="9052560" y="3474720"/>
            <a:ext cx="2194560" cy="502920"/>
          </a:xfrm>
          <a:prstGeom prst="rect">
            <a:avLst/>
          </a:prstGeom>
          <a:noFill/>
          <a:ln/>
        </p:spPr>
        <p:txBody>
          <a:bodyPr wrap="square" lIns="0" tIns="0" rIns="0" bIns="0" rtlCol="0" anchor="t"/>
          <a:lstStyle/>
          <a:p>
            <a:pPr indent="0" marL="0">
              <a:buNone/>
            </a:pPr>
            <a:r>
              <a:rPr lang="en-US" sz="2600" b="1" dirty="0">
                <a:solidFill>
                  <a:schemeClr val="tx2"/>
                </a:solidFill>
                <a:latin typeface="Cambria" pitchFamily="34" charset="0"/>
                <a:ea typeface="Cambria" pitchFamily="34" charset="-122"/>
                <a:cs typeface="Cambria" pitchFamily="34" charset="-120"/>
              </a:rPr>
              <a:t>OE3</a:t>
            </a:r>
            <a:endParaRPr lang="en-US" sz="2600" dirty="0"/>
          </a:p>
        </p:txBody>
      </p:sp>
      <p:sp>
        <p:nvSpPr>
          <p:cNvPr id="22" name="Text 17"/>
          <p:cNvSpPr txBox="1"/>
          <p:nvPr/>
        </p:nvSpPr>
        <p:spPr>
          <a:xfrm>
            <a:off x="8321040" y="4206240"/>
            <a:ext cx="2926080" cy="1005840"/>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Operar de forma segura, confiable y sin costo</a:t>
            </a:r>
            <a:endParaRPr lang="en-US" sz="1800" dirty="0"/>
          </a:p>
        </p:txBody>
      </p:sp>
      <p:sp>
        <p:nvSpPr>
          <p:cNvPr id="23" name="Text 18"/>
          <p:cNvSpPr txBox="1"/>
          <p:nvPr/>
        </p:nvSpPr>
        <p:spPr>
          <a:xfrm>
            <a:off x="8321040" y="5394960"/>
            <a:ext cx="2926080" cy="594360"/>
          </a:xfrm>
          <a:prstGeom prst="rect">
            <a:avLst/>
          </a:prstGeom>
          <a:noFill/>
          <a:ln/>
        </p:spPr>
        <p:txBody>
          <a:bodyPr wrap="square" lIns="0" tIns="0" rIns="0" bIns="0" rtlCol="0" anchor="t"/>
          <a:lstStyle/>
          <a:p>
            <a:pPr indent="0" marL="0">
              <a:buNone/>
            </a:pPr>
            <a:r>
              <a:rPr lang="en-US" sz="1300" dirty="0">
                <a:solidFill>
                  <a:schemeClr val="accent4"/>
                </a:solidFill>
                <a:latin typeface="Calibri" pitchFamily="34" charset="0"/>
                <a:ea typeface="Calibri" pitchFamily="34" charset="-122"/>
                <a:cs typeface="Calibri" pitchFamily="34" charset="-120"/>
              </a:rPr>
              <a:t>Ataca: entorno y riesgo técnico</a:t>
            </a:r>
            <a:endParaRPr lang="en-US" sz="13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10896"/>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III. TRABAJO PRINCIPAL · ALCANCE Y PLAN</a:t>
            </a:r>
            <a:endParaRPr lang="en-US" sz="1200" dirty="0"/>
          </a:p>
        </p:txBody>
      </p:sp>
      <p:sp>
        <p:nvSpPr>
          <p:cNvPr id="3" name="Text 0"/>
          <p:cNvSpPr/>
          <p:nvPr>
            <p:ph idx="101" type="title" hasCustomPrompt="1"/>
          </p:nvPr>
        </p:nvSpPr>
        <p:spPr>
          <a:xfrm>
            <a:off x="548640" y="603504"/>
            <a:ext cx="11064240" cy="658368"/>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Alcance y plan de ejecución</a:t>
            </a:r>
            <a:endParaRPr lang="en-US" sz="3200" dirty="0"/>
          </a:p>
        </p:txBody>
      </p:sp>
      <p:sp>
        <p:nvSpPr>
          <p:cNvPr id="4" name="card-95"/>
          <p:cNvSpPr/>
          <p:nvPr/>
        </p:nvSpPr>
        <p:spPr>
          <a:xfrm>
            <a:off x="548640" y="1463040"/>
            <a:ext cx="3566160" cy="2331720"/>
          </a:xfrm>
          <a:prstGeom prst="roundRect">
            <a:avLst>
              <a:gd name="adj" fmla="val 4706"/>
            </a:avLst>
          </a:prstGeom>
          <a:solidFill>
            <a:schemeClr val="accent6"/>
          </a:solidFill>
          <a:ln/>
        </p:spPr>
      </p:sp>
      <p:sp>
        <p:nvSpPr>
          <p:cNvPr id="5" name="Text 3"/>
          <p:cNvSpPr txBox="1"/>
          <p:nvPr/>
        </p:nvSpPr>
        <p:spPr>
          <a:xfrm>
            <a:off x="777240" y="1572768"/>
            <a:ext cx="3108960" cy="365760"/>
          </a:xfrm>
          <a:prstGeom prst="rect">
            <a:avLst/>
          </a:prstGeom>
          <a:noFill/>
          <a:ln/>
        </p:spPr>
        <p:txBody>
          <a:bodyPr wrap="square" lIns="0" tIns="0" rIns="0" bIns="0" rtlCol="0" anchor="t"/>
          <a:lstStyle/>
          <a:p>
            <a:pPr indent="0" marL="0">
              <a:buNone/>
            </a:pPr>
            <a:r>
              <a:rPr lang="en-US" sz="1800" b="1" dirty="0">
                <a:solidFill>
                  <a:schemeClr val="tx2"/>
                </a:solidFill>
                <a:latin typeface="Cambria" pitchFamily="34" charset="0"/>
                <a:ea typeface="Cambria" pitchFamily="34" charset="-122"/>
                <a:cs typeface="Cambria" pitchFamily="34" charset="-120"/>
              </a:rPr>
              <a:t>Incluye</a:t>
            </a:r>
            <a:endParaRPr lang="en-US" sz="1800" dirty="0"/>
          </a:p>
        </p:txBody>
      </p:sp>
      <p:sp>
        <p:nvSpPr>
          <p:cNvPr id="6" name="Text 4"/>
          <p:cNvSpPr txBox="1"/>
          <p:nvPr/>
        </p:nvSpPr>
        <p:spPr>
          <a:xfrm>
            <a:off x="777240" y="1965960"/>
            <a:ext cx="3200400" cy="1737360"/>
          </a:xfrm>
          <a:prstGeom prst="rect">
            <a:avLst/>
          </a:prstGeom>
          <a:noFill/>
          <a:ln/>
        </p:spPr>
        <p:txBody>
          <a:bodyPr wrap="square" lIns="0" tIns="0" rIns="0" bIns="0" rtlCol="0" anchor="t"/>
          <a:lstStyle/>
          <a:p>
            <a:pPr marL="342900" indent="-342900">
              <a:spcAft>
                <a:spcPts val="300"/>
              </a:spcAft>
              <a:buSzPct val="100000"/>
              <a:buChar char="•"/>
            </a:pPr>
            <a:r>
              <a:rPr lang="en-US" sz="1400" dirty="0">
                <a:solidFill>
                  <a:schemeClr val="tx1"/>
                </a:solidFill>
                <a:latin typeface="Calibri" pitchFamily="34" charset="0"/>
                <a:ea typeface="Calibri" pitchFamily="34" charset="-122"/>
                <a:cs typeface="Calibri" pitchFamily="34" charset="-120"/>
              </a:rPr>
              <a:t>Carta, carrito y mitades</a:t>
            </a:r>
            <a:endParaRPr lang="en-US" sz="1400" dirty="0"/>
          </a:p>
          <a:p>
            <a:pPr marL="342900" indent="-342900">
              <a:spcAft>
                <a:spcPts val="300"/>
              </a:spcAft>
              <a:buSzPct val="100000"/>
              <a:buChar char="•"/>
            </a:pPr>
            <a:r>
              <a:rPr lang="en-US" sz="1400" dirty="0">
                <a:solidFill>
                  <a:schemeClr val="tx1"/>
                </a:solidFill>
                <a:latin typeface="Calibri" pitchFamily="34" charset="0"/>
                <a:ea typeface="Calibri" pitchFamily="34" charset="-122"/>
                <a:cs typeface="Calibri" pitchFamily="34" charset="-120"/>
              </a:rPr>
              <a:t>Recibo numerado a WhatsApp</a:t>
            </a:r>
            <a:endParaRPr lang="en-US" sz="1400" dirty="0"/>
          </a:p>
          <a:p>
            <a:pPr marL="342900" indent="-342900">
              <a:spcAft>
                <a:spcPts val="300"/>
              </a:spcAft>
              <a:buSzPct val="100000"/>
              <a:buChar char="•"/>
            </a:pPr>
            <a:r>
              <a:rPr lang="en-US" sz="1400" dirty="0">
                <a:solidFill>
                  <a:schemeClr val="tx1"/>
                </a:solidFill>
                <a:latin typeface="Calibri" pitchFamily="34" charset="0"/>
                <a:ea typeface="Calibri" pitchFamily="34" charset="-122"/>
                <a:cs typeface="Calibri" pitchFamily="34" charset="-120"/>
              </a:rPr>
              <a:t>Planilla de pedidos y precios</a:t>
            </a:r>
            <a:endParaRPr lang="en-US" sz="1400" dirty="0"/>
          </a:p>
          <a:p>
            <a:pPr marL="342900" indent="-342900">
              <a:spcAft>
                <a:spcPts val="300"/>
              </a:spcAft>
              <a:buSzPct val="100000"/>
              <a:buChar char="•"/>
            </a:pPr>
            <a:r>
              <a:rPr lang="en-US" sz="1400" dirty="0">
                <a:solidFill>
                  <a:schemeClr val="tx1"/>
                </a:solidFill>
                <a:latin typeface="Calibri" pitchFamily="34" charset="0"/>
                <a:ea typeface="Calibri" pitchFamily="34" charset="-122"/>
                <a:cs typeface="Calibri" pitchFamily="34" charset="-120"/>
              </a:rPr>
              <a:t>Protección y 44 pruebas</a:t>
            </a:r>
            <a:endParaRPr lang="en-US" sz="1400" dirty="0"/>
          </a:p>
        </p:txBody>
      </p:sp>
      <p:sp>
        <p:nvSpPr>
          <p:cNvPr id="7" name="card-96"/>
          <p:cNvSpPr/>
          <p:nvPr/>
        </p:nvSpPr>
        <p:spPr>
          <a:xfrm>
            <a:off x="548640" y="3931920"/>
            <a:ext cx="3566160" cy="2240280"/>
          </a:xfrm>
          <a:prstGeom prst="roundRect">
            <a:avLst>
              <a:gd name="adj" fmla="val 4898"/>
            </a:avLst>
          </a:prstGeom>
          <a:solidFill>
            <a:schemeClr val="bg2"/>
          </a:solidFill>
          <a:ln/>
        </p:spPr>
      </p:sp>
      <p:sp>
        <p:nvSpPr>
          <p:cNvPr id="8" name="Text 6"/>
          <p:cNvSpPr txBox="1"/>
          <p:nvPr/>
        </p:nvSpPr>
        <p:spPr>
          <a:xfrm>
            <a:off x="777240" y="4041648"/>
            <a:ext cx="3108960" cy="365760"/>
          </a:xfrm>
          <a:prstGeom prst="rect">
            <a:avLst/>
          </a:prstGeom>
          <a:noFill/>
          <a:ln/>
        </p:spPr>
        <p:txBody>
          <a:bodyPr wrap="square" lIns="0" tIns="0" rIns="0" bIns="0" rtlCol="0" anchor="t"/>
          <a:lstStyle/>
          <a:p>
            <a:pPr indent="0" marL="0">
              <a:buNone/>
            </a:pPr>
            <a:r>
              <a:rPr lang="en-US" sz="1800" b="1" dirty="0">
                <a:solidFill>
                  <a:schemeClr val="accent3"/>
                </a:solidFill>
                <a:latin typeface="Cambria" pitchFamily="34" charset="0"/>
                <a:ea typeface="Cambria" pitchFamily="34" charset="-122"/>
                <a:cs typeface="Cambria" pitchFamily="34" charset="-120"/>
              </a:rPr>
              <a:t>No incluye (v2)</a:t>
            </a:r>
            <a:endParaRPr lang="en-US" sz="1800" dirty="0"/>
          </a:p>
        </p:txBody>
      </p:sp>
      <p:sp>
        <p:nvSpPr>
          <p:cNvPr id="9" name="Text 7"/>
          <p:cNvSpPr txBox="1"/>
          <p:nvPr/>
        </p:nvSpPr>
        <p:spPr>
          <a:xfrm>
            <a:off x="777240" y="4434840"/>
            <a:ext cx="3200400" cy="1645920"/>
          </a:xfrm>
          <a:prstGeom prst="rect">
            <a:avLst/>
          </a:prstGeom>
          <a:noFill/>
          <a:ln/>
        </p:spPr>
        <p:txBody>
          <a:bodyPr wrap="square" lIns="0" tIns="0" rIns="0" bIns="0" rtlCol="0" anchor="t"/>
          <a:lstStyle/>
          <a:p>
            <a:pPr marL="342900" indent="-342900">
              <a:spcAft>
                <a:spcPts val="300"/>
              </a:spcAft>
              <a:buSzPct val="100000"/>
              <a:buChar char="•"/>
            </a:pPr>
            <a:r>
              <a:rPr lang="en-US" sz="1400" dirty="0">
                <a:solidFill>
                  <a:schemeClr val="tx1"/>
                </a:solidFill>
                <a:latin typeface="Calibri" pitchFamily="34" charset="0"/>
                <a:ea typeface="Calibri" pitchFamily="34" charset="-122"/>
                <a:cs typeface="Calibri" pitchFamily="34" charset="-120"/>
              </a:rPr>
              <a:t>Pago en línea</a:t>
            </a:r>
            <a:endParaRPr lang="en-US" sz="1400" dirty="0"/>
          </a:p>
          <a:p>
            <a:pPr marL="342900" indent="-342900">
              <a:spcAft>
                <a:spcPts val="300"/>
              </a:spcAft>
              <a:buSzPct val="100000"/>
              <a:buChar char="•"/>
            </a:pPr>
            <a:r>
              <a:rPr lang="en-US" sz="1400" dirty="0">
                <a:solidFill>
                  <a:schemeClr val="tx1"/>
                </a:solidFill>
                <a:latin typeface="Calibri" pitchFamily="34" charset="0"/>
                <a:ea typeface="Calibri" pitchFamily="34" charset="-122"/>
                <a:cs typeface="Calibri" pitchFamily="34" charset="-120"/>
              </a:rPr>
              <a:t>App móvil nativa</a:t>
            </a:r>
            <a:endParaRPr lang="en-US" sz="1400" dirty="0"/>
          </a:p>
          <a:p>
            <a:pPr marL="342900" indent="-342900">
              <a:spcAft>
                <a:spcPts val="300"/>
              </a:spcAft>
              <a:buSzPct val="100000"/>
              <a:buChar char="•"/>
            </a:pPr>
            <a:r>
              <a:rPr lang="en-US" sz="1400" dirty="0">
                <a:solidFill>
                  <a:schemeClr val="tx1"/>
                </a:solidFill>
                <a:latin typeface="Calibri" pitchFamily="34" charset="0"/>
                <a:ea typeface="Calibri" pitchFamily="34" charset="-122"/>
                <a:cs typeface="Calibri" pitchFamily="34" charset="-120"/>
              </a:rPr>
              <a:t>Seguimiento en tiempo real</a:t>
            </a:r>
            <a:endParaRPr lang="en-US" sz="1400" dirty="0"/>
          </a:p>
          <a:p>
            <a:pPr marL="342900" indent="-342900">
              <a:spcAft>
                <a:spcPts val="300"/>
              </a:spcAft>
              <a:buSzPct val="100000"/>
              <a:buChar char="•"/>
            </a:pPr>
            <a:r>
              <a:rPr lang="en-US" sz="1400" dirty="0">
                <a:solidFill>
                  <a:schemeClr val="tx1"/>
                </a:solidFill>
                <a:latin typeface="Calibri" pitchFamily="34" charset="0"/>
                <a:ea typeface="Calibri" pitchFamily="34" charset="-122"/>
                <a:cs typeface="Calibri" pitchFamily="34" charset="-120"/>
              </a:rPr>
              <a:t>Más de un local</a:t>
            </a:r>
            <a:endParaRPr lang="en-US" sz="1400" dirty="0"/>
          </a:p>
        </p:txBody>
      </p:sp>
      <p:sp>
        <p:nvSpPr>
          <p:cNvPr id="10" name="Text 8"/>
          <p:cNvSpPr txBox="1"/>
          <p:nvPr/>
        </p:nvSpPr>
        <p:spPr>
          <a:xfrm>
            <a:off x="6830568" y="1417320"/>
            <a:ext cx="2176272" cy="228600"/>
          </a:xfrm>
          <a:prstGeom prst="rect">
            <a:avLst/>
          </a:prstGeom>
          <a:noFill/>
          <a:ln/>
        </p:spPr>
        <p:txBody>
          <a:bodyPr wrap="square" lIns="0" tIns="0" rIns="0" bIns="0" rtlCol="0" anchor="ctr"/>
          <a:lstStyle/>
          <a:p>
            <a:pPr algn="ctr" indent="0" marL="0">
              <a:buNone/>
            </a:pPr>
            <a:r>
              <a:rPr lang="en-US" sz="1000" b="1" dirty="0">
                <a:solidFill>
                  <a:schemeClr val="accent4"/>
                </a:solidFill>
                <a:latin typeface="Calibri" pitchFamily="34" charset="0"/>
                <a:ea typeface="Calibri" pitchFamily="34" charset="-122"/>
                <a:cs typeface="Calibri" pitchFamily="34" charset="-120"/>
              </a:rPr>
              <a:t>Semana 1 · 28/09–04/10</a:t>
            </a:r>
            <a:endParaRPr lang="en-US" sz="1000" dirty="0"/>
          </a:p>
        </p:txBody>
      </p:sp>
      <p:sp>
        <p:nvSpPr>
          <p:cNvPr id="11" name="Text 9"/>
          <p:cNvSpPr txBox="1"/>
          <p:nvPr/>
        </p:nvSpPr>
        <p:spPr>
          <a:xfrm>
            <a:off x="9006840" y="1417320"/>
            <a:ext cx="2176272" cy="228600"/>
          </a:xfrm>
          <a:prstGeom prst="rect">
            <a:avLst/>
          </a:prstGeom>
          <a:noFill/>
          <a:ln/>
        </p:spPr>
        <p:txBody>
          <a:bodyPr wrap="square" lIns="0" tIns="0" rIns="0" bIns="0" rtlCol="0" anchor="ctr"/>
          <a:lstStyle/>
          <a:p>
            <a:pPr algn="ctr" indent="0" marL="0">
              <a:buNone/>
            </a:pPr>
            <a:r>
              <a:rPr lang="en-US" sz="1000" b="1" dirty="0">
                <a:solidFill>
                  <a:schemeClr val="accent4"/>
                </a:solidFill>
                <a:latin typeface="Calibri" pitchFamily="34" charset="0"/>
                <a:ea typeface="Calibri" pitchFamily="34" charset="-122"/>
                <a:cs typeface="Calibri" pitchFamily="34" charset="-120"/>
              </a:rPr>
              <a:t>Semana 2 · 05/10–11/10</a:t>
            </a:r>
            <a:endParaRPr lang="en-US" sz="1000" dirty="0"/>
          </a:p>
        </p:txBody>
      </p:sp>
      <p:sp>
        <p:nvSpPr>
          <p:cNvPr id="12" name="Text 10"/>
          <p:cNvSpPr txBox="1"/>
          <p:nvPr/>
        </p:nvSpPr>
        <p:spPr>
          <a:xfrm>
            <a:off x="11183112" y="1417320"/>
            <a:ext cx="310896" cy="228600"/>
          </a:xfrm>
          <a:prstGeom prst="rect">
            <a:avLst/>
          </a:prstGeom>
          <a:noFill/>
          <a:ln/>
        </p:spPr>
        <p:txBody>
          <a:bodyPr wrap="square" lIns="0" tIns="0" rIns="0" bIns="0" rtlCol="0" anchor="ctr"/>
          <a:lstStyle/>
          <a:p>
            <a:pPr algn="ctr" indent="0" marL="0">
              <a:buNone/>
            </a:pPr>
            <a:r>
              <a:rPr lang="en-US" sz="1000" b="1" dirty="0">
                <a:solidFill>
                  <a:schemeClr val="accent3"/>
                </a:solidFill>
                <a:latin typeface="Calibri" pitchFamily="34" charset="0"/>
                <a:ea typeface="Calibri" pitchFamily="34" charset="-122"/>
                <a:cs typeface="Calibri" pitchFamily="34" charset="-120"/>
              </a:rPr>
              <a:t>Expo</a:t>
            </a:r>
            <a:endParaRPr lang="en-US" sz="1000" dirty="0"/>
          </a:p>
        </p:txBody>
      </p:sp>
      <p:sp>
        <p:nvSpPr>
          <p:cNvPr id="13" name="Text 11"/>
          <p:cNvSpPr txBox="1"/>
          <p:nvPr/>
        </p:nvSpPr>
        <p:spPr>
          <a:xfrm>
            <a:off x="6830568" y="1645920"/>
            <a:ext cx="310896" cy="182880"/>
          </a:xfrm>
          <a:prstGeom prst="rect">
            <a:avLst/>
          </a:prstGeom>
          <a:noFill/>
          <a:ln/>
        </p:spPr>
        <p:txBody>
          <a:bodyPr wrap="square" lIns="0" tIns="0" rIns="0" bIns="0" rtlCol="0" anchor="ctr"/>
          <a:lstStyle/>
          <a:p>
            <a:pPr algn="ctr" indent="0" marL="0">
              <a:buNone/>
            </a:pPr>
            <a:r>
              <a:rPr lang="en-US" sz="800" dirty="0">
                <a:solidFill>
                  <a:schemeClr val="accent4"/>
                </a:solidFill>
                <a:latin typeface="Calibri" pitchFamily="34" charset="0"/>
                <a:ea typeface="Calibri" pitchFamily="34" charset="-122"/>
                <a:cs typeface="Calibri" pitchFamily="34" charset="-120"/>
              </a:rPr>
              <a:t>L</a:t>
            </a:r>
            <a:endParaRPr lang="en-US" sz="800" dirty="0"/>
          </a:p>
        </p:txBody>
      </p:sp>
      <p:sp>
        <p:nvSpPr>
          <p:cNvPr id="14" name="Text 12"/>
          <p:cNvSpPr txBox="1"/>
          <p:nvPr/>
        </p:nvSpPr>
        <p:spPr>
          <a:xfrm>
            <a:off x="6830568" y="1810512"/>
            <a:ext cx="310896" cy="201168"/>
          </a:xfrm>
          <a:prstGeom prst="rect">
            <a:avLst/>
          </a:prstGeom>
          <a:noFill/>
          <a:ln/>
        </p:spPr>
        <p:txBody>
          <a:bodyPr wrap="square" lIns="0" tIns="0" rIns="0" bIns="0" rtlCol="0" anchor="ctr"/>
          <a:lstStyle/>
          <a:p>
            <a:pPr algn="ctr" indent="0" marL="0">
              <a:buNone/>
            </a:pPr>
            <a:r>
              <a:rPr lang="en-US" sz="1000" b="1" dirty="0">
                <a:solidFill>
                  <a:schemeClr val="accent4"/>
                </a:solidFill>
                <a:latin typeface="Calibri" pitchFamily="34" charset="0"/>
                <a:ea typeface="Calibri" pitchFamily="34" charset="-122"/>
                <a:cs typeface="Calibri" pitchFamily="34" charset="-120"/>
              </a:rPr>
              <a:t>28</a:t>
            </a:r>
            <a:endParaRPr lang="en-US" sz="1000" dirty="0"/>
          </a:p>
        </p:txBody>
      </p:sp>
      <p:sp>
        <p:nvSpPr>
          <p:cNvPr id="15" name="Text 13"/>
          <p:cNvSpPr txBox="1"/>
          <p:nvPr/>
        </p:nvSpPr>
        <p:spPr>
          <a:xfrm>
            <a:off x="7141464" y="1645920"/>
            <a:ext cx="310896" cy="182880"/>
          </a:xfrm>
          <a:prstGeom prst="rect">
            <a:avLst/>
          </a:prstGeom>
          <a:noFill/>
          <a:ln/>
        </p:spPr>
        <p:txBody>
          <a:bodyPr wrap="square" lIns="0" tIns="0" rIns="0" bIns="0" rtlCol="0" anchor="ctr"/>
          <a:lstStyle/>
          <a:p>
            <a:pPr algn="ctr" indent="0" marL="0">
              <a:buNone/>
            </a:pPr>
            <a:r>
              <a:rPr lang="en-US" sz="800" dirty="0">
                <a:solidFill>
                  <a:schemeClr val="accent4"/>
                </a:solidFill>
                <a:latin typeface="Calibri" pitchFamily="34" charset="0"/>
                <a:ea typeface="Calibri" pitchFamily="34" charset="-122"/>
                <a:cs typeface="Calibri" pitchFamily="34" charset="-120"/>
              </a:rPr>
              <a:t>M</a:t>
            </a:r>
            <a:endParaRPr lang="en-US" sz="800" dirty="0"/>
          </a:p>
        </p:txBody>
      </p:sp>
      <p:sp>
        <p:nvSpPr>
          <p:cNvPr id="16" name="Text 14"/>
          <p:cNvSpPr txBox="1"/>
          <p:nvPr/>
        </p:nvSpPr>
        <p:spPr>
          <a:xfrm>
            <a:off x="7141464" y="1810512"/>
            <a:ext cx="310896" cy="201168"/>
          </a:xfrm>
          <a:prstGeom prst="rect">
            <a:avLst/>
          </a:prstGeom>
          <a:noFill/>
          <a:ln/>
        </p:spPr>
        <p:txBody>
          <a:bodyPr wrap="square" lIns="0" tIns="0" rIns="0" bIns="0" rtlCol="0" anchor="ctr"/>
          <a:lstStyle/>
          <a:p>
            <a:pPr algn="ctr" indent="0" marL="0">
              <a:buNone/>
            </a:pPr>
            <a:r>
              <a:rPr lang="en-US" sz="1000" b="1" dirty="0">
                <a:solidFill>
                  <a:schemeClr val="accent4"/>
                </a:solidFill>
                <a:latin typeface="Calibri" pitchFamily="34" charset="0"/>
                <a:ea typeface="Calibri" pitchFamily="34" charset="-122"/>
                <a:cs typeface="Calibri" pitchFamily="34" charset="-120"/>
              </a:rPr>
              <a:t>29</a:t>
            </a:r>
            <a:endParaRPr lang="en-US" sz="1000" dirty="0"/>
          </a:p>
        </p:txBody>
      </p:sp>
      <p:sp>
        <p:nvSpPr>
          <p:cNvPr id="17" name="Text 15"/>
          <p:cNvSpPr txBox="1"/>
          <p:nvPr/>
        </p:nvSpPr>
        <p:spPr>
          <a:xfrm>
            <a:off x="7452360" y="1645920"/>
            <a:ext cx="310896" cy="182880"/>
          </a:xfrm>
          <a:prstGeom prst="rect">
            <a:avLst/>
          </a:prstGeom>
          <a:noFill/>
          <a:ln/>
        </p:spPr>
        <p:txBody>
          <a:bodyPr wrap="square" lIns="0" tIns="0" rIns="0" bIns="0" rtlCol="0" anchor="ctr"/>
          <a:lstStyle/>
          <a:p>
            <a:pPr algn="ctr" indent="0" marL="0">
              <a:buNone/>
            </a:pPr>
            <a:r>
              <a:rPr lang="en-US" sz="800" dirty="0">
                <a:solidFill>
                  <a:schemeClr val="accent4"/>
                </a:solidFill>
                <a:latin typeface="Calibri" pitchFamily="34" charset="0"/>
                <a:ea typeface="Calibri" pitchFamily="34" charset="-122"/>
                <a:cs typeface="Calibri" pitchFamily="34" charset="-120"/>
              </a:rPr>
              <a:t>M</a:t>
            </a:r>
            <a:endParaRPr lang="en-US" sz="800" dirty="0"/>
          </a:p>
        </p:txBody>
      </p:sp>
      <p:sp>
        <p:nvSpPr>
          <p:cNvPr id="18" name="Text 16"/>
          <p:cNvSpPr txBox="1"/>
          <p:nvPr/>
        </p:nvSpPr>
        <p:spPr>
          <a:xfrm>
            <a:off x="7452360" y="1810512"/>
            <a:ext cx="310896" cy="201168"/>
          </a:xfrm>
          <a:prstGeom prst="rect">
            <a:avLst/>
          </a:prstGeom>
          <a:noFill/>
          <a:ln/>
        </p:spPr>
        <p:txBody>
          <a:bodyPr wrap="square" lIns="0" tIns="0" rIns="0" bIns="0" rtlCol="0" anchor="ctr"/>
          <a:lstStyle/>
          <a:p>
            <a:pPr algn="ctr" indent="0" marL="0">
              <a:buNone/>
            </a:pPr>
            <a:r>
              <a:rPr lang="en-US" sz="1000" b="1" dirty="0">
                <a:solidFill>
                  <a:schemeClr val="accent4"/>
                </a:solidFill>
                <a:latin typeface="Calibri" pitchFamily="34" charset="0"/>
                <a:ea typeface="Calibri" pitchFamily="34" charset="-122"/>
                <a:cs typeface="Calibri" pitchFamily="34" charset="-120"/>
              </a:rPr>
              <a:t>30</a:t>
            </a:r>
            <a:endParaRPr lang="en-US" sz="1000" dirty="0"/>
          </a:p>
        </p:txBody>
      </p:sp>
      <p:sp>
        <p:nvSpPr>
          <p:cNvPr id="19" name="Text 17"/>
          <p:cNvSpPr txBox="1"/>
          <p:nvPr/>
        </p:nvSpPr>
        <p:spPr>
          <a:xfrm>
            <a:off x="7763256" y="1645920"/>
            <a:ext cx="310896" cy="182880"/>
          </a:xfrm>
          <a:prstGeom prst="rect">
            <a:avLst/>
          </a:prstGeom>
          <a:noFill/>
          <a:ln/>
        </p:spPr>
        <p:txBody>
          <a:bodyPr wrap="square" lIns="0" tIns="0" rIns="0" bIns="0" rtlCol="0" anchor="ctr"/>
          <a:lstStyle/>
          <a:p>
            <a:pPr algn="ctr" indent="0" marL="0">
              <a:buNone/>
            </a:pPr>
            <a:r>
              <a:rPr lang="en-US" sz="800" dirty="0">
                <a:solidFill>
                  <a:schemeClr val="accent4"/>
                </a:solidFill>
                <a:latin typeface="Calibri" pitchFamily="34" charset="0"/>
                <a:ea typeface="Calibri" pitchFamily="34" charset="-122"/>
                <a:cs typeface="Calibri" pitchFamily="34" charset="-120"/>
              </a:rPr>
              <a:t>J</a:t>
            </a:r>
            <a:endParaRPr lang="en-US" sz="800" dirty="0"/>
          </a:p>
        </p:txBody>
      </p:sp>
      <p:sp>
        <p:nvSpPr>
          <p:cNvPr id="20" name="Text 18"/>
          <p:cNvSpPr txBox="1"/>
          <p:nvPr/>
        </p:nvSpPr>
        <p:spPr>
          <a:xfrm>
            <a:off x="7763256" y="1810512"/>
            <a:ext cx="310896" cy="201168"/>
          </a:xfrm>
          <a:prstGeom prst="rect">
            <a:avLst/>
          </a:prstGeom>
          <a:noFill/>
          <a:ln/>
        </p:spPr>
        <p:txBody>
          <a:bodyPr wrap="square" lIns="0" tIns="0" rIns="0" bIns="0" rtlCol="0" anchor="ctr"/>
          <a:lstStyle/>
          <a:p>
            <a:pPr algn="ctr" indent="0" marL="0">
              <a:buNone/>
            </a:pPr>
            <a:r>
              <a:rPr lang="en-US" sz="1000" b="1" dirty="0">
                <a:solidFill>
                  <a:schemeClr val="accent4"/>
                </a:solidFill>
                <a:latin typeface="Calibri" pitchFamily="34" charset="0"/>
                <a:ea typeface="Calibri" pitchFamily="34" charset="-122"/>
                <a:cs typeface="Calibri" pitchFamily="34" charset="-120"/>
              </a:rPr>
              <a:t>1</a:t>
            </a:r>
            <a:endParaRPr lang="en-US" sz="1000" dirty="0"/>
          </a:p>
        </p:txBody>
      </p:sp>
      <p:sp>
        <p:nvSpPr>
          <p:cNvPr id="21" name="Text 19"/>
          <p:cNvSpPr txBox="1"/>
          <p:nvPr/>
        </p:nvSpPr>
        <p:spPr>
          <a:xfrm>
            <a:off x="8074152" y="1645920"/>
            <a:ext cx="310896" cy="182880"/>
          </a:xfrm>
          <a:prstGeom prst="rect">
            <a:avLst/>
          </a:prstGeom>
          <a:noFill/>
          <a:ln/>
        </p:spPr>
        <p:txBody>
          <a:bodyPr wrap="square" lIns="0" tIns="0" rIns="0" bIns="0" rtlCol="0" anchor="ctr"/>
          <a:lstStyle/>
          <a:p>
            <a:pPr algn="ctr" indent="0" marL="0">
              <a:buNone/>
            </a:pPr>
            <a:r>
              <a:rPr lang="en-US" sz="800" dirty="0">
                <a:solidFill>
                  <a:schemeClr val="accent4"/>
                </a:solidFill>
                <a:latin typeface="Calibri" pitchFamily="34" charset="0"/>
                <a:ea typeface="Calibri" pitchFamily="34" charset="-122"/>
                <a:cs typeface="Calibri" pitchFamily="34" charset="-120"/>
              </a:rPr>
              <a:t>V</a:t>
            </a:r>
            <a:endParaRPr lang="en-US" sz="800" dirty="0"/>
          </a:p>
        </p:txBody>
      </p:sp>
      <p:sp>
        <p:nvSpPr>
          <p:cNvPr id="22" name="Text 20"/>
          <p:cNvSpPr txBox="1"/>
          <p:nvPr/>
        </p:nvSpPr>
        <p:spPr>
          <a:xfrm>
            <a:off x="8074152" y="1810512"/>
            <a:ext cx="310896" cy="201168"/>
          </a:xfrm>
          <a:prstGeom prst="rect">
            <a:avLst/>
          </a:prstGeom>
          <a:noFill/>
          <a:ln/>
        </p:spPr>
        <p:txBody>
          <a:bodyPr wrap="square" lIns="0" tIns="0" rIns="0" bIns="0" rtlCol="0" anchor="ctr"/>
          <a:lstStyle/>
          <a:p>
            <a:pPr algn="ctr" indent="0" marL="0">
              <a:buNone/>
            </a:pPr>
            <a:r>
              <a:rPr lang="en-US" sz="1000" b="1" dirty="0">
                <a:solidFill>
                  <a:schemeClr val="accent4"/>
                </a:solidFill>
                <a:latin typeface="Calibri" pitchFamily="34" charset="0"/>
                <a:ea typeface="Calibri" pitchFamily="34" charset="-122"/>
                <a:cs typeface="Calibri" pitchFamily="34" charset="-120"/>
              </a:rPr>
              <a:t>2</a:t>
            </a:r>
            <a:endParaRPr lang="en-US" sz="1000" dirty="0"/>
          </a:p>
        </p:txBody>
      </p:sp>
      <p:sp>
        <p:nvSpPr>
          <p:cNvPr id="23" name="Text 21"/>
          <p:cNvSpPr txBox="1"/>
          <p:nvPr/>
        </p:nvSpPr>
        <p:spPr>
          <a:xfrm>
            <a:off x="8385048" y="1645920"/>
            <a:ext cx="310896" cy="182880"/>
          </a:xfrm>
          <a:prstGeom prst="rect">
            <a:avLst/>
          </a:prstGeom>
          <a:noFill/>
          <a:ln/>
        </p:spPr>
        <p:txBody>
          <a:bodyPr wrap="square" lIns="0" tIns="0" rIns="0" bIns="0" rtlCol="0" anchor="ctr"/>
          <a:lstStyle/>
          <a:p>
            <a:pPr algn="ctr" indent="0" marL="0">
              <a:buNone/>
            </a:pPr>
            <a:r>
              <a:rPr lang="en-US" sz="800" dirty="0">
                <a:solidFill>
                  <a:schemeClr val="accent4"/>
                </a:solidFill>
                <a:latin typeface="Calibri" pitchFamily="34" charset="0"/>
                <a:ea typeface="Calibri" pitchFamily="34" charset="-122"/>
                <a:cs typeface="Calibri" pitchFamily="34" charset="-120"/>
              </a:rPr>
              <a:t>S</a:t>
            </a:r>
            <a:endParaRPr lang="en-US" sz="800" dirty="0"/>
          </a:p>
        </p:txBody>
      </p:sp>
      <p:sp>
        <p:nvSpPr>
          <p:cNvPr id="24" name="Text 22"/>
          <p:cNvSpPr txBox="1"/>
          <p:nvPr/>
        </p:nvSpPr>
        <p:spPr>
          <a:xfrm>
            <a:off x="8385048" y="1810512"/>
            <a:ext cx="310896" cy="201168"/>
          </a:xfrm>
          <a:prstGeom prst="rect">
            <a:avLst/>
          </a:prstGeom>
          <a:noFill/>
          <a:ln/>
        </p:spPr>
        <p:txBody>
          <a:bodyPr wrap="square" lIns="0" tIns="0" rIns="0" bIns="0" rtlCol="0" anchor="ctr"/>
          <a:lstStyle/>
          <a:p>
            <a:pPr algn="ctr" indent="0" marL="0">
              <a:buNone/>
            </a:pPr>
            <a:r>
              <a:rPr lang="en-US" sz="1000" b="1" dirty="0">
                <a:solidFill>
                  <a:schemeClr val="accent4"/>
                </a:solidFill>
                <a:latin typeface="Calibri" pitchFamily="34" charset="0"/>
                <a:ea typeface="Calibri" pitchFamily="34" charset="-122"/>
                <a:cs typeface="Calibri" pitchFamily="34" charset="-120"/>
              </a:rPr>
              <a:t>3</a:t>
            </a:r>
            <a:endParaRPr lang="en-US" sz="1000" dirty="0"/>
          </a:p>
        </p:txBody>
      </p:sp>
      <p:sp>
        <p:nvSpPr>
          <p:cNvPr id="25" name="Text 23"/>
          <p:cNvSpPr txBox="1"/>
          <p:nvPr/>
        </p:nvSpPr>
        <p:spPr>
          <a:xfrm>
            <a:off x="8695944" y="1645920"/>
            <a:ext cx="310896" cy="182880"/>
          </a:xfrm>
          <a:prstGeom prst="rect">
            <a:avLst/>
          </a:prstGeom>
          <a:noFill/>
          <a:ln/>
        </p:spPr>
        <p:txBody>
          <a:bodyPr wrap="square" lIns="0" tIns="0" rIns="0" bIns="0" rtlCol="0" anchor="ctr"/>
          <a:lstStyle/>
          <a:p>
            <a:pPr algn="ctr" indent="0" marL="0">
              <a:buNone/>
            </a:pPr>
            <a:r>
              <a:rPr lang="en-US" sz="800" dirty="0">
                <a:solidFill>
                  <a:schemeClr val="accent4"/>
                </a:solidFill>
                <a:latin typeface="Calibri" pitchFamily="34" charset="0"/>
                <a:ea typeface="Calibri" pitchFamily="34" charset="-122"/>
                <a:cs typeface="Calibri" pitchFamily="34" charset="-120"/>
              </a:rPr>
              <a:t>D</a:t>
            </a:r>
            <a:endParaRPr lang="en-US" sz="800" dirty="0"/>
          </a:p>
        </p:txBody>
      </p:sp>
      <p:sp>
        <p:nvSpPr>
          <p:cNvPr id="26" name="Text 24"/>
          <p:cNvSpPr txBox="1"/>
          <p:nvPr/>
        </p:nvSpPr>
        <p:spPr>
          <a:xfrm>
            <a:off x="8695944" y="1810512"/>
            <a:ext cx="310896" cy="201168"/>
          </a:xfrm>
          <a:prstGeom prst="rect">
            <a:avLst/>
          </a:prstGeom>
          <a:noFill/>
          <a:ln/>
        </p:spPr>
        <p:txBody>
          <a:bodyPr wrap="square" lIns="0" tIns="0" rIns="0" bIns="0" rtlCol="0" anchor="ctr"/>
          <a:lstStyle/>
          <a:p>
            <a:pPr algn="ctr" indent="0" marL="0">
              <a:buNone/>
            </a:pPr>
            <a:r>
              <a:rPr lang="en-US" sz="1000" b="1" dirty="0">
                <a:solidFill>
                  <a:schemeClr val="accent4"/>
                </a:solidFill>
                <a:latin typeface="Calibri" pitchFamily="34" charset="0"/>
                <a:ea typeface="Calibri" pitchFamily="34" charset="-122"/>
                <a:cs typeface="Calibri" pitchFamily="34" charset="-120"/>
              </a:rPr>
              <a:t>4</a:t>
            </a:r>
            <a:endParaRPr lang="en-US" sz="1000" dirty="0"/>
          </a:p>
        </p:txBody>
      </p:sp>
      <p:sp>
        <p:nvSpPr>
          <p:cNvPr id="27" name="Text 25"/>
          <p:cNvSpPr txBox="1"/>
          <p:nvPr/>
        </p:nvSpPr>
        <p:spPr>
          <a:xfrm>
            <a:off x="9006840" y="1645920"/>
            <a:ext cx="310896" cy="182880"/>
          </a:xfrm>
          <a:prstGeom prst="rect">
            <a:avLst/>
          </a:prstGeom>
          <a:noFill/>
          <a:ln/>
        </p:spPr>
        <p:txBody>
          <a:bodyPr wrap="square" lIns="0" tIns="0" rIns="0" bIns="0" rtlCol="0" anchor="ctr"/>
          <a:lstStyle/>
          <a:p>
            <a:pPr algn="ctr" indent="0" marL="0">
              <a:buNone/>
            </a:pPr>
            <a:r>
              <a:rPr lang="en-US" sz="800" dirty="0">
                <a:solidFill>
                  <a:schemeClr val="accent4"/>
                </a:solidFill>
                <a:latin typeface="Calibri" pitchFamily="34" charset="0"/>
                <a:ea typeface="Calibri" pitchFamily="34" charset="-122"/>
                <a:cs typeface="Calibri" pitchFamily="34" charset="-120"/>
              </a:rPr>
              <a:t>L</a:t>
            </a:r>
            <a:endParaRPr lang="en-US" sz="800" dirty="0"/>
          </a:p>
        </p:txBody>
      </p:sp>
      <p:sp>
        <p:nvSpPr>
          <p:cNvPr id="28" name="Text 26"/>
          <p:cNvSpPr txBox="1"/>
          <p:nvPr/>
        </p:nvSpPr>
        <p:spPr>
          <a:xfrm>
            <a:off x="9006840" y="1810512"/>
            <a:ext cx="310896" cy="201168"/>
          </a:xfrm>
          <a:prstGeom prst="rect">
            <a:avLst/>
          </a:prstGeom>
          <a:noFill/>
          <a:ln/>
        </p:spPr>
        <p:txBody>
          <a:bodyPr wrap="square" lIns="0" tIns="0" rIns="0" bIns="0" rtlCol="0" anchor="ctr"/>
          <a:lstStyle/>
          <a:p>
            <a:pPr algn="ctr" indent="0" marL="0">
              <a:buNone/>
            </a:pPr>
            <a:r>
              <a:rPr lang="en-US" sz="1000" b="1" dirty="0">
                <a:solidFill>
                  <a:schemeClr val="accent4"/>
                </a:solidFill>
                <a:latin typeface="Calibri" pitchFamily="34" charset="0"/>
                <a:ea typeface="Calibri" pitchFamily="34" charset="-122"/>
                <a:cs typeface="Calibri" pitchFamily="34" charset="-120"/>
              </a:rPr>
              <a:t>5</a:t>
            </a:r>
            <a:endParaRPr lang="en-US" sz="1000" dirty="0"/>
          </a:p>
        </p:txBody>
      </p:sp>
      <p:sp>
        <p:nvSpPr>
          <p:cNvPr id="29" name="Text 27"/>
          <p:cNvSpPr txBox="1"/>
          <p:nvPr/>
        </p:nvSpPr>
        <p:spPr>
          <a:xfrm>
            <a:off x="9317736" y="1645920"/>
            <a:ext cx="310896" cy="182880"/>
          </a:xfrm>
          <a:prstGeom prst="rect">
            <a:avLst/>
          </a:prstGeom>
          <a:noFill/>
          <a:ln/>
        </p:spPr>
        <p:txBody>
          <a:bodyPr wrap="square" lIns="0" tIns="0" rIns="0" bIns="0" rtlCol="0" anchor="ctr"/>
          <a:lstStyle/>
          <a:p>
            <a:pPr algn="ctr" indent="0" marL="0">
              <a:buNone/>
            </a:pPr>
            <a:r>
              <a:rPr lang="en-US" sz="800" dirty="0">
                <a:solidFill>
                  <a:schemeClr val="accent4"/>
                </a:solidFill>
                <a:latin typeface="Calibri" pitchFamily="34" charset="0"/>
                <a:ea typeface="Calibri" pitchFamily="34" charset="-122"/>
                <a:cs typeface="Calibri" pitchFamily="34" charset="-120"/>
              </a:rPr>
              <a:t>M</a:t>
            </a:r>
            <a:endParaRPr lang="en-US" sz="800" dirty="0"/>
          </a:p>
        </p:txBody>
      </p:sp>
      <p:sp>
        <p:nvSpPr>
          <p:cNvPr id="30" name="Text 28"/>
          <p:cNvSpPr txBox="1"/>
          <p:nvPr/>
        </p:nvSpPr>
        <p:spPr>
          <a:xfrm>
            <a:off x="9317736" y="1810512"/>
            <a:ext cx="310896" cy="201168"/>
          </a:xfrm>
          <a:prstGeom prst="rect">
            <a:avLst/>
          </a:prstGeom>
          <a:noFill/>
          <a:ln/>
        </p:spPr>
        <p:txBody>
          <a:bodyPr wrap="square" lIns="0" tIns="0" rIns="0" bIns="0" rtlCol="0" anchor="ctr"/>
          <a:lstStyle/>
          <a:p>
            <a:pPr algn="ctr" indent="0" marL="0">
              <a:buNone/>
            </a:pPr>
            <a:r>
              <a:rPr lang="en-US" sz="1000" b="1" dirty="0">
                <a:solidFill>
                  <a:schemeClr val="accent4"/>
                </a:solidFill>
                <a:latin typeface="Calibri" pitchFamily="34" charset="0"/>
                <a:ea typeface="Calibri" pitchFamily="34" charset="-122"/>
                <a:cs typeface="Calibri" pitchFamily="34" charset="-120"/>
              </a:rPr>
              <a:t>6</a:t>
            </a:r>
            <a:endParaRPr lang="en-US" sz="1000" dirty="0"/>
          </a:p>
        </p:txBody>
      </p:sp>
      <p:sp>
        <p:nvSpPr>
          <p:cNvPr id="31" name="Text 29"/>
          <p:cNvSpPr txBox="1"/>
          <p:nvPr/>
        </p:nvSpPr>
        <p:spPr>
          <a:xfrm>
            <a:off x="9628632" y="1645920"/>
            <a:ext cx="310896" cy="182880"/>
          </a:xfrm>
          <a:prstGeom prst="rect">
            <a:avLst/>
          </a:prstGeom>
          <a:noFill/>
          <a:ln/>
        </p:spPr>
        <p:txBody>
          <a:bodyPr wrap="square" lIns="0" tIns="0" rIns="0" bIns="0" rtlCol="0" anchor="ctr"/>
          <a:lstStyle/>
          <a:p>
            <a:pPr algn="ctr" indent="0" marL="0">
              <a:buNone/>
            </a:pPr>
            <a:r>
              <a:rPr lang="en-US" sz="800" dirty="0">
                <a:solidFill>
                  <a:schemeClr val="accent4"/>
                </a:solidFill>
                <a:latin typeface="Calibri" pitchFamily="34" charset="0"/>
                <a:ea typeface="Calibri" pitchFamily="34" charset="-122"/>
                <a:cs typeface="Calibri" pitchFamily="34" charset="-120"/>
              </a:rPr>
              <a:t>M</a:t>
            </a:r>
            <a:endParaRPr lang="en-US" sz="800" dirty="0"/>
          </a:p>
        </p:txBody>
      </p:sp>
      <p:sp>
        <p:nvSpPr>
          <p:cNvPr id="32" name="Text 30"/>
          <p:cNvSpPr txBox="1"/>
          <p:nvPr/>
        </p:nvSpPr>
        <p:spPr>
          <a:xfrm>
            <a:off x="9628632" y="1810512"/>
            <a:ext cx="310896" cy="201168"/>
          </a:xfrm>
          <a:prstGeom prst="rect">
            <a:avLst/>
          </a:prstGeom>
          <a:noFill/>
          <a:ln/>
        </p:spPr>
        <p:txBody>
          <a:bodyPr wrap="square" lIns="0" tIns="0" rIns="0" bIns="0" rtlCol="0" anchor="ctr"/>
          <a:lstStyle/>
          <a:p>
            <a:pPr algn="ctr" indent="0" marL="0">
              <a:buNone/>
            </a:pPr>
            <a:r>
              <a:rPr lang="en-US" sz="1000" b="1" dirty="0">
                <a:solidFill>
                  <a:schemeClr val="accent4"/>
                </a:solidFill>
                <a:latin typeface="Calibri" pitchFamily="34" charset="0"/>
                <a:ea typeface="Calibri" pitchFamily="34" charset="-122"/>
                <a:cs typeface="Calibri" pitchFamily="34" charset="-120"/>
              </a:rPr>
              <a:t>7</a:t>
            </a:r>
            <a:endParaRPr lang="en-US" sz="1000" dirty="0"/>
          </a:p>
        </p:txBody>
      </p:sp>
      <p:sp>
        <p:nvSpPr>
          <p:cNvPr id="33" name="Text 31"/>
          <p:cNvSpPr txBox="1"/>
          <p:nvPr/>
        </p:nvSpPr>
        <p:spPr>
          <a:xfrm>
            <a:off x="9939528" y="1645920"/>
            <a:ext cx="310896" cy="182880"/>
          </a:xfrm>
          <a:prstGeom prst="rect">
            <a:avLst/>
          </a:prstGeom>
          <a:noFill/>
          <a:ln/>
        </p:spPr>
        <p:txBody>
          <a:bodyPr wrap="square" lIns="0" tIns="0" rIns="0" bIns="0" rtlCol="0" anchor="ctr"/>
          <a:lstStyle/>
          <a:p>
            <a:pPr algn="ctr" indent="0" marL="0">
              <a:buNone/>
            </a:pPr>
            <a:r>
              <a:rPr lang="en-US" sz="800" dirty="0">
                <a:solidFill>
                  <a:schemeClr val="accent4"/>
                </a:solidFill>
                <a:latin typeface="Calibri" pitchFamily="34" charset="0"/>
                <a:ea typeface="Calibri" pitchFamily="34" charset="-122"/>
                <a:cs typeface="Calibri" pitchFamily="34" charset="-120"/>
              </a:rPr>
              <a:t>J</a:t>
            </a:r>
            <a:endParaRPr lang="en-US" sz="800" dirty="0"/>
          </a:p>
        </p:txBody>
      </p:sp>
      <p:sp>
        <p:nvSpPr>
          <p:cNvPr id="34" name="Text 32"/>
          <p:cNvSpPr txBox="1"/>
          <p:nvPr/>
        </p:nvSpPr>
        <p:spPr>
          <a:xfrm>
            <a:off x="9939528" y="1810512"/>
            <a:ext cx="310896" cy="201168"/>
          </a:xfrm>
          <a:prstGeom prst="rect">
            <a:avLst/>
          </a:prstGeom>
          <a:noFill/>
          <a:ln/>
        </p:spPr>
        <p:txBody>
          <a:bodyPr wrap="square" lIns="0" tIns="0" rIns="0" bIns="0" rtlCol="0" anchor="ctr"/>
          <a:lstStyle/>
          <a:p>
            <a:pPr algn="ctr" indent="0" marL="0">
              <a:buNone/>
            </a:pPr>
            <a:r>
              <a:rPr lang="en-US" sz="1000" b="1" dirty="0">
                <a:solidFill>
                  <a:schemeClr val="accent4"/>
                </a:solidFill>
                <a:latin typeface="Calibri" pitchFamily="34" charset="0"/>
                <a:ea typeface="Calibri" pitchFamily="34" charset="-122"/>
                <a:cs typeface="Calibri" pitchFamily="34" charset="-120"/>
              </a:rPr>
              <a:t>8</a:t>
            </a:r>
            <a:endParaRPr lang="en-US" sz="1000" dirty="0"/>
          </a:p>
        </p:txBody>
      </p:sp>
      <p:sp>
        <p:nvSpPr>
          <p:cNvPr id="35" name="Text 33"/>
          <p:cNvSpPr txBox="1"/>
          <p:nvPr/>
        </p:nvSpPr>
        <p:spPr>
          <a:xfrm>
            <a:off x="10250424" y="1645920"/>
            <a:ext cx="310896" cy="182880"/>
          </a:xfrm>
          <a:prstGeom prst="rect">
            <a:avLst/>
          </a:prstGeom>
          <a:noFill/>
          <a:ln/>
        </p:spPr>
        <p:txBody>
          <a:bodyPr wrap="square" lIns="0" tIns="0" rIns="0" bIns="0" rtlCol="0" anchor="ctr"/>
          <a:lstStyle/>
          <a:p>
            <a:pPr algn="ctr" indent="0" marL="0">
              <a:buNone/>
            </a:pPr>
            <a:r>
              <a:rPr lang="en-US" sz="800" dirty="0">
                <a:solidFill>
                  <a:schemeClr val="accent4"/>
                </a:solidFill>
                <a:latin typeface="Calibri" pitchFamily="34" charset="0"/>
                <a:ea typeface="Calibri" pitchFamily="34" charset="-122"/>
                <a:cs typeface="Calibri" pitchFamily="34" charset="-120"/>
              </a:rPr>
              <a:t>V</a:t>
            </a:r>
            <a:endParaRPr lang="en-US" sz="800" dirty="0"/>
          </a:p>
        </p:txBody>
      </p:sp>
      <p:sp>
        <p:nvSpPr>
          <p:cNvPr id="36" name="Text 34"/>
          <p:cNvSpPr txBox="1"/>
          <p:nvPr/>
        </p:nvSpPr>
        <p:spPr>
          <a:xfrm>
            <a:off x="10250424" y="1810512"/>
            <a:ext cx="310896" cy="201168"/>
          </a:xfrm>
          <a:prstGeom prst="rect">
            <a:avLst/>
          </a:prstGeom>
          <a:noFill/>
          <a:ln/>
        </p:spPr>
        <p:txBody>
          <a:bodyPr wrap="square" lIns="0" tIns="0" rIns="0" bIns="0" rtlCol="0" anchor="ctr"/>
          <a:lstStyle/>
          <a:p>
            <a:pPr algn="ctr" indent="0" marL="0">
              <a:buNone/>
            </a:pPr>
            <a:r>
              <a:rPr lang="en-US" sz="1000" b="1" dirty="0">
                <a:solidFill>
                  <a:schemeClr val="accent4"/>
                </a:solidFill>
                <a:latin typeface="Calibri" pitchFamily="34" charset="0"/>
                <a:ea typeface="Calibri" pitchFamily="34" charset="-122"/>
                <a:cs typeface="Calibri" pitchFamily="34" charset="-120"/>
              </a:rPr>
              <a:t>9</a:t>
            </a:r>
            <a:endParaRPr lang="en-US" sz="1000" dirty="0"/>
          </a:p>
        </p:txBody>
      </p:sp>
      <p:sp>
        <p:nvSpPr>
          <p:cNvPr id="37" name="Text 35"/>
          <p:cNvSpPr txBox="1"/>
          <p:nvPr/>
        </p:nvSpPr>
        <p:spPr>
          <a:xfrm>
            <a:off x="10561320" y="1645920"/>
            <a:ext cx="310896" cy="182880"/>
          </a:xfrm>
          <a:prstGeom prst="rect">
            <a:avLst/>
          </a:prstGeom>
          <a:noFill/>
          <a:ln/>
        </p:spPr>
        <p:txBody>
          <a:bodyPr wrap="square" lIns="0" tIns="0" rIns="0" bIns="0" rtlCol="0" anchor="ctr"/>
          <a:lstStyle/>
          <a:p>
            <a:pPr algn="ctr" indent="0" marL="0">
              <a:buNone/>
            </a:pPr>
            <a:r>
              <a:rPr lang="en-US" sz="800" dirty="0">
                <a:solidFill>
                  <a:schemeClr val="accent4"/>
                </a:solidFill>
                <a:latin typeface="Calibri" pitchFamily="34" charset="0"/>
                <a:ea typeface="Calibri" pitchFamily="34" charset="-122"/>
                <a:cs typeface="Calibri" pitchFamily="34" charset="-120"/>
              </a:rPr>
              <a:t>S</a:t>
            </a:r>
            <a:endParaRPr lang="en-US" sz="800" dirty="0"/>
          </a:p>
        </p:txBody>
      </p:sp>
      <p:sp>
        <p:nvSpPr>
          <p:cNvPr id="38" name="Text 36"/>
          <p:cNvSpPr txBox="1"/>
          <p:nvPr/>
        </p:nvSpPr>
        <p:spPr>
          <a:xfrm>
            <a:off x="10561320" y="1810512"/>
            <a:ext cx="310896" cy="201168"/>
          </a:xfrm>
          <a:prstGeom prst="rect">
            <a:avLst/>
          </a:prstGeom>
          <a:noFill/>
          <a:ln/>
        </p:spPr>
        <p:txBody>
          <a:bodyPr wrap="square" lIns="0" tIns="0" rIns="0" bIns="0" rtlCol="0" anchor="ctr"/>
          <a:lstStyle/>
          <a:p>
            <a:pPr algn="ctr" indent="0" marL="0">
              <a:buNone/>
            </a:pPr>
            <a:r>
              <a:rPr lang="en-US" sz="1000" b="1" dirty="0">
                <a:solidFill>
                  <a:schemeClr val="accent4"/>
                </a:solidFill>
                <a:latin typeface="Calibri" pitchFamily="34" charset="0"/>
                <a:ea typeface="Calibri" pitchFamily="34" charset="-122"/>
                <a:cs typeface="Calibri" pitchFamily="34" charset="-120"/>
              </a:rPr>
              <a:t>10</a:t>
            </a:r>
            <a:endParaRPr lang="en-US" sz="1000" dirty="0"/>
          </a:p>
        </p:txBody>
      </p:sp>
      <p:sp>
        <p:nvSpPr>
          <p:cNvPr id="39" name="Text 37"/>
          <p:cNvSpPr txBox="1"/>
          <p:nvPr/>
        </p:nvSpPr>
        <p:spPr>
          <a:xfrm>
            <a:off x="10872216" y="1645920"/>
            <a:ext cx="310896" cy="182880"/>
          </a:xfrm>
          <a:prstGeom prst="rect">
            <a:avLst/>
          </a:prstGeom>
          <a:noFill/>
          <a:ln/>
        </p:spPr>
        <p:txBody>
          <a:bodyPr wrap="square" lIns="0" tIns="0" rIns="0" bIns="0" rtlCol="0" anchor="ctr"/>
          <a:lstStyle/>
          <a:p>
            <a:pPr algn="ctr" indent="0" marL="0">
              <a:buNone/>
            </a:pPr>
            <a:r>
              <a:rPr lang="en-US" sz="800" dirty="0">
                <a:solidFill>
                  <a:schemeClr val="accent4"/>
                </a:solidFill>
                <a:latin typeface="Calibri" pitchFamily="34" charset="0"/>
                <a:ea typeface="Calibri" pitchFamily="34" charset="-122"/>
                <a:cs typeface="Calibri" pitchFamily="34" charset="-120"/>
              </a:rPr>
              <a:t>D</a:t>
            </a:r>
            <a:endParaRPr lang="en-US" sz="800" dirty="0"/>
          </a:p>
        </p:txBody>
      </p:sp>
      <p:sp>
        <p:nvSpPr>
          <p:cNvPr id="40" name="Text 38"/>
          <p:cNvSpPr txBox="1"/>
          <p:nvPr/>
        </p:nvSpPr>
        <p:spPr>
          <a:xfrm>
            <a:off x="10872216" y="1810512"/>
            <a:ext cx="310896" cy="201168"/>
          </a:xfrm>
          <a:prstGeom prst="rect">
            <a:avLst/>
          </a:prstGeom>
          <a:noFill/>
          <a:ln/>
        </p:spPr>
        <p:txBody>
          <a:bodyPr wrap="square" lIns="0" tIns="0" rIns="0" bIns="0" rtlCol="0" anchor="ctr"/>
          <a:lstStyle/>
          <a:p>
            <a:pPr algn="ctr" indent="0" marL="0">
              <a:buNone/>
            </a:pPr>
            <a:r>
              <a:rPr lang="en-US" sz="1000" b="1" dirty="0">
                <a:solidFill>
                  <a:schemeClr val="accent4"/>
                </a:solidFill>
                <a:latin typeface="Calibri" pitchFamily="34" charset="0"/>
                <a:ea typeface="Calibri" pitchFamily="34" charset="-122"/>
                <a:cs typeface="Calibri" pitchFamily="34" charset="-120"/>
              </a:rPr>
              <a:t>11</a:t>
            </a:r>
            <a:endParaRPr lang="en-US" sz="1000" dirty="0"/>
          </a:p>
        </p:txBody>
      </p:sp>
      <p:sp>
        <p:nvSpPr>
          <p:cNvPr id="41" name="Text 39"/>
          <p:cNvSpPr txBox="1"/>
          <p:nvPr/>
        </p:nvSpPr>
        <p:spPr>
          <a:xfrm>
            <a:off x="11183112" y="1645920"/>
            <a:ext cx="310896" cy="182880"/>
          </a:xfrm>
          <a:prstGeom prst="rect">
            <a:avLst/>
          </a:prstGeom>
          <a:noFill/>
          <a:ln/>
        </p:spPr>
        <p:txBody>
          <a:bodyPr wrap="square" lIns="0" tIns="0" rIns="0" bIns="0" rtlCol="0" anchor="ctr"/>
          <a:lstStyle/>
          <a:p>
            <a:pPr algn="ctr" indent="0" marL="0">
              <a:buNone/>
            </a:pPr>
            <a:r>
              <a:rPr lang="en-US" sz="800" dirty="0">
                <a:solidFill>
                  <a:schemeClr val="accent3"/>
                </a:solidFill>
                <a:latin typeface="Calibri" pitchFamily="34" charset="0"/>
                <a:ea typeface="Calibri" pitchFamily="34" charset="-122"/>
                <a:cs typeface="Calibri" pitchFamily="34" charset="-120"/>
              </a:rPr>
              <a:t>M</a:t>
            </a:r>
            <a:endParaRPr lang="en-US" sz="800" dirty="0"/>
          </a:p>
        </p:txBody>
      </p:sp>
      <p:sp>
        <p:nvSpPr>
          <p:cNvPr id="42" name="Text 40"/>
          <p:cNvSpPr txBox="1"/>
          <p:nvPr/>
        </p:nvSpPr>
        <p:spPr>
          <a:xfrm>
            <a:off x="11183112" y="1810512"/>
            <a:ext cx="310896" cy="201168"/>
          </a:xfrm>
          <a:prstGeom prst="rect">
            <a:avLst/>
          </a:prstGeom>
          <a:noFill/>
          <a:ln/>
        </p:spPr>
        <p:txBody>
          <a:bodyPr wrap="square" lIns="0" tIns="0" rIns="0" bIns="0" rtlCol="0" anchor="ctr"/>
          <a:lstStyle/>
          <a:p>
            <a:pPr algn="ctr" indent="0" marL="0">
              <a:buNone/>
            </a:pPr>
            <a:r>
              <a:rPr lang="en-US" sz="1000" b="1" dirty="0">
                <a:solidFill>
                  <a:schemeClr val="accent3"/>
                </a:solidFill>
                <a:latin typeface="Calibri" pitchFamily="34" charset="0"/>
                <a:ea typeface="Calibri" pitchFamily="34" charset="-122"/>
                <a:cs typeface="Calibri" pitchFamily="34" charset="-120"/>
              </a:rPr>
              <a:t>13</a:t>
            </a:r>
            <a:endParaRPr lang="en-US" sz="1000" dirty="0"/>
          </a:p>
        </p:txBody>
      </p:sp>
      <p:sp>
        <p:nvSpPr>
          <p:cNvPr id="43" name="Text 41"/>
          <p:cNvSpPr txBox="1"/>
          <p:nvPr/>
        </p:nvSpPr>
        <p:spPr>
          <a:xfrm>
            <a:off x="6446520" y="1810512"/>
            <a:ext cx="384048" cy="201168"/>
          </a:xfrm>
          <a:prstGeom prst="rect">
            <a:avLst/>
          </a:prstGeom>
          <a:noFill/>
          <a:ln/>
        </p:spPr>
        <p:txBody>
          <a:bodyPr wrap="square" lIns="0" tIns="0" rIns="0" bIns="0" rtlCol="0" anchor="ctr"/>
          <a:lstStyle/>
          <a:p>
            <a:pPr algn="ctr" indent="0" marL="0">
              <a:buNone/>
            </a:pPr>
            <a:r>
              <a:rPr lang="en-US" sz="1000" b="1" dirty="0">
                <a:solidFill>
                  <a:schemeClr val="accent4"/>
                </a:solidFill>
                <a:latin typeface="Calibri" pitchFamily="34" charset="0"/>
                <a:ea typeface="Calibri" pitchFamily="34" charset="-122"/>
                <a:cs typeface="Calibri" pitchFamily="34" charset="-120"/>
              </a:rPr>
              <a:t>h</a:t>
            </a:r>
            <a:endParaRPr lang="en-US" sz="1000" dirty="0"/>
          </a:p>
        </p:txBody>
      </p:sp>
      <p:sp>
        <p:nvSpPr>
          <p:cNvPr id="44" name="fila-97"/>
          <p:cNvSpPr/>
          <p:nvPr/>
        </p:nvSpPr>
        <p:spPr>
          <a:xfrm>
            <a:off x="4343400" y="2057400"/>
            <a:ext cx="7150608" cy="365760"/>
          </a:xfrm>
          <a:prstGeom prst="rect">
            <a:avLst/>
          </a:prstGeom>
          <a:solidFill>
            <a:schemeClr val="accent6"/>
          </a:solidFill>
          <a:ln/>
        </p:spPr>
      </p:sp>
      <p:sp>
        <p:nvSpPr>
          <p:cNvPr id="45" name="Text 43"/>
          <p:cNvSpPr txBox="1"/>
          <p:nvPr/>
        </p:nvSpPr>
        <p:spPr>
          <a:xfrm>
            <a:off x="4398264" y="2057400"/>
            <a:ext cx="2048256" cy="36576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Beat Chart y plan de trabajo</a:t>
            </a:r>
            <a:endParaRPr lang="en-US" sz="1200" dirty="0"/>
          </a:p>
        </p:txBody>
      </p:sp>
      <p:sp>
        <p:nvSpPr>
          <p:cNvPr id="46" name="Text 44"/>
          <p:cNvSpPr txBox="1"/>
          <p:nvPr/>
        </p:nvSpPr>
        <p:spPr>
          <a:xfrm>
            <a:off x="6446520" y="2057400"/>
            <a:ext cx="384048" cy="365760"/>
          </a:xfrm>
          <a:prstGeom prst="rect">
            <a:avLst/>
          </a:prstGeom>
          <a:noFill/>
          <a:ln/>
        </p:spPr>
        <p:txBody>
          <a:bodyPr wrap="square" lIns="0" tIns="0" rIns="0" bIns="0" rtlCol="0" anchor="ctr"/>
          <a:lstStyle/>
          <a:p>
            <a:pPr algn="ctr" indent="0" marL="0">
              <a:buNone/>
            </a:pPr>
            <a:r>
              <a:rPr lang="en-US" sz="1200" b="1" dirty="0">
                <a:solidFill>
                  <a:schemeClr val="tx1"/>
                </a:solidFill>
                <a:latin typeface="Calibri" pitchFamily="34" charset="0"/>
                <a:ea typeface="Calibri" pitchFamily="34" charset="-122"/>
                <a:cs typeface="Calibri" pitchFamily="34" charset="-120"/>
              </a:rPr>
              <a:t>3</a:t>
            </a:r>
            <a:endParaRPr lang="en-US" sz="1200" dirty="0"/>
          </a:p>
        </p:txBody>
      </p:sp>
      <p:sp>
        <p:nvSpPr>
          <p:cNvPr id="47" name="barra-98"/>
          <p:cNvSpPr/>
          <p:nvPr/>
        </p:nvSpPr>
        <p:spPr>
          <a:xfrm>
            <a:off x="6858000" y="2148840"/>
            <a:ext cx="566928" cy="182880"/>
          </a:xfrm>
          <a:prstGeom prst="roundRect">
            <a:avLst>
              <a:gd name="adj" fmla="val 25000"/>
            </a:avLst>
          </a:prstGeom>
          <a:solidFill>
            <a:schemeClr val="accent4"/>
          </a:solidFill>
          <a:ln/>
        </p:spPr>
      </p:sp>
      <p:sp>
        <p:nvSpPr>
          <p:cNvPr id="48" name="Text 46"/>
          <p:cNvSpPr txBox="1"/>
          <p:nvPr/>
        </p:nvSpPr>
        <p:spPr>
          <a:xfrm>
            <a:off x="4398264" y="2423160"/>
            <a:ext cx="2048256" cy="36576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Cuestionario y relevamiento</a:t>
            </a:r>
            <a:endParaRPr lang="en-US" sz="1200" dirty="0"/>
          </a:p>
        </p:txBody>
      </p:sp>
      <p:sp>
        <p:nvSpPr>
          <p:cNvPr id="49" name="Text 47"/>
          <p:cNvSpPr txBox="1"/>
          <p:nvPr/>
        </p:nvSpPr>
        <p:spPr>
          <a:xfrm>
            <a:off x="6446520" y="2423160"/>
            <a:ext cx="384048" cy="365760"/>
          </a:xfrm>
          <a:prstGeom prst="rect">
            <a:avLst/>
          </a:prstGeom>
          <a:noFill/>
          <a:ln/>
        </p:spPr>
        <p:txBody>
          <a:bodyPr wrap="square" lIns="0" tIns="0" rIns="0" bIns="0" rtlCol="0" anchor="ctr"/>
          <a:lstStyle/>
          <a:p>
            <a:pPr algn="ctr" indent="0" marL="0">
              <a:buNone/>
            </a:pPr>
            <a:r>
              <a:rPr lang="en-US" sz="1200" b="1" dirty="0">
                <a:solidFill>
                  <a:schemeClr val="tx1"/>
                </a:solidFill>
                <a:latin typeface="Calibri" pitchFamily="34" charset="0"/>
                <a:ea typeface="Calibri" pitchFamily="34" charset="-122"/>
                <a:cs typeface="Calibri" pitchFamily="34" charset="-120"/>
              </a:rPr>
              <a:t>5</a:t>
            </a:r>
            <a:endParaRPr lang="en-US" sz="1200" dirty="0"/>
          </a:p>
        </p:txBody>
      </p:sp>
      <p:sp>
        <p:nvSpPr>
          <p:cNvPr id="50" name="barra-99"/>
          <p:cNvSpPr/>
          <p:nvPr/>
        </p:nvSpPr>
        <p:spPr>
          <a:xfrm>
            <a:off x="7479792" y="2514600"/>
            <a:ext cx="877824" cy="182880"/>
          </a:xfrm>
          <a:prstGeom prst="roundRect">
            <a:avLst>
              <a:gd name="adj" fmla="val 25000"/>
            </a:avLst>
          </a:prstGeom>
          <a:solidFill>
            <a:schemeClr val="accent4"/>
          </a:solidFill>
          <a:ln/>
        </p:spPr>
      </p:sp>
      <p:sp>
        <p:nvSpPr>
          <p:cNvPr id="51" name="fila-100"/>
          <p:cNvSpPr/>
          <p:nvPr/>
        </p:nvSpPr>
        <p:spPr>
          <a:xfrm>
            <a:off x="4343400" y="2788920"/>
            <a:ext cx="7150608" cy="365760"/>
          </a:xfrm>
          <a:prstGeom prst="rect">
            <a:avLst/>
          </a:prstGeom>
          <a:solidFill>
            <a:schemeClr val="accent6"/>
          </a:solidFill>
          <a:ln/>
        </p:spPr>
      </p:sp>
      <p:sp>
        <p:nvSpPr>
          <p:cNvPr id="52" name="Text 50"/>
          <p:cNvSpPr txBox="1"/>
          <p:nvPr/>
        </p:nvSpPr>
        <p:spPr>
          <a:xfrm>
            <a:off x="4398264" y="2788920"/>
            <a:ext cx="2048256" cy="36576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Diseño: interfaz y arquitectura</a:t>
            </a:r>
            <a:endParaRPr lang="en-US" sz="1200" dirty="0"/>
          </a:p>
        </p:txBody>
      </p:sp>
      <p:sp>
        <p:nvSpPr>
          <p:cNvPr id="53" name="Text 51"/>
          <p:cNvSpPr txBox="1"/>
          <p:nvPr/>
        </p:nvSpPr>
        <p:spPr>
          <a:xfrm>
            <a:off x="6446520" y="2788920"/>
            <a:ext cx="384048" cy="365760"/>
          </a:xfrm>
          <a:prstGeom prst="rect">
            <a:avLst/>
          </a:prstGeom>
          <a:noFill/>
          <a:ln/>
        </p:spPr>
        <p:txBody>
          <a:bodyPr wrap="square" lIns="0" tIns="0" rIns="0" bIns="0" rtlCol="0" anchor="ctr"/>
          <a:lstStyle/>
          <a:p>
            <a:pPr algn="ctr" indent="0" marL="0">
              <a:buNone/>
            </a:pPr>
            <a:r>
              <a:rPr lang="en-US" sz="1200" b="1" dirty="0">
                <a:solidFill>
                  <a:schemeClr val="tx1"/>
                </a:solidFill>
                <a:latin typeface="Calibri" pitchFamily="34" charset="0"/>
                <a:ea typeface="Calibri" pitchFamily="34" charset="-122"/>
                <a:cs typeface="Calibri" pitchFamily="34" charset="-120"/>
              </a:rPr>
              <a:t>8</a:t>
            </a:r>
            <a:endParaRPr lang="en-US" sz="1200" dirty="0"/>
          </a:p>
        </p:txBody>
      </p:sp>
      <p:sp>
        <p:nvSpPr>
          <p:cNvPr id="54" name="barra-101"/>
          <p:cNvSpPr/>
          <p:nvPr/>
        </p:nvSpPr>
        <p:spPr>
          <a:xfrm>
            <a:off x="7790688" y="2880360"/>
            <a:ext cx="877824" cy="182880"/>
          </a:xfrm>
          <a:prstGeom prst="roundRect">
            <a:avLst>
              <a:gd name="adj" fmla="val 25000"/>
            </a:avLst>
          </a:prstGeom>
          <a:solidFill>
            <a:schemeClr val="accent4"/>
          </a:solidFill>
          <a:ln/>
        </p:spPr>
      </p:sp>
      <p:sp>
        <p:nvSpPr>
          <p:cNvPr id="55" name="Text 53"/>
          <p:cNvSpPr txBox="1"/>
          <p:nvPr/>
        </p:nvSpPr>
        <p:spPr>
          <a:xfrm>
            <a:off x="4398264" y="3154680"/>
            <a:ext cx="2048256" cy="36576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Inc. 1: carta (prototipo)</a:t>
            </a:r>
            <a:endParaRPr lang="en-US" sz="1200" dirty="0"/>
          </a:p>
        </p:txBody>
      </p:sp>
      <p:sp>
        <p:nvSpPr>
          <p:cNvPr id="56" name="Text 54"/>
          <p:cNvSpPr txBox="1"/>
          <p:nvPr/>
        </p:nvSpPr>
        <p:spPr>
          <a:xfrm>
            <a:off x="6446520" y="3154680"/>
            <a:ext cx="384048" cy="365760"/>
          </a:xfrm>
          <a:prstGeom prst="rect">
            <a:avLst/>
          </a:prstGeom>
          <a:noFill/>
          <a:ln/>
        </p:spPr>
        <p:txBody>
          <a:bodyPr wrap="square" lIns="0" tIns="0" rIns="0" bIns="0" rtlCol="0" anchor="ctr"/>
          <a:lstStyle/>
          <a:p>
            <a:pPr algn="ctr" indent="0" marL="0">
              <a:buNone/>
            </a:pPr>
            <a:r>
              <a:rPr lang="en-US" sz="1200" b="1" dirty="0">
                <a:solidFill>
                  <a:schemeClr val="tx1"/>
                </a:solidFill>
                <a:latin typeface="Calibri" pitchFamily="34" charset="0"/>
                <a:ea typeface="Calibri" pitchFamily="34" charset="-122"/>
                <a:cs typeface="Calibri" pitchFamily="34" charset="-120"/>
              </a:rPr>
              <a:t>5</a:t>
            </a:r>
            <a:endParaRPr lang="en-US" sz="1200" dirty="0"/>
          </a:p>
        </p:txBody>
      </p:sp>
      <p:sp>
        <p:nvSpPr>
          <p:cNvPr id="57" name="barra-102"/>
          <p:cNvSpPr/>
          <p:nvPr/>
        </p:nvSpPr>
        <p:spPr>
          <a:xfrm>
            <a:off x="8412480" y="3246120"/>
            <a:ext cx="566928" cy="182880"/>
          </a:xfrm>
          <a:prstGeom prst="roundRect">
            <a:avLst>
              <a:gd name="adj" fmla="val 25000"/>
            </a:avLst>
          </a:prstGeom>
          <a:solidFill>
            <a:schemeClr val="accent1"/>
          </a:solidFill>
          <a:ln/>
        </p:spPr>
      </p:sp>
      <p:sp>
        <p:nvSpPr>
          <p:cNvPr id="58" name="fila-103"/>
          <p:cNvSpPr/>
          <p:nvPr/>
        </p:nvSpPr>
        <p:spPr>
          <a:xfrm>
            <a:off x="4343400" y="3520440"/>
            <a:ext cx="7150608" cy="365760"/>
          </a:xfrm>
          <a:prstGeom prst="rect">
            <a:avLst/>
          </a:prstGeom>
          <a:solidFill>
            <a:schemeClr val="accent6"/>
          </a:solidFill>
          <a:ln/>
        </p:spPr>
      </p:sp>
      <p:sp>
        <p:nvSpPr>
          <p:cNvPr id="59" name="Text 57"/>
          <p:cNvSpPr txBox="1"/>
          <p:nvPr/>
        </p:nvSpPr>
        <p:spPr>
          <a:xfrm>
            <a:off x="4398264" y="3520440"/>
            <a:ext cx="2048256" cy="36576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Inc. 2: carrito y mitades</a:t>
            </a:r>
            <a:endParaRPr lang="en-US" sz="1200" dirty="0"/>
          </a:p>
        </p:txBody>
      </p:sp>
      <p:sp>
        <p:nvSpPr>
          <p:cNvPr id="60" name="Text 58"/>
          <p:cNvSpPr txBox="1"/>
          <p:nvPr/>
        </p:nvSpPr>
        <p:spPr>
          <a:xfrm>
            <a:off x="6446520" y="3520440"/>
            <a:ext cx="384048" cy="365760"/>
          </a:xfrm>
          <a:prstGeom prst="rect">
            <a:avLst/>
          </a:prstGeom>
          <a:noFill/>
          <a:ln/>
        </p:spPr>
        <p:txBody>
          <a:bodyPr wrap="square" lIns="0" tIns="0" rIns="0" bIns="0" rtlCol="0" anchor="ctr"/>
          <a:lstStyle/>
          <a:p>
            <a:pPr algn="ctr" indent="0" marL="0">
              <a:buNone/>
            </a:pPr>
            <a:r>
              <a:rPr lang="en-US" sz="1200" b="1" dirty="0">
                <a:solidFill>
                  <a:schemeClr val="tx1"/>
                </a:solidFill>
                <a:latin typeface="Calibri" pitchFamily="34" charset="0"/>
                <a:ea typeface="Calibri" pitchFamily="34" charset="-122"/>
                <a:cs typeface="Calibri" pitchFamily="34" charset="-120"/>
              </a:rPr>
              <a:t>5</a:t>
            </a:r>
            <a:endParaRPr lang="en-US" sz="1200" dirty="0"/>
          </a:p>
        </p:txBody>
      </p:sp>
      <p:sp>
        <p:nvSpPr>
          <p:cNvPr id="61" name="barra-104"/>
          <p:cNvSpPr/>
          <p:nvPr/>
        </p:nvSpPr>
        <p:spPr>
          <a:xfrm>
            <a:off x="9034272" y="3611880"/>
            <a:ext cx="256032" cy="182880"/>
          </a:xfrm>
          <a:prstGeom prst="roundRect">
            <a:avLst>
              <a:gd name="adj" fmla="val 25000"/>
            </a:avLst>
          </a:prstGeom>
          <a:solidFill>
            <a:schemeClr val="accent1"/>
          </a:solidFill>
          <a:ln/>
        </p:spPr>
      </p:sp>
      <p:sp>
        <p:nvSpPr>
          <p:cNvPr id="62" name="Text 60"/>
          <p:cNvSpPr txBox="1"/>
          <p:nvPr/>
        </p:nvSpPr>
        <p:spPr>
          <a:xfrm>
            <a:off x="4398264" y="3886200"/>
            <a:ext cx="2048256" cy="36576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Inc. 3–4: recibo y backend</a:t>
            </a:r>
            <a:endParaRPr lang="en-US" sz="1200" dirty="0"/>
          </a:p>
        </p:txBody>
      </p:sp>
      <p:sp>
        <p:nvSpPr>
          <p:cNvPr id="63" name="Text 61"/>
          <p:cNvSpPr txBox="1"/>
          <p:nvPr/>
        </p:nvSpPr>
        <p:spPr>
          <a:xfrm>
            <a:off x="6446520" y="3886200"/>
            <a:ext cx="384048" cy="365760"/>
          </a:xfrm>
          <a:prstGeom prst="rect">
            <a:avLst/>
          </a:prstGeom>
          <a:noFill/>
          <a:ln/>
        </p:spPr>
        <p:txBody>
          <a:bodyPr wrap="square" lIns="0" tIns="0" rIns="0" bIns="0" rtlCol="0" anchor="ctr"/>
          <a:lstStyle/>
          <a:p>
            <a:pPr algn="ctr" indent="0" marL="0">
              <a:buNone/>
            </a:pPr>
            <a:r>
              <a:rPr lang="en-US" sz="1200" b="1" dirty="0">
                <a:solidFill>
                  <a:schemeClr val="tx1"/>
                </a:solidFill>
                <a:latin typeface="Calibri" pitchFamily="34" charset="0"/>
                <a:ea typeface="Calibri" pitchFamily="34" charset="-122"/>
                <a:cs typeface="Calibri" pitchFamily="34" charset="-120"/>
              </a:rPr>
              <a:t>8</a:t>
            </a:r>
            <a:endParaRPr lang="en-US" sz="1200" dirty="0"/>
          </a:p>
        </p:txBody>
      </p:sp>
      <p:sp>
        <p:nvSpPr>
          <p:cNvPr id="64" name="barra-105"/>
          <p:cNvSpPr/>
          <p:nvPr/>
        </p:nvSpPr>
        <p:spPr>
          <a:xfrm>
            <a:off x="9345168" y="3977640"/>
            <a:ext cx="566928" cy="182880"/>
          </a:xfrm>
          <a:prstGeom prst="roundRect">
            <a:avLst>
              <a:gd name="adj" fmla="val 25000"/>
            </a:avLst>
          </a:prstGeom>
          <a:solidFill>
            <a:schemeClr val="accent1"/>
          </a:solidFill>
          <a:ln/>
        </p:spPr>
      </p:sp>
      <p:sp>
        <p:nvSpPr>
          <p:cNvPr id="65" name="fila-106"/>
          <p:cNvSpPr/>
          <p:nvPr/>
        </p:nvSpPr>
        <p:spPr>
          <a:xfrm>
            <a:off x="4343400" y="4251960"/>
            <a:ext cx="7150608" cy="365760"/>
          </a:xfrm>
          <a:prstGeom prst="rect">
            <a:avLst/>
          </a:prstGeom>
          <a:solidFill>
            <a:schemeClr val="accent6"/>
          </a:solidFill>
          <a:ln/>
        </p:spPr>
      </p:sp>
      <p:sp>
        <p:nvSpPr>
          <p:cNvPr id="66" name="Text 64"/>
          <p:cNvSpPr txBox="1"/>
          <p:nvPr/>
        </p:nvSpPr>
        <p:spPr>
          <a:xfrm>
            <a:off x="4398264" y="4251960"/>
            <a:ext cx="2048256" cy="36576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Pruebas (44 automáticas)</a:t>
            </a:r>
            <a:endParaRPr lang="en-US" sz="1200" dirty="0"/>
          </a:p>
        </p:txBody>
      </p:sp>
      <p:sp>
        <p:nvSpPr>
          <p:cNvPr id="67" name="Text 65"/>
          <p:cNvSpPr txBox="1"/>
          <p:nvPr/>
        </p:nvSpPr>
        <p:spPr>
          <a:xfrm>
            <a:off x="6446520" y="4251960"/>
            <a:ext cx="384048" cy="365760"/>
          </a:xfrm>
          <a:prstGeom prst="rect">
            <a:avLst/>
          </a:prstGeom>
          <a:noFill/>
          <a:ln/>
        </p:spPr>
        <p:txBody>
          <a:bodyPr wrap="square" lIns="0" tIns="0" rIns="0" bIns="0" rtlCol="0" anchor="ctr"/>
          <a:lstStyle/>
          <a:p>
            <a:pPr algn="ctr" indent="0" marL="0">
              <a:buNone/>
            </a:pPr>
            <a:r>
              <a:rPr lang="en-US" sz="1200" b="1" dirty="0">
                <a:solidFill>
                  <a:schemeClr val="tx1"/>
                </a:solidFill>
                <a:latin typeface="Calibri" pitchFamily="34" charset="0"/>
                <a:ea typeface="Calibri" pitchFamily="34" charset="-122"/>
                <a:cs typeface="Calibri" pitchFamily="34" charset="-120"/>
              </a:rPr>
              <a:t>8</a:t>
            </a:r>
            <a:endParaRPr lang="en-US" sz="1200" dirty="0"/>
          </a:p>
        </p:txBody>
      </p:sp>
      <p:sp>
        <p:nvSpPr>
          <p:cNvPr id="68" name="barra-107"/>
          <p:cNvSpPr/>
          <p:nvPr/>
        </p:nvSpPr>
        <p:spPr>
          <a:xfrm>
            <a:off x="9034272" y="4343400"/>
            <a:ext cx="1188720" cy="182880"/>
          </a:xfrm>
          <a:prstGeom prst="roundRect">
            <a:avLst>
              <a:gd name="adj" fmla="val 25000"/>
            </a:avLst>
          </a:prstGeom>
          <a:solidFill>
            <a:schemeClr val="accent2"/>
          </a:solidFill>
          <a:ln/>
        </p:spPr>
      </p:sp>
      <p:sp>
        <p:nvSpPr>
          <p:cNvPr id="69" name="Text 67"/>
          <p:cNvSpPr txBox="1"/>
          <p:nvPr/>
        </p:nvSpPr>
        <p:spPr>
          <a:xfrm>
            <a:off x="4398264" y="4617720"/>
            <a:ext cx="2048256" cy="36576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Despliegue y CI</a:t>
            </a:r>
            <a:endParaRPr lang="en-US" sz="1200" dirty="0"/>
          </a:p>
        </p:txBody>
      </p:sp>
      <p:sp>
        <p:nvSpPr>
          <p:cNvPr id="70" name="Text 68"/>
          <p:cNvSpPr txBox="1"/>
          <p:nvPr/>
        </p:nvSpPr>
        <p:spPr>
          <a:xfrm>
            <a:off x="6446520" y="4617720"/>
            <a:ext cx="384048" cy="365760"/>
          </a:xfrm>
          <a:prstGeom prst="rect">
            <a:avLst/>
          </a:prstGeom>
          <a:noFill/>
          <a:ln/>
        </p:spPr>
        <p:txBody>
          <a:bodyPr wrap="square" lIns="0" tIns="0" rIns="0" bIns="0" rtlCol="0" anchor="ctr"/>
          <a:lstStyle/>
          <a:p>
            <a:pPr algn="ctr" indent="0" marL="0">
              <a:buNone/>
            </a:pPr>
            <a:r>
              <a:rPr lang="en-US" sz="1200" b="1" dirty="0">
                <a:solidFill>
                  <a:schemeClr val="tx1"/>
                </a:solidFill>
                <a:latin typeface="Calibri" pitchFamily="34" charset="0"/>
                <a:ea typeface="Calibri" pitchFamily="34" charset="-122"/>
                <a:cs typeface="Calibri" pitchFamily="34" charset="-120"/>
              </a:rPr>
              <a:t>6</a:t>
            </a:r>
            <a:endParaRPr lang="en-US" sz="1200" dirty="0"/>
          </a:p>
        </p:txBody>
      </p:sp>
      <p:sp>
        <p:nvSpPr>
          <p:cNvPr id="71" name="barra-108"/>
          <p:cNvSpPr/>
          <p:nvPr/>
        </p:nvSpPr>
        <p:spPr>
          <a:xfrm>
            <a:off x="9345168" y="4709160"/>
            <a:ext cx="566928" cy="182880"/>
          </a:xfrm>
          <a:prstGeom prst="roundRect">
            <a:avLst>
              <a:gd name="adj" fmla="val 25000"/>
            </a:avLst>
          </a:prstGeom>
          <a:solidFill>
            <a:schemeClr val="accent2"/>
          </a:solidFill>
          <a:ln/>
        </p:spPr>
      </p:sp>
      <p:sp>
        <p:nvSpPr>
          <p:cNvPr id="72" name="fila-109"/>
          <p:cNvSpPr/>
          <p:nvPr/>
        </p:nvSpPr>
        <p:spPr>
          <a:xfrm>
            <a:off x="4343400" y="4983480"/>
            <a:ext cx="7150608" cy="365760"/>
          </a:xfrm>
          <a:prstGeom prst="rect">
            <a:avLst/>
          </a:prstGeom>
          <a:solidFill>
            <a:schemeClr val="accent6"/>
          </a:solidFill>
          <a:ln/>
        </p:spPr>
      </p:sp>
      <p:sp>
        <p:nvSpPr>
          <p:cNvPr id="73" name="Text 71"/>
          <p:cNvSpPr txBox="1"/>
          <p:nvPr/>
        </p:nvSpPr>
        <p:spPr>
          <a:xfrm>
            <a:off x="4398264" y="4983480"/>
            <a:ext cx="2048256" cy="36576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Validación y evaluación</a:t>
            </a:r>
            <a:endParaRPr lang="en-US" sz="1200" dirty="0"/>
          </a:p>
        </p:txBody>
      </p:sp>
      <p:sp>
        <p:nvSpPr>
          <p:cNvPr id="74" name="Text 72"/>
          <p:cNvSpPr txBox="1"/>
          <p:nvPr/>
        </p:nvSpPr>
        <p:spPr>
          <a:xfrm>
            <a:off x="6446520" y="4983480"/>
            <a:ext cx="384048" cy="365760"/>
          </a:xfrm>
          <a:prstGeom prst="rect">
            <a:avLst/>
          </a:prstGeom>
          <a:noFill/>
          <a:ln/>
        </p:spPr>
        <p:txBody>
          <a:bodyPr wrap="square" lIns="0" tIns="0" rIns="0" bIns="0" rtlCol="0" anchor="ctr"/>
          <a:lstStyle/>
          <a:p>
            <a:pPr algn="ctr" indent="0" marL="0">
              <a:buNone/>
            </a:pPr>
            <a:r>
              <a:rPr lang="en-US" sz="1200" b="1" dirty="0">
                <a:solidFill>
                  <a:schemeClr val="accent4"/>
                </a:solidFill>
                <a:latin typeface="Calibri" pitchFamily="34" charset="0"/>
                <a:ea typeface="Calibri" pitchFamily="34" charset="-122"/>
                <a:cs typeface="Calibri" pitchFamily="34" charset="-120"/>
              </a:rPr>
              <a:t>—</a:t>
            </a:r>
            <a:endParaRPr lang="en-US" sz="1200" dirty="0"/>
          </a:p>
        </p:txBody>
      </p:sp>
      <p:sp>
        <p:nvSpPr>
          <p:cNvPr id="75" name="barra-110"/>
          <p:cNvSpPr/>
          <p:nvPr/>
        </p:nvSpPr>
        <p:spPr>
          <a:xfrm>
            <a:off x="9656064" y="5074920"/>
            <a:ext cx="566928" cy="182880"/>
          </a:xfrm>
          <a:prstGeom prst="roundRect">
            <a:avLst>
              <a:gd name="adj" fmla="val 25000"/>
            </a:avLst>
          </a:prstGeom>
          <a:solidFill>
            <a:schemeClr val="tx2"/>
          </a:solidFill>
          <a:ln/>
        </p:spPr>
      </p:sp>
      <p:sp>
        <p:nvSpPr>
          <p:cNvPr id="76" name="Text 74"/>
          <p:cNvSpPr txBox="1"/>
          <p:nvPr/>
        </p:nvSpPr>
        <p:spPr>
          <a:xfrm>
            <a:off x="4398264" y="5349240"/>
            <a:ext cx="2048256" cy="36576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Pedido real y medición</a:t>
            </a:r>
            <a:endParaRPr lang="en-US" sz="1200" dirty="0"/>
          </a:p>
        </p:txBody>
      </p:sp>
      <p:sp>
        <p:nvSpPr>
          <p:cNvPr id="77" name="Text 75"/>
          <p:cNvSpPr txBox="1"/>
          <p:nvPr/>
        </p:nvSpPr>
        <p:spPr>
          <a:xfrm>
            <a:off x="6446520" y="5349240"/>
            <a:ext cx="384048" cy="365760"/>
          </a:xfrm>
          <a:prstGeom prst="rect">
            <a:avLst/>
          </a:prstGeom>
          <a:noFill/>
          <a:ln/>
        </p:spPr>
        <p:txBody>
          <a:bodyPr wrap="square" lIns="0" tIns="0" rIns="0" bIns="0" rtlCol="0" anchor="ctr"/>
          <a:lstStyle/>
          <a:p>
            <a:pPr algn="ctr" indent="0" marL="0">
              <a:buNone/>
            </a:pPr>
            <a:r>
              <a:rPr lang="en-US" sz="1200" b="1" dirty="0">
                <a:solidFill>
                  <a:schemeClr val="accent4"/>
                </a:solidFill>
                <a:latin typeface="Calibri" pitchFamily="34" charset="0"/>
                <a:ea typeface="Calibri" pitchFamily="34" charset="-122"/>
                <a:cs typeface="Calibri" pitchFamily="34" charset="-120"/>
              </a:rPr>
              <a:t>—</a:t>
            </a:r>
            <a:endParaRPr lang="en-US" sz="1200" dirty="0"/>
          </a:p>
        </p:txBody>
      </p:sp>
      <p:sp>
        <p:nvSpPr>
          <p:cNvPr id="78" name="barra-111"/>
          <p:cNvSpPr/>
          <p:nvPr/>
        </p:nvSpPr>
        <p:spPr>
          <a:xfrm>
            <a:off x="9966960" y="5440680"/>
            <a:ext cx="1188720" cy="182880"/>
          </a:xfrm>
          <a:prstGeom prst="roundRect">
            <a:avLst>
              <a:gd name="adj" fmla="val 25000"/>
            </a:avLst>
          </a:prstGeom>
          <a:solidFill>
            <a:schemeClr val="tx2"/>
          </a:solidFill>
          <a:ln/>
        </p:spPr>
      </p:sp>
      <p:sp>
        <p:nvSpPr>
          <p:cNvPr id="79" name="fila-112"/>
          <p:cNvSpPr/>
          <p:nvPr/>
        </p:nvSpPr>
        <p:spPr>
          <a:xfrm>
            <a:off x="4343400" y="5715000"/>
            <a:ext cx="7150608" cy="365760"/>
          </a:xfrm>
          <a:prstGeom prst="rect">
            <a:avLst/>
          </a:prstGeom>
          <a:solidFill>
            <a:schemeClr val="accent6"/>
          </a:solidFill>
          <a:ln/>
        </p:spPr>
      </p:sp>
      <p:sp>
        <p:nvSpPr>
          <p:cNvPr id="80" name="Text 78"/>
          <p:cNvSpPr txBox="1"/>
          <p:nvPr/>
        </p:nvSpPr>
        <p:spPr>
          <a:xfrm>
            <a:off x="4398264" y="5715000"/>
            <a:ext cx="2048256" cy="36576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Presentación y ensayo</a:t>
            </a:r>
            <a:endParaRPr lang="en-US" sz="1200" dirty="0"/>
          </a:p>
        </p:txBody>
      </p:sp>
      <p:sp>
        <p:nvSpPr>
          <p:cNvPr id="81" name="Text 79"/>
          <p:cNvSpPr txBox="1"/>
          <p:nvPr/>
        </p:nvSpPr>
        <p:spPr>
          <a:xfrm>
            <a:off x="6446520" y="5715000"/>
            <a:ext cx="384048" cy="365760"/>
          </a:xfrm>
          <a:prstGeom prst="rect">
            <a:avLst/>
          </a:prstGeom>
          <a:noFill/>
          <a:ln/>
        </p:spPr>
        <p:txBody>
          <a:bodyPr wrap="square" lIns="0" tIns="0" rIns="0" bIns="0" rtlCol="0" anchor="ctr"/>
          <a:lstStyle/>
          <a:p>
            <a:pPr algn="ctr" indent="0" marL="0">
              <a:buNone/>
            </a:pPr>
            <a:r>
              <a:rPr lang="en-US" sz="1200" b="1" dirty="0">
                <a:solidFill>
                  <a:schemeClr val="accent4"/>
                </a:solidFill>
                <a:latin typeface="Calibri" pitchFamily="34" charset="0"/>
                <a:ea typeface="Calibri" pitchFamily="34" charset="-122"/>
                <a:cs typeface="Calibri" pitchFamily="34" charset="-120"/>
              </a:rPr>
              <a:t>—</a:t>
            </a:r>
            <a:endParaRPr lang="en-US" sz="1200" dirty="0"/>
          </a:p>
        </p:txBody>
      </p:sp>
      <p:sp>
        <p:nvSpPr>
          <p:cNvPr id="82" name="barra-113"/>
          <p:cNvSpPr/>
          <p:nvPr/>
        </p:nvSpPr>
        <p:spPr>
          <a:xfrm>
            <a:off x="9656064" y="5806440"/>
            <a:ext cx="1499616" cy="182880"/>
          </a:xfrm>
          <a:prstGeom prst="roundRect">
            <a:avLst>
              <a:gd name="adj" fmla="val 25000"/>
            </a:avLst>
          </a:prstGeom>
          <a:solidFill>
            <a:schemeClr val="tx1"/>
          </a:solidFill>
          <a:ln/>
        </p:spPr>
      </p:sp>
      <p:sp>
        <p:nvSpPr>
          <p:cNvPr id="83" name="semana-114"/>
          <p:cNvSpPr/>
          <p:nvPr/>
        </p:nvSpPr>
        <p:spPr>
          <a:xfrm>
            <a:off x="9006840" y="1645920"/>
            <a:ext cx="0" cy="4434840"/>
          </a:xfrm>
          <a:prstGeom prst="line">
            <a:avLst/>
          </a:prstGeom>
          <a:noFill/>
          <a:ln w="12700">
            <a:solidFill>
              <a:srgbClr val="E4DCD2"/>
            </a:solidFill>
            <a:prstDash val="solid"/>
          </a:ln>
        </p:spPr>
      </p:sp>
      <p:sp>
        <p:nvSpPr>
          <p:cNvPr id="84" name="hito-115"/>
          <p:cNvSpPr/>
          <p:nvPr/>
        </p:nvSpPr>
        <p:spPr>
          <a:xfrm>
            <a:off x="9628632" y="2011680"/>
            <a:ext cx="0" cy="4114800"/>
          </a:xfrm>
          <a:prstGeom prst="line">
            <a:avLst/>
          </a:prstGeom>
          <a:noFill/>
          <a:ln w="15875">
            <a:solidFill>
              <a:srgbClr val="2B2420"/>
            </a:solidFill>
            <a:prstDash val="dash"/>
          </a:ln>
        </p:spPr>
      </p:sp>
      <p:sp>
        <p:nvSpPr>
          <p:cNvPr id="85" name="hito-116"/>
          <p:cNvSpPr/>
          <p:nvPr/>
        </p:nvSpPr>
        <p:spPr>
          <a:xfrm>
            <a:off x="11338560" y="2011680"/>
            <a:ext cx="0" cy="4114800"/>
          </a:xfrm>
          <a:prstGeom prst="line">
            <a:avLst/>
          </a:prstGeom>
          <a:noFill/>
          <a:ln w="19050">
            <a:solidFill>
              <a:schemeClr val="accent3"/>
            </a:solidFill>
            <a:prstDash val="dash"/>
          </a:ln>
        </p:spPr>
      </p:sp>
      <p:sp>
        <p:nvSpPr>
          <p:cNvPr id="86" name="Text 84"/>
          <p:cNvSpPr txBox="1"/>
          <p:nvPr/>
        </p:nvSpPr>
        <p:spPr>
          <a:xfrm>
            <a:off x="4398264" y="6126480"/>
            <a:ext cx="2432304" cy="274320"/>
          </a:xfrm>
          <a:prstGeom prst="rect">
            <a:avLst/>
          </a:prstGeom>
          <a:noFill/>
          <a:ln/>
        </p:spPr>
        <p:txBody>
          <a:bodyPr wrap="square" lIns="0" tIns="0" rIns="0" bIns="0" rtlCol="0" anchor="t"/>
          <a:lstStyle/>
          <a:p>
            <a:pPr algn="r" indent="0" marL="0">
              <a:buNone/>
            </a:pPr>
            <a:r>
              <a:rPr lang="en-US" sz="1200" b="1" dirty="0">
                <a:solidFill>
                  <a:schemeClr val="tx1"/>
                </a:solidFill>
                <a:latin typeface="Calibri" pitchFamily="34" charset="0"/>
                <a:ea typeface="Calibri" pitchFamily="34" charset="-122"/>
                <a:cs typeface="Calibri" pitchFamily="34" charset="-120"/>
              </a:rPr>
              <a:t>Total 48 h</a:t>
            </a:r>
            <a:endParaRPr lang="en-US" sz="1200" dirty="0"/>
          </a:p>
        </p:txBody>
      </p:sp>
      <p:sp>
        <p:nvSpPr>
          <p:cNvPr id="87" name="Text 85"/>
          <p:cNvSpPr txBox="1"/>
          <p:nvPr/>
        </p:nvSpPr>
        <p:spPr>
          <a:xfrm>
            <a:off x="7936992" y="6126480"/>
            <a:ext cx="1645920" cy="274320"/>
          </a:xfrm>
          <a:prstGeom prst="rect">
            <a:avLst/>
          </a:prstGeom>
          <a:noFill/>
          <a:ln/>
        </p:spPr>
        <p:txBody>
          <a:bodyPr wrap="square" lIns="0" tIns="0" rIns="0" bIns="0" rtlCol="0" anchor="t"/>
          <a:lstStyle/>
          <a:p>
            <a:pPr algn="r" indent="0" marL="0">
              <a:buNone/>
            </a:pPr>
            <a:r>
              <a:rPr lang="en-US" sz="1200" b="1" dirty="0">
                <a:solidFill>
                  <a:schemeClr val="tx1"/>
                </a:solidFill>
                <a:latin typeface="Calibri" pitchFamily="34" charset="0"/>
                <a:ea typeface="Calibri" pitchFamily="34" charset="-122"/>
                <a:cs typeface="Calibri" pitchFamily="34" charset="-120"/>
              </a:rPr>
              <a:t>Publicado 06/10 ▲</a:t>
            </a:r>
            <a:endParaRPr lang="en-US" sz="1200" dirty="0"/>
          </a:p>
        </p:txBody>
      </p:sp>
      <p:sp>
        <p:nvSpPr>
          <p:cNvPr id="88" name="Text 86"/>
          <p:cNvSpPr txBox="1"/>
          <p:nvPr/>
        </p:nvSpPr>
        <p:spPr>
          <a:xfrm>
            <a:off x="10012680" y="6126480"/>
            <a:ext cx="1280160" cy="274320"/>
          </a:xfrm>
          <a:prstGeom prst="rect">
            <a:avLst/>
          </a:prstGeom>
          <a:noFill/>
          <a:ln/>
        </p:spPr>
        <p:txBody>
          <a:bodyPr wrap="square" lIns="0" tIns="0" rIns="0" bIns="0" rtlCol="0" anchor="t"/>
          <a:lstStyle/>
          <a:p>
            <a:pPr algn="r" indent="0" marL="0">
              <a:buNone/>
            </a:pPr>
            <a:r>
              <a:rPr lang="en-US" sz="1200" b="1" dirty="0">
                <a:solidFill>
                  <a:schemeClr val="accent3"/>
                </a:solidFill>
                <a:latin typeface="Calibri" pitchFamily="34" charset="0"/>
                <a:ea typeface="Calibri" pitchFamily="34" charset="-122"/>
                <a:cs typeface="Calibri" pitchFamily="34" charset="-120"/>
              </a:rPr>
              <a:t>Expo 13/10 ▲</a:t>
            </a:r>
            <a:endParaRPr lang="en-US" sz="1200" dirty="0"/>
          </a:p>
        </p:txBody>
      </p:sp>
      <p:sp>
        <p:nvSpPr>
          <p:cNvPr id="89" name="Text 87"/>
          <p:cNvSpPr txBox="1"/>
          <p:nvPr/>
        </p:nvSpPr>
        <p:spPr>
          <a:xfrm>
            <a:off x="4343400" y="6428232"/>
            <a:ext cx="7223760" cy="256032"/>
          </a:xfrm>
          <a:prstGeom prst="rect">
            <a:avLst/>
          </a:prstGeom>
          <a:noFill/>
          <a:ln/>
        </p:spPr>
        <p:txBody>
          <a:bodyPr wrap="square" lIns="0" tIns="0" rIns="0" bIns="0" rtlCol="0" anchor="t"/>
          <a:lstStyle/>
          <a:p>
            <a:pPr indent="0" marL="0">
              <a:buNone/>
            </a:pPr>
            <a:r>
              <a:rPr lang="en-US" sz="1100" i="1" dirty="0">
                <a:solidFill>
                  <a:schemeClr val="accent4"/>
                </a:solidFill>
                <a:latin typeface="Calibri" pitchFamily="34" charset="0"/>
                <a:ea typeface="Calibri" pitchFamily="34" charset="-122"/>
                <a:cs typeface="Calibri" pitchFamily="34" charset="-120"/>
              </a:rPr>
              <a:t>Todas las tareas terminan el domingo 11/10.</a:t>
            </a:r>
            <a:endParaRPr lang="en-US" sz="11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10896"/>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III. TRABAJO PRINCIPAL · PRESUPUESTO</a:t>
            </a:r>
            <a:endParaRPr lang="en-US" sz="1200" dirty="0"/>
          </a:p>
        </p:txBody>
      </p:sp>
      <p:sp>
        <p:nvSpPr>
          <p:cNvPr id="3" name="Text 0"/>
          <p:cNvSpPr/>
          <p:nvPr>
            <p:ph idx="101" type="title" hasCustomPrompt="1"/>
          </p:nvPr>
        </p:nvSpPr>
        <p:spPr>
          <a:xfrm>
            <a:off x="548640" y="603504"/>
            <a:ext cx="11064240" cy="658368"/>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Presupuesto y financiamiento</a:t>
            </a:r>
            <a:endParaRPr lang="en-US" sz="3200" dirty="0"/>
          </a:p>
        </p:txBody>
      </p:sp>
      <p:graphicFrame>
        <p:nvGraphicFramePr>
          <p:cNvPr id="4" name="Chart 0" descr=""/>
          <p:cNvGraphicFramePr/>
          <p:nvPr/>
        </p:nvGraphicFramePr>
        <p:xfrm>
          <a:off x="548640" y="1463040"/>
          <a:ext cx="6583680" cy="4389120"/>
        </p:xfrm>
        <a:graphic xmlns:a="http://schemas.openxmlformats.org/drawingml/2006/main">
          <a:graphicData uri="http://schemas.openxmlformats.org/drawingml/2006/chart">
            <c:chart xmlns:c="http://schemas.openxmlformats.org/drawingml/2006/chart" r:id="rId1"/>
          </a:graphicData>
        </a:graphic>
      </p:graphicFrame>
      <p:sp>
        <p:nvSpPr>
          <p:cNvPr id="5" name="card-117"/>
          <p:cNvSpPr/>
          <p:nvPr/>
        </p:nvSpPr>
        <p:spPr>
          <a:xfrm>
            <a:off x="7498080" y="1463040"/>
            <a:ext cx="4114800" cy="2194560"/>
          </a:xfrm>
          <a:prstGeom prst="roundRect">
            <a:avLst>
              <a:gd name="adj" fmla="val 5000"/>
            </a:avLst>
          </a:prstGeom>
          <a:solidFill>
            <a:schemeClr val="tx1"/>
          </a:solidFill>
          <a:ln/>
        </p:spPr>
      </p:sp>
      <p:sp>
        <p:nvSpPr>
          <p:cNvPr id="6" name="Text 3"/>
          <p:cNvSpPr txBox="1"/>
          <p:nvPr/>
        </p:nvSpPr>
        <p:spPr>
          <a:xfrm>
            <a:off x="7772400" y="1645920"/>
            <a:ext cx="3566160" cy="320040"/>
          </a:xfrm>
          <a:prstGeom prst="rect">
            <a:avLst/>
          </a:prstGeom>
          <a:noFill/>
          <a:ln/>
        </p:spPr>
        <p:txBody>
          <a:bodyPr wrap="square" lIns="0" tIns="0" rIns="0" bIns="0" rtlCol="0" anchor="t"/>
          <a:lstStyle/>
          <a:p>
            <a:pPr indent="0" marL="0">
              <a:buNone/>
            </a:pPr>
            <a:r>
              <a:rPr lang="en-US" sz="1400" dirty="0">
                <a:solidFill>
                  <a:schemeClr val="bg2"/>
                </a:solidFill>
                <a:latin typeface="Calibri" pitchFamily="34" charset="0"/>
                <a:ea typeface="Calibri" pitchFamily="34" charset="-122"/>
                <a:cs typeface="Calibri" pitchFamily="34" charset="-120"/>
              </a:rPr>
              <a:t>Inversión total</a:t>
            </a:r>
            <a:endParaRPr lang="en-US" sz="1400" dirty="0"/>
          </a:p>
        </p:txBody>
      </p:sp>
      <p:sp>
        <p:nvSpPr>
          <p:cNvPr id="7" name="Text 4"/>
          <p:cNvSpPr txBox="1"/>
          <p:nvPr/>
        </p:nvSpPr>
        <p:spPr>
          <a:xfrm>
            <a:off x="7772400" y="1965960"/>
            <a:ext cx="3566160" cy="731520"/>
          </a:xfrm>
          <a:prstGeom prst="rect">
            <a:avLst/>
          </a:prstGeom>
          <a:noFill/>
          <a:ln/>
        </p:spPr>
        <p:txBody>
          <a:bodyPr wrap="square" lIns="0" tIns="0" rIns="0" bIns="0" rtlCol="0" anchor="t"/>
          <a:lstStyle/>
          <a:p>
            <a:pPr indent="0" marL="0">
              <a:buNone/>
            </a:pPr>
            <a:r>
              <a:rPr lang="en-US" sz="4000" b="1" dirty="0">
                <a:solidFill>
                  <a:schemeClr val="bg1"/>
                </a:solidFill>
                <a:latin typeface="Cambria" pitchFamily="34" charset="0"/>
                <a:ea typeface="Cambria" pitchFamily="34" charset="-122"/>
                <a:cs typeface="Cambria" pitchFamily="34" charset="-120"/>
              </a:rPr>
              <a:t>$234.720</a:t>
            </a:r>
            <a:endParaRPr lang="en-US" sz="4000" dirty="0"/>
          </a:p>
        </p:txBody>
      </p:sp>
      <p:sp>
        <p:nvSpPr>
          <p:cNvPr id="8" name="Text 5"/>
          <p:cNvSpPr txBox="1"/>
          <p:nvPr/>
        </p:nvSpPr>
        <p:spPr>
          <a:xfrm>
            <a:off x="7772400" y="2788920"/>
            <a:ext cx="3566160" cy="548640"/>
          </a:xfrm>
          <a:prstGeom prst="rect">
            <a:avLst/>
          </a:prstGeom>
          <a:noFill/>
          <a:ln/>
        </p:spPr>
        <p:txBody>
          <a:bodyPr wrap="square" lIns="0" tIns="0" rIns="0" bIns="0" rtlCol="0" anchor="t"/>
          <a:lstStyle/>
          <a:p>
            <a:pPr indent="0" marL="0">
              <a:buNone/>
            </a:pPr>
            <a:r>
              <a:rPr lang="en-US" sz="1400" dirty="0">
                <a:solidFill>
                  <a:schemeClr val="bg2"/>
                </a:solidFill>
                <a:latin typeface="Calibri" pitchFamily="34" charset="0"/>
                <a:ea typeface="Calibri" pitchFamily="34" charset="-122"/>
                <a:cs typeface="Calibri" pitchFamily="34" charset="-120"/>
              </a:rPr>
              <a:t>48 h de desarrollo valorizadas</a:t>
            </a:r>
            <a:endParaRPr lang="en-US" sz="1400" dirty="0"/>
          </a:p>
        </p:txBody>
      </p:sp>
      <p:sp>
        <p:nvSpPr>
          <p:cNvPr id="9" name="card-118"/>
          <p:cNvSpPr/>
          <p:nvPr/>
        </p:nvSpPr>
        <p:spPr>
          <a:xfrm>
            <a:off x="7498080" y="3840480"/>
            <a:ext cx="4114800" cy="2331720"/>
          </a:xfrm>
          <a:prstGeom prst="roundRect">
            <a:avLst>
              <a:gd name="adj" fmla="val 4706"/>
            </a:avLst>
          </a:prstGeom>
          <a:solidFill>
            <a:schemeClr val="accent6"/>
          </a:solidFill>
          <a:ln/>
        </p:spPr>
      </p:sp>
      <p:sp>
        <p:nvSpPr>
          <p:cNvPr id="10" name="Text 7"/>
          <p:cNvSpPr txBox="1"/>
          <p:nvPr/>
        </p:nvSpPr>
        <p:spPr>
          <a:xfrm>
            <a:off x="7772400" y="3977640"/>
            <a:ext cx="3566160" cy="36576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Financiamiento</a:t>
            </a:r>
            <a:endParaRPr lang="en-US" sz="1800" dirty="0"/>
          </a:p>
        </p:txBody>
      </p:sp>
      <p:sp>
        <p:nvSpPr>
          <p:cNvPr id="11" name="Text 8"/>
          <p:cNvSpPr txBox="1"/>
          <p:nvPr/>
        </p:nvSpPr>
        <p:spPr>
          <a:xfrm>
            <a:off x="7772400" y="4434840"/>
            <a:ext cx="3611880" cy="164592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Desarrollo: aporte propio</a:t>
            </a:r>
            <a:endParaRPr lang="en-US" sz="1500" dirty="0"/>
          </a:p>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Operación: $0 por mes</a:t>
            </a:r>
            <a:endParaRPr lang="en-US" sz="1500" dirty="0"/>
          </a:p>
          <a:p>
            <a:pPr marL="342900" indent="-3429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Dominio propio: opcional</a:t>
            </a:r>
            <a:endParaRPr lang="en-US" sz="15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10896"/>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III. TRABAJO PRINCIPAL · EVALUACIÓN ECONÓMICO-FINANCIERA</a:t>
            </a:r>
            <a:endParaRPr lang="en-US" sz="1200" dirty="0"/>
          </a:p>
        </p:txBody>
      </p:sp>
      <p:sp>
        <p:nvSpPr>
          <p:cNvPr id="3" name="Text 0"/>
          <p:cNvSpPr/>
          <p:nvPr>
            <p:ph idx="101" type="title" hasCustomPrompt="1"/>
          </p:nvPr>
        </p:nvSpPr>
        <p:spPr>
          <a:xfrm>
            <a:off x="548640" y="603504"/>
            <a:ext cx="11064240" cy="658368"/>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¿Conviene? Evaluación a 12 meses</a:t>
            </a:r>
            <a:endParaRPr lang="en-US" sz="3200" dirty="0"/>
          </a:p>
        </p:txBody>
      </p:sp>
      <p:sp>
        <p:nvSpPr>
          <p:cNvPr id="4" name="Text 2"/>
          <p:cNvSpPr txBox="1"/>
          <p:nvPr/>
        </p:nvSpPr>
        <p:spPr>
          <a:xfrm>
            <a:off x="548640" y="1463040"/>
            <a:ext cx="4572000" cy="365760"/>
          </a:xfrm>
          <a:prstGeom prst="rect">
            <a:avLst/>
          </a:prstGeom>
          <a:noFill/>
          <a:ln/>
        </p:spPr>
        <p:txBody>
          <a:bodyPr wrap="square" lIns="0" tIns="0" rIns="0" bIns="0" rtlCol="0" anchor="t"/>
          <a:lstStyle/>
          <a:p>
            <a:pPr indent="0" marL="0">
              <a:buNone/>
            </a:pPr>
            <a:r>
              <a:rPr lang="en-US" sz="1500" b="1" dirty="0">
                <a:solidFill>
                  <a:schemeClr val="accent4"/>
                </a:solidFill>
                <a:latin typeface="Calibri" pitchFamily="34" charset="0"/>
                <a:ea typeface="Calibri" pitchFamily="34" charset="-122"/>
                <a:cs typeface="Calibri" pitchFamily="34" charset="-120"/>
              </a:rPr>
              <a:t>Beneficio mensual (base)</a:t>
            </a:r>
            <a:endParaRPr lang="en-US" sz="1500" dirty="0"/>
          </a:p>
        </p:txBody>
      </p:sp>
      <p:sp>
        <p:nvSpPr>
          <p:cNvPr id="5" name="icono-fondo-119"/>
          <p:cNvSpPr/>
          <p:nvPr/>
        </p:nvSpPr>
        <p:spPr>
          <a:xfrm>
            <a:off x="548640" y="1920240"/>
            <a:ext cx="548640" cy="548640"/>
          </a:xfrm>
          <a:prstGeom prst="ellipse">
            <a:avLst/>
          </a:prstGeom>
          <a:solidFill>
            <a:schemeClr val="accent1"/>
          </a:solidFill>
          <a:ln/>
        </p:spPr>
      </p:sp>
      <p:pic>
        <p:nvPicPr>
          <p:cNvPr id="6" name="icono-120" descr="preencoded.png">    </p:cNvPr>
          <p:cNvPicPr>
            <a:picLocks noChangeAspect="1"/>
          </p:cNvPicPr>
          <p:nvPr/>
        </p:nvPicPr>
        <p:blipFill>
          <a:blip r:embed="rId1"/>
          <a:stretch>
            <a:fillRect/>
          </a:stretch>
        </p:blipFill>
        <p:spPr>
          <a:xfrm>
            <a:off x="680314" y="2051914"/>
            <a:ext cx="285293" cy="285293"/>
          </a:xfrm>
          <a:prstGeom prst="rect">
            <a:avLst/>
          </a:prstGeom>
        </p:spPr>
      </p:pic>
      <p:sp>
        <p:nvSpPr>
          <p:cNvPr id="7" name="Text 4"/>
          <p:cNvSpPr txBox="1"/>
          <p:nvPr/>
        </p:nvSpPr>
        <p:spPr>
          <a:xfrm>
            <a:off x="1234440" y="1920240"/>
            <a:ext cx="2834640" cy="548640"/>
          </a:xfrm>
          <a:prstGeom prst="rect">
            <a:avLst/>
          </a:prstGeom>
          <a:noFill/>
          <a:ln/>
        </p:spPr>
        <p:txBody>
          <a:bodyPr wrap="square" lIns="0" tIns="0" rIns="0" bIns="0" rtlCol="0" anchor="ctr"/>
          <a:lstStyle/>
          <a:p>
            <a:pPr indent="0" marL="0">
              <a:buNone/>
            </a:pPr>
            <a:r>
              <a:rPr lang="en-US" sz="1500" dirty="0">
                <a:solidFill>
                  <a:schemeClr val="tx1"/>
                </a:solidFill>
                <a:latin typeface="Calibri" pitchFamily="34" charset="0"/>
                <a:ea typeface="Calibri" pitchFamily="34" charset="-122"/>
                <a:cs typeface="Calibri" pitchFamily="34" charset="-120"/>
              </a:rPr>
              <a:t>Pedidos perdidos recuperados</a:t>
            </a:r>
            <a:endParaRPr lang="en-US" sz="1500" dirty="0"/>
          </a:p>
        </p:txBody>
      </p:sp>
      <p:sp>
        <p:nvSpPr>
          <p:cNvPr id="8" name="Text 5"/>
          <p:cNvSpPr txBox="1"/>
          <p:nvPr/>
        </p:nvSpPr>
        <p:spPr>
          <a:xfrm>
            <a:off x="3931920" y="1920240"/>
            <a:ext cx="1280160" cy="548640"/>
          </a:xfrm>
          <a:prstGeom prst="rect">
            <a:avLst/>
          </a:prstGeom>
          <a:noFill/>
          <a:ln/>
        </p:spPr>
        <p:txBody>
          <a:bodyPr wrap="square" lIns="0" tIns="0" rIns="0" bIns="0" rtlCol="0" anchor="ctr"/>
          <a:lstStyle/>
          <a:p>
            <a:pPr algn="r" indent="0" marL="0">
              <a:buNone/>
            </a:pPr>
            <a:r>
              <a:rPr lang="en-US" sz="1800" b="1" dirty="0">
                <a:solidFill>
                  <a:schemeClr val="accent3"/>
                </a:solidFill>
                <a:latin typeface="Calibri" pitchFamily="34" charset="0"/>
                <a:ea typeface="Calibri" pitchFamily="34" charset="-122"/>
                <a:cs typeface="Calibri" pitchFamily="34" charset="-120"/>
              </a:rPr>
              <a:t>$59.280</a:t>
            </a:r>
            <a:endParaRPr lang="en-US" sz="1800" dirty="0"/>
          </a:p>
        </p:txBody>
      </p:sp>
      <p:sp>
        <p:nvSpPr>
          <p:cNvPr id="9" name="icono-fondo-121"/>
          <p:cNvSpPr/>
          <p:nvPr/>
        </p:nvSpPr>
        <p:spPr>
          <a:xfrm>
            <a:off x="548640" y="2788920"/>
            <a:ext cx="548640" cy="548640"/>
          </a:xfrm>
          <a:prstGeom prst="ellipse">
            <a:avLst/>
          </a:prstGeom>
          <a:solidFill>
            <a:schemeClr val="tx2"/>
          </a:solidFill>
          <a:ln/>
        </p:spPr>
      </p:sp>
      <p:pic>
        <p:nvPicPr>
          <p:cNvPr id="10" name="icono-122" descr="preencoded.png">    </p:cNvPr>
          <p:cNvPicPr>
            <a:picLocks noChangeAspect="1"/>
          </p:cNvPicPr>
          <p:nvPr/>
        </p:nvPicPr>
        <p:blipFill>
          <a:blip r:embed="rId2"/>
          <a:stretch>
            <a:fillRect/>
          </a:stretch>
        </p:blipFill>
        <p:spPr>
          <a:xfrm>
            <a:off x="680314" y="2920594"/>
            <a:ext cx="285293" cy="285293"/>
          </a:xfrm>
          <a:prstGeom prst="rect">
            <a:avLst/>
          </a:prstGeom>
        </p:spPr>
      </p:pic>
      <p:sp>
        <p:nvSpPr>
          <p:cNvPr id="11" name="Text 7"/>
          <p:cNvSpPr txBox="1"/>
          <p:nvPr/>
        </p:nvSpPr>
        <p:spPr>
          <a:xfrm>
            <a:off x="1234440" y="2788920"/>
            <a:ext cx="2834640" cy="548640"/>
          </a:xfrm>
          <a:prstGeom prst="rect">
            <a:avLst/>
          </a:prstGeom>
          <a:noFill/>
          <a:ln/>
        </p:spPr>
        <p:txBody>
          <a:bodyPr wrap="square" lIns="0" tIns="0" rIns="0" bIns="0" rtlCol="0" anchor="ctr"/>
          <a:lstStyle/>
          <a:p>
            <a:pPr indent="0" marL="0">
              <a:buNone/>
            </a:pPr>
            <a:r>
              <a:rPr lang="en-US" sz="1500" dirty="0">
                <a:solidFill>
                  <a:schemeClr val="tx1"/>
                </a:solidFill>
                <a:latin typeface="Calibri" pitchFamily="34" charset="0"/>
                <a:ea typeface="Calibri" pitchFamily="34" charset="-122"/>
                <a:cs typeface="Calibri" pitchFamily="34" charset="-120"/>
              </a:rPr>
              <a:t>Errores evitados</a:t>
            </a:r>
            <a:endParaRPr lang="en-US" sz="1500" dirty="0"/>
          </a:p>
        </p:txBody>
      </p:sp>
      <p:sp>
        <p:nvSpPr>
          <p:cNvPr id="12" name="Text 8"/>
          <p:cNvSpPr txBox="1"/>
          <p:nvPr/>
        </p:nvSpPr>
        <p:spPr>
          <a:xfrm>
            <a:off x="3931920" y="2788920"/>
            <a:ext cx="1280160" cy="548640"/>
          </a:xfrm>
          <a:prstGeom prst="rect">
            <a:avLst/>
          </a:prstGeom>
          <a:noFill/>
          <a:ln/>
        </p:spPr>
        <p:txBody>
          <a:bodyPr wrap="square" lIns="0" tIns="0" rIns="0" bIns="0" rtlCol="0" anchor="ctr"/>
          <a:lstStyle/>
          <a:p>
            <a:pPr algn="r" indent="0" marL="0">
              <a:buNone/>
            </a:pPr>
            <a:r>
              <a:rPr lang="en-US" sz="1800" b="1" dirty="0">
                <a:solidFill>
                  <a:schemeClr val="accent3"/>
                </a:solidFill>
                <a:latin typeface="Calibri" pitchFamily="34" charset="0"/>
                <a:ea typeface="Calibri" pitchFamily="34" charset="-122"/>
                <a:cs typeface="Calibri" pitchFamily="34" charset="-120"/>
              </a:rPr>
              <a:t>$17.290</a:t>
            </a:r>
            <a:endParaRPr lang="en-US" sz="1800" dirty="0"/>
          </a:p>
        </p:txBody>
      </p:sp>
      <p:sp>
        <p:nvSpPr>
          <p:cNvPr id="13" name="icono-fondo-123"/>
          <p:cNvSpPr/>
          <p:nvPr/>
        </p:nvSpPr>
        <p:spPr>
          <a:xfrm>
            <a:off x="548640" y="3657600"/>
            <a:ext cx="548640" cy="548640"/>
          </a:xfrm>
          <a:prstGeom prst="ellipse">
            <a:avLst/>
          </a:prstGeom>
          <a:solidFill>
            <a:schemeClr val="accent2"/>
          </a:solidFill>
          <a:ln/>
        </p:spPr>
      </p:sp>
      <p:pic>
        <p:nvPicPr>
          <p:cNvPr id="14" name="icono-124" descr="preencoded.png">    </p:cNvPr>
          <p:cNvPicPr>
            <a:picLocks noChangeAspect="1"/>
          </p:cNvPicPr>
          <p:nvPr/>
        </p:nvPicPr>
        <p:blipFill>
          <a:blip r:embed="rId3"/>
          <a:stretch>
            <a:fillRect/>
          </a:stretch>
        </p:blipFill>
        <p:spPr>
          <a:xfrm>
            <a:off x="680314" y="3789274"/>
            <a:ext cx="285293" cy="285293"/>
          </a:xfrm>
          <a:prstGeom prst="rect">
            <a:avLst/>
          </a:prstGeom>
        </p:spPr>
      </p:pic>
      <p:sp>
        <p:nvSpPr>
          <p:cNvPr id="15" name="Text 10"/>
          <p:cNvSpPr txBox="1"/>
          <p:nvPr/>
        </p:nvSpPr>
        <p:spPr>
          <a:xfrm>
            <a:off x="1234440" y="3657600"/>
            <a:ext cx="2834640" cy="548640"/>
          </a:xfrm>
          <a:prstGeom prst="rect">
            <a:avLst/>
          </a:prstGeom>
          <a:noFill/>
          <a:ln/>
        </p:spPr>
        <p:txBody>
          <a:bodyPr wrap="square" lIns="0" tIns="0" rIns="0" bIns="0" rtlCol="0" anchor="ctr"/>
          <a:lstStyle/>
          <a:p>
            <a:pPr indent="0" marL="0">
              <a:buNone/>
            </a:pPr>
            <a:r>
              <a:rPr lang="en-US" sz="1500" dirty="0">
                <a:solidFill>
                  <a:schemeClr val="tx1"/>
                </a:solidFill>
                <a:latin typeface="Calibri" pitchFamily="34" charset="0"/>
                <a:ea typeface="Calibri" pitchFamily="34" charset="-122"/>
                <a:cs typeface="Calibri" pitchFamily="34" charset="-120"/>
              </a:rPr>
              <a:t>Tiempo de atención ahorrado</a:t>
            </a:r>
            <a:endParaRPr lang="en-US" sz="1500" dirty="0"/>
          </a:p>
        </p:txBody>
      </p:sp>
      <p:sp>
        <p:nvSpPr>
          <p:cNvPr id="16" name="Text 11"/>
          <p:cNvSpPr txBox="1"/>
          <p:nvPr/>
        </p:nvSpPr>
        <p:spPr>
          <a:xfrm>
            <a:off x="3931920" y="3657600"/>
            <a:ext cx="1280160" cy="548640"/>
          </a:xfrm>
          <a:prstGeom prst="rect">
            <a:avLst/>
          </a:prstGeom>
          <a:noFill/>
          <a:ln/>
        </p:spPr>
        <p:txBody>
          <a:bodyPr wrap="square" lIns="0" tIns="0" rIns="0" bIns="0" rtlCol="0" anchor="ctr"/>
          <a:lstStyle/>
          <a:p>
            <a:pPr algn="r" indent="0" marL="0">
              <a:buNone/>
            </a:pPr>
            <a:r>
              <a:rPr lang="en-US" sz="1800" b="1" dirty="0">
                <a:solidFill>
                  <a:schemeClr val="accent3"/>
                </a:solidFill>
                <a:latin typeface="Calibri" pitchFamily="34" charset="0"/>
                <a:ea typeface="Calibri" pitchFamily="34" charset="-122"/>
                <a:cs typeface="Calibri" pitchFamily="34" charset="-120"/>
              </a:rPr>
              <a:t>$14.127</a:t>
            </a:r>
            <a:endParaRPr lang="en-US" sz="1800" dirty="0"/>
          </a:p>
        </p:txBody>
      </p:sp>
      <p:sp>
        <p:nvSpPr>
          <p:cNvPr id="17" name="card-125"/>
          <p:cNvSpPr/>
          <p:nvPr/>
        </p:nvSpPr>
        <p:spPr>
          <a:xfrm>
            <a:off x="548640" y="4572000"/>
            <a:ext cx="4663440" cy="1600200"/>
          </a:xfrm>
          <a:prstGeom prst="roundRect">
            <a:avLst>
              <a:gd name="adj" fmla="val 6857"/>
            </a:avLst>
          </a:prstGeom>
          <a:solidFill>
            <a:schemeClr val="bg2"/>
          </a:solidFill>
          <a:ln/>
        </p:spPr>
      </p:sp>
      <p:sp>
        <p:nvSpPr>
          <p:cNvPr id="18" name="Text 13"/>
          <p:cNvSpPr txBox="1"/>
          <p:nvPr/>
        </p:nvSpPr>
        <p:spPr>
          <a:xfrm>
            <a:off x="777240" y="4572000"/>
            <a:ext cx="4297680" cy="1600200"/>
          </a:xfrm>
          <a:prstGeom prst="rect">
            <a:avLst/>
          </a:prstGeom>
          <a:noFill/>
          <a:ln/>
        </p:spPr>
        <p:txBody>
          <a:bodyPr wrap="square" lIns="0" tIns="0" rIns="0" bIns="0" rtlCol="0" anchor="ctr"/>
          <a:lstStyle/>
          <a:p>
            <a:pPr indent="0" marL="0">
              <a:buNone/>
            </a:pPr>
            <a:r>
              <a:rPr lang="en-US" sz="2000" b="1" dirty="0">
                <a:solidFill>
                  <a:schemeClr val="accent3"/>
                </a:solidFill>
                <a:latin typeface="Calibri" pitchFamily="34" charset="0"/>
                <a:ea typeface="Calibri" pitchFamily="34" charset="-122"/>
                <a:cs typeface="Calibri" pitchFamily="34" charset="-120"/>
              </a:rPr>
              <a:t>$90.697 por mes</a:t>
            </a:r>
            <a:endParaRPr lang="en-US" sz="1400" dirty="0"/>
          </a:p>
          <a:p>
            <a:pPr indent="0" marL="0">
              <a:buNone/>
            </a:pPr>
            <a:r>
              <a:rPr lang="en-US" sz="1300" dirty="0">
                <a:solidFill>
                  <a:schemeClr val="tx1"/>
                </a:solidFill>
                <a:latin typeface="Calibri" pitchFamily="34" charset="0"/>
                <a:ea typeface="Calibri" pitchFamily="34" charset="-122"/>
                <a:cs typeface="Calibri" pitchFamily="34" charset="-120"/>
              </a:rPr>
              <a:t>Tasa: plazo fijo BNA (TNA 17,5 %). Adopción gradual: 50 %, 75 % y 100 %.</a:t>
            </a:r>
            <a:endParaRPr lang="en-US" sz="14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577840" y="1463040"/>
          <a:ext cx="6035040" cy="914400"/>
        </p:xfrm>
        <a:graphic>
          <a:graphicData uri="http://schemas.openxmlformats.org/drawingml/2006/table">
            <a:tbl>
              <a:tblPr/>
              <a:tblGrid>
                <a:gridCol w="1554480"/>
                <a:gridCol w="1463040"/>
                <a:gridCol w="1508760"/>
                <a:gridCol w="1508760"/>
              </a:tblGrid>
              <a:tr h="548640">
                <a:tc>
                  <a:txBody>
                    <a:bodyPr/>
                    <a:lstStyle/>
                    <a:p>
                      <a:pPr algn="ctr" indent="0" marL="0">
                        <a:buNone/>
                      </a:pPr>
                      <a:r>
                        <a:rPr lang="en-US" sz="1600" b="1" dirty="0">
                          <a:solidFill>
                            <a:schemeClr val="bg1"/>
                          </a:solidFill>
                          <a:latin typeface="Calibri" pitchFamily="34" charset="0"/>
                          <a:ea typeface="Calibri" pitchFamily="34" charset="-122"/>
                          <a:cs typeface="Calibri" pitchFamily="34" charset="-120"/>
                        </a:rPr>
                        <a:t>Indicador</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2B2420"/>
                    </a:solidFill>
                  </a:tcPr>
                </a:tc>
                <a:tc>
                  <a:txBody>
                    <a:bodyPr/>
                    <a:lstStyle/>
                    <a:p>
                      <a:pPr algn="ctr" indent="0" marL="0">
                        <a:buNone/>
                      </a:pPr>
                      <a:r>
                        <a:rPr lang="en-US" sz="1600" b="1" dirty="0">
                          <a:solidFill>
                            <a:schemeClr val="bg1"/>
                          </a:solidFill>
                          <a:latin typeface="Calibri" pitchFamily="34" charset="0"/>
                          <a:ea typeface="Calibri" pitchFamily="34" charset="-122"/>
                          <a:cs typeface="Calibri" pitchFamily="34" charset="-120"/>
                        </a:rPr>
                        <a:t>Pesimista</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2B2420"/>
                    </a:solidFill>
                  </a:tcPr>
                </a:tc>
                <a:tc>
                  <a:txBody>
                    <a:bodyPr/>
                    <a:lstStyle/>
                    <a:p>
                      <a:pPr algn="ctr" indent="0" marL="0">
                        <a:buNone/>
                      </a:pPr>
                      <a:r>
                        <a:rPr lang="en-US" sz="1600" b="1" dirty="0">
                          <a:solidFill>
                            <a:schemeClr val="bg1"/>
                          </a:solidFill>
                          <a:latin typeface="Calibri" pitchFamily="34" charset="0"/>
                          <a:ea typeface="Calibri" pitchFamily="34" charset="-122"/>
                          <a:cs typeface="Calibri" pitchFamily="34" charset="-120"/>
                        </a:rPr>
                        <a:t>Base</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E83030"/>
                    </a:solidFill>
                  </a:tcPr>
                </a:tc>
                <a:tc>
                  <a:txBody>
                    <a:bodyPr/>
                    <a:lstStyle/>
                    <a:p>
                      <a:pPr algn="ctr" indent="0" marL="0">
                        <a:buNone/>
                      </a:pPr>
                      <a:r>
                        <a:rPr lang="en-US" sz="1600" b="1" dirty="0">
                          <a:solidFill>
                            <a:schemeClr val="bg1"/>
                          </a:solidFill>
                          <a:latin typeface="Calibri" pitchFamily="34" charset="0"/>
                          <a:ea typeface="Calibri" pitchFamily="34" charset="-122"/>
                          <a:cs typeface="Calibri" pitchFamily="34" charset="-120"/>
                        </a:rPr>
                        <a:t>Optimista</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2B2420"/>
                    </a:solidFill>
                  </a:tcPr>
                </a:tc>
              </a:tr>
              <a:tr h="548640">
                <a:tc>
                  <a:txBody>
                    <a:bodyPr/>
                    <a:lstStyle/>
                    <a:p>
                      <a:pPr indent="0" marL="0">
                        <a:buNone/>
                      </a:pPr>
                      <a:r>
                        <a:rPr lang="en-US" sz="1600" b="1" dirty="0">
                          <a:solidFill>
                            <a:srgbClr val="2B2420"/>
                          </a:solidFill>
                          <a:latin typeface="Calibri" pitchFamily="34" charset="0"/>
                          <a:ea typeface="Calibri" pitchFamily="34" charset="-122"/>
                          <a:cs typeface="Calibri" pitchFamily="34" charset="-120"/>
                        </a:rPr>
                        <a:t>Inversión</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algn="r" indent="0" marL="0">
                        <a:buNone/>
                      </a:pPr>
                      <a:r>
                        <a:rPr lang="en-US" sz="1600" dirty="0">
                          <a:solidFill>
                            <a:srgbClr val="2B2420"/>
                          </a:solidFill>
                          <a:latin typeface="Calibri" pitchFamily="34" charset="0"/>
                          <a:ea typeface="Calibri" pitchFamily="34" charset="-122"/>
                          <a:cs typeface="Calibri" pitchFamily="34" charset="-120"/>
                        </a:rPr>
                        <a:t>$396.090</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algn="r" indent="0" marL="0">
                        <a:buNone/>
                      </a:pPr>
                      <a:r>
                        <a:rPr lang="en-US" sz="1600" b="1" dirty="0">
                          <a:solidFill>
                            <a:srgbClr val="2B2420"/>
                          </a:solidFill>
                          <a:latin typeface="Calibri" pitchFamily="34" charset="0"/>
                          <a:ea typeface="Calibri" pitchFamily="34" charset="-122"/>
                          <a:cs typeface="Calibri" pitchFamily="34" charset="-120"/>
                        </a:rPr>
                        <a:t>$234.720</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F7EBDB"/>
                    </a:solidFill>
                  </a:tcPr>
                </a:tc>
                <a:tc>
                  <a:txBody>
                    <a:bodyPr/>
                    <a:lstStyle/>
                    <a:p>
                      <a:pPr algn="r" indent="0" marL="0">
                        <a:buNone/>
                      </a:pPr>
                      <a:r>
                        <a:rPr lang="en-US" sz="1600" dirty="0">
                          <a:solidFill>
                            <a:srgbClr val="2B2420"/>
                          </a:solidFill>
                          <a:latin typeface="Calibri" pitchFamily="34" charset="0"/>
                          <a:ea typeface="Calibri" pitchFamily="34" charset="-122"/>
                          <a:cs typeface="Calibri" pitchFamily="34" charset="-120"/>
                        </a:rPr>
                        <a:t>$150.612</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r>
              <a:tr h="548640">
                <a:tc>
                  <a:txBody>
                    <a:bodyPr/>
                    <a:lstStyle/>
                    <a:p>
                      <a:pPr indent="0" marL="0">
                        <a:buNone/>
                      </a:pPr>
                      <a:r>
                        <a:rPr lang="en-US" sz="1600" b="1" dirty="0">
                          <a:solidFill>
                            <a:srgbClr val="2B2420"/>
                          </a:solidFill>
                          <a:latin typeface="Calibri" pitchFamily="34" charset="0"/>
                          <a:ea typeface="Calibri" pitchFamily="34" charset="-122"/>
                          <a:cs typeface="Calibri" pitchFamily="34" charset="-120"/>
                        </a:rPr>
                        <a:t>VAN</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algn="r" indent="0" marL="0">
                        <a:buNone/>
                      </a:pPr>
                      <a:r>
                        <a:rPr lang="en-US" sz="1600" dirty="0">
                          <a:solidFill>
                            <a:srgbClr val="2B2420"/>
                          </a:solidFill>
                          <a:latin typeface="Calibri" pitchFamily="34" charset="0"/>
                          <a:ea typeface="Calibri" pitchFamily="34" charset="-122"/>
                          <a:cs typeface="Calibri" pitchFamily="34" charset="-120"/>
                        </a:rPr>
                        <a:t>−$335.891</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algn="r" indent="0" marL="0">
                        <a:buNone/>
                      </a:pPr>
                      <a:r>
                        <a:rPr lang="en-US" sz="1600" b="1" dirty="0">
                          <a:solidFill>
                            <a:srgbClr val="2B2420"/>
                          </a:solidFill>
                          <a:latin typeface="Calibri" pitchFamily="34" charset="0"/>
                          <a:ea typeface="Calibri" pitchFamily="34" charset="-122"/>
                          <a:cs typeface="Calibri" pitchFamily="34" charset="-120"/>
                        </a:rPr>
                        <a:t>$583.451</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F7EBDB"/>
                    </a:solidFill>
                  </a:tcPr>
                </a:tc>
                <a:tc>
                  <a:txBody>
                    <a:bodyPr/>
                    <a:lstStyle/>
                    <a:p>
                      <a:pPr algn="r" indent="0" marL="0">
                        <a:buNone/>
                      </a:pPr>
                      <a:r>
                        <a:rPr lang="en-US" sz="1600" dirty="0">
                          <a:solidFill>
                            <a:srgbClr val="2B2420"/>
                          </a:solidFill>
                          <a:latin typeface="Calibri" pitchFamily="34" charset="0"/>
                          <a:ea typeface="Calibri" pitchFamily="34" charset="-122"/>
                          <a:cs typeface="Calibri" pitchFamily="34" charset="-120"/>
                        </a:rPr>
                        <a:t>$2.038.551</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r>
              <a:tr h="548640">
                <a:tc>
                  <a:txBody>
                    <a:bodyPr/>
                    <a:lstStyle/>
                    <a:p>
                      <a:pPr indent="0" marL="0">
                        <a:buNone/>
                      </a:pPr>
                      <a:r>
                        <a:rPr lang="en-US" sz="1600" b="1" dirty="0">
                          <a:solidFill>
                            <a:srgbClr val="2B2420"/>
                          </a:solidFill>
                          <a:latin typeface="Calibri" pitchFamily="34" charset="0"/>
                          <a:ea typeface="Calibri" pitchFamily="34" charset="-122"/>
                          <a:cs typeface="Calibri" pitchFamily="34" charset="-120"/>
                        </a:rPr>
                        <a:t>TIR mensual</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algn="r" indent="0" marL="0">
                        <a:buNone/>
                      </a:pPr>
                      <a:r>
                        <a:rPr lang="en-US" sz="1600" dirty="0">
                          <a:solidFill>
                            <a:srgbClr val="2B2420"/>
                          </a:solidFill>
                          <a:latin typeface="Calibri" pitchFamily="34" charset="0"/>
                          <a:ea typeface="Calibri" pitchFamily="34" charset="-122"/>
                          <a:cs typeface="Calibri" pitchFamily="34" charset="-120"/>
                        </a:rPr>
                        <a:t>−18,4 %</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algn="r" indent="0" marL="0">
                        <a:buNone/>
                      </a:pPr>
                      <a:r>
                        <a:rPr lang="en-US" sz="1600" b="1" dirty="0">
                          <a:solidFill>
                            <a:srgbClr val="2B2420"/>
                          </a:solidFill>
                          <a:latin typeface="Calibri" pitchFamily="34" charset="0"/>
                          <a:ea typeface="Calibri" pitchFamily="34" charset="-122"/>
                          <a:cs typeface="Calibri" pitchFamily="34" charset="-120"/>
                        </a:rPr>
                        <a:t>26,8 %</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F7EBDB"/>
                    </a:solidFill>
                  </a:tcPr>
                </a:tc>
                <a:tc>
                  <a:txBody>
                    <a:bodyPr/>
                    <a:lstStyle/>
                    <a:p>
                      <a:pPr algn="r" indent="0" marL="0">
                        <a:buNone/>
                      </a:pPr>
                      <a:r>
                        <a:rPr lang="en-US" sz="1600" dirty="0">
                          <a:solidFill>
                            <a:srgbClr val="2B2420"/>
                          </a:solidFill>
                          <a:latin typeface="Calibri" pitchFamily="34" charset="0"/>
                          <a:ea typeface="Calibri" pitchFamily="34" charset="-122"/>
                          <a:cs typeface="Calibri" pitchFamily="34" charset="-120"/>
                        </a:rPr>
                        <a:t>97,5 %</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r>
              <a:tr h="548640">
                <a:tc>
                  <a:txBody>
                    <a:bodyPr/>
                    <a:lstStyle/>
                    <a:p>
                      <a:pPr indent="0" marL="0">
                        <a:buNone/>
                      </a:pPr>
                      <a:r>
                        <a:rPr lang="en-US" sz="1600" b="1" dirty="0">
                          <a:solidFill>
                            <a:srgbClr val="2B2420"/>
                          </a:solidFill>
                          <a:latin typeface="Calibri" pitchFamily="34" charset="0"/>
                          <a:ea typeface="Calibri" pitchFamily="34" charset="-122"/>
                          <a:cs typeface="Calibri" pitchFamily="34" charset="-120"/>
                        </a:rPr>
                        <a:t>ROI</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algn="r" indent="0" marL="0">
                        <a:buNone/>
                      </a:pPr>
                      <a:r>
                        <a:rPr lang="en-US" sz="1600" dirty="0">
                          <a:solidFill>
                            <a:srgbClr val="2B2420"/>
                          </a:solidFill>
                          <a:latin typeface="Calibri" pitchFamily="34" charset="0"/>
                          <a:ea typeface="Calibri" pitchFamily="34" charset="-122"/>
                          <a:cs typeface="Calibri" pitchFamily="34" charset="-120"/>
                        </a:rPr>
                        <a:t>−50 %</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algn="r" indent="0" marL="0">
                        <a:buNone/>
                      </a:pPr>
                      <a:r>
                        <a:rPr lang="en-US" sz="1600" b="1" dirty="0">
                          <a:solidFill>
                            <a:srgbClr val="2B2420"/>
                          </a:solidFill>
                          <a:latin typeface="Calibri" pitchFamily="34" charset="0"/>
                          <a:ea typeface="Calibri" pitchFamily="34" charset="-122"/>
                          <a:cs typeface="Calibri" pitchFamily="34" charset="-120"/>
                        </a:rPr>
                        <a:t>190 %</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F7EBDB"/>
                    </a:solidFill>
                  </a:tcPr>
                </a:tc>
                <a:tc>
                  <a:txBody>
                    <a:bodyPr/>
                    <a:lstStyle/>
                    <a:p>
                      <a:pPr algn="r" indent="0" marL="0">
                        <a:buNone/>
                      </a:pPr>
                      <a:r>
                        <a:rPr lang="en-US" sz="1600" dirty="0">
                          <a:solidFill>
                            <a:srgbClr val="2B2420"/>
                          </a:solidFill>
                          <a:latin typeface="Calibri" pitchFamily="34" charset="0"/>
                          <a:ea typeface="Calibri" pitchFamily="34" charset="-122"/>
                          <a:cs typeface="Calibri" pitchFamily="34" charset="-120"/>
                        </a:rPr>
                        <a:t>1.067 %</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r>
              <a:tr h="548640">
                <a:tc>
                  <a:txBody>
                    <a:bodyPr/>
                    <a:lstStyle/>
                    <a:p>
                      <a:pPr indent="0" marL="0">
                        <a:buNone/>
                      </a:pPr>
                      <a:r>
                        <a:rPr lang="en-US" sz="1600" b="1" dirty="0">
                          <a:solidFill>
                            <a:srgbClr val="2B2420"/>
                          </a:solidFill>
                          <a:latin typeface="Calibri" pitchFamily="34" charset="0"/>
                          <a:ea typeface="Calibri" pitchFamily="34" charset="-122"/>
                          <a:cs typeface="Calibri" pitchFamily="34" charset="-120"/>
                        </a:rPr>
                        <a:t>B/C</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algn="r" indent="0" marL="0">
                        <a:buNone/>
                      </a:pPr>
                      <a:r>
                        <a:rPr lang="en-US" sz="1600" dirty="0">
                          <a:solidFill>
                            <a:srgbClr val="2B2420"/>
                          </a:solidFill>
                          <a:latin typeface="Calibri" pitchFamily="34" charset="0"/>
                          <a:ea typeface="Calibri" pitchFamily="34" charset="-122"/>
                          <a:cs typeface="Calibri" pitchFamily="34" charset="-120"/>
                        </a:rPr>
                        <a:t>0,47</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algn="r" indent="0" marL="0">
                        <a:buNone/>
                      </a:pPr>
                      <a:r>
                        <a:rPr lang="en-US" sz="1600" b="1" dirty="0">
                          <a:solidFill>
                            <a:srgbClr val="2B2420"/>
                          </a:solidFill>
                          <a:latin typeface="Calibri" pitchFamily="34" charset="0"/>
                          <a:ea typeface="Calibri" pitchFamily="34" charset="-122"/>
                          <a:cs typeface="Calibri" pitchFamily="34" charset="-120"/>
                        </a:rPr>
                        <a:t>2,71</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F7EBDB"/>
                    </a:solidFill>
                  </a:tcPr>
                </a:tc>
                <a:tc>
                  <a:txBody>
                    <a:bodyPr/>
                    <a:lstStyle/>
                    <a:p>
                      <a:pPr algn="r" indent="0" marL="0">
                        <a:buNone/>
                      </a:pPr>
                      <a:r>
                        <a:rPr lang="en-US" sz="1600" dirty="0">
                          <a:solidFill>
                            <a:srgbClr val="2B2420"/>
                          </a:solidFill>
                          <a:latin typeface="Calibri" pitchFamily="34" charset="0"/>
                          <a:ea typeface="Calibri" pitchFamily="34" charset="-122"/>
                          <a:cs typeface="Calibri" pitchFamily="34" charset="-120"/>
                        </a:rPr>
                        <a:t>10,86</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r>
              <a:tr h="548640">
                <a:tc>
                  <a:txBody>
                    <a:bodyPr/>
                    <a:lstStyle/>
                    <a:p>
                      <a:pPr indent="0" marL="0">
                        <a:buNone/>
                      </a:pPr>
                      <a:r>
                        <a:rPr lang="en-US" sz="1600" b="1" dirty="0">
                          <a:solidFill>
                            <a:srgbClr val="2B2420"/>
                          </a:solidFill>
                          <a:latin typeface="Calibri" pitchFamily="34" charset="0"/>
                          <a:ea typeface="Calibri" pitchFamily="34" charset="-122"/>
                          <a:cs typeface="Calibri" pitchFamily="34" charset="-120"/>
                        </a:rPr>
                        <a:t>Recupero</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algn="r" indent="0" marL="0">
                        <a:buNone/>
                      </a:pPr>
                      <a:r>
                        <a:rPr lang="en-US" sz="1600" dirty="0">
                          <a:solidFill>
                            <a:srgbClr val="2B2420"/>
                          </a:solidFill>
                          <a:latin typeface="Calibri" pitchFamily="34" charset="0"/>
                          <a:ea typeface="Calibri" pitchFamily="34" charset="-122"/>
                          <a:cs typeface="Calibri" pitchFamily="34" charset="-120"/>
                        </a:rPr>
                        <a:t>no recupera</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algn="r" indent="0" marL="0">
                        <a:buNone/>
                      </a:pPr>
                      <a:r>
                        <a:rPr lang="en-US" sz="1600" b="1" dirty="0">
                          <a:solidFill>
                            <a:srgbClr val="2B2420"/>
                          </a:solidFill>
                          <a:latin typeface="Calibri" pitchFamily="34" charset="0"/>
                          <a:ea typeface="Calibri" pitchFamily="34" charset="-122"/>
                          <a:cs typeface="Calibri" pitchFamily="34" charset="-120"/>
                        </a:rPr>
                        <a:t>3,9 meses</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F7EBDB"/>
                    </a:solidFill>
                  </a:tcPr>
                </a:tc>
                <a:tc>
                  <a:txBody>
                    <a:bodyPr/>
                    <a:lstStyle/>
                    <a:p>
                      <a:pPr algn="r" indent="0" marL="0">
                        <a:buNone/>
                      </a:pPr>
                      <a:r>
                        <a:rPr lang="en-US" sz="1600" dirty="0">
                          <a:solidFill>
                            <a:srgbClr val="2B2420"/>
                          </a:solidFill>
                          <a:latin typeface="Calibri" pitchFamily="34" charset="0"/>
                          <a:ea typeface="Calibri" pitchFamily="34" charset="-122"/>
                          <a:cs typeface="Calibri" pitchFamily="34" charset="-120"/>
                        </a:rPr>
                        <a:t>1,3 meses</a:t>
                      </a:r>
                      <a:endParaRPr lang="en-US" sz="16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r>
            </a:tbl>
          </a:graphicData>
        </a:graphic>
      </p:graphicFrame>
      <p:sp>
        <p:nvSpPr>
          <p:cNvPr id="20" name="Text 14"/>
          <p:cNvSpPr txBox="1"/>
          <p:nvPr/>
        </p:nvSpPr>
        <p:spPr>
          <a:xfrm>
            <a:off x="5577840" y="5486400"/>
            <a:ext cx="6035040" cy="640080"/>
          </a:xfrm>
          <a:prstGeom prst="rect">
            <a:avLst/>
          </a:prstGeom>
          <a:noFill/>
          <a:ln/>
        </p:spPr>
        <p:txBody>
          <a:bodyPr wrap="square" lIns="0" tIns="0" rIns="0" bIns="0" rtlCol="0" anchor="t"/>
          <a:lstStyle/>
          <a:p>
            <a:pPr indent="0" marL="0">
              <a:buNone/>
            </a:pPr>
            <a:r>
              <a:rPr lang="en-US" sz="1300" dirty="0">
                <a:solidFill>
                  <a:schemeClr val="accent4"/>
                </a:solidFill>
                <a:latin typeface="Calibri" pitchFamily="34" charset="0"/>
                <a:ea typeface="Calibri" pitchFamily="34" charset="-122"/>
                <a:cs typeface="Calibri" pitchFamily="34" charset="-120"/>
              </a:rPr>
              <a:t>Pesimista: todas las variables empeoran a la vez. ¿Qué tan probable es? → Monte Carlo.</a:t>
            </a:r>
            <a:endParaRPr lang="en-US" sz="13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10896"/>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III. TRABAJO PRINCIPAL · EVALUACIÓN ECONÓMICO-FINANCIERA</a:t>
            </a:r>
            <a:endParaRPr lang="en-US" sz="1200" dirty="0"/>
          </a:p>
        </p:txBody>
      </p:sp>
      <p:sp>
        <p:nvSpPr>
          <p:cNvPr id="3" name="Text 0"/>
          <p:cNvSpPr/>
          <p:nvPr>
            <p:ph idx="101" type="title" hasCustomPrompt="1"/>
          </p:nvPr>
        </p:nvSpPr>
        <p:spPr>
          <a:xfrm>
            <a:off x="548640" y="603504"/>
            <a:ext cx="11064240" cy="658368"/>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Monte Carlo: 97,8 % de probabilidad de VAN positivo</a:t>
            </a:r>
            <a:endParaRPr lang="en-US" sz="3200" dirty="0"/>
          </a:p>
        </p:txBody>
      </p:sp>
      <p:pic>
        <p:nvPicPr>
          <p:cNvPr id="4" name="grafico-montecarlo" descr="/tmp/claude-0/-home-claude/c096e975-9e6a-561f-aa0a-08cce324a4b6/scratchpad/repo/docs/analisis/economia/montecarlo_van.png">    </p:cNvPr>
          <p:cNvPicPr>
            <a:picLocks noChangeAspect="1"/>
          </p:cNvPicPr>
          <p:nvPr/>
        </p:nvPicPr>
        <p:blipFill>
          <a:blip r:embed="rId1"/>
          <a:stretch>
            <a:fillRect/>
          </a:stretch>
        </p:blipFill>
        <p:spPr>
          <a:xfrm>
            <a:off x="548640" y="1463040"/>
            <a:ext cx="7315200" cy="3803904"/>
          </a:xfrm>
          <a:prstGeom prst="rect">
            <a:avLst/>
          </a:prstGeom>
        </p:spPr>
      </p:pic>
      <p:sp>
        <p:nvSpPr>
          <p:cNvPr id="5" name="Text 2"/>
          <p:cNvSpPr txBox="1"/>
          <p:nvPr/>
        </p:nvSpPr>
        <p:spPr>
          <a:xfrm>
            <a:off x="548640" y="5349240"/>
            <a:ext cx="7315200" cy="320040"/>
          </a:xfrm>
          <a:prstGeom prst="rect">
            <a:avLst/>
          </a:prstGeom>
          <a:noFill/>
          <a:ln/>
        </p:spPr>
        <p:txBody>
          <a:bodyPr wrap="square" lIns="0" tIns="0" rIns="0" bIns="0" rtlCol="0" anchor="t"/>
          <a:lstStyle/>
          <a:p>
            <a:pPr indent="0" marL="0">
              <a:buNone/>
            </a:pPr>
            <a:r>
              <a:rPr lang="en-US" sz="1300" dirty="0">
                <a:solidFill>
                  <a:schemeClr val="accent4"/>
                </a:solidFill>
                <a:latin typeface="Calibri" pitchFamily="34" charset="0"/>
                <a:ea typeface="Calibri" pitchFamily="34" charset="-122"/>
                <a:cs typeface="Calibri" pitchFamily="34" charset="-120"/>
              </a:rPr>
              <a:t>10.000 iteraciones · 17 variables con distribución triangular</a:t>
            </a:r>
            <a:endParaRPr lang="en-US" sz="1300" dirty="0"/>
          </a:p>
        </p:txBody>
      </p:sp>
      <p:sp>
        <p:nvSpPr>
          <p:cNvPr id="6" name="card-126"/>
          <p:cNvSpPr/>
          <p:nvPr/>
        </p:nvSpPr>
        <p:spPr>
          <a:xfrm>
            <a:off x="8183880" y="1463040"/>
            <a:ext cx="3429000" cy="1051560"/>
          </a:xfrm>
          <a:prstGeom prst="roundRect">
            <a:avLst>
              <a:gd name="adj" fmla="val 10435"/>
            </a:avLst>
          </a:prstGeom>
          <a:solidFill>
            <a:schemeClr val="tx1"/>
          </a:solidFill>
          <a:ln/>
        </p:spPr>
      </p:sp>
      <p:sp>
        <p:nvSpPr>
          <p:cNvPr id="7" name="Text 4"/>
          <p:cNvSpPr txBox="1"/>
          <p:nvPr/>
        </p:nvSpPr>
        <p:spPr>
          <a:xfrm>
            <a:off x="8412480" y="1490472"/>
            <a:ext cx="3017520" cy="566928"/>
          </a:xfrm>
          <a:prstGeom prst="rect">
            <a:avLst/>
          </a:prstGeom>
          <a:noFill/>
          <a:ln/>
        </p:spPr>
        <p:txBody>
          <a:bodyPr wrap="square" lIns="0" tIns="0" rIns="0" bIns="0" rtlCol="0" anchor="t"/>
          <a:lstStyle/>
          <a:p>
            <a:pPr indent="0" marL="0">
              <a:buNone/>
            </a:pPr>
            <a:r>
              <a:rPr lang="en-US" sz="2800" b="1" dirty="0">
                <a:solidFill>
                  <a:schemeClr val="bg1"/>
                </a:solidFill>
                <a:latin typeface="Cambria" pitchFamily="34" charset="0"/>
                <a:ea typeface="Cambria" pitchFamily="34" charset="-122"/>
                <a:cs typeface="Cambria" pitchFamily="34" charset="-120"/>
              </a:rPr>
              <a:t>97,8 %</a:t>
            </a:r>
            <a:endParaRPr lang="en-US" sz="2800" dirty="0"/>
          </a:p>
        </p:txBody>
      </p:sp>
      <p:sp>
        <p:nvSpPr>
          <p:cNvPr id="8" name="Text 5"/>
          <p:cNvSpPr txBox="1"/>
          <p:nvPr/>
        </p:nvSpPr>
        <p:spPr>
          <a:xfrm>
            <a:off x="8412480" y="2057400"/>
            <a:ext cx="3017520" cy="365760"/>
          </a:xfrm>
          <a:prstGeom prst="rect">
            <a:avLst/>
          </a:prstGeom>
          <a:noFill/>
          <a:ln/>
        </p:spPr>
        <p:txBody>
          <a:bodyPr wrap="square" lIns="0" tIns="0" rIns="0" bIns="0" rtlCol="0" anchor="t"/>
          <a:lstStyle/>
          <a:p>
            <a:pPr indent="0" marL="0">
              <a:buNone/>
            </a:pPr>
            <a:r>
              <a:rPr lang="en-US" sz="1400" dirty="0">
                <a:solidFill>
                  <a:schemeClr val="bg2"/>
                </a:solidFill>
                <a:latin typeface="Calibri" pitchFamily="34" charset="0"/>
                <a:ea typeface="Calibri" pitchFamily="34" charset="-122"/>
                <a:cs typeface="Calibri" pitchFamily="34" charset="-120"/>
              </a:rPr>
              <a:t>de los casos con VAN &gt; 0</a:t>
            </a:r>
            <a:endParaRPr lang="en-US" sz="1400" dirty="0"/>
          </a:p>
        </p:txBody>
      </p:sp>
      <p:sp>
        <p:nvSpPr>
          <p:cNvPr id="9" name="card-127"/>
          <p:cNvSpPr/>
          <p:nvPr/>
        </p:nvSpPr>
        <p:spPr>
          <a:xfrm>
            <a:off x="8183880" y="2651760"/>
            <a:ext cx="3429000" cy="1051560"/>
          </a:xfrm>
          <a:prstGeom prst="roundRect">
            <a:avLst>
              <a:gd name="adj" fmla="val 10435"/>
            </a:avLst>
          </a:prstGeom>
          <a:solidFill>
            <a:schemeClr val="accent6"/>
          </a:solidFill>
          <a:ln/>
        </p:spPr>
      </p:sp>
      <p:sp>
        <p:nvSpPr>
          <p:cNvPr id="10" name="Text 7"/>
          <p:cNvSpPr txBox="1"/>
          <p:nvPr/>
        </p:nvSpPr>
        <p:spPr>
          <a:xfrm>
            <a:off x="8412480" y="2679192"/>
            <a:ext cx="3017520" cy="566928"/>
          </a:xfrm>
          <a:prstGeom prst="rect">
            <a:avLst/>
          </a:prstGeom>
          <a:noFill/>
          <a:ln/>
        </p:spPr>
        <p:txBody>
          <a:bodyPr wrap="square" lIns="0" tIns="0" rIns="0" bIns="0" rtlCol="0" anchor="t"/>
          <a:lstStyle/>
          <a:p>
            <a:pPr indent="0" marL="0">
              <a:buNone/>
            </a:pPr>
            <a:r>
              <a:rPr lang="en-US" sz="2800" b="1" dirty="0">
                <a:solidFill>
                  <a:schemeClr val="accent1"/>
                </a:solidFill>
                <a:latin typeface="Cambria" pitchFamily="34" charset="0"/>
                <a:ea typeface="Cambria" pitchFamily="34" charset="-122"/>
                <a:cs typeface="Cambria" pitchFamily="34" charset="-120"/>
              </a:rPr>
              <a:t>4,3 meses</a:t>
            </a:r>
            <a:endParaRPr lang="en-US" sz="2800" dirty="0"/>
          </a:p>
        </p:txBody>
      </p:sp>
      <p:sp>
        <p:nvSpPr>
          <p:cNvPr id="11" name="Text 8"/>
          <p:cNvSpPr txBox="1"/>
          <p:nvPr/>
        </p:nvSpPr>
        <p:spPr>
          <a:xfrm>
            <a:off x="8412480" y="3246120"/>
            <a:ext cx="3017520" cy="365760"/>
          </a:xfrm>
          <a:prstGeom prst="rect">
            <a:avLst/>
          </a:prstGeom>
          <a:noFill/>
          <a:ln/>
        </p:spPr>
        <p:txBody>
          <a:bodyPr wrap="square" lIns="0" tIns="0" rIns="0" bIns="0" rtlCol="0" anchor="t"/>
          <a:lstStyle/>
          <a:p>
            <a:pPr indent="0" marL="0">
              <a:buNone/>
            </a:pPr>
            <a:r>
              <a:rPr lang="en-US" sz="1400" dirty="0">
                <a:solidFill>
                  <a:schemeClr val="accent4"/>
                </a:solidFill>
                <a:latin typeface="Calibri" pitchFamily="34" charset="0"/>
                <a:ea typeface="Calibri" pitchFamily="34" charset="-122"/>
                <a:cs typeface="Calibri" pitchFamily="34" charset="-120"/>
              </a:rPr>
              <a:t>recupero mediano</a:t>
            </a:r>
            <a:endParaRPr lang="en-US" sz="1400" dirty="0"/>
          </a:p>
        </p:txBody>
      </p:sp>
      <p:sp>
        <p:nvSpPr>
          <p:cNvPr id="12" name="card-128"/>
          <p:cNvSpPr/>
          <p:nvPr/>
        </p:nvSpPr>
        <p:spPr>
          <a:xfrm>
            <a:off x="8183880" y="3886200"/>
            <a:ext cx="3429000" cy="2286000"/>
          </a:xfrm>
          <a:prstGeom prst="roundRect">
            <a:avLst>
              <a:gd name="adj" fmla="val 4800"/>
            </a:avLst>
          </a:prstGeom>
          <a:solidFill>
            <a:schemeClr val="bg2"/>
          </a:solidFill>
          <a:ln/>
        </p:spPr>
      </p:sp>
      <p:sp>
        <p:nvSpPr>
          <p:cNvPr id="13" name="Text 10"/>
          <p:cNvSpPr txBox="1"/>
          <p:nvPr/>
        </p:nvSpPr>
        <p:spPr>
          <a:xfrm>
            <a:off x="8412480" y="4023360"/>
            <a:ext cx="3017520" cy="2011680"/>
          </a:xfrm>
          <a:prstGeom prst="rect">
            <a:avLst/>
          </a:prstGeom>
          <a:noFill/>
          <a:ln/>
        </p:spPr>
        <p:txBody>
          <a:bodyPr wrap="square" lIns="0" tIns="0" rIns="0" bIns="0" rtlCol="0" anchor="t"/>
          <a:lstStyle/>
          <a:p>
            <a:pPr indent="0" marL="0">
              <a:buNone/>
            </a:pPr>
            <a:r>
              <a:rPr lang="en-US" sz="1600" b="1" dirty="0">
                <a:solidFill>
                  <a:schemeClr val="accent3"/>
                </a:solidFill>
                <a:latin typeface="Calibri" pitchFamily="34" charset="0"/>
                <a:ea typeface="Calibri" pitchFamily="34" charset="-122"/>
                <a:cs typeface="Calibri" pitchFamily="34" charset="-120"/>
              </a:rPr>
              <a:t>Punto de equilibrio</a:t>
            </a:r>
            <a:endParaRPr lang="en-US" sz="1600" dirty="0"/>
          </a:p>
          <a:p>
            <a:pPr indent="0" marL="0">
              <a:buNone/>
            </a:pPr>
            <a:r>
              <a:rPr lang="en-US" sz="1600" dirty="0">
                <a:solidFill>
                  <a:schemeClr val="tx1"/>
                </a:solidFill>
                <a:latin typeface="Calibri" pitchFamily="34" charset="0"/>
                <a:ea typeface="Calibri" pitchFamily="34" charset="-122"/>
                <a:cs typeface="Calibri" pitchFamily="34" charset="-120"/>
              </a:rPr>
              <a:t>Alcanza con recuperar un pedido perdido cada 3 o 4 meses para que el VAN sea positivo.</a:t>
            </a:r>
            <a:endParaRPr lang="en-US" sz="16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10896"/>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III. TRABAJO PRINCIPAL · DISEÑO CONCEPTUAL</a:t>
            </a:r>
            <a:endParaRPr lang="en-US" sz="1200" dirty="0"/>
          </a:p>
        </p:txBody>
      </p:sp>
      <p:sp>
        <p:nvSpPr>
          <p:cNvPr id="3" name="Text 0"/>
          <p:cNvSpPr/>
          <p:nvPr>
            <p:ph idx="101" type="title" hasCustomPrompt="1"/>
          </p:nvPr>
        </p:nvSpPr>
        <p:spPr>
          <a:xfrm>
            <a:off x="548640" y="603504"/>
            <a:ext cx="11064240" cy="658368"/>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Diseño: sitio estático, backend mínimo y WhatsApp</a:t>
            </a:r>
            <a:endParaRPr lang="en-US" sz="3200" dirty="0"/>
          </a:p>
        </p:txBody>
      </p:sp>
      <p:sp>
        <p:nvSpPr>
          <p:cNvPr id="4" name="nodo-129"/>
          <p:cNvSpPr/>
          <p:nvPr/>
        </p:nvSpPr>
        <p:spPr>
          <a:xfrm>
            <a:off x="548640" y="2651760"/>
            <a:ext cx="2194560" cy="1371600"/>
          </a:xfrm>
          <a:prstGeom prst="roundRect">
            <a:avLst>
              <a:gd name="adj" fmla="val 8000"/>
            </a:avLst>
          </a:prstGeom>
          <a:solidFill>
            <a:schemeClr val="accent1"/>
          </a:solidFill>
          <a:ln/>
          <a:effectLst>
            <a:outerShdw sx="100000" sy="100000" kx="0" ky="0" algn="bl" rotWithShape="0" blurRad="76200" dist="25400" dir="5400000">
              <a:srgbClr val="000000">
                <a:alpha val="12000"/>
              </a:srgbClr>
            </a:outerShdw>
          </a:effectLst>
        </p:spPr>
      </p:sp>
      <p:sp>
        <p:nvSpPr>
          <p:cNvPr id="5" name="Text 3"/>
          <p:cNvSpPr txBox="1"/>
          <p:nvPr/>
        </p:nvSpPr>
        <p:spPr>
          <a:xfrm>
            <a:off x="731520" y="2788920"/>
            <a:ext cx="1828800" cy="365760"/>
          </a:xfrm>
          <a:prstGeom prst="rect">
            <a:avLst/>
          </a:prstGeom>
          <a:noFill/>
          <a:ln/>
        </p:spPr>
        <p:txBody>
          <a:bodyPr wrap="square" lIns="0" tIns="0" rIns="0" bIns="0" rtlCol="0" anchor="t"/>
          <a:lstStyle/>
          <a:p>
            <a:pPr indent="0" marL="0">
              <a:buNone/>
            </a:pPr>
            <a:r>
              <a:rPr lang="en-US" sz="1600" b="1" dirty="0">
                <a:solidFill>
                  <a:schemeClr val="bg1"/>
                </a:solidFill>
                <a:latin typeface="Calibri" pitchFamily="34" charset="0"/>
                <a:ea typeface="Calibri" pitchFamily="34" charset="-122"/>
                <a:cs typeface="Calibri" pitchFamily="34" charset="-120"/>
              </a:rPr>
              <a:t>Cliente</a:t>
            </a:r>
            <a:endParaRPr lang="en-US" sz="1600" dirty="0"/>
          </a:p>
        </p:txBody>
      </p:sp>
      <p:sp>
        <p:nvSpPr>
          <p:cNvPr id="6" name="Text 4"/>
          <p:cNvSpPr txBox="1"/>
          <p:nvPr/>
        </p:nvSpPr>
        <p:spPr>
          <a:xfrm>
            <a:off x="731520" y="3182112"/>
            <a:ext cx="1828800" cy="749808"/>
          </a:xfrm>
          <a:prstGeom prst="rect">
            <a:avLst/>
          </a:prstGeom>
          <a:noFill/>
          <a:ln/>
        </p:spPr>
        <p:txBody>
          <a:bodyPr wrap="square" lIns="0" tIns="0" rIns="0" bIns="0" rtlCol="0" anchor="t"/>
          <a:lstStyle/>
          <a:p>
            <a:pPr indent="0" marL="0">
              <a:buNone/>
            </a:pPr>
            <a:r>
              <a:rPr lang="en-US" sz="1300" dirty="0">
                <a:solidFill>
                  <a:schemeClr val="bg1"/>
                </a:solidFill>
                <a:latin typeface="Calibri" pitchFamily="34" charset="0"/>
                <a:ea typeface="Calibri" pitchFamily="34" charset="-122"/>
                <a:cs typeface="Calibri" pitchFamily="34" charset="-120"/>
              </a:rPr>
              <a:t>Celular o PC</a:t>
            </a:r>
            <a:endParaRPr lang="en-US" sz="1300" dirty="0"/>
          </a:p>
        </p:txBody>
      </p:sp>
      <p:sp>
        <p:nvSpPr>
          <p:cNvPr id="7" name="nodo-130"/>
          <p:cNvSpPr/>
          <p:nvPr/>
        </p:nvSpPr>
        <p:spPr>
          <a:xfrm>
            <a:off x="3657600" y="1600200"/>
            <a:ext cx="3291840" cy="3246120"/>
          </a:xfrm>
          <a:prstGeom prst="roundRect">
            <a:avLst>
              <a:gd name="adj" fmla="val 3380"/>
            </a:avLst>
          </a:prstGeom>
          <a:solidFill>
            <a:schemeClr val="accent2"/>
          </a:solidFill>
          <a:ln/>
          <a:effectLst>
            <a:outerShdw sx="100000" sy="100000" kx="0" ky="0" algn="bl" rotWithShape="0" blurRad="76200" dist="25400" dir="5400000">
              <a:srgbClr val="000000">
                <a:alpha val="12000"/>
              </a:srgbClr>
            </a:outerShdw>
          </a:effectLst>
        </p:spPr>
      </p:sp>
      <p:sp>
        <p:nvSpPr>
          <p:cNvPr id="8" name="Text 6"/>
          <p:cNvSpPr txBox="1"/>
          <p:nvPr/>
        </p:nvSpPr>
        <p:spPr>
          <a:xfrm>
            <a:off x="3840480" y="1737360"/>
            <a:ext cx="2926080" cy="365760"/>
          </a:xfrm>
          <a:prstGeom prst="rect">
            <a:avLst/>
          </a:prstGeom>
          <a:noFill/>
          <a:ln/>
        </p:spPr>
        <p:txBody>
          <a:bodyPr wrap="square" lIns="0" tIns="0" rIns="0" bIns="0" rtlCol="0" anchor="t"/>
          <a:lstStyle/>
          <a:p>
            <a:pPr indent="0" marL="0">
              <a:buNone/>
            </a:pPr>
            <a:r>
              <a:rPr lang="en-US" sz="1600" b="1" dirty="0">
                <a:solidFill>
                  <a:schemeClr val="bg1"/>
                </a:solidFill>
                <a:latin typeface="Calibri" pitchFamily="34" charset="0"/>
                <a:ea typeface="Calibri" pitchFamily="34" charset="-122"/>
                <a:cs typeface="Calibri" pitchFamily="34" charset="-120"/>
              </a:rPr>
              <a:t>Sitio web (GitHub Pages)</a:t>
            </a:r>
            <a:endParaRPr lang="en-US" sz="1600" dirty="0"/>
          </a:p>
        </p:txBody>
      </p:sp>
      <p:sp>
        <p:nvSpPr>
          <p:cNvPr id="9" name="capa-131"/>
          <p:cNvSpPr/>
          <p:nvPr/>
        </p:nvSpPr>
        <p:spPr>
          <a:xfrm>
            <a:off x="3886200" y="2148840"/>
            <a:ext cx="2834640" cy="777240"/>
          </a:xfrm>
          <a:prstGeom prst="roundRect">
            <a:avLst>
              <a:gd name="adj" fmla="val 9412"/>
            </a:avLst>
          </a:prstGeom>
          <a:solidFill>
            <a:schemeClr val="bg1"/>
          </a:solidFill>
          <a:ln/>
        </p:spPr>
      </p:sp>
      <p:sp>
        <p:nvSpPr>
          <p:cNvPr id="10" name="Text 8"/>
          <p:cNvSpPr txBox="1"/>
          <p:nvPr/>
        </p:nvSpPr>
        <p:spPr>
          <a:xfrm>
            <a:off x="4023360" y="2176272"/>
            <a:ext cx="2606040" cy="731520"/>
          </a:xfrm>
          <a:prstGeom prst="rect">
            <a:avLst/>
          </a:prstGeom>
          <a:noFill/>
          <a:ln/>
        </p:spPr>
        <p:txBody>
          <a:bodyPr wrap="square" lIns="0" tIns="0" rIns="0" bIns="0" rtlCol="0" anchor="ctr"/>
          <a:lstStyle/>
          <a:p>
            <a:pPr indent="0" marL="0">
              <a:buNone/>
            </a:pPr>
            <a:r>
              <a:rPr lang="en-US" sz="1400" b="1" dirty="0">
                <a:solidFill>
                  <a:schemeClr val="tx1"/>
                </a:solidFill>
                <a:latin typeface="Calibri" pitchFamily="34" charset="0"/>
                <a:ea typeface="Calibri" pitchFamily="34" charset="-122"/>
                <a:cs typeface="Calibri" pitchFamily="34" charset="-120"/>
              </a:rPr>
              <a:t>Interfaz</a:t>
            </a:r>
            <a:endParaRPr lang="en-US" sz="1400" dirty="0"/>
          </a:p>
          <a:p>
            <a:pPr indent="0" marL="0">
              <a:buNone/>
            </a:pPr>
            <a:r>
              <a:rPr lang="en-US" sz="1200" dirty="0">
                <a:solidFill>
                  <a:schemeClr val="accent4"/>
                </a:solidFill>
                <a:latin typeface="Calibri" pitchFamily="34" charset="0"/>
                <a:ea typeface="Calibri" pitchFamily="34" charset="-122"/>
                <a:cs typeface="Calibri" pitchFamily="34" charset="-120"/>
              </a:rPr>
              <a:t>pantallas y carrito</a:t>
            </a:r>
            <a:endParaRPr lang="en-US" sz="1400" dirty="0"/>
          </a:p>
        </p:txBody>
      </p:sp>
      <p:sp>
        <p:nvSpPr>
          <p:cNvPr id="11" name="capa-132"/>
          <p:cNvSpPr/>
          <p:nvPr/>
        </p:nvSpPr>
        <p:spPr>
          <a:xfrm>
            <a:off x="3886200" y="3063240"/>
            <a:ext cx="2834640" cy="777240"/>
          </a:xfrm>
          <a:prstGeom prst="roundRect">
            <a:avLst>
              <a:gd name="adj" fmla="val 9412"/>
            </a:avLst>
          </a:prstGeom>
          <a:solidFill>
            <a:schemeClr val="bg1"/>
          </a:solidFill>
          <a:ln/>
        </p:spPr>
      </p:sp>
      <p:sp>
        <p:nvSpPr>
          <p:cNvPr id="12" name="Text 10"/>
          <p:cNvSpPr txBox="1"/>
          <p:nvPr/>
        </p:nvSpPr>
        <p:spPr>
          <a:xfrm>
            <a:off x="4023360" y="3090672"/>
            <a:ext cx="2606040" cy="731520"/>
          </a:xfrm>
          <a:prstGeom prst="rect">
            <a:avLst/>
          </a:prstGeom>
          <a:noFill/>
          <a:ln/>
        </p:spPr>
        <p:txBody>
          <a:bodyPr wrap="square" lIns="0" tIns="0" rIns="0" bIns="0" rtlCol="0" anchor="ctr"/>
          <a:lstStyle/>
          <a:p>
            <a:pPr indent="0" marL="0">
              <a:buNone/>
            </a:pPr>
            <a:r>
              <a:rPr lang="en-US" sz="1400" b="1" dirty="0">
                <a:solidFill>
                  <a:schemeClr val="tx1"/>
                </a:solidFill>
                <a:latin typeface="Calibri" pitchFamily="34" charset="0"/>
                <a:ea typeface="Calibri" pitchFamily="34" charset="-122"/>
                <a:cs typeface="Calibri" pitchFamily="34" charset="-120"/>
              </a:rPr>
              <a:t>Lógica</a:t>
            </a:r>
            <a:endParaRPr lang="en-US" sz="1400" dirty="0"/>
          </a:p>
          <a:p>
            <a:pPr indent="0" marL="0">
              <a:buNone/>
            </a:pPr>
            <a:r>
              <a:rPr lang="en-US" sz="1200" dirty="0">
                <a:solidFill>
                  <a:schemeClr val="accent4"/>
                </a:solidFill>
                <a:latin typeface="Calibri" pitchFamily="34" charset="0"/>
                <a:ea typeface="Calibri" pitchFamily="34" charset="-122"/>
                <a:cs typeface="Calibri" pitchFamily="34" charset="-120"/>
              </a:rPr>
              <a:t>precios, horario, recibo</a:t>
            </a:r>
            <a:endParaRPr lang="en-US" sz="1400" dirty="0"/>
          </a:p>
        </p:txBody>
      </p:sp>
      <p:sp>
        <p:nvSpPr>
          <p:cNvPr id="13" name="capa-133"/>
          <p:cNvSpPr/>
          <p:nvPr/>
        </p:nvSpPr>
        <p:spPr>
          <a:xfrm>
            <a:off x="3886200" y="3977640"/>
            <a:ext cx="2834640" cy="777240"/>
          </a:xfrm>
          <a:prstGeom prst="roundRect">
            <a:avLst>
              <a:gd name="adj" fmla="val 9412"/>
            </a:avLst>
          </a:prstGeom>
          <a:solidFill>
            <a:schemeClr val="bg1"/>
          </a:solidFill>
          <a:ln/>
        </p:spPr>
      </p:sp>
      <p:sp>
        <p:nvSpPr>
          <p:cNvPr id="14" name="Text 12"/>
          <p:cNvSpPr txBox="1"/>
          <p:nvPr/>
        </p:nvSpPr>
        <p:spPr>
          <a:xfrm>
            <a:off x="4023360" y="4005072"/>
            <a:ext cx="2606040" cy="731520"/>
          </a:xfrm>
          <a:prstGeom prst="rect">
            <a:avLst/>
          </a:prstGeom>
          <a:noFill/>
          <a:ln/>
        </p:spPr>
        <p:txBody>
          <a:bodyPr wrap="square" lIns="0" tIns="0" rIns="0" bIns="0" rtlCol="0" anchor="ctr"/>
          <a:lstStyle/>
          <a:p>
            <a:pPr indent="0" marL="0">
              <a:buNone/>
            </a:pPr>
            <a:r>
              <a:rPr lang="en-US" sz="1400" b="1" dirty="0">
                <a:solidFill>
                  <a:schemeClr val="tx1"/>
                </a:solidFill>
                <a:latin typeface="Calibri" pitchFamily="34" charset="0"/>
                <a:ea typeface="Calibri" pitchFamily="34" charset="-122"/>
                <a:cs typeface="Calibri" pitchFamily="34" charset="-120"/>
              </a:rPr>
              <a:t>Datos</a:t>
            </a:r>
            <a:endParaRPr lang="en-US" sz="1400" dirty="0"/>
          </a:p>
          <a:p>
            <a:pPr indent="0" marL="0">
              <a:buNone/>
            </a:pPr>
            <a:r>
              <a:rPr lang="en-US" sz="1200" dirty="0">
                <a:solidFill>
                  <a:schemeClr val="accent4"/>
                </a:solidFill>
                <a:latin typeface="Calibri" pitchFamily="34" charset="0"/>
                <a:ea typeface="Calibri" pitchFamily="34" charset="-122"/>
                <a:cs typeface="Calibri" pitchFamily="34" charset="-120"/>
              </a:rPr>
              <a:t>configuración y carta</a:t>
            </a:r>
            <a:endParaRPr lang="en-US" sz="1400" dirty="0"/>
          </a:p>
        </p:txBody>
      </p:sp>
      <p:sp>
        <p:nvSpPr>
          <p:cNvPr id="15" name="nodo-134"/>
          <p:cNvSpPr/>
          <p:nvPr/>
        </p:nvSpPr>
        <p:spPr>
          <a:xfrm>
            <a:off x="8001000" y="1600200"/>
            <a:ext cx="3611880" cy="1325880"/>
          </a:xfrm>
          <a:prstGeom prst="roundRect">
            <a:avLst>
              <a:gd name="adj" fmla="val 8276"/>
            </a:avLst>
          </a:prstGeom>
          <a:solidFill>
            <a:schemeClr val="tx2"/>
          </a:solidFill>
          <a:ln/>
          <a:effectLst>
            <a:outerShdw sx="100000" sy="100000" kx="0" ky="0" algn="bl" rotWithShape="0" blurRad="76200" dist="25400" dir="5400000">
              <a:srgbClr val="000000">
                <a:alpha val="12000"/>
              </a:srgbClr>
            </a:outerShdw>
          </a:effectLst>
        </p:spPr>
      </p:sp>
      <p:sp>
        <p:nvSpPr>
          <p:cNvPr id="16" name="Text 14"/>
          <p:cNvSpPr txBox="1"/>
          <p:nvPr/>
        </p:nvSpPr>
        <p:spPr>
          <a:xfrm>
            <a:off x="8183880" y="1737360"/>
            <a:ext cx="3246120" cy="365760"/>
          </a:xfrm>
          <a:prstGeom prst="rect">
            <a:avLst/>
          </a:prstGeom>
          <a:noFill/>
          <a:ln/>
        </p:spPr>
        <p:txBody>
          <a:bodyPr wrap="square" lIns="0" tIns="0" rIns="0" bIns="0" rtlCol="0" anchor="t"/>
          <a:lstStyle/>
          <a:p>
            <a:pPr indent="0" marL="0">
              <a:buNone/>
            </a:pPr>
            <a:r>
              <a:rPr lang="en-US" sz="1600" b="1" dirty="0">
                <a:solidFill>
                  <a:schemeClr val="bg1"/>
                </a:solidFill>
                <a:latin typeface="Calibri" pitchFamily="34" charset="0"/>
                <a:ea typeface="Calibri" pitchFamily="34" charset="-122"/>
                <a:cs typeface="Calibri" pitchFamily="34" charset="-120"/>
              </a:rPr>
              <a:t>Google Apps Script</a:t>
            </a:r>
            <a:endParaRPr lang="en-US" sz="1600" dirty="0"/>
          </a:p>
        </p:txBody>
      </p:sp>
      <p:sp>
        <p:nvSpPr>
          <p:cNvPr id="17" name="Text 15"/>
          <p:cNvSpPr txBox="1"/>
          <p:nvPr/>
        </p:nvSpPr>
        <p:spPr>
          <a:xfrm>
            <a:off x="8183880" y="2130552"/>
            <a:ext cx="3246120" cy="704088"/>
          </a:xfrm>
          <a:prstGeom prst="rect">
            <a:avLst/>
          </a:prstGeom>
          <a:noFill/>
          <a:ln/>
        </p:spPr>
        <p:txBody>
          <a:bodyPr wrap="square" lIns="0" tIns="0" rIns="0" bIns="0" rtlCol="0" anchor="t"/>
          <a:lstStyle/>
          <a:p>
            <a:pPr indent="0" marL="0">
              <a:buNone/>
            </a:pPr>
            <a:r>
              <a:rPr lang="en-US" sz="1300" dirty="0">
                <a:solidFill>
                  <a:schemeClr val="bg1"/>
                </a:solidFill>
                <a:latin typeface="Calibri" pitchFamily="34" charset="0"/>
                <a:ea typeface="Calibri" pitchFamily="34" charset="-122"/>
                <a:cs typeface="Calibri" pitchFamily="34" charset="-120"/>
              </a:rPr>
              <a:t>N.º de pedido, total recalculado, protección</a:t>
            </a:r>
            <a:endParaRPr lang="en-US" sz="1300" dirty="0"/>
          </a:p>
        </p:txBody>
      </p:sp>
      <p:sp>
        <p:nvSpPr>
          <p:cNvPr id="18" name="nodo-135"/>
          <p:cNvSpPr/>
          <p:nvPr/>
        </p:nvSpPr>
        <p:spPr>
          <a:xfrm>
            <a:off x="8001000" y="3749040"/>
            <a:ext cx="3611880" cy="1097280"/>
          </a:xfrm>
          <a:prstGeom prst="roundRect">
            <a:avLst>
              <a:gd name="adj" fmla="val 10000"/>
            </a:avLst>
          </a:prstGeom>
          <a:solidFill>
            <a:schemeClr val="bg2"/>
          </a:solidFill>
          <a:ln/>
          <a:effectLst>
            <a:outerShdw sx="100000" sy="100000" kx="0" ky="0" algn="bl" rotWithShape="0" blurRad="76200" dist="25400" dir="5400000">
              <a:srgbClr val="000000">
                <a:alpha val="12000"/>
              </a:srgbClr>
            </a:outerShdw>
          </a:effectLst>
        </p:spPr>
      </p:sp>
      <p:sp>
        <p:nvSpPr>
          <p:cNvPr id="19" name="Text 17"/>
          <p:cNvSpPr txBox="1"/>
          <p:nvPr/>
        </p:nvSpPr>
        <p:spPr>
          <a:xfrm>
            <a:off x="8183880" y="3886200"/>
            <a:ext cx="3246120" cy="365760"/>
          </a:xfrm>
          <a:prstGeom prst="rect">
            <a:avLst/>
          </a:prstGeom>
          <a:noFill/>
          <a:ln/>
        </p:spPr>
        <p:txBody>
          <a:bodyPr wrap="square" lIns="0" tIns="0" rIns="0" bIns="0" rtlCol="0" anchor="t"/>
          <a:lstStyle/>
          <a:p>
            <a:pPr indent="0" marL="0">
              <a:buNone/>
            </a:pPr>
            <a:r>
              <a:rPr lang="en-US" sz="1600" b="1" dirty="0">
                <a:solidFill>
                  <a:schemeClr val="tx1"/>
                </a:solidFill>
                <a:latin typeface="Calibri" pitchFamily="34" charset="0"/>
                <a:ea typeface="Calibri" pitchFamily="34" charset="-122"/>
                <a:cs typeface="Calibri" pitchFamily="34" charset="-120"/>
              </a:rPr>
              <a:t>Google Sheets</a:t>
            </a:r>
            <a:endParaRPr lang="en-US" sz="1600" dirty="0"/>
          </a:p>
        </p:txBody>
      </p:sp>
      <p:sp>
        <p:nvSpPr>
          <p:cNvPr id="20" name="Text 18"/>
          <p:cNvSpPr txBox="1"/>
          <p:nvPr/>
        </p:nvSpPr>
        <p:spPr>
          <a:xfrm>
            <a:off x="8183880" y="4279392"/>
            <a:ext cx="3246120" cy="475488"/>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Carta y pedidos del mes</a:t>
            </a:r>
            <a:endParaRPr lang="en-US" sz="1300" dirty="0"/>
          </a:p>
        </p:txBody>
      </p:sp>
      <p:sp>
        <p:nvSpPr>
          <p:cNvPr id="21" name="nodo-136"/>
          <p:cNvSpPr/>
          <p:nvPr/>
        </p:nvSpPr>
        <p:spPr>
          <a:xfrm>
            <a:off x="3657600" y="5486400"/>
            <a:ext cx="3291840" cy="731520"/>
          </a:xfrm>
          <a:prstGeom prst="roundRect">
            <a:avLst>
              <a:gd name="adj" fmla="val 15000"/>
            </a:avLst>
          </a:prstGeom>
          <a:solidFill>
            <a:schemeClr val="tx1"/>
          </a:solidFill>
          <a:ln/>
          <a:effectLst>
            <a:outerShdw sx="100000" sy="100000" kx="0" ky="0" algn="bl" rotWithShape="0" blurRad="76200" dist="25400" dir="5400000">
              <a:srgbClr val="000000">
                <a:alpha val="12000"/>
              </a:srgbClr>
            </a:outerShdw>
          </a:effectLst>
        </p:spPr>
      </p:sp>
      <p:sp>
        <p:nvSpPr>
          <p:cNvPr id="22" name="Text 20"/>
          <p:cNvSpPr txBox="1"/>
          <p:nvPr/>
        </p:nvSpPr>
        <p:spPr>
          <a:xfrm>
            <a:off x="3840480" y="5623560"/>
            <a:ext cx="2926080" cy="365760"/>
          </a:xfrm>
          <a:prstGeom prst="rect">
            <a:avLst/>
          </a:prstGeom>
          <a:noFill/>
          <a:ln/>
        </p:spPr>
        <p:txBody>
          <a:bodyPr wrap="square" lIns="0" tIns="0" rIns="0" bIns="0" rtlCol="0" anchor="t"/>
          <a:lstStyle/>
          <a:p>
            <a:pPr indent="0" marL="0">
              <a:buNone/>
            </a:pPr>
            <a:r>
              <a:rPr lang="en-US" sz="1600" b="1" dirty="0">
                <a:solidFill>
                  <a:schemeClr val="bg1"/>
                </a:solidFill>
                <a:latin typeface="Calibri" pitchFamily="34" charset="0"/>
                <a:ea typeface="Calibri" pitchFamily="34" charset="-122"/>
                <a:cs typeface="Calibri" pitchFamily="34" charset="-120"/>
              </a:rPr>
              <a:t>WhatsApp del negocio</a:t>
            </a:r>
            <a:endParaRPr lang="en-US" sz="1600" dirty="0"/>
          </a:p>
        </p:txBody>
      </p:sp>
      <p:sp>
        <p:nvSpPr>
          <p:cNvPr id="23" name="nodo-137"/>
          <p:cNvSpPr/>
          <p:nvPr/>
        </p:nvSpPr>
        <p:spPr>
          <a:xfrm>
            <a:off x="548640" y="5486400"/>
            <a:ext cx="2194560" cy="731520"/>
          </a:xfrm>
          <a:prstGeom prst="roundRect">
            <a:avLst>
              <a:gd name="adj" fmla="val 15000"/>
            </a:avLst>
          </a:prstGeom>
          <a:solidFill>
            <a:schemeClr val="bg2"/>
          </a:solidFill>
          <a:ln/>
          <a:effectLst>
            <a:outerShdw sx="100000" sy="100000" kx="0" ky="0" algn="bl" rotWithShape="0" blurRad="76200" dist="25400" dir="5400000">
              <a:srgbClr val="000000">
                <a:alpha val="12000"/>
              </a:srgbClr>
            </a:outerShdw>
          </a:effectLst>
        </p:spPr>
      </p:sp>
      <p:sp>
        <p:nvSpPr>
          <p:cNvPr id="24" name="Text 22"/>
          <p:cNvSpPr txBox="1"/>
          <p:nvPr/>
        </p:nvSpPr>
        <p:spPr>
          <a:xfrm>
            <a:off x="731520" y="5623560"/>
            <a:ext cx="1828800" cy="365760"/>
          </a:xfrm>
          <a:prstGeom prst="rect">
            <a:avLst/>
          </a:prstGeom>
          <a:noFill/>
          <a:ln/>
        </p:spPr>
        <p:txBody>
          <a:bodyPr wrap="square" lIns="0" tIns="0" rIns="0" bIns="0" rtlCol="0" anchor="t"/>
          <a:lstStyle/>
          <a:p>
            <a:pPr indent="0" marL="0">
              <a:buNone/>
            </a:pPr>
            <a:r>
              <a:rPr lang="en-US" sz="1600" b="1" dirty="0">
                <a:solidFill>
                  <a:schemeClr val="tx1"/>
                </a:solidFill>
                <a:latin typeface="Calibri" pitchFamily="34" charset="0"/>
                <a:ea typeface="Calibri" pitchFamily="34" charset="-122"/>
                <a:cs typeface="Calibri" pitchFamily="34" charset="-120"/>
              </a:rPr>
              <a:t>Mercado Pago</a:t>
            </a:r>
            <a:endParaRPr lang="en-US" sz="1600" dirty="0"/>
          </a:p>
        </p:txBody>
      </p:sp>
      <p:sp>
        <p:nvSpPr>
          <p:cNvPr id="25" name="flecha-138"/>
          <p:cNvSpPr/>
          <p:nvPr/>
        </p:nvSpPr>
        <p:spPr>
          <a:xfrm>
            <a:off x="2743200" y="3337560"/>
            <a:ext cx="914400" cy="0"/>
          </a:xfrm>
          <a:prstGeom prst="line">
            <a:avLst/>
          </a:prstGeom>
          <a:noFill/>
          <a:ln w="22225">
            <a:solidFill>
              <a:srgbClr val="8A7F76"/>
            </a:solidFill>
            <a:prstDash val="solid"/>
            <a:tailEnd type="triangle"/>
          </a:ln>
        </p:spPr>
      </p:sp>
      <p:sp>
        <p:nvSpPr>
          <p:cNvPr id="26" name="Text 24"/>
          <p:cNvSpPr txBox="1"/>
          <p:nvPr/>
        </p:nvSpPr>
        <p:spPr>
          <a:xfrm>
            <a:off x="2743200" y="2971800"/>
            <a:ext cx="914400" cy="320040"/>
          </a:xfrm>
          <a:prstGeom prst="rect">
            <a:avLst/>
          </a:prstGeom>
          <a:noFill/>
          <a:ln/>
        </p:spPr>
        <p:txBody>
          <a:bodyPr wrap="square" lIns="0" tIns="0" rIns="0" bIns="0" rtlCol="0" anchor="t"/>
          <a:lstStyle/>
          <a:p>
            <a:pPr algn="ctr" indent="0" marL="0">
              <a:buNone/>
            </a:pPr>
            <a:r>
              <a:rPr lang="en-US" sz="1200" dirty="0">
                <a:solidFill>
                  <a:schemeClr val="accent4"/>
                </a:solidFill>
                <a:latin typeface="Calibri" pitchFamily="34" charset="0"/>
                <a:ea typeface="Calibri" pitchFamily="34" charset="-122"/>
                <a:cs typeface="Calibri" pitchFamily="34" charset="-120"/>
              </a:rPr>
              <a:t>HTTPS</a:t>
            </a:r>
            <a:endParaRPr lang="en-US" sz="1200" dirty="0"/>
          </a:p>
        </p:txBody>
      </p:sp>
      <p:sp>
        <p:nvSpPr>
          <p:cNvPr id="27" name="flecha-139"/>
          <p:cNvSpPr/>
          <p:nvPr/>
        </p:nvSpPr>
        <p:spPr>
          <a:xfrm>
            <a:off x="6949440" y="2240280"/>
            <a:ext cx="1051560" cy="0"/>
          </a:xfrm>
          <a:prstGeom prst="line">
            <a:avLst/>
          </a:prstGeom>
          <a:noFill/>
          <a:ln w="22225">
            <a:solidFill>
              <a:srgbClr val="8A7F76"/>
            </a:solidFill>
            <a:prstDash val="solid"/>
            <a:tailEnd type="triangle"/>
          </a:ln>
        </p:spPr>
      </p:sp>
      <p:sp>
        <p:nvSpPr>
          <p:cNvPr id="28" name="Text 26"/>
          <p:cNvSpPr txBox="1"/>
          <p:nvPr/>
        </p:nvSpPr>
        <p:spPr>
          <a:xfrm>
            <a:off x="6903720" y="1874520"/>
            <a:ext cx="1143000" cy="320040"/>
          </a:xfrm>
          <a:prstGeom prst="rect">
            <a:avLst/>
          </a:prstGeom>
          <a:noFill/>
          <a:ln/>
        </p:spPr>
        <p:txBody>
          <a:bodyPr wrap="square" lIns="0" tIns="0" rIns="0" bIns="0" rtlCol="0" anchor="t"/>
          <a:lstStyle/>
          <a:p>
            <a:pPr algn="ctr" indent="0" marL="0">
              <a:buNone/>
            </a:pPr>
            <a:r>
              <a:rPr lang="en-US" sz="1200" dirty="0">
                <a:solidFill>
                  <a:schemeClr val="accent4"/>
                </a:solidFill>
                <a:latin typeface="Calibri" pitchFamily="34" charset="0"/>
                <a:ea typeface="Calibri" pitchFamily="34" charset="-122"/>
                <a:cs typeface="Calibri" pitchFamily="34" charset="-120"/>
              </a:rPr>
              <a:t>GET / POST</a:t>
            </a:r>
            <a:endParaRPr lang="en-US" sz="1200" dirty="0"/>
          </a:p>
        </p:txBody>
      </p:sp>
      <p:sp>
        <p:nvSpPr>
          <p:cNvPr id="29" name="flecha-140"/>
          <p:cNvSpPr/>
          <p:nvPr/>
        </p:nvSpPr>
        <p:spPr>
          <a:xfrm>
            <a:off x="9784080" y="2926080"/>
            <a:ext cx="0" cy="822960"/>
          </a:xfrm>
          <a:prstGeom prst="line">
            <a:avLst/>
          </a:prstGeom>
          <a:noFill/>
          <a:ln w="22225">
            <a:solidFill>
              <a:srgbClr val="8A7F76"/>
            </a:solidFill>
            <a:prstDash val="solid"/>
            <a:tailEnd type="triangle"/>
          </a:ln>
        </p:spPr>
      </p:sp>
      <p:sp>
        <p:nvSpPr>
          <p:cNvPr id="30" name="flecha-141"/>
          <p:cNvSpPr/>
          <p:nvPr/>
        </p:nvSpPr>
        <p:spPr>
          <a:xfrm>
            <a:off x="5303520" y="4846320"/>
            <a:ext cx="0" cy="640080"/>
          </a:xfrm>
          <a:prstGeom prst="line">
            <a:avLst/>
          </a:prstGeom>
          <a:noFill/>
          <a:ln w="22225">
            <a:solidFill>
              <a:srgbClr val="8A7F76"/>
            </a:solidFill>
            <a:prstDash val="solid"/>
            <a:tailEnd type="triangle"/>
          </a:ln>
        </p:spPr>
      </p:sp>
      <p:sp>
        <p:nvSpPr>
          <p:cNvPr id="31" name="Text 29"/>
          <p:cNvSpPr txBox="1"/>
          <p:nvPr/>
        </p:nvSpPr>
        <p:spPr>
          <a:xfrm>
            <a:off x="5440680" y="4983480"/>
            <a:ext cx="2194560" cy="320040"/>
          </a:xfrm>
          <a:prstGeom prst="rect">
            <a:avLst/>
          </a:prstGeom>
          <a:noFill/>
          <a:ln/>
        </p:spPr>
        <p:txBody>
          <a:bodyPr wrap="square" lIns="0" tIns="0" rIns="0" bIns="0" rtlCol="0" anchor="t"/>
          <a:lstStyle/>
          <a:p>
            <a:pPr indent="0" marL="0">
              <a:buNone/>
            </a:pPr>
            <a:r>
              <a:rPr lang="en-US" sz="1200" dirty="0">
                <a:solidFill>
                  <a:schemeClr val="accent4"/>
                </a:solidFill>
                <a:latin typeface="Calibri" pitchFamily="34" charset="0"/>
                <a:ea typeface="Calibri" pitchFamily="34" charset="-122"/>
                <a:cs typeface="Calibri" pitchFamily="34" charset="-120"/>
              </a:rPr>
              <a:t>recibo listo (wa.me)</a:t>
            </a:r>
            <a:endParaRPr lang="en-US" sz="1200" dirty="0"/>
          </a:p>
        </p:txBody>
      </p:sp>
      <p:sp>
        <p:nvSpPr>
          <p:cNvPr id="32" name="flecha-142"/>
          <p:cNvSpPr/>
          <p:nvPr/>
        </p:nvSpPr>
        <p:spPr>
          <a:xfrm>
            <a:off x="1645920" y="4023360"/>
            <a:ext cx="0" cy="1463040"/>
          </a:xfrm>
          <a:prstGeom prst="line">
            <a:avLst/>
          </a:prstGeom>
          <a:noFill/>
          <a:ln w="22225">
            <a:solidFill>
              <a:srgbClr val="8A7F76"/>
            </a:solidFill>
            <a:prstDash val="solid"/>
            <a:tailEnd type="triangle"/>
          </a:ln>
        </p:spPr>
      </p:sp>
      <p:sp>
        <p:nvSpPr>
          <p:cNvPr id="33" name="Text 31"/>
          <p:cNvSpPr txBox="1"/>
          <p:nvPr/>
        </p:nvSpPr>
        <p:spPr>
          <a:xfrm>
            <a:off x="1737360" y="4526280"/>
            <a:ext cx="1463040" cy="320040"/>
          </a:xfrm>
          <a:prstGeom prst="rect">
            <a:avLst/>
          </a:prstGeom>
          <a:noFill/>
          <a:ln/>
        </p:spPr>
        <p:txBody>
          <a:bodyPr wrap="square" lIns="0" tIns="0" rIns="0" bIns="0" rtlCol="0" anchor="t"/>
          <a:lstStyle/>
          <a:p>
            <a:pPr indent="0" marL="0">
              <a:buNone/>
            </a:pPr>
            <a:r>
              <a:rPr lang="en-US" sz="1200" dirty="0">
                <a:solidFill>
                  <a:schemeClr val="accent4"/>
                </a:solidFill>
                <a:latin typeface="Calibri" pitchFamily="34" charset="0"/>
                <a:ea typeface="Calibri" pitchFamily="34" charset="-122"/>
                <a:cs typeface="Calibri" pitchFamily="34" charset="-120"/>
              </a:rPr>
              <a:t>paga aparte</a:t>
            </a:r>
            <a:endParaRPr lang="en-US" sz="1200" dirty="0"/>
          </a:p>
        </p:txBody>
      </p:sp>
      <p:sp>
        <p:nvSpPr>
          <p:cNvPr id="34" name="card-143"/>
          <p:cNvSpPr/>
          <p:nvPr/>
        </p:nvSpPr>
        <p:spPr>
          <a:xfrm>
            <a:off x="8001000" y="5074920"/>
            <a:ext cx="3611880" cy="1143000"/>
          </a:xfrm>
          <a:prstGeom prst="roundRect">
            <a:avLst>
              <a:gd name="adj" fmla="val 9600"/>
            </a:avLst>
          </a:prstGeom>
          <a:solidFill>
            <a:schemeClr val="accent6"/>
          </a:solidFill>
          <a:ln/>
        </p:spPr>
      </p:sp>
      <p:sp>
        <p:nvSpPr>
          <p:cNvPr id="35" name="Text 33"/>
          <p:cNvSpPr txBox="1"/>
          <p:nvPr/>
        </p:nvSpPr>
        <p:spPr>
          <a:xfrm>
            <a:off x="8183880" y="5074920"/>
            <a:ext cx="3291840" cy="1143000"/>
          </a:xfrm>
          <a:prstGeom prst="rect">
            <a:avLst/>
          </a:prstGeom>
          <a:noFill/>
          <a:ln/>
        </p:spPr>
        <p:txBody>
          <a:bodyPr wrap="square" lIns="0" tIns="0" rIns="0" bIns="0" rtlCol="0" anchor="ctr"/>
          <a:lstStyle/>
          <a:p>
            <a:pPr indent="0" marL="0">
              <a:buNone/>
            </a:pPr>
            <a:r>
              <a:rPr lang="en-US" sz="1400" b="1" dirty="0">
                <a:solidFill>
                  <a:schemeClr val="accent3"/>
                </a:solidFill>
                <a:latin typeface="Calibri" pitchFamily="34" charset="0"/>
                <a:ea typeface="Calibri" pitchFamily="34" charset="-122"/>
                <a:cs typeface="Calibri" pitchFamily="34" charset="-120"/>
              </a:rPr>
              <a:t>Si Google falla, el pedido sale igual por WhatsApp.</a:t>
            </a:r>
            <a:endParaRPr lang="en-US" sz="14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10896"/>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III. TRABAJO PRINCIPAL · REQUISITOS</a:t>
            </a:r>
            <a:endParaRPr lang="en-US" sz="1200" dirty="0"/>
          </a:p>
        </p:txBody>
      </p:sp>
      <p:sp>
        <p:nvSpPr>
          <p:cNvPr id="3" name="Text 0"/>
          <p:cNvSpPr/>
          <p:nvPr>
            <p:ph idx="101" type="title" hasCustomPrompt="1"/>
          </p:nvPr>
        </p:nvSpPr>
        <p:spPr>
          <a:xfrm>
            <a:off x="548640" y="603504"/>
            <a:ext cx="11064240" cy="658368"/>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Requisitos: 20 funcionales y 15 no funcionales</a:t>
            </a:r>
            <a:endParaRPr lang="en-US" sz="3200" dirty="0"/>
          </a:p>
        </p:txBody>
      </p:sp>
      <p:sp>
        <p:nvSpPr>
          <p:cNvPr id="4" name="Text 2"/>
          <p:cNvSpPr txBox="1"/>
          <p:nvPr/>
        </p:nvSpPr>
        <p:spPr>
          <a:xfrm>
            <a:off x="548640" y="1463040"/>
            <a:ext cx="5486400" cy="365760"/>
          </a:xfrm>
          <a:prstGeom prst="rect">
            <a:avLst/>
          </a:prstGeom>
          <a:noFill/>
          <a:ln/>
        </p:spPr>
        <p:txBody>
          <a:bodyPr wrap="square" lIns="0" tIns="0" rIns="0" bIns="0" rtlCol="0" anchor="t"/>
          <a:lstStyle/>
          <a:p>
            <a:pPr indent="0" marL="0">
              <a:buNone/>
            </a:pPr>
            <a:r>
              <a:rPr lang="en-US" sz="1600" b="1" dirty="0">
                <a:solidFill>
                  <a:schemeClr val="accent1"/>
                </a:solidFill>
                <a:latin typeface="Calibri" pitchFamily="34" charset="0"/>
                <a:ea typeface="Calibri" pitchFamily="34" charset="-122"/>
                <a:cs typeface="Calibri" pitchFamily="34" charset="-120"/>
              </a:rPr>
              <a:t>Funcionales (MoSCoW)</a:t>
            </a:r>
            <a:endParaRPr lang="en-US" sz="1600" dirty="0"/>
          </a:p>
        </p:txBody>
      </p:sp>
      <p:sp>
        <p:nvSpPr>
          <p:cNvPr id="5" name="card-144"/>
          <p:cNvSpPr/>
          <p:nvPr/>
        </p:nvSpPr>
        <p:spPr>
          <a:xfrm>
            <a:off x="548640" y="1920240"/>
            <a:ext cx="3108960" cy="914400"/>
          </a:xfrm>
          <a:prstGeom prst="roundRect">
            <a:avLst>
              <a:gd name="adj" fmla="val 12000"/>
            </a:avLst>
          </a:prstGeom>
          <a:solidFill>
            <a:schemeClr val="accent6"/>
          </a:solidFill>
          <a:ln/>
        </p:spPr>
      </p:sp>
      <p:sp>
        <p:nvSpPr>
          <p:cNvPr id="6" name="Text 4"/>
          <p:cNvSpPr txBox="1"/>
          <p:nvPr/>
        </p:nvSpPr>
        <p:spPr>
          <a:xfrm>
            <a:off x="731520" y="1920240"/>
            <a:ext cx="2743200" cy="914400"/>
          </a:xfrm>
          <a:prstGeom prst="rect">
            <a:avLst/>
          </a:prstGeom>
          <a:noFill/>
          <a:ln/>
        </p:spPr>
        <p:txBody>
          <a:bodyPr wrap="square" lIns="0" tIns="0" rIns="0" bIns="0" rtlCol="0" anchor="ctr"/>
          <a:lstStyle/>
          <a:p>
            <a:pPr indent="0" marL="0">
              <a:buNone/>
            </a:pPr>
            <a:r>
              <a:rPr lang="en-US" sz="1500" b="1" dirty="0">
                <a:solidFill>
                  <a:schemeClr val="tx1"/>
                </a:solidFill>
                <a:latin typeface="Calibri" pitchFamily="34" charset="0"/>
                <a:ea typeface="Calibri" pitchFamily="34" charset="-122"/>
                <a:cs typeface="Calibri" pitchFamily="34" charset="-120"/>
              </a:rPr>
              <a:t>Carta y horario</a:t>
            </a:r>
            <a:endParaRPr lang="en-US" sz="1500" dirty="0"/>
          </a:p>
          <a:p>
            <a:pPr indent="0" marL="0">
              <a:buNone/>
            </a:pPr>
            <a:r>
              <a:rPr lang="en-US" sz="1300" dirty="0">
                <a:solidFill>
                  <a:schemeClr val="accent4"/>
                </a:solidFill>
                <a:latin typeface="Calibri" pitchFamily="34" charset="0"/>
                <a:ea typeface="Calibri" pitchFamily="34" charset="-122"/>
                <a:cs typeface="Calibri" pitchFamily="34" charset="-120"/>
              </a:rPr>
              <a:t>RF‑01, RF‑02</a:t>
            </a:r>
            <a:endParaRPr lang="en-US" sz="1500" dirty="0"/>
          </a:p>
        </p:txBody>
      </p:sp>
      <p:sp>
        <p:nvSpPr>
          <p:cNvPr id="7" name="card-145"/>
          <p:cNvSpPr/>
          <p:nvPr/>
        </p:nvSpPr>
        <p:spPr>
          <a:xfrm>
            <a:off x="3840480" y="1920240"/>
            <a:ext cx="3108960" cy="914400"/>
          </a:xfrm>
          <a:prstGeom prst="roundRect">
            <a:avLst>
              <a:gd name="adj" fmla="val 12000"/>
            </a:avLst>
          </a:prstGeom>
          <a:solidFill>
            <a:schemeClr val="accent6"/>
          </a:solidFill>
          <a:ln/>
        </p:spPr>
      </p:sp>
      <p:sp>
        <p:nvSpPr>
          <p:cNvPr id="8" name="Text 6"/>
          <p:cNvSpPr txBox="1"/>
          <p:nvPr/>
        </p:nvSpPr>
        <p:spPr>
          <a:xfrm>
            <a:off x="4023360" y="1920240"/>
            <a:ext cx="2743200" cy="914400"/>
          </a:xfrm>
          <a:prstGeom prst="rect">
            <a:avLst/>
          </a:prstGeom>
          <a:noFill/>
          <a:ln/>
        </p:spPr>
        <p:txBody>
          <a:bodyPr wrap="square" lIns="0" tIns="0" rIns="0" bIns="0" rtlCol="0" anchor="ctr"/>
          <a:lstStyle/>
          <a:p>
            <a:pPr indent="0" marL="0">
              <a:buNone/>
            </a:pPr>
            <a:r>
              <a:rPr lang="en-US" sz="1500" b="1" dirty="0">
                <a:solidFill>
                  <a:schemeClr val="tx1"/>
                </a:solidFill>
                <a:latin typeface="Calibri" pitchFamily="34" charset="0"/>
                <a:ea typeface="Calibri" pitchFamily="34" charset="-122"/>
                <a:cs typeface="Calibri" pitchFamily="34" charset="-120"/>
              </a:rPr>
              <a:t>Armar el pedido</a:t>
            </a:r>
            <a:endParaRPr lang="en-US" sz="1500" dirty="0"/>
          </a:p>
          <a:p>
            <a:pPr indent="0" marL="0">
              <a:buNone/>
            </a:pPr>
            <a:r>
              <a:rPr lang="en-US" sz="1300" dirty="0">
                <a:solidFill>
                  <a:schemeClr val="accent4"/>
                </a:solidFill>
                <a:latin typeface="Calibri" pitchFamily="34" charset="0"/>
                <a:ea typeface="Calibri" pitchFamily="34" charset="-122"/>
                <a:cs typeface="Calibri" pitchFamily="34" charset="-120"/>
              </a:rPr>
              <a:t>RF‑03 a RF‑06</a:t>
            </a:r>
            <a:endParaRPr lang="en-US" sz="1500" dirty="0"/>
          </a:p>
        </p:txBody>
      </p:sp>
      <p:sp>
        <p:nvSpPr>
          <p:cNvPr id="9" name="card-146"/>
          <p:cNvSpPr/>
          <p:nvPr/>
        </p:nvSpPr>
        <p:spPr>
          <a:xfrm>
            <a:off x="548640" y="2971800"/>
            <a:ext cx="3108960" cy="914400"/>
          </a:xfrm>
          <a:prstGeom prst="roundRect">
            <a:avLst>
              <a:gd name="adj" fmla="val 12000"/>
            </a:avLst>
          </a:prstGeom>
          <a:solidFill>
            <a:schemeClr val="accent6"/>
          </a:solidFill>
          <a:ln/>
        </p:spPr>
      </p:sp>
      <p:sp>
        <p:nvSpPr>
          <p:cNvPr id="10" name="Text 8"/>
          <p:cNvSpPr txBox="1"/>
          <p:nvPr/>
        </p:nvSpPr>
        <p:spPr>
          <a:xfrm>
            <a:off x="731520" y="2971800"/>
            <a:ext cx="2743200" cy="914400"/>
          </a:xfrm>
          <a:prstGeom prst="rect">
            <a:avLst/>
          </a:prstGeom>
          <a:noFill/>
          <a:ln/>
        </p:spPr>
        <p:txBody>
          <a:bodyPr wrap="square" lIns="0" tIns="0" rIns="0" bIns="0" rtlCol="0" anchor="ctr"/>
          <a:lstStyle/>
          <a:p>
            <a:pPr indent="0" marL="0">
              <a:buNone/>
            </a:pPr>
            <a:r>
              <a:rPr lang="en-US" sz="1500" b="1" dirty="0">
                <a:solidFill>
                  <a:schemeClr val="tx1"/>
                </a:solidFill>
                <a:latin typeface="Calibri" pitchFamily="34" charset="0"/>
                <a:ea typeface="Calibri" pitchFamily="34" charset="-122"/>
                <a:cs typeface="Calibri" pitchFamily="34" charset="-120"/>
              </a:rPr>
              <a:t>Datos y validación</a:t>
            </a:r>
            <a:endParaRPr lang="en-US" sz="1500" dirty="0"/>
          </a:p>
          <a:p>
            <a:pPr indent="0" marL="0">
              <a:buNone/>
            </a:pPr>
            <a:r>
              <a:rPr lang="en-US" sz="1300" dirty="0">
                <a:solidFill>
                  <a:schemeClr val="accent4"/>
                </a:solidFill>
                <a:latin typeface="Calibri" pitchFamily="34" charset="0"/>
                <a:ea typeface="Calibri" pitchFamily="34" charset="-122"/>
                <a:cs typeface="Calibri" pitchFamily="34" charset="-120"/>
              </a:rPr>
              <a:t>RF‑07 a RF‑10</a:t>
            </a:r>
            <a:endParaRPr lang="en-US" sz="1500" dirty="0"/>
          </a:p>
        </p:txBody>
      </p:sp>
      <p:sp>
        <p:nvSpPr>
          <p:cNvPr id="11" name="card-147"/>
          <p:cNvSpPr/>
          <p:nvPr/>
        </p:nvSpPr>
        <p:spPr>
          <a:xfrm>
            <a:off x="3840480" y="2971800"/>
            <a:ext cx="3108960" cy="914400"/>
          </a:xfrm>
          <a:prstGeom prst="roundRect">
            <a:avLst>
              <a:gd name="adj" fmla="val 12000"/>
            </a:avLst>
          </a:prstGeom>
          <a:solidFill>
            <a:schemeClr val="accent6"/>
          </a:solidFill>
          <a:ln/>
        </p:spPr>
      </p:sp>
      <p:sp>
        <p:nvSpPr>
          <p:cNvPr id="12" name="Text 10"/>
          <p:cNvSpPr txBox="1"/>
          <p:nvPr/>
        </p:nvSpPr>
        <p:spPr>
          <a:xfrm>
            <a:off x="4023360" y="2971800"/>
            <a:ext cx="2743200" cy="914400"/>
          </a:xfrm>
          <a:prstGeom prst="rect">
            <a:avLst/>
          </a:prstGeom>
          <a:noFill/>
          <a:ln/>
        </p:spPr>
        <p:txBody>
          <a:bodyPr wrap="square" lIns="0" tIns="0" rIns="0" bIns="0" rtlCol="0" anchor="ctr"/>
          <a:lstStyle/>
          <a:p>
            <a:pPr indent="0" marL="0">
              <a:buNone/>
            </a:pPr>
            <a:r>
              <a:rPr lang="en-US" sz="1500" b="1" dirty="0">
                <a:solidFill>
                  <a:schemeClr val="tx1"/>
                </a:solidFill>
                <a:latin typeface="Calibri" pitchFamily="34" charset="0"/>
                <a:ea typeface="Calibri" pitchFamily="34" charset="-122"/>
                <a:cs typeface="Calibri" pitchFamily="34" charset="-120"/>
              </a:rPr>
              <a:t>Recibo, WhatsApp y pago</a:t>
            </a:r>
            <a:endParaRPr lang="en-US" sz="1500" dirty="0"/>
          </a:p>
          <a:p>
            <a:pPr indent="0" marL="0">
              <a:buNone/>
            </a:pPr>
            <a:r>
              <a:rPr lang="en-US" sz="1300" dirty="0">
                <a:solidFill>
                  <a:schemeClr val="accent4"/>
                </a:solidFill>
                <a:latin typeface="Calibri" pitchFamily="34" charset="0"/>
                <a:ea typeface="Calibri" pitchFamily="34" charset="-122"/>
                <a:cs typeface="Calibri" pitchFamily="34" charset="-120"/>
              </a:rPr>
              <a:t>RF‑11 a RF‑13</a:t>
            </a:r>
            <a:endParaRPr lang="en-US" sz="1500" dirty="0"/>
          </a:p>
        </p:txBody>
      </p:sp>
      <p:sp>
        <p:nvSpPr>
          <p:cNvPr id="13" name="card-148"/>
          <p:cNvSpPr/>
          <p:nvPr/>
        </p:nvSpPr>
        <p:spPr>
          <a:xfrm>
            <a:off x="548640" y="4023360"/>
            <a:ext cx="3108960" cy="914400"/>
          </a:xfrm>
          <a:prstGeom prst="roundRect">
            <a:avLst>
              <a:gd name="adj" fmla="val 12000"/>
            </a:avLst>
          </a:prstGeom>
          <a:solidFill>
            <a:schemeClr val="accent6"/>
          </a:solidFill>
          <a:ln/>
        </p:spPr>
      </p:sp>
      <p:sp>
        <p:nvSpPr>
          <p:cNvPr id="14" name="Text 12"/>
          <p:cNvSpPr txBox="1"/>
          <p:nvPr/>
        </p:nvSpPr>
        <p:spPr>
          <a:xfrm>
            <a:off x="731520" y="4023360"/>
            <a:ext cx="2743200" cy="914400"/>
          </a:xfrm>
          <a:prstGeom prst="rect">
            <a:avLst/>
          </a:prstGeom>
          <a:noFill/>
          <a:ln/>
        </p:spPr>
        <p:txBody>
          <a:bodyPr wrap="square" lIns="0" tIns="0" rIns="0" bIns="0" rtlCol="0" anchor="ctr"/>
          <a:lstStyle/>
          <a:p>
            <a:pPr indent="0" marL="0">
              <a:buNone/>
            </a:pPr>
            <a:r>
              <a:rPr lang="en-US" sz="1500" b="1" dirty="0">
                <a:solidFill>
                  <a:schemeClr val="tx1"/>
                </a:solidFill>
                <a:latin typeface="Calibri" pitchFamily="34" charset="0"/>
                <a:ea typeface="Calibri" pitchFamily="34" charset="-122"/>
                <a:cs typeface="Calibri" pitchFamily="34" charset="-120"/>
              </a:rPr>
              <a:t>Planilla y administración</a:t>
            </a:r>
            <a:endParaRPr lang="en-US" sz="1500" dirty="0"/>
          </a:p>
          <a:p>
            <a:pPr indent="0" marL="0">
              <a:buNone/>
            </a:pPr>
            <a:r>
              <a:rPr lang="en-US" sz="1300" dirty="0">
                <a:solidFill>
                  <a:schemeClr val="accent4"/>
                </a:solidFill>
                <a:latin typeface="Calibri" pitchFamily="34" charset="0"/>
                <a:ea typeface="Calibri" pitchFamily="34" charset="-122"/>
                <a:cs typeface="Calibri" pitchFamily="34" charset="-120"/>
              </a:rPr>
              <a:t>RF‑14 a RF‑17, RF‑19</a:t>
            </a:r>
            <a:endParaRPr lang="en-US" sz="1500" dirty="0"/>
          </a:p>
        </p:txBody>
      </p:sp>
      <p:sp>
        <p:nvSpPr>
          <p:cNvPr id="15" name="card-149"/>
          <p:cNvSpPr/>
          <p:nvPr/>
        </p:nvSpPr>
        <p:spPr>
          <a:xfrm>
            <a:off x="3840480" y="4023360"/>
            <a:ext cx="3108960" cy="914400"/>
          </a:xfrm>
          <a:prstGeom prst="roundRect">
            <a:avLst>
              <a:gd name="adj" fmla="val 12000"/>
            </a:avLst>
          </a:prstGeom>
          <a:solidFill>
            <a:schemeClr val="accent6"/>
          </a:solidFill>
          <a:ln/>
        </p:spPr>
      </p:sp>
      <p:sp>
        <p:nvSpPr>
          <p:cNvPr id="16" name="Text 14"/>
          <p:cNvSpPr txBox="1"/>
          <p:nvPr/>
        </p:nvSpPr>
        <p:spPr>
          <a:xfrm>
            <a:off x="4023360" y="4023360"/>
            <a:ext cx="2743200" cy="914400"/>
          </a:xfrm>
          <a:prstGeom prst="rect">
            <a:avLst/>
          </a:prstGeom>
          <a:noFill/>
          <a:ln/>
        </p:spPr>
        <p:txBody>
          <a:bodyPr wrap="square" lIns="0" tIns="0" rIns="0" bIns="0" rtlCol="0" anchor="ctr"/>
          <a:lstStyle/>
          <a:p>
            <a:pPr indent="0" marL="0">
              <a:buNone/>
            </a:pPr>
            <a:r>
              <a:rPr lang="en-US" sz="1500" b="1" dirty="0">
                <a:solidFill>
                  <a:schemeClr val="tx1"/>
                </a:solidFill>
                <a:latin typeface="Calibri" pitchFamily="34" charset="0"/>
                <a:ea typeface="Calibri" pitchFamily="34" charset="-122"/>
                <a:cs typeface="Calibri" pitchFamily="34" charset="-120"/>
              </a:rPr>
              <a:t>Protección y horario</a:t>
            </a:r>
            <a:endParaRPr lang="en-US" sz="1500" dirty="0"/>
          </a:p>
          <a:p>
            <a:pPr indent="0" marL="0">
              <a:buNone/>
            </a:pPr>
            <a:r>
              <a:rPr lang="en-US" sz="1300" dirty="0">
                <a:solidFill>
                  <a:schemeClr val="accent4"/>
                </a:solidFill>
                <a:latin typeface="Calibri" pitchFamily="34" charset="0"/>
                <a:ea typeface="Calibri" pitchFamily="34" charset="-122"/>
                <a:cs typeface="Calibri" pitchFamily="34" charset="-120"/>
              </a:rPr>
              <a:t>RF‑18, RF‑20</a:t>
            </a:r>
            <a:endParaRPr lang="en-US" sz="1500" dirty="0"/>
          </a:p>
        </p:txBody>
      </p:sp>
      <p:sp>
        <p:nvSpPr>
          <p:cNvPr id="17" name="Text 15"/>
          <p:cNvSpPr txBox="1"/>
          <p:nvPr/>
        </p:nvSpPr>
        <p:spPr>
          <a:xfrm>
            <a:off x="548640" y="5120640"/>
            <a:ext cx="6400800" cy="365760"/>
          </a:xfrm>
          <a:prstGeom prst="rect">
            <a:avLst/>
          </a:prstGeom>
          <a:noFill/>
          <a:ln/>
        </p:spPr>
        <p:txBody>
          <a:bodyPr wrap="square" lIns="0" tIns="0" rIns="0" bIns="0" rtlCol="0" anchor="t"/>
          <a:lstStyle/>
          <a:p>
            <a:pPr indent="0" marL="0">
              <a:buNone/>
            </a:pPr>
            <a:r>
              <a:rPr lang="en-US" sz="1400" b="1" dirty="0">
                <a:solidFill>
                  <a:schemeClr val="tx2"/>
                </a:solidFill>
                <a:latin typeface="Calibri" pitchFamily="34" charset="0"/>
                <a:ea typeface="Calibri" pitchFamily="34" charset="-122"/>
                <a:cs typeface="Calibri" pitchFamily="34" charset="-120"/>
              </a:rPr>
              <a:t>18 de 20 verificados con pruebas · 2 se validan con el uso real</a:t>
            </a:r>
            <a:endParaRPr lang="en-US" sz="1400" dirty="0"/>
          </a:p>
        </p:txBody>
      </p:sp>
      <p:sp>
        <p:nvSpPr>
          <p:cNvPr id="18" name="Text 16"/>
          <p:cNvSpPr txBox="1"/>
          <p:nvPr/>
        </p:nvSpPr>
        <p:spPr>
          <a:xfrm>
            <a:off x="7406640" y="1463040"/>
            <a:ext cx="4206240" cy="365760"/>
          </a:xfrm>
          <a:prstGeom prst="rect">
            <a:avLst/>
          </a:prstGeom>
          <a:noFill/>
          <a:ln/>
        </p:spPr>
        <p:txBody>
          <a:bodyPr wrap="square" lIns="0" tIns="0" rIns="0" bIns="0" rtlCol="0" anchor="t"/>
          <a:lstStyle/>
          <a:p>
            <a:pPr indent="0" marL="0">
              <a:buNone/>
            </a:pPr>
            <a:r>
              <a:rPr lang="en-US" sz="1600" b="1" dirty="0">
                <a:solidFill>
                  <a:schemeClr val="accent1"/>
                </a:solidFill>
                <a:latin typeface="Calibri" pitchFamily="34" charset="0"/>
                <a:ea typeface="Calibri" pitchFamily="34" charset="-122"/>
                <a:cs typeface="Calibri" pitchFamily="34" charset="-120"/>
              </a:rPr>
              <a:t>No funcionales (ISO/IEC 25010)</a:t>
            </a:r>
            <a:endParaRPr lang="en-US" sz="1600" dirty="0"/>
          </a:p>
        </p:txBody>
      </p:sp>
      <p:sp>
        <p:nvSpPr>
          <p:cNvPr id="19" name="etiqueta-150"/>
          <p:cNvSpPr/>
          <p:nvPr/>
        </p:nvSpPr>
        <p:spPr>
          <a:xfrm>
            <a:off x="7406640" y="1965960"/>
            <a:ext cx="2011680" cy="310896"/>
          </a:xfrm>
          <a:prstGeom prst="roundRect">
            <a:avLst>
              <a:gd name="adj" fmla="val 50000"/>
            </a:avLst>
          </a:prstGeom>
          <a:solidFill>
            <a:schemeClr val="accent1"/>
          </a:solidFill>
          <a:ln/>
        </p:spPr>
      </p:sp>
      <p:sp>
        <p:nvSpPr>
          <p:cNvPr id="20" name="Text 18"/>
          <p:cNvSpPr txBox="1"/>
          <p:nvPr/>
        </p:nvSpPr>
        <p:spPr>
          <a:xfrm>
            <a:off x="7406640" y="1965960"/>
            <a:ext cx="2011680" cy="310896"/>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Usabilidad</a:t>
            </a:r>
            <a:endParaRPr lang="en-US" sz="1100" dirty="0"/>
          </a:p>
        </p:txBody>
      </p:sp>
      <p:sp>
        <p:nvSpPr>
          <p:cNvPr id="21" name="etiqueta-151"/>
          <p:cNvSpPr/>
          <p:nvPr/>
        </p:nvSpPr>
        <p:spPr>
          <a:xfrm>
            <a:off x="9555480" y="1965960"/>
            <a:ext cx="2011680" cy="310896"/>
          </a:xfrm>
          <a:prstGeom prst="roundRect">
            <a:avLst>
              <a:gd name="adj" fmla="val 50000"/>
            </a:avLst>
          </a:prstGeom>
          <a:solidFill>
            <a:schemeClr val="accent1"/>
          </a:solidFill>
          <a:ln/>
        </p:spPr>
      </p:sp>
      <p:sp>
        <p:nvSpPr>
          <p:cNvPr id="22" name="Text 20"/>
          <p:cNvSpPr txBox="1"/>
          <p:nvPr/>
        </p:nvSpPr>
        <p:spPr>
          <a:xfrm>
            <a:off x="9555480" y="1965960"/>
            <a:ext cx="2011680" cy="310896"/>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Compatibilidad</a:t>
            </a:r>
            <a:endParaRPr lang="en-US" sz="1100" dirty="0"/>
          </a:p>
        </p:txBody>
      </p:sp>
      <p:sp>
        <p:nvSpPr>
          <p:cNvPr id="23" name="etiqueta-152"/>
          <p:cNvSpPr/>
          <p:nvPr/>
        </p:nvSpPr>
        <p:spPr>
          <a:xfrm>
            <a:off x="7406640" y="2514600"/>
            <a:ext cx="2011680" cy="310896"/>
          </a:xfrm>
          <a:prstGeom prst="roundRect">
            <a:avLst>
              <a:gd name="adj" fmla="val 50000"/>
            </a:avLst>
          </a:prstGeom>
          <a:solidFill>
            <a:schemeClr val="accent1"/>
          </a:solidFill>
          <a:ln/>
        </p:spPr>
      </p:sp>
      <p:sp>
        <p:nvSpPr>
          <p:cNvPr id="24" name="Text 22"/>
          <p:cNvSpPr txBox="1"/>
          <p:nvPr/>
        </p:nvSpPr>
        <p:spPr>
          <a:xfrm>
            <a:off x="7406640" y="2514600"/>
            <a:ext cx="2011680" cy="310896"/>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Seguridad</a:t>
            </a:r>
            <a:endParaRPr lang="en-US" sz="1100" dirty="0"/>
          </a:p>
        </p:txBody>
      </p:sp>
      <p:sp>
        <p:nvSpPr>
          <p:cNvPr id="25" name="etiqueta-153"/>
          <p:cNvSpPr/>
          <p:nvPr/>
        </p:nvSpPr>
        <p:spPr>
          <a:xfrm>
            <a:off x="9555480" y="2514600"/>
            <a:ext cx="2011680" cy="310896"/>
          </a:xfrm>
          <a:prstGeom prst="roundRect">
            <a:avLst>
              <a:gd name="adj" fmla="val 50000"/>
            </a:avLst>
          </a:prstGeom>
          <a:solidFill>
            <a:schemeClr val="accent1"/>
          </a:solidFill>
          <a:ln/>
        </p:spPr>
      </p:sp>
      <p:sp>
        <p:nvSpPr>
          <p:cNvPr id="26" name="Text 24"/>
          <p:cNvSpPr txBox="1"/>
          <p:nvPr/>
        </p:nvSpPr>
        <p:spPr>
          <a:xfrm>
            <a:off x="9555480" y="2514600"/>
            <a:ext cx="2011680" cy="310896"/>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Fiabilidad</a:t>
            </a:r>
            <a:endParaRPr lang="en-US" sz="1100" dirty="0"/>
          </a:p>
        </p:txBody>
      </p:sp>
      <p:sp>
        <p:nvSpPr>
          <p:cNvPr id="27" name="etiqueta-154"/>
          <p:cNvSpPr/>
          <p:nvPr/>
        </p:nvSpPr>
        <p:spPr>
          <a:xfrm>
            <a:off x="7406640" y="3063240"/>
            <a:ext cx="2011680" cy="310896"/>
          </a:xfrm>
          <a:prstGeom prst="roundRect">
            <a:avLst>
              <a:gd name="adj" fmla="val 50000"/>
            </a:avLst>
          </a:prstGeom>
          <a:solidFill>
            <a:schemeClr val="accent2"/>
          </a:solidFill>
          <a:ln/>
        </p:spPr>
      </p:sp>
      <p:sp>
        <p:nvSpPr>
          <p:cNvPr id="28" name="Text 26"/>
          <p:cNvSpPr txBox="1"/>
          <p:nvPr/>
        </p:nvSpPr>
        <p:spPr>
          <a:xfrm>
            <a:off x="7406640" y="3063240"/>
            <a:ext cx="2011680" cy="310896"/>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Eficiencia</a:t>
            </a:r>
            <a:endParaRPr lang="en-US" sz="1100" dirty="0"/>
          </a:p>
        </p:txBody>
      </p:sp>
      <p:sp>
        <p:nvSpPr>
          <p:cNvPr id="29" name="etiqueta-155"/>
          <p:cNvSpPr/>
          <p:nvPr/>
        </p:nvSpPr>
        <p:spPr>
          <a:xfrm>
            <a:off x="9555480" y="3063240"/>
            <a:ext cx="2011680" cy="310896"/>
          </a:xfrm>
          <a:prstGeom prst="roundRect">
            <a:avLst>
              <a:gd name="adj" fmla="val 50000"/>
            </a:avLst>
          </a:prstGeom>
          <a:solidFill>
            <a:schemeClr val="accent2"/>
          </a:solidFill>
          <a:ln/>
        </p:spPr>
      </p:sp>
      <p:sp>
        <p:nvSpPr>
          <p:cNvPr id="30" name="Text 28"/>
          <p:cNvSpPr txBox="1"/>
          <p:nvPr/>
        </p:nvSpPr>
        <p:spPr>
          <a:xfrm>
            <a:off x="9555480" y="3063240"/>
            <a:ext cx="2011680" cy="310896"/>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Mantenibilidad</a:t>
            </a:r>
            <a:endParaRPr lang="en-US" sz="1100" dirty="0"/>
          </a:p>
        </p:txBody>
      </p:sp>
      <p:sp>
        <p:nvSpPr>
          <p:cNvPr id="31" name="etiqueta-156"/>
          <p:cNvSpPr/>
          <p:nvPr/>
        </p:nvSpPr>
        <p:spPr>
          <a:xfrm>
            <a:off x="7406640" y="3611880"/>
            <a:ext cx="2011680" cy="310896"/>
          </a:xfrm>
          <a:prstGeom prst="roundRect">
            <a:avLst>
              <a:gd name="adj" fmla="val 50000"/>
            </a:avLst>
          </a:prstGeom>
          <a:solidFill>
            <a:schemeClr val="accent2"/>
          </a:solidFill>
          <a:ln/>
        </p:spPr>
      </p:sp>
      <p:sp>
        <p:nvSpPr>
          <p:cNvPr id="32" name="Text 30"/>
          <p:cNvSpPr txBox="1"/>
          <p:nvPr/>
        </p:nvSpPr>
        <p:spPr>
          <a:xfrm>
            <a:off x="7406640" y="3611880"/>
            <a:ext cx="2011680" cy="310896"/>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Accesibilidad</a:t>
            </a:r>
            <a:endParaRPr lang="en-US" sz="1100" dirty="0"/>
          </a:p>
        </p:txBody>
      </p:sp>
      <p:sp>
        <p:nvSpPr>
          <p:cNvPr id="33" name="etiqueta-157"/>
          <p:cNvSpPr/>
          <p:nvPr/>
        </p:nvSpPr>
        <p:spPr>
          <a:xfrm>
            <a:off x="9555480" y="3611880"/>
            <a:ext cx="2011680" cy="310896"/>
          </a:xfrm>
          <a:prstGeom prst="roundRect">
            <a:avLst>
              <a:gd name="adj" fmla="val 50000"/>
            </a:avLst>
          </a:prstGeom>
          <a:solidFill>
            <a:schemeClr val="accent2"/>
          </a:solidFill>
          <a:ln/>
        </p:spPr>
      </p:sp>
      <p:sp>
        <p:nvSpPr>
          <p:cNvPr id="34" name="Text 32"/>
          <p:cNvSpPr txBox="1"/>
          <p:nvPr/>
        </p:nvSpPr>
        <p:spPr>
          <a:xfrm>
            <a:off x="9555480" y="3611880"/>
            <a:ext cx="2011680" cy="310896"/>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Costo y disponibilidad</a:t>
            </a:r>
            <a:endParaRPr lang="en-US" sz="1100" dirty="0"/>
          </a:p>
        </p:txBody>
      </p:sp>
      <p:sp>
        <p:nvSpPr>
          <p:cNvPr id="35" name="card-158"/>
          <p:cNvSpPr/>
          <p:nvPr/>
        </p:nvSpPr>
        <p:spPr>
          <a:xfrm>
            <a:off x="7406640" y="4343400"/>
            <a:ext cx="4206240" cy="1828800"/>
          </a:xfrm>
          <a:prstGeom prst="roundRect">
            <a:avLst>
              <a:gd name="adj" fmla="val 6000"/>
            </a:avLst>
          </a:prstGeom>
          <a:solidFill>
            <a:schemeClr val="bg2"/>
          </a:solidFill>
          <a:ln/>
        </p:spPr>
      </p:sp>
      <p:sp>
        <p:nvSpPr>
          <p:cNvPr id="36" name="Text 34"/>
          <p:cNvSpPr txBox="1"/>
          <p:nvPr/>
        </p:nvSpPr>
        <p:spPr>
          <a:xfrm>
            <a:off x="7589520" y="4343400"/>
            <a:ext cx="3840480" cy="182880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Ejemplos: pedido sin ayuda en ≤ 2 minutos · 100 % HTTPS · $0 por mes · 44 pruebas antes de publicar</a:t>
            </a:r>
            <a:endParaRPr lang="en-US" sz="1600" dirty="0"/>
          </a:p>
        </p:txBody>
      </p:sp>
      <p:sp>
        <p:nvSpPr>
          <p:cNvPr id="37" name="Text 35"/>
          <p:cNvSpPr txBox="1"/>
          <p:nvPr/>
        </p:nvSpPr>
        <p:spPr>
          <a:xfrm>
            <a:off x="548640" y="5623560"/>
            <a:ext cx="6400800" cy="320040"/>
          </a:xfrm>
          <a:prstGeom prst="rect">
            <a:avLst/>
          </a:prstGeom>
          <a:noFill/>
          <a:ln/>
        </p:spPr>
        <p:txBody>
          <a:bodyPr wrap="square" lIns="0" tIns="0" rIns="0" bIns="0" rtlCol="0" anchor="t"/>
          <a:lstStyle/>
          <a:p>
            <a:pPr indent="0" marL="0">
              <a:buNone/>
            </a:pPr>
            <a:r>
              <a:rPr lang="en-US" sz="1200" dirty="0">
                <a:solidFill>
                  <a:schemeClr val="accent4"/>
                </a:solidFill>
                <a:latin typeface="Calibri" pitchFamily="34" charset="0"/>
                <a:ea typeface="Calibri" pitchFamily="34" charset="-122"/>
                <a:cs typeface="Calibri" pitchFamily="34" charset="-120"/>
              </a:rPr>
              <a:t>Listado completo y trazabilidad: anexos A5 a A7.</a:t>
            </a:r>
            <a:endParaRPr lang="en-US" sz="12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10896"/>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III. TRABAJO PRINCIPAL · DESARROLLO E INTEGRACIÓN</a:t>
            </a:r>
            <a:endParaRPr lang="en-US" sz="1200" dirty="0"/>
          </a:p>
        </p:txBody>
      </p:sp>
      <p:sp>
        <p:nvSpPr>
          <p:cNvPr id="3" name="Text 0"/>
          <p:cNvSpPr/>
          <p:nvPr>
            <p:ph idx="101" type="title" hasCustomPrompt="1"/>
          </p:nvPr>
        </p:nvSpPr>
        <p:spPr>
          <a:xfrm>
            <a:off x="548640" y="603504"/>
            <a:ext cx="11064240" cy="658368"/>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Desarrollo: cada cambio se prueba antes de publicarse</a:t>
            </a:r>
            <a:endParaRPr lang="en-US" sz="3200" dirty="0"/>
          </a:p>
        </p:txBody>
      </p:sp>
      <p:sp>
        <p:nvSpPr>
          <p:cNvPr id="4" name="icono-fondo-159"/>
          <p:cNvSpPr/>
          <p:nvPr/>
        </p:nvSpPr>
        <p:spPr>
          <a:xfrm>
            <a:off x="1005840" y="1554480"/>
            <a:ext cx="685800" cy="685800"/>
          </a:xfrm>
          <a:prstGeom prst="ellipse">
            <a:avLst/>
          </a:prstGeom>
          <a:solidFill>
            <a:schemeClr val="accent2"/>
          </a:solidFill>
          <a:ln/>
        </p:spPr>
      </p:sp>
      <p:pic>
        <p:nvPicPr>
          <p:cNvPr id="5" name="icono-160" descr="preencoded.png">    </p:cNvPr>
          <p:cNvPicPr>
            <a:picLocks noChangeAspect="1"/>
          </p:cNvPicPr>
          <p:nvPr/>
        </p:nvPicPr>
        <p:blipFill>
          <a:blip r:embed="rId1"/>
          <a:stretch>
            <a:fillRect/>
          </a:stretch>
        </p:blipFill>
        <p:spPr>
          <a:xfrm>
            <a:off x="1170432" y="1719072"/>
            <a:ext cx="356616" cy="356616"/>
          </a:xfrm>
          <a:prstGeom prst="rect">
            <a:avLst/>
          </a:prstGeom>
        </p:spPr>
      </p:pic>
      <p:sp>
        <p:nvSpPr>
          <p:cNvPr id="6" name="Text 3"/>
          <p:cNvSpPr txBox="1"/>
          <p:nvPr/>
        </p:nvSpPr>
        <p:spPr>
          <a:xfrm>
            <a:off x="548640" y="2331720"/>
            <a:ext cx="1600200" cy="32004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Código</a:t>
            </a:r>
            <a:endParaRPr lang="en-US" sz="1500" dirty="0"/>
          </a:p>
        </p:txBody>
      </p:sp>
      <p:sp>
        <p:nvSpPr>
          <p:cNvPr id="7" name="Text 4"/>
          <p:cNvSpPr txBox="1"/>
          <p:nvPr/>
        </p:nvSpPr>
        <p:spPr>
          <a:xfrm>
            <a:off x="548640" y="2651760"/>
            <a:ext cx="1600200" cy="274320"/>
          </a:xfrm>
          <a:prstGeom prst="rect">
            <a:avLst/>
          </a:prstGeom>
          <a:noFill/>
          <a:ln/>
        </p:spPr>
        <p:txBody>
          <a:bodyPr wrap="square" lIns="0" tIns="0" rIns="0" bIns="0" rtlCol="0" anchor="t"/>
          <a:lstStyle/>
          <a:p>
            <a:pPr algn="ctr" indent="0" marL="0">
              <a:buNone/>
            </a:pPr>
            <a:r>
              <a:rPr lang="en-US" sz="1200" dirty="0">
                <a:solidFill>
                  <a:schemeClr val="accent4"/>
                </a:solidFill>
                <a:latin typeface="Calibri" pitchFamily="34" charset="0"/>
                <a:ea typeface="Calibri" pitchFamily="34" charset="-122"/>
                <a:cs typeface="Calibri" pitchFamily="34" charset="-120"/>
              </a:rPr>
              <a:t>VS Code + Git</a:t>
            </a:r>
            <a:endParaRPr lang="en-US" sz="1200" dirty="0"/>
          </a:p>
        </p:txBody>
      </p:sp>
      <p:pic>
        <p:nvPicPr>
          <p:cNvPr id="8" name="flecha-161" descr="preencoded.png">    </p:cNvPr>
          <p:cNvPicPr>
            <a:picLocks noChangeAspect="1"/>
          </p:cNvPicPr>
          <p:nvPr/>
        </p:nvPicPr>
        <p:blipFill>
          <a:blip r:embed="rId2"/>
          <a:stretch>
            <a:fillRect/>
          </a:stretch>
        </p:blipFill>
        <p:spPr>
          <a:xfrm>
            <a:off x="2121408" y="1737360"/>
            <a:ext cx="201168" cy="320040"/>
          </a:xfrm>
          <a:prstGeom prst="rect">
            <a:avLst/>
          </a:prstGeom>
        </p:spPr>
      </p:pic>
      <p:sp>
        <p:nvSpPr>
          <p:cNvPr id="9" name="icono-fondo-162"/>
          <p:cNvSpPr/>
          <p:nvPr/>
        </p:nvSpPr>
        <p:spPr>
          <a:xfrm>
            <a:off x="2788920" y="1554480"/>
            <a:ext cx="685800" cy="685800"/>
          </a:xfrm>
          <a:prstGeom prst="ellipse">
            <a:avLst/>
          </a:prstGeom>
          <a:solidFill>
            <a:schemeClr val="accent2"/>
          </a:solidFill>
          <a:ln/>
        </p:spPr>
      </p:sp>
      <p:pic>
        <p:nvPicPr>
          <p:cNvPr id="10" name="icono-163" descr="preencoded.png">    </p:cNvPr>
          <p:cNvPicPr>
            <a:picLocks noChangeAspect="1"/>
          </p:cNvPicPr>
          <p:nvPr/>
        </p:nvPicPr>
        <p:blipFill>
          <a:blip r:embed="rId3"/>
          <a:stretch>
            <a:fillRect/>
          </a:stretch>
        </p:blipFill>
        <p:spPr>
          <a:xfrm>
            <a:off x="2953512" y="1719072"/>
            <a:ext cx="356616" cy="356616"/>
          </a:xfrm>
          <a:prstGeom prst="rect">
            <a:avLst/>
          </a:prstGeom>
        </p:spPr>
      </p:pic>
      <p:sp>
        <p:nvSpPr>
          <p:cNvPr id="11" name="Text 6"/>
          <p:cNvSpPr txBox="1"/>
          <p:nvPr/>
        </p:nvSpPr>
        <p:spPr>
          <a:xfrm>
            <a:off x="2331720" y="2331720"/>
            <a:ext cx="1600200" cy="32004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GitHub</a:t>
            </a:r>
            <a:endParaRPr lang="en-US" sz="1500" dirty="0"/>
          </a:p>
        </p:txBody>
      </p:sp>
      <p:sp>
        <p:nvSpPr>
          <p:cNvPr id="12" name="Text 7"/>
          <p:cNvSpPr txBox="1"/>
          <p:nvPr/>
        </p:nvSpPr>
        <p:spPr>
          <a:xfrm>
            <a:off x="2331720" y="2651760"/>
            <a:ext cx="1600200" cy="274320"/>
          </a:xfrm>
          <a:prstGeom prst="rect">
            <a:avLst/>
          </a:prstGeom>
          <a:noFill/>
          <a:ln/>
        </p:spPr>
        <p:txBody>
          <a:bodyPr wrap="square" lIns="0" tIns="0" rIns="0" bIns="0" rtlCol="0" anchor="t"/>
          <a:lstStyle/>
          <a:p>
            <a:pPr algn="ctr" indent="0" marL="0">
              <a:buNone/>
            </a:pPr>
            <a:r>
              <a:rPr lang="en-US" sz="1200" dirty="0">
                <a:solidFill>
                  <a:schemeClr val="accent4"/>
                </a:solidFill>
                <a:latin typeface="Calibri" pitchFamily="34" charset="0"/>
                <a:ea typeface="Calibri" pitchFamily="34" charset="-122"/>
                <a:cs typeface="Calibri" pitchFamily="34" charset="-120"/>
              </a:rPr>
              <a:t>push a main</a:t>
            </a:r>
            <a:endParaRPr lang="en-US" sz="1200" dirty="0"/>
          </a:p>
        </p:txBody>
      </p:sp>
      <p:pic>
        <p:nvPicPr>
          <p:cNvPr id="13" name="flecha-164" descr="preencoded.png">    </p:cNvPr>
          <p:cNvPicPr>
            <a:picLocks noChangeAspect="1"/>
          </p:cNvPicPr>
          <p:nvPr/>
        </p:nvPicPr>
        <p:blipFill>
          <a:blip r:embed="rId4"/>
          <a:stretch>
            <a:fillRect/>
          </a:stretch>
        </p:blipFill>
        <p:spPr>
          <a:xfrm>
            <a:off x="3904488" y="1737360"/>
            <a:ext cx="201168" cy="320040"/>
          </a:xfrm>
          <a:prstGeom prst="rect">
            <a:avLst/>
          </a:prstGeom>
        </p:spPr>
      </p:pic>
      <p:sp>
        <p:nvSpPr>
          <p:cNvPr id="14" name="icono-fondo-165"/>
          <p:cNvSpPr/>
          <p:nvPr/>
        </p:nvSpPr>
        <p:spPr>
          <a:xfrm>
            <a:off x="4572000" y="1554480"/>
            <a:ext cx="685800" cy="685800"/>
          </a:xfrm>
          <a:prstGeom prst="ellipse">
            <a:avLst/>
          </a:prstGeom>
          <a:solidFill>
            <a:schemeClr val="accent1"/>
          </a:solidFill>
          <a:ln/>
        </p:spPr>
      </p:sp>
      <p:pic>
        <p:nvPicPr>
          <p:cNvPr id="15" name="icono-166" descr="preencoded.png">    </p:cNvPr>
          <p:cNvPicPr>
            <a:picLocks noChangeAspect="1"/>
          </p:cNvPicPr>
          <p:nvPr/>
        </p:nvPicPr>
        <p:blipFill>
          <a:blip r:embed="rId5"/>
          <a:stretch>
            <a:fillRect/>
          </a:stretch>
        </p:blipFill>
        <p:spPr>
          <a:xfrm>
            <a:off x="4736592" y="1719072"/>
            <a:ext cx="356616" cy="356616"/>
          </a:xfrm>
          <a:prstGeom prst="rect">
            <a:avLst/>
          </a:prstGeom>
        </p:spPr>
      </p:pic>
      <p:sp>
        <p:nvSpPr>
          <p:cNvPr id="16" name="Text 9"/>
          <p:cNvSpPr txBox="1"/>
          <p:nvPr/>
        </p:nvSpPr>
        <p:spPr>
          <a:xfrm>
            <a:off x="4114800" y="2331720"/>
            <a:ext cx="1600200" cy="32004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44 pruebas</a:t>
            </a:r>
            <a:endParaRPr lang="en-US" sz="1500" dirty="0"/>
          </a:p>
        </p:txBody>
      </p:sp>
      <p:sp>
        <p:nvSpPr>
          <p:cNvPr id="17" name="Text 10"/>
          <p:cNvSpPr txBox="1"/>
          <p:nvPr/>
        </p:nvSpPr>
        <p:spPr>
          <a:xfrm>
            <a:off x="4114800" y="2651760"/>
            <a:ext cx="1600200" cy="274320"/>
          </a:xfrm>
          <a:prstGeom prst="rect">
            <a:avLst/>
          </a:prstGeom>
          <a:noFill/>
          <a:ln/>
        </p:spPr>
        <p:txBody>
          <a:bodyPr wrap="square" lIns="0" tIns="0" rIns="0" bIns="0" rtlCol="0" anchor="t"/>
          <a:lstStyle/>
          <a:p>
            <a:pPr algn="ctr" indent="0" marL="0">
              <a:buNone/>
            </a:pPr>
            <a:r>
              <a:rPr lang="en-US" sz="1200" dirty="0">
                <a:solidFill>
                  <a:schemeClr val="accent4"/>
                </a:solidFill>
                <a:latin typeface="Calibri" pitchFamily="34" charset="0"/>
                <a:ea typeface="Calibri" pitchFamily="34" charset="-122"/>
                <a:cs typeface="Calibri" pitchFamily="34" charset="-120"/>
              </a:rPr>
              <a:t>automáticas</a:t>
            </a:r>
            <a:endParaRPr lang="en-US" sz="1200" dirty="0"/>
          </a:p>
        </p:txBody>
      </p:sp>
      <p:pic>
        <p:nvPicPr>
          <p:cNvPr id="18" name="flecha-167" descr="preencoded.png">    </p:cNvPr>
          <p:cNvPicPr>
            <a:picLocks noChangeAspect="1"/>
          </p:cNvPicPr>
          <p:nvPr/>
        </p:nvPicPr>
        <p:blipFill>
          <a:blip r:embed="rId6"/>
          <a:stretch>
            <a:fillRect/>
          </a:stretch>
        </p:blipFill>
        <p:spPr>
          <a:xfrm>
            <a:off x="5687568" y="1737360"/>
            <a:ext cx="201168" cy="320040"/>
          </a:xfrm>
          <a:prstGeom prst="rect">
            <a:avLst/>
          </a:prstGeom>
        </p:spPr>
      </p:pic>
      <p:sp>
        <p:nvSpPr>
          <p:cNvPr id="19" name="icono-fondo-168"/>
          <p:cNvSpPr/>
          <p:nvPr/>
        </p:nvSpPr>
        <p:spPr>
          <a:xfrm>
            <a:off x="6355080" y="1554480"/>
            <a:ext cx="685800" cy="685800"/>
          </a:xfrm>
          <a:prstGeom prst="ellipse">
            <a:avLst/>
          </a:prstGeom>
          <a:solidFill>
            <a:schemeClr val="accent2"/>
          </a:solidFill>
          <a:ln/>
        </p:spPr>
      </p:sp>
      <p:pic>
        <p:nvPicPr>
          <p:cNvPr id="20" name="icono-169" descr="preencoded.png">    </p:cNvPr>
          <p:cNvPicPr>
            <a:picLocks noChangeAspect="1"/>
          </p:cNvPicPr>
          <p:nvPr/>
        </p:nvPicPr>
        <p:blipFill>
          <a:blip r:embed="rId7"/>
          <a:stretch>
            <a:fillRect/>
          </a:stretch>
        </p:blipFill>
        <p:spPr>
          <a:xfrm>
            <a:off x="6519672" y="1719072"/>
            <a:ext cx="356616" cy="356616"/>
          </a:xfrm>
          <a:prstGeom prst="rect">
            <a:avLst/>
          </a:prstGeom>
        </p:spPr>
      </p:pic>
      <p:sp>
        <p:nvSpPr>
          <p:cNvPr id="21" name="Text 12"/>
          <p:cNvSpPr txBox="1"/>
          <p:nvPr/>
        </p:nvSpPr>
        <p:spPr>
          <a:xfrm>
            <a:off x="5897880" y="2331720"/>
            <a:ext cx="1600200" cy="320040"/>
          </a:xfrm>
          <a:prstGeom prst="rect">
            <a:avLst/>
          </a:prstGeom>
          <a:noFill/>
          <a:ln/>
        </p:spPr>
        <p:txBody>
          <a:bodyPr wrap="square" lIns="0" tIns="0" rIns="0" bIns="0" rtlCol="0" anchor="t"/>
          <a:lstStyle/>
          <a:p>
            <a:pPr algn="ctr" indent="0" marL="0">
              <a:buNone/>
            </a:pPr>
            <a:r>
              <a:rPr lang="en-US" sz="1500" b="1" dirty="0">
                <a:solidFill>
                  <a:schemeClr val="tx1"/>
                </a:solidFill>
                <a:latin typeface="Calibri" pitchFamily="34" charset="0"/>
                <a:ea typeface="Calibri" pitchFamily="34" charset="-122"/>
                <a:cs typeface="Calibri" pitchFamily="34" charset="-120"/>
              </a:rPr>
              <a:t>Publicación</a:t>
            </a:r>
            <a:endParaRPr lang="en-US" sz="1500" dirty="0"/>
          </a:p>
        </p:txBody>
      </p:sp>
      <p:sp>
        <p:nvSpPr>
          <p:cNvPr id="22" name="Text 13"/>
          <p:cNvSpPr txBox="1"/>
          <p:nvPr/>
        </p:nvSpPr>
        <p:spPr>
          <a:xfrm>
            <a:off x="5897880" y="2651760"/>
            <a:ext cx="1600200" cy="274320"/>
          </a:xfrm>
          <a:prstGeom prst="rect">
            <a:avLst/>
          </a:prstGeom>
          <a:noFill/>
          <a:ln/>
        </p:spPr>
        <p:txBody>
          <a:bodyPr wrap="square" lIns="0" tIns="0" rIns="0" bIns="0" rtlCol="0" anchor="t"/>
          <a:lstStyle/>
          <a:p>
            <a:pPr algn="ctr" indent="0" marL="0">
              <a:buNone/>
            </a:pPr>
            <a:r>
              <a:rPr lang="en-US" sz="1200" dirty="0">
                <a:solidFill>
                  <a:schemeClr val="accent4"/>
                </a:solidFill>
                <a:latin typeface="Calibri" pitchFamily="34" charset="0"/>
                <a:ea typeface="Calibri" pitchFamily="34" charset="-122"/>
                <a:cs typeface="Calibri" pitchFamily="34" charset="-120"/>
              </a:rPr>
              <a:t>GitHub Pages</a:t>
            </a:r>
            <a:endParaRPr lang="en-US" sz="1200" dirty="0"/>
          </a:p>
        </p:txBody>
      </p:sp>
      <p:sp>
        <p:nvSpPr>
          <p:cNvPr id="23" name="card-170"/>
          <p:cNvSpPr/>
          <p:nvPr/>
        </p:nvSpPr>
        <p:spPr>
          <a:xfrm>
            <a:off x="548640" y="3200400"/>
            <a:ext cx="6949440" cy="1051560"/>
          </a:xfrm>
          <a:prstGeom prst="roundRect">
            <a:avLst>
              <a:gd name="adj" fmla="val 10435"/>
            </a:avLst>
          </a:prstGeom>
          <a:solidFill>
            <a:schemeClr val="bg2"/>
          </a:solidFill>
          <a:ln/>
        </p:spPr>
      </p:sp>
      <p:sp>
        <p:nvSpPr>
          <p:cNvPr id="24" name="Text 15"/>
          <p:cNvSpPr txBox="1"/>
          <p:nvPr/>
        </p:nvSpPr>
        <p:spPr>
          <a:xfrm>
            <a:off x="777240" y="3200400"/>
            <a:ext cx="6583680" cy="1051560"/>
          </a:xfrm>
          <a:prstGeom prst="rect">
            <a:avLst/>
          </a:prstGeom>
          <a:noFill/>
          <a:ln/>
        </p:spPr>
        <p:txBody>
          <a:bodyPr wrap="square" lIns="0" tIns="0" rIns="0" bIns="0" rtlCol="0" anchor="ctr"/>
          <a:lstStyle/>
          <a:p>
            <a:pPr indent="0" marL="0">
              <a:buNone/>
            </a:pPr>
            <a:r>
              <a:rPr lang="en-US" sz="1600" b="1" dirty="0">
                <a:solidFill>
                  <a:schemeClr val="accent3"/>
                </a:solidFill>
                <a:latin typeface="Calibri" pitchFamily="34" charset="0"/>
                <a:ea typeface="Calibri" pitchFamily="34" charset="-122"/>
                <a:cs typeface="Calibri" pitchFamily="34" charset="-120"/>
              </a:rPr>
              <a:t>Si una prueba falla, no se publica. Así el recibo y el total nunca salen mal.</a:t>
            </a:r>
            <a:endParaRPr lang="en-US" sz="1600" dirty="0"/>
          </a:p>
        </p:txBody>
      </p:sp>
      <p:sp>
        <p:nvSpPr>
          <p:cNvPr id="25" name="card-171"/>
          <p:cNvSpPr/>
          <p:nvPr/>
        </p:nvSpPr>
        <p:spPr>
          <a:xfrm>
            <a:off x="548640" y="4480560"/>
            <a:ext cx="2194560" cy="1691640"/>
          </a:xfrm>
          <a:prstGeom prst="roundRect">
            <a:avLst>
              <a:gd name="adj" fmla="val 6486"/>
            </a:avLst>
          </a:prstGeom>
          <a:solidFill>
            <a:schemeClr val="accent6"/>
          </a:solidFill>
          <a:ln/>
        </p:spPr>
      </p:sp>
      <p:sp>
        <p:nvSpPr>
          <p:cNvPr id="26" name="Text 17"/>
          <p:cNvSpPr txBox="1"/>
          <p:nvPr/>
        </p:nvSpPr>
        <p:spPr>
          <a:xfrm>
            <a:off x="731520" y="4617720"/>
            <a:ext cx="1828800" cy="822960"/>
          </a:xfrm>
          <a:prstGeom prst="rect">
            <a:avLst/>
          </a:prstGeom>
          <a:noFill/>
          <a:ln/>
        </p:spPr>
        <p:txBody>
          <a:bodyPr wrap="square" lIns="0" tIns="0" rIns="0" bIns="0" rtlCol="0" anchor="t"/>
          <a:lstStyle/>
          <a:p>
            <a:pPr indent="0" marL="0">
              <a:buNone/>
            </a:pPr>
            <a:r>
              <a:rPr lang="en-US" sz="4000" b="1" dirty="0">
                <a:solidFill>
                  <a:schemeClr val="accent1"/>
                </a:solidFill>
                <a:latin typeface="Cambria" pitchFamily="34" charset="0"/>
                <a:ea typeface="Cambria" pitchFamily="34" charset="-122"/>
                <a:cs typeface="Cambria" pitchFamily="34" charset="-120"/>
              </a:rPr>
              <a:t>44</a:t>
            </a:r>
            <a:endParaRPr lang="en-US" sz="4000" dirty="0"/>
          </a:p>
        </p:txBody>
      </p:sp>
      <p:sp>
        <p:nvSpPr>
          <p:cNvPr id="27" name="Text 18"/>
          <p:cNvSpPr txBox="1"/>
          <p:nvPr/>
        </p:nvSpPr>
        <p:spPr>
          <a:xfrm>
            <a:off x="731520" y="5440680"/>
            <a:ext cx="1828800" cy="411480"/>
          </a:xfrm>
          <a:prstGeom prst="rect">
            <a:avLst/>
          </a:prstGeom>
          <a:noFill/>
          <a:ln/>
        </p:spPr>
        <p:txBody>
          <a:bodyPr wrap="square" lIns="0" tIns="0" rIns="0" bIns="0" rtlCol="0" anchor="t"/>
          <a:lstStyle/>
          <a:p>
            <a:pPr indent="0" marL="0">
              <a:buNone/>
            </a:pPr>
            <a:r>
              <a:rPr lang="en-US" sz="1500" dirty="0">
                <a:solidFill>
                  <a:schemeClr val="accent4"/>
                </a:solidFill>
                <a:latin typeface="Calibri" pitchFamily="34" charset="0"/>
                <a:ea typeface="Calibri" pitchFamily="34" charset="-122"/>
                <a:cs typeface="Calibri" pitchFamily="34" charset="-120"/>
              </a:rPr>
              <a:t>pruebas</a:t>
            </a:r>
            <a:endParaRPr lang="en-US" sz="1500" dirty="0"/>
          </a:p>
        </p:txBody>
      </p:sp>
      <p:sp>
        <p:nvSpPr>
          <p:cNvPr id="28" name="card-172"/>
          <p:cNvSpPr/>
          <p:nvPr/>
        </p:nvSpPr>
        <p:spPr>
          <a:xfrm>
            <a:off x="2926080" y="4480560"/>
            <a:ext cx="2194560" cy="1691640"/>
          </a:xfrm>
          <a:prstGeom prst="roundRect">
            <a:avLst>
              <a:gd name="adj" fmla="val 6486"/>
            </a:avLst>
          </a:prstGeom>
          <a:solidFill>
            <a:schemeClr val="accent6"/>
          </a:solidFill>
          <a:ln/>
        </p:spPr>
      </p:sp>
      <p:sp>
        <p:nvSpPr>
          <p:cNvPr id="29" name="Text 20"/>
          <p:cNvSpPr txBox="1"/>
          <p:nvPr/>
        </p:nvSpPr>
        <p:spPr>
          <a:xfrm>
            <a:off x="3108960" y="4617720"/>
            <a:ext cx="1828800" cy="822960"/>
          </a:xfrm>
          <a:prstGeom prst="rect">
            <a:avLst/>
          </a:prstGeom>
          <a:noFill/>
          <a:ln/>
        </p:spPr>
        <p:txBody>
          <a:bodyPr wrap="square" lIns="0" tIns="0" rIns="0" bIns="0" rtlCol="0" anchor="t"/>
          <a:lstStyle/>
          <a:p>
            <a:pPr indent="0" marL="0">
              <a:buNone/>
            </a:pPr>
            <a:r>
              <a:rPr lang="en-US" sz="4000" b="1" dirty="0">
                <a:solidFill>
                  <a:schemeClr val="accent1"/>
                </a:solidFill>
                <a:latin typeface="Cambria" pitchFamily="34" charset="0"/>
                <a:ea typeface="Cambria" pitchFamily="34" charset="-122"/>
                <a:cs typeface="Cambria" pitchFamily="34" charset="-120"/>
              </a:rPr>
              <a:t>0</a:t>
            </a:r>
            <a:endParaRPr lang="en-US" sz="4000" dirty="0"/>
          </a:p>
        </p:txBody>
      </p:sp>
      <p:sp>
        <p:nvSpPr>
          <p:cNvPr id="30" name="Text 21"/>
          <p:cNvSpPr txBox="1"/>
          <p:nvPr/>
        </p:nvSpPr>
        <p:spPr>
          <a:xfrm>
            <a:off x="3108960" y="5440680"/>
            <a:ext cx="1828800" cy="411480"/>
          </a:xfrm>
          <a:prstGeom prst="rect">
            <a:avLst/>
          </a:prstGeom>
          <a:noFill/>
          <a:ln/>
        </p:spPr>
        <p:txBody>
          <a:bodyPr wrap="square" lIns="0" tIns="0" rIns="0" bIns="0" rtlCol="0" anchor="t"/>
          <a:lstStyle/>
          <a:p>
            <a:pPr indent="0" marL="0">
              <a:buNone/>
            </a:pPr>
            <a:r>
              <a:rPr lang="en-US" sz="1500" dirty="0">
                <a:solidFill>
                  <a:schemeClr val="accent4"/>
                </a:solidFill>
                <a:latin typeface="Calibri" pitchFamily="34" charset="0"/>
                <a:ea typeface="Calibri" pitchFamily="34" charset="-122"/>
                <a:cs typeface="Calibri" pitchFamily="34" charset="-120"/>
              </a:rPr>
              <a:t>dependencias</a:t>
            </a:r>
            <a:endParaRPr lang="en-US" sz="1500" dirty="0"/>
          </a:p>
        </p:txBody>
      </p:sp>
      <p:sp>
        <p:nvSpPr>
          <p:cNvPr id="31" name="card-173"/>
          <p:cNvSpPr/>
          <p:nvPr/>
        </p:nvSpPr>
        <p:spPr>
          <a:xfrm>
            <a:off x="5303520" y="4480560"/>
            <a:ext cx="2194560" cy="1691640"/>
          </a:xfrm>
          <a:prstGeom prst="roundRect">
            <a:avLst>
              <a:gd name="adj" fmla="val 6486"/>
            </a:avLst>
          </a:prstGeom>
          <a:solidFill>
            <a:schemeClr val="accent6"/>
          </a:solidFill>
          <a:ln/>
        </p:spPr>
      </p:sp>
      <p:sp>
        <p:nvSpPr>
          <p:cNvPr id="32" name="Text 23"/>
          <p:cNvSpPr txBox="1"/>
          <p:nvPr/>
        </p:nvSpPr>
        <p:spPr>
          <a:xfrm>
            <a:off x="5486400" y="4617720"/>
            <a:ext cx="1828800" cy="822960"/>
          </a:xfrm>
          <a:prstGeom prst="rect">
            <a:avLst/>
          </a:prstGeom>
          <a:noFill/>
          <a:ln/>
        </p:spPr>
        <p:txBody>
          <a:bodyPr wrap="square" lIns="0" tIns="0" rIns="0" bIns="0" rtlCol="0" anchor="t"/>
          <a:lstStyle/>
          <a:p>
            <a:pPr indent="0" marL="0">
              <a:buNone/>
            </a:pPr>
            <a:r>
              <a:rPr lang="en-US" sz="4000" b="1" dirty="0">
                <a:solidFill>
                  <a:schemeClr val="accent1"/>
                </a:solidFill>
                <a:latin typeface="Cambria" pitchFamily="34" charset="0"/>
                <a:ea typeface="Cambria" pitchFamily="34" charset="-122"/>
                <a:cs typeface="Cambria" pitchFamily="34" charset="-120"/>
              </a:rPr>
              <a:t>$0</a:t>
            </a:r>
            <a:endParaRPr lang="en-US" sz="4000" dirty="0"/>
          </a:p>
        </p:txBody>
      </p:sp>
      <p:sp>
        <p:nvSpPr>
          <p:cNvPr id="33" name="Text 24"/>
          <p:cNvSpPr txBox="1"/>
          <p:nvPr/>
        </p:nvSpPr>
        <p:spPr>
          <a:xfrm>
            <a:off x="5486400" y="5440680"/>
            <a:ext cx="1828800" cy="411480"/>
          </a:xfrm>
          <a:prstGeom prst="rect">
            <a:avLst/>
          </a:prstGeom>
          <a:noFill/>
          <a:ln/>
        </p:spPr>
        <p:txBody>
          <a:bodyPr wrap="square" lIns="0" tIns="0" rIns="0" bIns="0" rtlCol="0" anchor="t"/>
          <a:lstStyle/>
          <a:p>
            <a:pPr indent="0" marL="0">
              <a:buNone/>
            </a:pPr>
            <a:r>
              <a:rPr lang="en-US" sz="1500" dirty="0">
                <a:solidFill>
                  <a:schemeClr val="accent4"/>
                </a:solidFill>
                <a:latin typeface="Calibri" pitchFamily="34" charset="0"/>
                <a:ea typeface="Calibri" pitchFamily="34" charset="-122"/>
                <a:cs typeface="Calibri" pitchFamily="34" charset="-120"/>
              </a:rPr>
              <a:t>por mes</a:t>
            </a:r>
            <a:endParaRPr lang="en-US" sz="1500" dirty="0"/>
          </a:p>
        </p:txBody>
      </p:sp>
      <p:sp>
        <p:nvSpPr>
          <p:cNvPr id="34" name="marco-celular-174"/>
          <p:cNvSpPr/>
          <p:nvPr/>
        </p:nvSpPr>
        <p:spPr>
          <a:xfrm>
            <a:off x="7754112" y="1444752"/>
            <a:ext cx="1944898" cy="4059936"/>
          </a:xfrm>
          <a:prstGeom prst="roundRect">
            <a:avLst>
              <a:gd name="adj" fmla="val 6582"/>
            </a:avLst>
          </a:prstGeom>
          <a:solidFill>
            <a:schemeClr val="tx1"/>
          </a:solidFill>
          <a:ln/>
        </p:spPr>
      </p:sp>
      <p:pic>
        <p:nvPicPr>
          <p:cNvPr id="35" name="captura-175" descr="/tmp/claude-0/-home-claude/c096e975-9e6a-561f-aa0a-08cce324a4b6/scratchpad/repo/docs/capturas/01-movil-inicio.png">    </p:cNvPr>
          <p:cNvPicPr>
            <a:picLocks noChangeAspect="1"/>
          </p:cNvPicPr>
          <p:nvPr/>
        </p:nvPicPr>
        <p:blipFill>
          <a:blip r:embed="rId8"/>
          <a:srcRect l="0" r="0" t="0" b="0"/>
          <a:stretch/>
        </p:blipFill>
        <p:spPr>
          <a:xfrm>
            <a:off x="7818120" y="1508760"/>
            <a:ext cx="1816882" cy="3931920"/>
          </a:xfrm>
          <a:prstGeom prst="rect">
            <a:avLst/>
          </a:prstGeom>
        </p:spPr>
      </p:pic>
      <p:sp>
        <p:nvSpPr>
          <p:cNvPr id="36" name="marco-celular-176"/>
          <p:cNvSpPr/>
          <p:nvPr/>
        </p:nvSpPr>
        <p:spPr>
          <a:xfrm>
            <a:off x="9738360" y="1444752"/>
            <a:ext cx="1944898" cy="4059936"/>
          </a:xfrm>
          <a:prstGeom prst="roundRect">
            <a:avLst>
              <a:gd name="adj" fmla="val 6582"/>
            </a:avLst>
          </a:prstGeom>
          <a:solidFill>
            <a:schemeClr val="tx1"/>
          </a:solidFill>
          <a:ln/>
        </p:spPr>
      </p:sp>
      <p:pic>
        <p:nvPicPr>
          <p:cNvPr id="37" name="captura-177" descr="/tmp/claude-0/-home-claude/c096e975-9e6a-561f-aa0a-08cce324a4b6/scratchpad/repo/docs/capturas/03-movil-confirmacion.png">    </p:cNvPr>
          <p:cNvPicPr>
            <a:picLocks noChangeAspect="1"/>
          </p:cNvPicPr>
          <p:nvPr/>
        </p:nvPicPr>
        <p:blipFill>
          <a:blip r:embed="rId9"/>
          <a:srcRect l="0" r="0" t="0" b="0"/>
          <a:stretch/>
        </p:blipFill>
        <p:spPr>
          <a:xfrm>
            <a:off x="9802368" y="1508760"/>
            <a:ext cx="1816882" cy="3931920"/>
          </a:xfrm>
          <a:prstGeom prst="rect">
            <a:avLst/>
          </a:prstGeom>
        </p:spPr>
      </p:pic>
      <p:sp>
        <p:nvSpPr>
          <p:cNvPr id="38" name="Text 27"/>
          <p:cNvSpPr txBox="1"/>
          <p:nvPr/>
        </p:nvSpPr>
        <p:spPr>
          <a:xfrm>
            <a:off x="7772400" y="5623560"/>
            <a:ext cx="3840480" cy="320040"/>
          </a:xfrm>
          <a:prstGeom prst="rect">
            <a:avLst/>
          </a:prstGeom>
          <a:noFill/>
          <a:ln/>
        </p:spPr>
        <p:txBody>
          <a:bodyPr wrap="square" lIns="0" tIns="0" rIns="0" bIns="0" rtlCol="0" anchor="t"/>
          <a:lstStyle/>
          <a:p>
            <a:pPr algn="ctr" indent="0" marL="0">
              <a:buNone/>
            </a:pPr>
            <a:r>
              <a:rPr lang="en-US" sz="1200" dirty="0">
                <a:solidFill>
                  <a:schemeClr val="accent4"/>
                </a:solidFill>
                <a:latin typeface="Calibri" pitchFamily="34" charset="0"/>
                <a:ea typeface="Calibri" pitchFamily="34" charset="-122"/>
                <a:cs typeface="Calibri" pitchFamily="34" charset="-120"/>
              </a:rPr>
              <a:t>Carta · Confirmación con N.º de pedido</a:t>
            </a:r>
            <a:endParaRPr lang="en-US" sz="12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10896"/>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III. TRABAJO PRINCIPAL · RESULTADOS</a:t>
            </a:r>
            <a:endParaRPr lang="en-US" sz="1200" dirty="0"/>
          </a:p>
        </p:txBody>
      </p:sp>
      <p:sp>
        <p:nvSpPr>
          <p:cNvPr id="3" name="Text 0"/>
          <p:cNvSpPr/>
          <p:nvPr>
            <p:ph idx="101" type="title" hasCustomPrompt="1"/>
          </p:nvPr>
        </p:nvSpPr>
        <p:spPr>
          <a:xfrm>
            <a:off x="548640" y="603504"/>
            <a:ext cx="11064240" cy="658368"/>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Resultados por objetivo: antes y ahora</a:t>
            </a:r>
            <a:endParaRPr lang="en-US" sz="32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822960"/>
                <a:gridCol w="2468880"/>
                <a:gridCol w="3657600"/>
                <a:gridCol w="4114800"/>
              </a:tblGrid>
              <a:tr h="393192">
                <a:tc>
                  <a:txBody>
                    <a:bodyPr/>
                    <a:lstStyle/>
                    <a:p>
                      <a:pPr indent="0" marL="0">
                        <a:buNone/>
                      </a:pP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2B2420"/>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Indicador</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2B2420"/>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Antes</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2B2420"/>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Ahora (10/10/2026)</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2B2420"/>
                    </a:solidFill>
                  </a:tcPr>
                </a:tc>
              </a:tr>
              <a:tr h="393192">
                <a:tc>
                  <a:txBody>
                    <a:bodyPr/>
                    <a:lstStyle/>
                    <a:p>
                      <a:pPr algn="ctr" indent="0" marL="0">
                        <a:buNone/>
                      </a:pPr>
                      <a:r>
                        <a:rPr lang="en-US" sz="1400" b="1" dirty="0">
                          <a:solidFill>
                            <a:schemeClr val="bg1"/>
                          </a:solidFill>
                          <a:latin typeface="Calibri" pitchFamily="34" charset="0"/>
                          <a:ea typeface="Calibri" pitchFamily="34" charset="-122"/>
                          <a:cs typeface="Calibri" pitchFamily="34" charset="-120"/>
                        </a:rPr>
                        <a:t>OE1</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E83030"/>
                    </a:solidFill>
                  </a:tcPr>
                </a:tc>
                <a:tc>
                  <a:txBody>
                    <a:bodyPr/>
                    <a:lstStyle/>
                    <a:p>
                      <a:pPr indent="0" marL="0">
                        <a:buNone/>
                      </a:pPr>
                      <a:r>
                        <a:rPr lang="en-US" sz="1400" b="1" dirty="0">
                          <a:solidFill>
                            <a:srgbClr val="2B2420"/>
                          </a:solidFill>
                          <a:latin typeface="Calibri" pitchFamily="34" charset="0"/>
                          <a:ea typeface="Calibri" pitchFamily="34" charset="-122"/>
                          <a:cs typeface="Calibri" pitchFamily="34" charset="-120"/>
                        </a:rPr>
                        <a:t>Carta</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indent="0" marL="0">
                        <a:buNone/>
                      </a:pPr>
                      <a:r>
                        <a:rPr lang="en-US" sz="1400" dirty="0">
                          <a:solidFill>
                            <a:srgbClr val="8A7F76"/>
                          </a:solidFill>
                          <a:latin typeface="Calibri" pitchFamily="34" charset="0"/>
                          <a:ea typeface="Calibri" pitchFamily="34" charset="-122"/>
                          <a:cs typeface="Calibri" pitchFamily="34" charset="-120"/>
                        </a:rPr>
                        <a:t>Imagen reenviada por chat</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indent="0" marL="0">
                        <a:buNone/>
                      </a:pPr>
                      <a:r>
                        <a:rPr lang="en-US" sz="1400" b="1" dirty="0">
                          <a:solidFill>
                            <a:srgbClr val="1F6E5C"/>
                          </a:solidFill>
                          <a:latin typeface="Calibri" pitchFamily="34" charset="0"/>
                          <a:ea typeface="Calibri" pitchFamily="34" charset="-122"/>
                          <a:cs typeface="Calibri" pitchFamily="34" charset="-120"/>
                        </a:rPr>
                        <a:t>Sitio publicado con fotos y precios</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r>
              <a:tr h="393192">
                <a:tc>
                  <a:txBody>
                    <a:bodyPr/>
                    <a:lstStyle/>
                    <a:p>
                      <a:pPr algn="ctr" indent="0" marL="0">
                        <a:buNone/>
                      </a:pPr>
                      <a:r>
                        <a:rPr lang="en-US" sz="1400" b="1" dirty="0">
                          <a:solidFill>
                            <a:schemeClr val="bg1"/>
                          </a:solidFill>
                          <a:latin typeface="Calibri" pitchFamily="34" charset="0"/>
                          <a:ea typeface="Calibri" pitchFamily="34" charset="-122"/>
                          <a:cs typeface="Calibri" pitchFamily="34" charset="-120"/>
                        </a:rPr>
                        <a:t>OE1</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E83030"/>
                    </a:solidFill>
                  </a:tcPr>
                </a:tc>
                <a:tc>
                  <a:txBody>
                    <a:bodyPr/>
                    <a:lstStyle/>
                    <a:p>
                      <a:pPr indent="0" marL="0">
                        <a:buNone/>
                      </a:pPr>
                      <a:r>
                        <a:rPr lang="en-US" sz="1400" b="1" dirty="0">
                          <a:solidFill>
                            <a:srgbClr val="2B2420"/>
                          </a:solidFill>
                          <a:latin typeface="Calibri" pitchFamily="34" charset="0"/>
                          <a:ea typeface="Calibri" pitchFamily="34" charset="-122"/>
                          <a:cs typeface="Calibri" pitchFamily="34" charset="-120"/>
                        </a:rPr>
                        <a:t>Datos del pedido</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indent="0" marL="0">
                        <a:buNone/>
                      </a:pPr>
                      <a:r>
                        <a:rPr lang="en-US" sz="1400" dirty="0">
                          <a:solidFill>
                            <a:srgbClr val="8A7F76"/>
                          </a:solidFill>
                          <a:latin typeface="Calibri" pitchFamily="34" charset="0"/>
                          <a:ea typeface="Calibri" pitchFamily="34" charset="-122"/>
                          <a:cs typeface="Calibri" pitchFamily="34" charset="-120"/>
                        </a:rPr>
                        <a:t>Incompletos (1 de cada 10 con error)</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indent="0" marL="0">
                        <a:buNone/>
                      </a:pPr>
                      <a:r>
                        <a:rPr lang="en-US" sz="1400" b="1" dirty="0">
                          <a:solidFill>
                            <a:srgbClr val="1F6E5C"/>
                          </a:solidFill>
                          <a:latin typeface="Calibri" pitchFamily="34" charset="0"/>
                          <a:ea typeface="Calibri" pitchFamily="34" charset="-122"/>
                          <a:cs typeface="Calibri" pitchFamily="34" charset="-120"/>
                        </a:rPr>
                        <a:t>100 % completos: no se envía sin ellos</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r>
              <a:tr h="393192">
                <a:tc>
                  <a:txBody>
                    <a:bodyPr/>
                    <a:lstStyle/>
                    <a:p>
                      <a:pPr algn="ctr" indent="0" marL="0">
                        <a:buNone/>
                      </a:pPr>
                      <a:r>
                        <a:rPr lang="en-US" sz="1400" b="1" dirty="0">
                          <a:solidFill>
                            <a:schemeClr val="bg1"/>
                          </a:solidFill>
                          <a:latin typeface="Calibri" pitchFamily="34" charset="0"/>
                          <a:ea typeface="Calibri" pitchFamily="34" charset="-122"/>
                          <a:cs typeface="Calibri" pitchFamily="34" charset="-120"/>
                        </a:rPr>
                        <a:t>OE2</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309880"/>
                    </a:solidFill>
                  </a:tcPr>
                </a:tc>
                <a:tc>
                  <a:txBody>
                    <a:bodyPr/>
                    <a:lstStyle/>
                    <a:p>
                      <a:pPr indent="0" marL="0">
                        <a:buNone/>
                      </a:pPr>
                      <a:r>
                        <a:rPr lang="en-US" sz="1400" b="1" dirty="0">
                          <a:solidFill>
                            <a:srgbClr val="2B2420"/>
                          </a:solidFill>
                          <a:latin typeface="Calibri" pitchFamily="34" charset="0"/>
                          <a:ea typeface="Calibri" pitchFamily="34" charset="-122"/>
                          <a:cs typeface="Calibri" pitchFamily="34" charset="-120"/>
                        </a:rPr>
                        <a:t>Registro de pedidos</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indent="0" marL="0">
                        <a:buNone/>
                      </a:pPr>
                      <a:r>
                        <a:rPr lang="en-US" sz="1400" dirty="0">
                          <a:solidFill>
                            <a:srgbClr val="8A7F76"/>
                          </a:solidFill>
                          <a:latin typeface="Calibri" pitchFamily="34" charset="0"/>
                          <a:ea typeface="Calibri" pitchFamily="34" charset="-122"/>
                          <a:cs typeface="Calibri" pitchFamily="34" charset="-120"/>
                        </a:rPr>
                        <a:t>No existía</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indent="0" marL="0">
                        <a:buNone/>
                      </a:pPr>
                      <a:r>
                        <a:rPr lang="en-US" sz="1400" b="1" dirty="0">
                          <a:solidFill>
                            <a:srgbClr val="1F6E5C"/>
                          </a:solidFill>
                          <a:latin typeface="Calibri" pitchFamily="34" charset="0"/>
                          <a:ea typeface="Calibri" pitchFamily="34" charset="-122"/>
                          <a:cs typeface="Calibri" pitchFamily="34" charset="-120"/>
                        </a:rPr>
                        <a:t>Planilla mensual activa desde 06/10</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r>
              <a:tr h="393192">
                <a:tc>
                  <a:txBody>
                    <a:bodyPr/>
                    <a:lstStyle/>
                    <a:p>
                      <a:pPr algn="ctr" indent="0" marL="0">
                        <a:buNone/>
                      </a:pPr>
                      <a:r>
                        <a:rPr lang="en-US" sz="1400" b="1" dirty="0">
                          <a:solidFill>
                            <a:schemeClr val="bg1"/>
                          </a:solidFill>
                          <a:latin typeface="Calibri" pitchFamily="34" charset="0"/>
                          <a:ea typeface="Calibri" pitchFamily="34" charset="-122"/>
                          <a:cs typeface="Calibri" pitchFamily="34" charset="-120"/>
                        </a:rPr>
                        <a:t>OE2</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309880"/>
                    </a:solidFill>
                  </a:tcPr>
                </a:tc>
                <a:tc>
                  <a:txBody>
                    <a:bodyPr/>
                    <a:lstStyle/>
                    <a:p>
                      <a:pPr indent="0" marL="0">
                        <a:buNone/>
                      </a:pPr>
                      <a:r>
                        <a:rPr lang="en-US" sz="1400" b="1" dirty="0">
                          <a:solidFill>
                            <a:srgbClr val="2B2420"/>
                          </a:solidFill>
                          <a:latin typeface="Calibri" pitchFamily="34" charset="0"/>
                          <a:ea typeface="Calibri" pitchFamily="34" charset="-122"/>
                          <a:cs typeface="Calibri" pitchFamily="34" charset="-120"/>
                        </a:rPr>
                        <a:t>Cambio de precios</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indent="0" marL="0">
                        <a:buNone/>
                      </a:pPr>
                      <a:r>
                        <a:rPr lang="en-US" sz="1400" dirty="0">
                          <a:solidFill>
                            <a:srgbClr val="8A7F76"/>
                          </a:solidFill>
                          <a:latin typeface="Calibri" pitchFamily="34" charset="0"/>
                          <a:ea typeface="Calibri" pitchFamily="34" charset="-122"/>
                          <a:cs typeface="Calibri" pitchFamily="34" charset="-120"/>
                        </a:rPr>
                        <a:t>Reenviar la carta</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indent="0" marL="0">
                        <a:buNone/>
                      </a:pPr>
                      <a:r>
                        <a:rPr lang="en-US" sz="1400" b="1" dirty="0">
                          <a:solidFill>
                            <a:srgbClr val="1F6E5C"/>
                          </a:solidFill>
                          <a:latin typeface="Calibri" pitchFamily="34" charset="0"/>
                          <a:ea typeface="Calibri" pitchFamily="34" charset="-122"/>
                          <a:cs typeface="Calibri" pitchFamily="34" charset="-120"/>
                        </a:rPr>
                        <a:t>Editar una celda</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r>
              <a:tr h="393192">
                <a:tc>
                  <a:txBody>
                    <a:bodyPr/>
                    <a:lstStyle/>
                    <a:p>
                      <a:pPr algn="ctr" indent="0" marL="0">
                        <a:buNone/>
                      </a:pPr>
                      <a:r>
                        <a:rPr lang="en-US" sz="1400" b="1" dirty="0">
                          <a:solidFill>
                            <a:schemeClr val="bg1"/>
                          </a:solidFill>
                          <a:latin typeface="Calibri" pitchFamily="34" charset="0"/>
                          <a:ea typeface="Calibri" pitchFamily="34" charset="-122"/>
                          <a:cs typeface="Calibri" pitchFamily="34" charset="-120"/>
                        </a:rPr>
                        <a:t>OE3</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1F6E5C"/>
                    </a:solidFill>
                  </a:tcPr>
                </a:tc>
                <a:tc>
                  <a:txBody>
                    <a:bodyPr/>
                    <a:lstStyle/>
                    <a:p>
                      <a:pPr indent="0" marL="0">
                        <a:buNone/>
                      </a:pPr>
                      <a:r>
                        <a:rPr lang="en-US" sz="1400" b="1" dirty="0">
                          <a:solidFill>
                            <a:srgbClr val="2B2420"/>
                          </a:solidFill>
                          <a:latin typeface="Calibri" pitchFamily="34" charset="0"/>
                          <a:ea typeface="Calibri" pitchFamily="34" charset="-122"/>
                          <a:cs typeface="Calibri" pitchFamily="34" charset="-120"/>
                        </a:rPr>
                        <a:t>Costo y calidad</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indent="0" marL="0">
                        <a:buNone/>
                      </a:pPr>
                      <a:r>
                        <a:rPr lang="en-US" sz="1400" dirty="0">
                          <a:solidFill>
                            <a:srgbClr val="8A7F76"/>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indent="0" marL="0">
                        <a:buNone/>
                      </a:pPr>
                      <a:r>
                        <a:rPr lang="en-US" sz="1400" b="1" dirty="0">
                          <a:solidFill>
                            <a:srgbClr val="1F6E5C"/>
                          </a:solidFill>
                          <a:latin typeface="Calibri" pitchFamily="34" charset="0"/>
                          <a:ea typeface="Calibri" pitchFamily="34" charset="-122"/>
                          <a:cs typeface="Calibri" pitchFamily="34" charset="-120"/>
                        </a:rPr>
                        <a:t>$0 por mes · 44 pruebas en verde</a:t>
                      </a:r>
                      <a:endParaRPr lang="en-US" sz="14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r>
            </a:tbl>
          </a:graphicData>
        </a:graphic>
      </p:graphicFrame>
      <p:sp>
        <p:nvSpPr>
          <p:cNvPr id="5" name="Text 2"/>
          <p:cNvSpPr txBox="1"/>
          <p:nvPr/>
        </p:nvSpPr>
        <p:spPr>
          <a:xfrm>
            <a:off x="548640" y="3913632"/>
            <a:ext cx="11064240" cy="36576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Evidencia: pedido real DP‑261010‑001</a:t>
            </a:r>
            <a:pPr indent="0" marL="0">
              <a:buNone/>
            </a:pPr>
            <a:r>
              <a:rPr lang="en-US" sz="1400" dirty="0">
                <a:solidFill>
                  <a:schemeClr val="accent4"/>
                </a:solidFill>
                <a:latin typeface="Cambria" pitchFamily="34" charset="0"/>
                <a:ea typeface="Cambria" pitchFamily="34" charset="-122"/>
                <a:cs typeface="Cambria" pitchFamily="34" charset="-120"/>
              </a:rPr>
              <a:t>  ·  10/10/2026, de punta a punta</a:t>
            </a:r>
            <a:endParaRPr lang="en-US" sz="1700" dirty="0"/>
          </a:p>
        </p:txBody>
      </p:sp>
      <p:pic>
        <p:nvPicPr>
          <p:cNvPr id="6" name="evidencia-sitio" descr="/tmp/claude-0/-home-claude/c096e975-9e6a-561f-aa0a-08cce324a4b6/scratchpad/repo/docs/presentacion/assets/evidencia_confirmacion.png">    </p:cNvPr>
          <p:cNvPicPr>
            <a:picLocks noChangeAspect="1"/>
          </p:cNvPicPr>
          <p:nvPr/>
        </p:nvPicPr>
        <p:blipFill>
          <a:blip r:embed="rId1"/>
          <a:stretch>
            <a:fillRect/>
          </a:stretch>
        </p:blipFill>
        <p:spPr>
          <a:xfrm>
            <a:off x="548640" y="4343400"/>
            <a:ext cx="1617119" cy="1901952"/>
          </a:xfrm>
          <a:prstGeom prst="rect">
            <a:avLst/>
          </a:prstGeom>
        </p:spPr>
      </p:pic>
      <p:sp>
        <p:nvSpPr>
          <p:cNvPr id="7" name="marco-178"/>
          <p:cNvSpPr/>
          <p:nvPr/>
        </p:nvSpPr>
        <p:spPr>
          <a:xfrm>
            <a:off x="548640" y="4343400"/>
            <a:ext cx="1617119" cy="1901952"/>
          </a:xfrm>
          <a:prstGeom prst="rect">
            <a:avLst/>
          </a:prstGeom>
          <a:ln w="12700">
            <a:solidFill>
              <a:srgbClr val="E4DCD2"/>
            </a:solidFill>
            <a:prstDash val="solid"/>
          </a:ln>
        </p:spPr>
      </p:sp>
      <p:pic>
        <p:nvPicPr>
          <p:cNvPr id="8" name="evidencia-whatsapp" descr="/tmp/claude-0/-home-claude/c096e975-9e6a-561f-aa0a-08cce324a4b6/scratchpad/repo/docs/presentacion/assets/evidencia_whatsapp.png">    </p:cNvPr>
          <p:cNvPicPr>
            <a:picLocks noChangeAspect="1"/>
          </p:cNvPicPr>
          <p:nvPr/>
        </p:nvPicPr>
        <p:blipFill>
          <a:blip r:embed="rId2"/>
          <a:stretch>
            <a:fillRect/>
          </a:stretch>
        </p:blipFill>
        <p:spPr>
          <a:xfrm>
            <a:off x="2348639" y="4343400"/>
            <a:ext cx="2215742" cy="1901952"/>
          </a:xfrm>
          <a:prstGeom prst="rect">
            <a:avLst/>
          </a:prstGeom>
        </p:spPr>
      </p:pic>
      <p:sp>
        <p:nvSpPr>
          <p:cNvPr id="9" name="marco-179"/>
          <p:cNvSpPr/>
          <p:nvPr/>
        </p:nvSpPr>
        <p:spPr>
          <a:xfrm>
            <a:off x="2348639" y="4343400"/>
            <a:ext cx="2215742" cy="1901952"/>
          </a:xfrm>
          <a:prstGeom prst="rect">
            <a:avLst/>
          </a:prstGeom>
          <a:ln w="12700">
            <a:solidFill>
              <a:srgbClr val="E4DCD2"/>
            </a:solidFill>
            <a:prstDash val="solid"/>
          </a:ln>
        </p:spPr>
      </p:sp>
      <p:pic>
        <p:nvPicPr>
          <p:cNvPr id="10" name="evidencia-planilla" descr="/tmp/claude-0/-home-claude/c096e975-9e6a-561f-aa0a-08cce324a4b6/scratchpad/repo/docs/presentacion/assets/evidencia_planilla.png">    </p:cNvPr>
          <p:cNvPicPr>
            <a:picLocks noChangeAspect="1"/>
          </p:cNvPicPr>
          <p:nvPr/>
        </p:nvPicPr>
        <p:blipFill>
          <a:blip r:embed="rId3"/>
          <a:stretch>
            <a:fillRect/>
          </a:stretch>
        </p:blipFill>
        <p:spPr>
          <a:xfrm>
            <a:off x="4792981" y="4727448"/>
            <a:ext cx="6819899" cy="556435"/>
          </a:xfrm>
          <a:prstGeom prst="rect">
            <a:avLst/>
          </a:prstGeom>
        </p:spPr>
      </p:pic>
      <p:sp>
        <p:nvSpPr>
          <p:cNvPr id="11" name="marco-180"/>
          <p:cNvSpPr/>
          <p:nvPr/>
        </p:nvSpPr>
        <p:spPr>
          <a:xfrm>
            <a:off x="4792981" y="4727448"/>
            <a:ext cx="6819899" cy="556435"/>
          </a:xfrm>
          <a:prstGeom prst="rect">
            <a:avLst/>
          </a:prstGeom>
          <a:ln w="12700">
            <a:solidFill>
              <a:srgbClr val="E4DCD2"/>
            </a:solidFill>
            <a:prstDash val="solid"/>
          </a:ln>
        </p:spPr>
      </p:sp>
      <p:sp>
        <p:nvSpPr>
          <p:cNvPr id="12" name="etiqueta-181"/>
          <p:cNvSpPr/>
          <p:nvPr/>
        </p:nvSpPr>
        <p:spPr>
          <a:xfrm>
            <a:off x="621792" y="5861304"/>
            <a:ext cx="1005840" cy="310896"/>
          </a:xfrm>
          <a:prstGeom prst="roundRect">
            <a:avLst>
              <a:gd name="adj" fmla="val 50000"/>
            </a:avLst>
          </a:prstGeom>
          <a:solidFill>
            <a:schemeClr val="accent1"/>
          </a:solidFill>
          <a:ln/>
        </p:spPr>
      </p:sp>
      <p:sp>
        <p:nvSpPr>
          <p:cNvPr id="13" name="Text 7"/>
          <p:cNvSpPr txBox="1"/>
          <p:nvPr/>
        </p:nvSpPr>
        <p:spPr>
          <a:xfrm>
            <a:off x="621792" y="5861304"/>
            <a:ext cx="1005840" cy="310896"/>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1 · Sitio</a:t>
            </a:r>
            <a:endParaRPr lang="en-US" sz="1100" dirty="0"/>
          </a:p>
        </p:txBody>
      </p:sp>
      <p:sp>
        <p:nvSpPr>
          <p:cNvPr id="14" name="etiqueta-182"/>
          <p:cNvSpPr/>
          <p:nvPr/>
        </p:nvSpPr>
        <p:spPr>
          <a:xfrm>
            <a:off x="2421791" y="5861304"/>
            <a:ext cx="1234440" cy="310896"/>
          </a:xfrm>
          <a:prstGeom prst="roundRect">
            <a:avLst>
              <a:gd name="adj" fmla="val 50000"/>
            </a:avLst>
          </a:prstGeom>
          <a:solidFill>
            <a:schemeClr val="accent2"/>
          </a:solidFill>
          <a:ln/>
        </p:spPr>
      </p:sp>
      <p:sp>
        <p:nvSpPr>
          <p:cNvPr id="15" name="Text 9"/>
          <p:cNvSpPr txBox="1"/>
          <p:nvPr/>
        </p:nvSpPr>
        <p:spPr>
          <a:xfrm>
            <a:off x="2421791" y="5861304"/>
            <a:ext cx="1234440" cy="310896"/>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2 · WhatsApp</a:t>
            </a:r>
            <a:endParaRPr lang="en-US" sz="1100" dirty="0"/>
          </a:p>
        </p:txBody>
      </p:sp>
      <p:sp>
        <p:nvSpPr>
          <p:cNvPr id="16" name="etiqueta-183"/>
          <p:cNvSpPr/>
          <p:nvPr/>
        </p:nvSpPr>
        <p:spPr>
          <a:xfrm>
            <a:off x="4792981" y="4343400"/>
            <a:ext cx="1234440" cy="310896"/>
          </a:xfrm>
          <a:prstGeom prst="roundRect">
            <a:avLst>
              <a:gd name="adj" fmla="val 50000"/>
            </a:avLst>
          </a:prstGeom>
          <a:solidFill>
            <a:schemeClr val="tx2"/>
          </a:solidFill>
          <a:ln/>
        </p:spPr>
      </p:sp>
      <p:sp>
        <p:nvSpPr>
          <p:cNvPr id="17" name="Text 11"/>
          <p:cNvSpPr txBox="1"/>
          <p:nvPr/>
        </p:nvSpPr>
        <p:spPr>
          <a:xfrm>
            <a:off x="4792981" y="4343400"/>
            <a:ext cx="1234440" cy="310896"/>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3 · Planilla</a:t>
            </a:r>
            <a:endParaRPr lang="en-US" sz="1100" dirty="0"/>
          </a:p>
        </p:txBody>
      </p:sp>
      <p:sp>
        <p:nvSpPr>
          <p:cNvPr id="18" name="Text 12"/>
          <p:cNvSpPr txBox="1"/>
          <p:nvPr/>
        </p:nvSpPr>
        <p:spPr>
          <a:xfrm>
            <a:off x="4792981" y="5448475"/>
            <a:ext cx="6819899" cy="796877"/>
          </a:xfrm>
          <a:prstGeom prst="rect">
            <a:avLst/>
          </a:prstGeom>
          <a:noFill/>
          <a:ln/>
        </p:spPr>
        <p:txBody>
          <a:bodyPr wrap="square" lIns="0" tIns="0" rIns="0" bIns="0" rtlCol="0" anchor="t"/>
          <a:lstStyle/>
          <a:p>
            <a:pPr marL="342900" indent="-342900">
              <a:spcAft>
                <a:spcPts val="300"/>
              </a:spcAft>
              <a:buSzPct val="100000"/>
              <a:buChar char="•"/>
            </a:pPr>
            <a:r>
              <a:rPr lang="en-US" sz="1300" dirty="0">
                <a:solidFill>
                  <a:schemeClr val="tx1"/>
                </a:solidFill>
                <a:latin typeface="Calibri" pitchFamily="34" charset="0"/>
                <a:ea typeface="Calibri" pitchFamily="34" charset="-122"/>
                <a:cs typeface="Calibri" pitchFamily="34" charset="-120"/>
              </a:rPr>
              <a:t>Total calculado solo: $32.500 (con mitad incluida)</a:t>
            </a:r>
            <a:endParaRPr lang="en-US" sz="1300" dirty="0"/>
          </a:p>
          <a:p>
            <a:pPr marL="342900" indent="-342900">
              <a:spcAft>
                <a:spcPts val="300"/>
              </a:spcAft>
              <a:buSzPct val="100000"/>
              <a:buChar char="•"/>
            </a:pPr>
            <a:r>
              <a:rPr lang="en-US" sz="1300" dirty="0">
                <a:solidFill>
                  <a:schemeClr val="tx1"/>
                </a:solidFill>
                <a:latin typeface="Calibri" pitchFamily="34" charset="0"/>
                <a:ea typeface="Calibri" pitchFamily="34" charset="-122"/>
                <a:cs typeface="Calibri" pitchFamily="34" charset="-120"/>
              </a:rPr>
              <a:t>Mismo número de pedido en el sitio, WhatsApp y planilla</a:t>
            </a:r>
            <a:endParaRPr lang="en-US" sz="1300" dirty="0"/>
          </a:p>
          <a:p>
            <a:pPr marL="342900" indent="-342900">
              <a:spcAft>
                <a:spcPts val="300"/>
              </a:spcAft>
              <a:buSzPct val="100000"/>
              <a:buChar char="•"/>
            </a:pPr>
            <a:r>
              <a:rPr lang="en-US" sz="1300" dirty="0">
                <a:solidFill>
                  <a:schemeClr val="tx1"/>
                </a:solidFill>
                <a:latin typeface="Calibri" pitchFamily="34" charset="0"/>
                <a:ea typeface="Calibri" pitchFamily="34" charset="-122"/>
                <a:cs typeface="Calibri" pitchFamily="34" charset="-120"/>
              </a:rPr>
              <a:t>Registrado sin intervención del negocio</a:t>
            </a:r>
            <a:endParaRPr lang="en-US" sz="13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10896"/>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III. TRABAJO PRINCIPAL · CONCLUSIONES</a:t>
            </a:r>
            <a:endParaRPr lang="en-US" sz="1200" dirty="0"/>
          </a:p>
        </p:txBody>
      </p:sp>
      <p:sp>
        <p:nvSpPr>
          <p:cNvPr id="3" name="Text 0"/>
          <p:cNvSpPr/>
          <p:nvPr>
            <p:ph idx="101" type="title" hasCustomPrompt="1"/>
          </p:nvPr>
        </p:nvSpPr>
        <p:spPr>
          <a:xfrm>
            <a:off x="548640" y="603504"/>
            <a:ext cx="11064240" cy="658368"/>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Conclusiones: del problema al resultado</a:t>
            </a:r>
            <a:endParaRPr lang="en-US" sz="32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822960"/>
                <a:gridCol w="3291840"/>
                <a:gridCol w="3566160"/>
                <a:gridCol w="3383280"/>
              </a:tblGrid>
              <a:tr h="457200">
                <a:tc>
                  <a:txBody>
                    <a:bodyPr/>
                    <a:lstStyle/>
                    <a:p>
                      <a:pPr indent="0" marL="0">
                        <a:buNone/>
                      </a:pP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2B2420"/>
                    </a:solidFill>
                  </a:tcPr>
                </a:tc>
                <a:tc>
                  <a:txBody>
                    <a:bodyPr/>
                    <a:lstStyle/>
                    <a:p>
                      <a:pPr indent="0" marL="0">
                        <a:buNone/>
                      </a:pPr>
                      <a:r>
                        <a:rPr lang="en-US" sz="1500" b="1" dirty="0">
                          <a:solidFill>
                            <a:schemeClr val="bg1"/>
                          </a:solidFill>
                          <a:latin typeface="Calibri" pitchFamily="34" charset="0"/>
                          <a:ea typeface="Calibri" pitchFamily="34" charset="-122"/>
                          <a:cs typeface="Calibri" pitchFamily="34" charset="-120"/>
                        </a:rPr>
                        <a:t>Problema</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2B2420"/>
                    </a:solidFill>
                  </a:tcPr>
                </a:tc>
                <a:tc>
                  <a:txBody>
                    <a:bodyPr/>
                    <a:lstStyle/>
                    <a:p>
                      <a:pPr indent="0" marL="0">
                        <a:buNone/>
                      </a:pPr>
                      <a:r>
                        <a:rPr lang="en-US" sz="1500" b="1" dirty="0">
                          <a:solidFill>
                            <a:schemeClr val="bg1"/>
                          </a:solidFill>
                          <a:latin typeface="Calibri" pitchFamily="34" charset="0"/>
                          <a:ea typeface="Calibri" pitchFamily="34" charset="-122"/>
                          <a:cs typeface="Calibri" pitchFamily="34" charset="-120"/>
                        </a:rPr>
                        <a:t>Qué se hizo</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2B2420"/>
                    </a:solidFill>
                  </a:tcPr>
                </a:tc>
                <a:tc>
                  <a:txBody>
                    <a:bodyPr/>
                    <a:lstStyle/>
                    <a:p>
                      <a:pPr indent="0" marL="0">
                        <a:buNone/>
                      </a:pPr>
                      <a:r>
                        <a:rPr lang="en-US" sz="1500" b="1" dirty="0">
                          <a:solidFill>
                            <a:schemeClr val="bg1"/>
                          </a:solidFill>
                          <a:latin typeface="Calibri" pitchFamily="34" charset="0"/>
                          <a:ea typeface="Calibri" pitchFamily="34" charset="-122"/>
                          <a:cs typeface="Calibri" pitchFamily="34" charset="-120"/>
                        </a:rPr>
                        <a:t>Conclusión</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2B2420"/>
                    </a:solidFill>
                  </a:tcPr>
                </a:tc>
              </a:tr>
              <a:tr h="960120">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OE1</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E83030"/>
                    </a:solidFill>
                  </a:tcPr>
                </a:tc>
                <a:tc>
                  <a:txBody>
                    <a:bodyPr/>
                    <a:lstStyle/>
                    <a:p>
                      <a:pPr indent="0" marL="0">
                        <a:buNone/>
                      </a:pPr>
                      <a:r>
                        <a:rPr lang="en-US" sz="1500" dirty="0">
                          <a:solidFill>
                            <a:srgbClr val="2B2420"/>
                          </a:solidFill>
                          <a:latin typeface="Calibri" pitchFamily="34" charset="0"/>
                          <a:ea typeface="Calibri" pitchFamily="34" charset="-122"/>
                          <a:cs typeface="Calibri" pitchFamily="34" charset="-120"/>
                        </a:rPr>
                        <a:t>Pedidos dictados por chat, incompletos y con errores</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indent="0" marL="0">
                        <a:buNone/>
                      </a:pPr>
                      <a:r>
                        <a:rPr lang="en-US" sz="1500" dirty="0">
                          <a:solidFill>
                            <a:srgbClr val="2B2420"/>
                          </a:solidFill>
                          <a:latin typeface="Calibri" pitchFamily="34" charset="0"/>
                          <a:ea typeface="Calibri" pitchFamily="34" charset="-122"/>
                          <a:cs typeface="Calibri" pitchFamily="34" charset="-120"/>
                        </a:rPr>
                        <a:t>Carta web, carrito, validación y recibo numerado a WhatsApp</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indent="0" marL="0">
                        <a:buNone/>
                      </a:pPr>
                      <a:r>
                        <a:rPr lang="en-US" sz="1500" b="1" dirty="0">
                          <a:solidFill>
                            <a:srgbClr val="1F6E5C"/>
                          </a:solidFill>
                          <a:latin typeface="Calibri" pitchFamily="34" charset="0"/>
                          <a:ea typeface="Calibri" pitchFamily="34" charset="-122"/>
                          <a:cs typeface="Calibri" pitchFamily="34" charset="-120"/>
                        </a:rPr>
                        <a:t>Cumplido: el pedido llega completo sin cambiar de canal</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r>
              <a:tr h="960120">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OE2</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309880"/>
                    </a:solidFill>
                  </a:tcPr>
                </a:tc>
                <a:tc>
                  <a:txBody>
                    <a:bodyPr/>
                    <a:lstStyle/>
                    <a:p>
                      <a:pPr indent="0" marL="0">
                        <a:buNone/>
                      </a:pPr>
                      <a:r>
                        <a:rPr lang="en-US" sz="1500" dirty="0">
                          <a:solidFill>
                            <a:srgbClr val="2B2420"/>
                          </a:solidFill>
                          <a:latin typeface="Calibri" pitchFamily="34" charset="0"/>
                          <a:ea typeface="Calibri" pitchFamily="34" charset="-122"/>
                          <a:cs typeface="Calibri" pitchFamily="34" charset="-120"/>
                        </a:rPr>
                        <a:t>Sin registro ni datos para decidir</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indent="0" marL="0">
                        <a:buNone/>
                      </a:pPr>
                      <a:r>
                        <a:rPr lang="en-US" sz="1500" dirty="0">
                          <a:solidFill>
                            <a:srgbClr val="2B2420"/>
                          </a:solidFill>
                          <a:latin typeface="Calibri" pitchFamily="34" charset="0"/>
                          <a:ea typeface="Calibri" pitchFamily="34" charset="-122"/>
                          <a:cs typeface="Calibri" pitchFamily="34" charset="-120"/>
                        </a:rPr>
                        <a:t>Planilla mensual automática y precios editables</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indent="0" marL="0">
                        <a:buNone/>
                      </a:pPr>
                      <a:r>
                        <a:rPr lang="en-US" sz="1500" b="1" dirty="0">
                          <a:solidFill>
                            <a:srgbClr val="1F6E5C"/>
                          </a:solidFill>
                          <a:latin typeface="Calibri" pitchFamily="34" charset="0"/>
                          <a:ea typeface="Calibri" pitchFamily="34" charset="-122"/>
                          <a:cs typeface="Calibri" pitchFamily="34" charset="-120"/>
                        </a:rPr>
                        <a:t>Cumplido: el negocio ya registra y puede medir</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r>
              <a:tr h="960120">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OE3</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solidFill>
                      <a:srgbClr val="1F6E5C"/>
                    </a:solidFill>
                  </a:tcPr>
                </a:tc>
                <a:tc>
                  <a:txBody>
                    <a:bodyPr/>
                    <a:lstStyle/>
                    <a:p>
                      <a:pPr indent="0" marL="0">
                        <a:buNone/>
                      </a:pPr>
                      <a:r>
                        <a:rPr lang="en-US" sz="1500" dirty="0">
                          <a:solidFill>
                            <a:srgbClr val="2B2420"/>
                          </a:solidFill>
                          <a:latin typeface="Calibri" pitchFamily="34" charset="0"/>
                          <a:ea typeface="Calibri" pitchFamily="34" charset="-122"/>
                          <a:cs typeface="Calibri" pitchFamily="34" charset="-120"/>
                        </a:rPr>
                        <a:t>Una sola persona, sin presupuesto para tecnología</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indent="0" marL="0">
                        <a:buNone/>
                      </a:pPr>
                      <a:r>
                        <a:rPr lang="en-US" sz="1500" dirty="0">
                          <a:solidFill>
                            <a:srgbClr val="2B2420"/>
                          </a:solidFill>
                          <a:latin typeface="Calibri" pitchFamily="34" charset="0"/>
                          <a:ea typeface="Calibri" pitchFamily="34" charset="-122"/>
                          <a:cs typeface="Calibri" pitchFamily="34" charset="-120"/>
                        </a:rPr>
                        <a:t>Servicios gratuitos, HTTPS, protecciones y 44 pruebas</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c>
                  <a:txBody>
                    <a:bodyPr/>
                    <a:lstStyle/>
                    <a:p>
                      <a:pPr indent="0" marL="0">
                        <a:buNone/>
                      </a:pPr>
                      <a:r>
                        <a:rPr lang="en-US" sz="1500" b="1" dirty="0">
                          <a:solidFill>
                            <a:srgbClr val="1F6E5C"/>
                          </a:solidFill>
                          <a:latin typeface="Calibri" pitchFamily="34" charset="0"/>
                          <a:ea typeface="Calibri" pitchFamily="34" charset="-122"/>
                          <a:cs typeface="Calibri" pitchFamily="34" charset="-120"/>
                        </a:rPr>
                        <a:t>Cumplido: $0/mes, recupero en ≈ 4 meses</a:t>
                      </a:r>
                      <a:endParaRPr lang="en-US" sz="1500" dirty="0">
                        <a:latin typeface="Calibri" charset="0"/>
                        <a:ea typeface="Calibri" charset="0"/>
                        <a:cs typeface="Calibri" charset="0"/>
                      </a:endParaRPr>
                    </a:p>
                  </a:txBody>
                  <a:tcPr marL="91440" marR="91440" marT="45720" marB="45720" anchor="ctr">
                    <a:lnL w="12700" cap="flat" cmpd="sng" algn="ctr">
                      <a:solidFill>
                        <a:srgbClr val="E4DCD2"/>
                      </a:solidFill>
                      <a:prstDash val="solid"/>
                      <a:round/>
                      <a:headEnd type="none" w="med" len="med"/>
                      <a:tailEnd type="none" w="med" len="med"/>
                    </a:lnL>
                    <a:lnR w="12700" cap="flat" cmpd="sng" algn="ctr">
                      <a:solidFill>
                        <a:srgbClr val="E4DCD2"/>
                      </a:solidFill>
                      <a:prstDash val="solid"/>
                      <a:round/>
                      <a:headEnd type="none" w="med" len="med"/>
                      <a:tailEnd type="none" w="med" len="med"/>
                    </a:lnR>
                    <a:lnT w="12700" cap="flat" cmpd="sng" algn="ctr">
                      <a:solidFill>
                        <a:srgbClr val="E4DCD2"/>
                      </a:solidFill>
                      <a:prstDash val="solid"/>
                      <a:round/>
                      <a:headEnd type="none" w="med" len="med"/>
                      <a:tailEnd type="none" w="med" len="med"/>
                    </a:lnT>
                    <a:lnB w="12700" cap="flat" cmpd="sng" algn="ctr">
                      <a:solidFill>
                        <a:srgbClr val="E4DCD2"/>
                      </a:solidFill>
                      <a:prstDash val="solid"/>
                      <a:round/>
                      <a:headEnd type="none" w="med" len="med"/>
                      <a:tailEnd type="none" w="med" len="med"/>
                    </a:lnB>
                  </a:tcPr>
                </a:tc>
              </a:tr>
            </a:tbl>
          </a:graphicData>
        </a:graphic>
      </p:graphicFrame>
      <p:sp>
        <p:nvSpPr>
          <p:cNvPr id="5" name="card-184"/>
          <p:cNvSpPr/>
          <p:nvPr/>
        </p:nvSpPr>
        <p:spPr>
          <a:xfrm>
            <a:off x="548640" y="5120640"/>
            <a:ext cx="11064240" cy="1051560"/>
          </a:xfrm>
          <a:prstGeom prst="roundRect">
            <a:avLst>
              <a:gd name="adj" fmla="val 10435"/>
            </a:avLst>
          </a:prstGeom>
          <a:solidFill>
            <a:schemeClr val="tx1"/>
          </a:solidFill>
          <a:ln/>
        </p:spPr>
      </p:sp>
      <p:sp>
        <p:nvSpPr>
          <p:cNvPr id="6" name="Text 3"/>
          <p:cNvSpPr txBox="1"/>
          <p:nvPr/>
        </p:nvSpPr>
        <p:spPr>
          <a:xfrm>
            <a:off x="822960" y="5120640"/>
            <a:ext cx="10515600" cy="1051560"/>
          </a:xfrm>
          <a:prstGeom prst="rect">
            <a:avLst/>
          </a:prstGeom>
          <a:noFill/>
          <a:ln/>
        </p:spPr>
        <p:txBody>
          <a:bodyPr wrap="square" lIns="0" tIns="0" rIns="0" bIns="0" rtlCol="0" anchor="ctr"/>
          <a:lstStyle/>
          <a:p>
            <a:pPr indent="0" marL="0">
              <a:buNone/>
            </a:pPr>
            <a:r>
              <a:rPr lang="en-US" sz="1700" b="1" dirty="0">
                <a:solidFill>
                  <a:srgbClr val="F2B63D"/>
                </a:solidFill>
                <a:latin typeface="Calibri" pitchFamily="34" charset="0"/>
                <a:ea typeface="Calibri" pitchFamily="34" charset="-122"/>
                <a:cs typeface="Calibri" pitchFamily="34" charset="-120"/>
              </a:rPr>
              <a:t>Conclusión general: </a:t>
            </a:r>
            <a:pPr indent="0" marL="0">
              <a:buNone/>
            </a:pPr>
            <a:r>
              <a:rPr lang="en-US" sz="1700" dirty="0">
                <a:solidFill>
                  <a:schemeClr val="bg1"/>
                </a:solidFill>
                <a:latin typeface="Calibri" pitchFamily="34" charset="0"/>
                <a:ea typeface="Calibri" pitchFamily="34" charset="-122"/>
                <a:cs typeface="Calibri" pitchFamily="34" charset="-120"/>
              </a:rPr>
              <a:t>una solución chica, a la medida de un negocio de 3 personas, resuelve su cuello de botella y es económicamente conveniente.</a:t>
            </a:r>
            <a:endParaRPr lang="en-US" sz="17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10896"/>
          </a:xfrm>
          <a:prstGeom prst="rect">
            <a:avLst/>
          </a:prstGeom>
          <a:noFill/>
          <a:ln/>
        </p:spPr>
        <p:txBody>
          <a:bodyPr wrap="square" lIns="0" tIns="0" rIns="0" bIns="0" rtlCol="0" anchor="t"/>
          <a:lstStyle/>
          <a:p>
            <a:pPr indent="0" marL="0">
              <a:buNone/>
            </a:pPr>
            <a:r>
              <a:rPr lang="en-US" sz="1200" b="1" spc="200" kern="0" dirty="0">
                <a:solidFill>
                  <a:schemeClr val="accent1"/>
                </a:solidFill>
                <a:latin typeface="Calibri" pitchFamily="34" charset="0"/>
                <a:ea typeface="Calibri" pitchFamily="34" charset="-122"/>
                <a:cs typeface="Calibri" pitchFamily="34" charset="-120"/>
              </a:rPr>
              <a:t>III. TRABAJO PRINCIPAL · RECOMENDACIONES</a:t>
            </a:r>
            <a:endParaRPr lang="en-US" sz="1200" dirty="0"/>
          </a:p>
        </p:txBody>
      </p:sp>
      <p:sp>
        <p:nvSpPr>
          <p:cNvPr id="3" name="Text 0"/>
          <p:cNvSpPr/>
          <p:nvPr>
            <p:ph idx="101" type="title" hasCustomPrompt="1"/>
          </p:nvPr>
        </p:nvSpPr>
        <p:spPr>
          <a:xfrm>
            <a:off x="548640" y="603504"/>
            <a:ext cx="11064240" cy="658368"/>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Recomendaciones por responsable</a:t>
            </a:r>
            <a:endParaRPr lang="en-US" sz="3200" dirty="0"/>
          </a:p>
        </p:txBody>
      </p:sp>
      <p:sp>
        <p:nvSpPr>
          <p:cNvPr id="4" name="card-185"/>
          <p:cNvSpPr/>
          <p:nvPr/>
        </p:nvSpPr>
        <p:spPr>
          <a:xfrm>
            <a:off x="548640" y="1463040"/>
            <a:ext cx="3474720" cy="4709160"/>
          </a:xfrm>
          <a:prstGeom prst="roundRect">
            <a:avLst>
              <a:gd name="adj" fmla="val 3158"/>
            </a:avLst>
          </a:prstGeom>
          <a:solidFill>
            <a:schemeClr val="accent6"/>
          </a:solidFill>
          <a:ln/>
        </p:spPr>
      </p:sp>
      <p:sp>
        <p:nvSpPr>
          <p:cNvPr id="5" name="icono-fondo-186"/>
          <p:cNvSpPr/>
          <p:nvPr/>
        </p:nvSpPr>
        <p:spPr>
          <a:xfrm>
            <a:off x="822960" y="1691640"/>
            <a:ext cx="685800" cy="685800"/>
          </a:xfrm>
          <a:prstGeom prst="ellipse">
            <a:avLst/>
          </a:prstGeom>
          <a:solidFill>
            <a:schemeClr val="accent1"/>
          </a:solidFill>
          <a:ln/>
        </p:spPr>
      </p:sp>
      <p:pic>
        <p:nvPicPr>
          <p:cNvPr id="6" name="icono-187" descr="preencoded.png">    </p:cNvPr>
          <p:cNvPicPr>
            <a:picLocks noChangeAspect="1"/>
          </p:cNvPicPr>
          <p:nvPr/>
        </p:nvPicPr>
        <p:blipFill>
          <a:blip r:embed="rId1"/>
          <a:stretch>
            <a:fillRect/>
          </a:stretch>
        </p:blipFill>
        <p:spPr>
          <a:xfrm>
            <a:off x="987552" y="1856232"/>
            <a:ext cx="356616" cy="356616"/>
          </a:xfrm>
          <a:prstGeom prst="rect">
            <a:avLst/>
          </a:prstGeom>
        </p:spPr>
      </p:pic>
      <p:sp>
        <p:nvSpPr>
          <p:cNvPr id="7" name="Text 4"/>
          <p:cNvSpPr txBox="1"/>
          <p:nvPr/>
        </p:nvSpPr>
        <p:spPr>
          <a:xfrm>
            <a:off x="1645920" y="1783080"/>
            <a:ext cx="2194560" cy="502920"/>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Dueño</a:t>
            </a:r>
            <a:endParaRPr lang="en-US" sz="2000" dirty="0"/>
          </a:p>
        </p:txBody>
      </p:sp>
      <p:sp>
        <p:nvSpPr>
          <p:cNvPr id="8" name="Text 5"/>
          <p:cNvSpPr txBox="1"/>
          <p:nvPr/>
        </p:nvSpPr>
        <p:spPr>
          <a:xfrm>
            <a:off x="822960" y="2697480"/>
            <a:ext cx="2971800" cy="3291840"/>
          </a:xfrm>
          <a:prstGeom prst="rect">
            <a:avLst/>
          </a:prstGeom>
          <a:noFill/>
          <a:ln/>
        </p:spPr>
        <p:txBody>
          <a:bodyPr wrap="square" lIns="0" tIns="0" rIns="0" bIns="0" rtlCol="0" anchor="t"/>
          <a:lstStyle/>
          <a:p>
            <a:pPr marL="342900" indent="-342900">
              <a:spcAft>
                <a:spcPts val="1600"/>
              </a:spcAft>
              <a:buSzPct val="100000"/>
              <a:buChar char="•"/>
            </a:pPr>
            <a:r>
              <a:rPr lang="en-US" sz="1800" dirty="0">
                <a:solidFill>
                  <a:schemeClr val="tx1"/>
                </a:solidFill>
                <a:latin typeface="Calibri" pitchFamily="34" charset="0"/>
                <a:ea typeface="Calibri" pitchFamily="34" charset="-122"/>
                <a:cs typeface="Calibri" pitchFamily="34" charset="-120"/>
              </a:rPr>
              <a:t>Difundir misión y valores</a:t>
            </a:r>
            <a:endParaRPr lang="en-US" sz="1800" dirty="0"/>
          </a:p>
          <a:p>
            <a:pPr marL="342900" indent="-342900">
              <a:spcAft>
                <a:spcPts val="1600"/>
              </a:spcAft>
              <a:buSzPct val="100000"/>
              <a:buChar char="•"/>
            </a:pPr>
            <a:r>
              <a:rPr lang="en-US" sz="1800" dirty="0">
                <a:solidFill>
                  <a:schemeClr val="tx1"/>
                </a:solidFill>
                <a:latin typeface="Calibri" pitchFamily="34" charset="0"/>
                <a:ea typeface="Calibri" pitchFamily="34" charset="-122"/>
                <a:cs typeface="Calibri" pitchFamily="34" charset="-120"/>
              </a:rPr>
              <a:t>Mantener precios al día</a:t>
            </a:r>
            <a:endParaRPr lang="en-US" sz="1800" dirty="0"/>
          </a:p>
          <a:p>
            <a:pPr marL="342900" indent="-342900">
              <a:spcAft>
                <a:spcPts val="1600"/>
              </a:spcAft>
              <a:buSzPct val="100000"/>
              <a:buChar char="•"/>
            </a:pPr>
            <a:r>
              <a:rPr lang="en-US" sz="1800" dirty="0">
                <a:solidFill>
                  <a:schemeClr val="tx1"/>
                </a:solidFill>
                <a:latin typeface="Calibri" pitchFamily="34" charset="0"/>
                <a:ea typeface="Calibri" pitchFamily="34" charset="-122"/>
                <a:cs typeface="Calibri" pitchFamily="34" charset="-120"/>
              </a:rPr>
              <a:t>Evaluar formalizarse al crecer</a:t>
            </a:r>
            <a:endParaRPr lang="en-US" sz="1800" dirty="0"/>
          </a:p>
        </p:txBody>
      </p:sp>
      <p:sp>
        <p:nvSpPr>
          <p:cNvPr id="9" name="card-188"/>
          <p:cNvSpPr/>
          <p:nvPr/>
        </p:nvSpPr>
        <p:spPr>
          <a:xfrm>
            <a:off x="4297680" y="1463040"/>
            <a:ext cx="3474720" cy="4709160"/>
          </a:xfrm>
          <a:prstGeom prst="roundRect">
            <a:avLst>
              <a:gd name="adj" fmla="val 3158"/>
            </a:avLst>
          </a:prstGeom>
          <a:solidFill>
            <a:schemeClr val="accent6"/>
          </a:solidFill>
          <a:ln/>
        </p:spPr>
      </p:sp>
      <p:sp>
        <p:nvSpPr>
          <p:cNvPr id="10" name="icono-fondo-189"/>
          <p:cNvSpPr/>
          <p:nvPr/>
        </p:nvSpPr>
        <p:spPr>
          <a:xfrm>
            <a:off x="4572000" y="1691640"/>
            <a:ext cx="685800" cy="685800"/>
          </a:xfrm>
          <a:prstGeom prst="ellipse">
            <a:avLst/>
          </a:prstGeom>
          <a:solidFill>
            <a:schemeClr val="accent2"/>
          </a:solidFill>
          <a:ln/>
        </p:spPr>
      </p:sp>
      <p:pic>
        <p:nvPicPr>
          <p:cNvPr id="11" name="icono-190" descr="preencoded.png">    </p:cNvPr>
          <p:cNvPicPr>
            <a:picLocks noChangeAspect="1"/>
          </p:cNvPicPr>
          <p:nvPr/>
        </p:nvPicPr>
        <p:blipFill>
          <a:blip r:embed="rId2"/>
          <a:stretch>
            <a:fillRect/>
          </a:stretch>
        </p:blipFill>
        <p:spPr>
          <a:xfrm>
            <a:off x="4736592" y="1856232"/>
            <a:ext cx="356616" cy="356616"/>
          </a:xfrm>
          <a:prstGeom prst="rect">
            <a:avLst/>
          </a:prstGeom>
        </p:spPr>
      </p:pic>
      <p:sp>
        <p:nvSpPr>
          <p:cNvPr id="12" name="Text 8"/>
          <p:cNvSpPr txBox="1"/>
          <p:nvPr/>
        </p:nvSpPr>
        <p:spPr>
          <a:xfrm>
            <a:off x="5394960" y="1783080"/>
            <a:ext cx="2194560" cy="502920"/>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Atención al cliente</a:t>
            </a:r>
            <a:endParaRPr lang="en-US" sz="2000" dirty="0"/>
          </a:p>
        </p:txBody>
      </p:sp>
      <p:sp>
        <p:nvSpPr>
          <p:cNvPr id="13" name="Text 9"/>
          <p:cNvSpPr txBox="1"/>
          <p:nvPr/>
        </p:nvSpPr>
        <p:spPr>
          <a:xfrm>
            <a:off x="4572000" y="2697480"/>
            <a:ext cx="2971800" cy="3291840"/>
          </a:xfrm>
          <a:prstGeom prst="rect">
            <a:avLst/>
          </a:prstGeom>
          <a:noFill/>
          <a:ln/>
        </p:spPr>
        <p:txBody>
          <a:bodyPr wrap="square" lIns="0" tIns="0" rIns="0" bIns="0" rtlCol="0" anchor="t"/>
          <a:lstStyle/>
          <a:p>
            <a:pPr marL="342900" indent="-342900">
              <a:spcAft>
                <a:spcPts val="1600"/>
              </a:spcAft>
              <a:buSzPct val="100000"/>
              <a:buChar char="•"/>
            </a:pPr>
            <a:r>
              <a:rPr lang="en-US" sz="1800" dirty="0">
                <a:solidFill>
                  <a:schemeClr val="tx1"/>
                </a:solidFill>
                <a:latin typeface="Calibri" pitchFamily="34" charset="0"/>
                <a:ea typeface="Calibri" pitchFamily="34" charset="-122"/>
                <a:cs typeface="Calibri" pitchFamily="34" charset="-120"/>
              </a:rPr>
              <a:t>Marcar estados en la planilla</a:t>
            </a:r>
            <a:endParaRPr lang="en-US" sz="1800" dirty="0"/>
          </a:p>
          <a:p>
            <a:pPr marL="342900" indent="-342900">
              <a:spcAft>
                <a:spcPts val="1600"/>
              </a:spcAft>
              <a:buSzPct val="100000"/>
              <a:buChar char="•"/>
            </a:pPr>
            <a:r>
              <a:rPr lang="en-US" sz="1800" dirty="0">
                <a:solidFill>
                  <a:schemeClr val="tx1"/>
                </a:solidFill>
                <a:latin typeface="Calibri" pitchFamily="34" charset="0"/>
                <a:ea typeface="Calibri" pitchFamily="34" charset="-122"/>
                <a:cs typeface="Calibri" pitchFamily="34" charset="-120"/>
              </a:rPr>
              <a:t>Anotar pedidos perdidos un mes</a:t>
            </a:r>
            <a:endParaRPr lang="en-US" sz="1800" dirty="0"/>
          </a:p>
          <a:p>
            <a:pPr marL="342900" indent="-342900">
              <a:spcAft>
                <a:spcPts val="1600"/>
              </a:spcAft>
              <a:buSzPct val="100000"/>
              <a:buChar char="•"/>
            </a:pPr>
            <a:r>
              <a:rPr lang="en-US" sz="1800" dirty="0">
                <a:solidFill>
                  <a:schemeClr val="tx1"/>
                </a:solidFill>
                <a:latin typeface="Calibri" pitchFamily="34" charset="0"/>
                <a:ea typeface="Calibri" pitchFamily="34" charset="-122"/>
                <a:cs typeface="Calibri" pitchFamily="34" charset="-120"/>
              </a:rPr>
              <a:t>Difundir el QR en cada entrega</a:t>
            </a:r>
            <a:endParaRPr lang="en-US" sz="1800" dirty="0"/>
          </a:p>
        </p:txBody>
      </p:sp>
      <p:sp>
        <p:nvSpPr>
          <p:cNvPr id="14" name="card-191"/>
          <p:cNvSpPr/>
          <p:nvPr/>
        </p:nvSpPr>
        <p:spPr>
          <a:xfrm>
            <a:off x="8046720" y="1463040"/>
            <a:ext cx="3474720" cy="4709160"/>
          </a:xfrm>
          <a:prstGeom prst="roundRect">
            <a:avLst>
              <a:gd name="adj" fmla="val 3158"/>
            </a:avLst>
          </a:prstGeom>
          <a:solidFill>
            <a:schemeClr val="accent6"/>
          </a:solidFill>
          <a:ln/>
        </p:spPr>
      </p:sp>
      <p:sp>
        <p:nvSpPr>
          <p:cNvPr id="15" name="icono-fondo-192"/>
          <p:cNvSpPr/>
          <p:nvPr/>
        </p:nvSpPr>
        <p:spPr>
          <a:xfrm>
            <a:off x="8321040" y="1691640"/>
            <a:ext cx="685800" cy="685800"/>
          </a:xfrm>
          <a:prstGeom prst="ellipse">
            <a:avLst/>
          </a:prstGeom>
          <a:solidFill>
            <a:schemeClr val="tx2"/>
          </a:solidFill>
          <a:ln/>
        </p:spPr>
      </p:sp>
      <p:pic>
        <p:nvPicPr>
          <p:cNvPr id="16" name="icono-193" descr="preencoded.png">    </p:cNvPr>
          <p:cNvPicPr>
            <a:picLocks noChangeAspect="1"/>
          </p:cNvPicPr>
          <p:nvPr/>
        </p:nvPicPr>
        <p:blipFill>
          <a:blip r:embed="rId3"/>
          <a:stretch>
            <a:fillRect/>
          </a:stretch>
        </p:blipFill>
        <p:spPr>
          <a:xfrm>
            <a:off x="8485632" y="1856232"/>
            <a:ext cx="356616" cy="356616"/>
          </a:xfrm>
          <a:prstGeom prst="rect">
            <a:avLst/>
          </a:prstGeom>
        </p:spPr>
      </p:pic>
      <p:sp>
        <p:nvSpPr>
          <p:cNvPr id="17" name="Text 12"/>
          <p:cNvSpPr txBox="1"/>
          <p:nvPr/>
        </p:nvSpPr>
        <p:spPr>
          <a:xfrm>
            <a:off x="9144000" y="1783080"/>
            <a:ext cx="2194560" cy="502920"/>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Desarrollador</a:t>
            </a:r>
            <a:endParaRPr lang="en-US" sz="2000" dirty="0"/>
          </a:p>
        </p:txBody>
      </p:sp>
      <p:sp>
        <p:nvSpPr>
          <p:cNvPr id="18" name="Text 13"/>
          <p:cNvSpPr txBox="1"/>
          <p:nvPr/>
        </p:nvSpPr>
        <p:spPr>
          <a:xfrm>
            <a:off x="8321040" y="2697480"/>
            <a:ext cx="2971800" cy="3291840"/>
          </a:xfrm>
          <a:prstGeom prst="rect">
            <a:avLst/>
          </a:prstGeom>
          <a:noFill/>
          <a:ln/>
        </p:spPr>
        <p:txBody>
          <a:bodyPr wrap="square" lIns="0" tIns="0" rIns="0" bIns="0" rtlCol="0" anchor="t"/>
          <a:lstStyle/>
          <a:p>
            <a:pPr marL="342900" indent="-342900">
              <a:spcAft>
                <a:spcPts val="1600"/>
              </a:spcAft>
              <a:buSzPct val="100000"/>
              <a:buChar char="•"/>
            </a:pPr>
            <a:r>
              <a:rPr lang="en-US" sz="1800" dirty="0">
                <a:solidFill>
                  <a:schemeClr val="tx1"/>
                </a:solidFill>
                <a:latin typeface="Calibri" pitchFamily="34" charset="0"/>
                <a:ea typeface="Calibri" pitchFamily="34" charset="-122"/>
                <a:cs typeface="Calibri" pitchFamily="34" charset="-120"/>
              </a:rPr>
              <a:t>Recalcular con datos reales</a:t>
            </a:r>
            <a:endParaRPr lang="en-US" sz="1800" dirty="0"/>
          </a:p>
          <a:p>
            <a:pPr marL="342900" indent="-342900">
              <a:spcAft>
                <a:spcPts val="1600"/>
              </a:spcAft>
              <a:buSzPct val="100000"/>
              <a:buChar char="•"/>
            </a:pPr>
            <a:r>
              <a:rPr lang="en-US" sz="1800" dirty="0">
                <a:solidFill>
                  <a:schemeClr val="tx1"/>
                </a:solidFill>
                <a:latin typeface="Calibri" pitchFamily="34" charset="0"/>
                <a:ea typeface="Calibri" pitchFamily="34" charset="-122"/>
                <a:cs typeface="Calibri" pitchFamily="34" charset="-120"/>
              </a:rPr>
              <a:t>Mantener las actualizaciones</a:t>
            </a:r>
            <a:endParaRPr lang="en-US" sz="1800" dirty="0"/>
          </a:p>
          <a:p>
            <a:pPr marL="342900" indent="-342900">
              <a:spcAft>
                <a:spcPts val="1600"/>
              </a:spcAft>
              <a:buSzPct val="100000"/>
              <a:buChar char="•"/>
            </a:pPr>
            <a:r>
              <a:rPr lang="en-US" sz="1800" dirty="0">
                <a:solidFill>
                  <a:schemeClr val="tx1"/>
                </a:solidFill>
                <a:latin typeface="Calibri" pitchFamily="34" charset="0"/>
                <a:ea typeface="Calibri" pitchFamily="34" charset="-122"/>
                <a:cs typeface="Calibri" pitchFamily="34" charset="-120"/>
              </a:rPr>
              <a:t>v2: aviso de estado al cliente</a:t>
            </a:r>
            <a:endParaRPr lang="en-US" sz="18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822960" y="1828800"/>
            <a:ext cx="6400800" cy="1097280"/>
          </a:xfrm>
          <a:prstGeom prst="rect">
            <a:avLst/>
          </a:prstGeom>
          <a:noFill/>
          <a:ln/>
        </p:spPr>
        <p:txBody>
          <a:bodyPr wrap="square" lIns="0" tIns="0" rIns="0" bIns="0" rtlCol="0" anchor="t"/>
          <a:lstStyle/>
          <a:p>
            <a:pPr indent="0" marL="0">
              <a:buNone/>
            </a:pPr>
            <a:r>
              <a:rPr lang="en-US" sz="6000" b="1" dirty="0">
                <a:solidFill>
                  <a:schemeClr val="bg1"/>
                </a:solidFill>
                <a:latin typeface="Cambria" pitchFamily="34" charset="0"/>
                <a:ea typeface="Cambria" pitchFamily="34" charset="-122"/>
                <a:cs typeface="Cambria" pitchFamily="34" charset="-120"/>
              </a:rPr>
              <a:t>Gracias</a:t>
            </a:r>
            <a:endParaRPr lang="en-US" sz="6000" dirty="0"/>
          </a:p>
        </p:txBody>
      </p:sp>
      <p:sp>
        <p:nvSpPr>
          <p:cNvPr id="3" name="Text 1"/>
          <p:cNvSpPr txBox="1"/>
          <p:nvPr/>
        </p:nvSpPr>
        <p:spPr>
          <a:xfrm>
            <a:off x="822960" y="2926080"/>
            <a:ext cx="6400800" cy="731520"/>
          </a:xfrm>
          <a:prstGeom prst="rect">
            <a:avLst/>
          </a:prstGeom>
          <a:noFill/>
          <a:ln/>
        </p:spPr>
        <p:txBody>
          <a:bodyPr wrap="square" lIns="0" tIns="0" rIns="0" bIns="0" rtlCol="0" anchor="t"/>
          <a:lstStyle/>
          <a:p>
            <a:pPr indent="0" marL="0">
              <a:buNone/>
            </a:pPr>
            <a:r>
              <a:rPr lang="en-US" sz="2800" dirty="0">
                <a:solidFill>
                  <a:srgbClr val="F2B63D"/>
                </a:solidFill>
                <a:latin typeface="Calibri" pitchFamily="34" charset="0"/>
                <a:ea typeface="Calibri" pitchFamily="34" charset="-122"/>
                <a:cs typeface="Calibri" pitchFamily="34" charset="-120"/>
              </a:rPr>
              <a:t>¿Preguntas?</a:t>
            </a:r>
            <a:endParaRPr lang="en-US" sz="2800" dirty="0"/>
          </a:p>
        </p:txBody>
      </p:sp>
      <p:sp>
        <p:nvSpPr>
          <p:cNvPr id="4" name="Text 2"/>
          <p:cNvSpPr txBox="1"/>
          <p:nvPr/>
        </p:nvSpPr>
        <p:spPr>
          <a:xfrm>
            <a:off x="822960" y="4023360"/>
            <a:ext cx="6858000" cy="1188720"/>
          </a:xfrm>
          <a:prstGeom prst="rect">
            <a:avLst/>
          </a:prstGeom>
          <a:noFill/>
          <a:ln/>
        </p:spPr>
        <p:txBody>
          <a:bodyPr wrap="square" lIns="0" tIns="0" rIns="0" bIns="0" rtlCol="0" anchor="t"/>
          <a:lstStyle/>
          <a:p>
            <a:pPr indent="0" marL="0">
              <a:spcAft>
                <a:spcPts val="400"/>
              </a:spcAft>
              <a:buNone/>
            </a:pPr>
            <a:r>
              <a:rPr lang="en-US" sz="1600" b="1" dirty="0">
                <a:solidFill>
                  <a:schemeClr val="bg2"/>
                </a:solidFill>
                <a:latin typeface="Calibri" pitchFamily="34" charset="0"/>
                <a:ea typeface="Calibri" pitchFamily="34" charset="-122"/>
                <a:cs typeface="Calibri" pitchFamily="34" charset="-120"/>
              </a:rPr>
              <a:t>Sitio: </a:t>
            </a:r>
            <a:pPr indent="0" marL="0">
              <a:spcAft>
                <a:spcPts val="400"/>
              </a:spcAft>
              <a:buNone/>
            </a:pPr>
            <a:r>
              <a:rPr lang="en-US" sz="1600" dirty="0">
                <a:solidFill>
                  <a:schemeClr val="bg2"/>
                </a:solidFill>
                <a:latin typeface="Calibri" pitchFamily="34" charset="0"/>
                <a:ea typeface="Calibri" pitchFamily="34" charset="-122"/>
                <a:cs typeface="Calibri" pitchFamily="34" charset="-120"/>
              </a:rPr>
              <a:t>castromaximo.github.io/DanyPizzas</a:t>
            </a:r>
            <a:endParaRPr lang="en-US" sz="1600" dirty="0"/>
          </a:p>
          <a:p>
            <a:pPr indent="0" marL="0">
              <a:spcAft>
                <a:spcPts val="400"/>
              </a:spcAft>
              <a:buNone/>
            </a:pPr>
            <a:r>
              <a:rPr lang="en-US" sz="1600" b="1" dirty="0">
                <a:solidFill>
                  <a:schemeClr val="bg2"/>
                </a:solidFill>
                <a:latin typeface="Calibri" pitchFamily="34" charset="0"/>
                <a:ea typeface="Calibri" pitchFamily="34" charset="-122"/>
                <a:cs typeface="Calibri" pitchFamily="34" charset="-120"/>
              </a:rPr>
              <a:t>Código: </a:t>
            </a:r>
            <a:pPr indent="0" marL="0">
              <a:spcAft>
                <a:spcPts val="400"/>
              </a:spcAft>
              <a:buNone/>
            </a:pPr>
            <a:r>
              <a:rPr lang="en-US" sz="1600" dirty="0">
                <a:solidFill>
                  <a:schemeClr val="bg2"/>
                </a:solidFill>
                <a:latin typeface="Calibri" pitchFamily="34" charset="0"/>
                <a:ea typeface="Calibri" pitchFamily="34" charset="-122"/>
                <a:cs typeface="Calibri" pitchFamily="34" charset="-120"/>
              </a:rPr>
              <a:t>github.com/CastroMaximo/DanyPizzas</a:t>
            </a:r>
            <a:endParaRPr lang="en-US" sz="1600" dirty="0"/>
          </a:p>
          <a:p>
            <a:pPr indent="0" marL="0">
              <a:spcAft>
                <a:spcPts val="400"/>
              </a:spcAft>
              <a:buNone/>
            </a:pPr>
            <a:r>
              <a:rPr lang="en-US" sz="1600" b="1" dirty="0">
                <a:solidFill>
                  <a:schemeClr val="bg2"/>
                </a:solidFill>
                <a:latin typeface="Calibri" pitchFamily="34" charset="0"/>
                <a:ea typeface="Calibri" pitchFamily="34" charset="-122"/>
                <a:cs typeface="Calibri" pitchFamily="34" charset="-120"/>
              </a:rPr>
              <a:t>Instagram: </a:t>
            </a:r>
            <a:pPr indent="0" marL="0">
              <a:spcAft>
                <a:spcPts val="400"/>
              </a:spcAft>
              <a:buNone/>
            </a:pPr>
            <a:r>
              <a:rPr lang="en-US" sz="1600" dirty="0">
                <a:solidFill>
                  <a:schemeClr val="bg2"/>
                </a:solidFill>
                <a:latin typeface="Calibri" pitchFamily="34" charset="0"/>
                <a:ea typeface="Calibri" pitchFamily="34" charset="-122"/>
                <a:cs typeface="Calibri" pitchFamily="34" charset="-120"/>
              </a:rPr>
              <a:t>@dany.pizzeria</a:t>
            </a:r>
            <a:endParaRPr lang="en-US" sz="1600" dirty="0"/>
          </a:p>
        </p:txBody>
      </p:sp>
      <p:sp>
        <p:nvSpPr>
          <p:cNvPr id="5" name="qr-fondo"/>
          <p:cNvSpPr/>
          <p:nvPr/>
        </p:nvSpPr>
        <p:spPr>
          <a:xfrm>
            <a:off x="8138160" y="1463040"/>
            <a:ext cx="3291840" cy="3931920"/>
          </a:xfrm>
          <a:prstGeom prst="roundRect">
            <a:avLst>
              <a:gd name="adj" fmla="val 5556"/>
            </a:avLst>
          </a:prstGeom>
          <a:solidFill>
            <a:schemeClr val="bg1"/>
          </a:solidFill>
          <a:ln/>
        </p:spPr>
      </p:sp>
      <p:pic>
        <p:nvPicPr>
          <p:cNvPr id="6" name="qr-cierre" descr="/tmp/claude-0/-home-claude/c096e975-9e6a-561f-aa0a-08cce324a4b6/scratchpad/repo/docs/qr-sitio.png">    </p:cNvPr>
          <p:cNvPicPr>
            <a:picLocks noChangeAspect="1"/>
          </p:cNvPicPr>
          <p:nvPr/>
        </p:nvPicPr>
        <p:blipFill>
          <a:blip r:embed="rId1"/>
          <a:stretch>
            <a:fillRect/>
          </a:stretch>
        </p:blipFill>
        <p:spPr>
          <a:xfrm>
            <a:off x="8412480" y="1737360"/>
            <a:ext cx="2743200" cy="2743200"/>
          </a:xfrm>
          <a:prstGeom prst="rect">
            <a:avLst/>
          </a:prstGeom>
        </p:spPr>
      </p:pic>
      <p:sp>
        <p:nvSpPr>
          <p:cNvPr id="7" name="Text 4"/>
          <p:cNvSpPr txBox="1"/>
          <p:nvPr/>
        </p:nvSpPr>
        <p:spPr>
          <a:xfrm>
            <a:off x="8138160" y="4617720"/>
            <a:ext cx="3291840" cy="457200"/>
          </a:xfrm>
          <a:prstGeom prst="rect">
            <a:avLst/>
          </a:prstGeom>
          <a:noFill/>
          <a:ln/>
        </p:spPr>
        <p:txBody>
          <a:bodyPr wrap="square" lIns="0" tIns="0" rIns="0" bIns="0" rtlCol="0" anchor="t"/>
          <a:lstStyle/>
          <a:p>
            <a:pPr algn="ctr" indent="0" marL="0">
              <a:buNone/>
            </a:pPr>
            <a:r>
              <a:rPr lang="en-US" sz="1600" b="1" dirty="0">
                <a:solidFill>
                  <a:schemeClr val="tx1"/>
                </a:solidFill>
                <a:latin typeface="Calibri" pitchFamily="34" charset="0"/>
                <a:ea typeface="Calibri" pitchFamily="34" charset="-122"/>
                <a:cs typeface="Calibri" pitchFamily="34" charset="-120"/>
              </a:rPr>
              <a:t>Pedí desde tu celular</a:t>
            </a:r>
            <a:endParaRPr lang="en-US" sz="1600" dirty="0"/>
          </a:p>
        </p:txBody>
      </p:sp>
    </p:spTree>
  </p:cSld>
  <p:clrMapOvr>
    <a:masterClrMapping/>
  </p:clrMapOvr>
</p:sld>
</file>

<file path=ppt/theme/theme1.xml><?xml version="1.0" encoding="utf-8"?>
<a:theme xmlns:a="http://schemas.openxmlformats.org/drawingml/2006/main" name="Dany Pizzas">
  <a:themeElements>
    <a:clrScheme name="Dany Pizzas">
      <a:dk1>
        <a:srgbClr val="2B2420"/>
      </a:dk1>
      <a:lt1>
        <a:srgbClr val="FFFFFF"/>
      </a:lt1>
      <a:dk2>
        <a:srgbClr val="1F6E5C"/>
      </a:dk2>
      <a:lt2>
        <a:srgbClr val="F7EBDB"/>
      </a:lt2>
      <a:accent1>
        <a:srgbClr val="E83030"/>
      </a:accent1>
      <a:accent2>
        <a:srgbClr val="309880"/>
      </a:accent2>
      <a:accent3>
        <a:srgbClr val="B42323"/>
      </a:accent3>
      <a:accent4>
        <a:srgbClr val="8A7F76"/>
      </a:accent4>
      <a:accent5>
        <a:srgbClr val="F2B63D"/>
      </a:accent5>
      <a:accent6>
        <a:srgbClr val="FBF6F0"/>
      </a:accent6>
      <a:hlink>
        <a:srgbClr val="1F6E5C"/>
      </a:hlink>
      <a:folHlink>
        <a:srgbClr val="8A7F76"/>
      </a:folHlink>
    </a:clrScheme>
    <a:fontScheme name="Dany Pizza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Universidad Nacional de Moquegua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Dany Pizzas Web — Ingeniería de Software</dc:title>
  <dc:subject>PptxGenJS Presentation</dc:subject>
  <dc:creator>Máximo Daniel Castro</dc:creator>
  <cp:lastModifiedBy>Máximo Daniel Castro</cp:lastModifiedBy>
  <cp:revision>1</cp:revision>
  <dcterms:created xsi:type="dcterms:W3CDTF">2026-10-10T16:25:14Z</dcterms:created>
  <dcterms:modified xsi:type="dcterms:W3CDTF">2026-10-10T16:25:14Z</dcterms:modified>
</cp:coreProperties>
</file>